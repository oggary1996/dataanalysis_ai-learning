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68" r:id="rId3"/>
    <p:sldId id="269" r:id="rId4"/>
    <p:sldId id="270" r:id="rId5"/>
    <p:sldId id="272" r:id="rId6"/>
    <p:sldId id="273" r:id="rId7"/>
    <p:sldId id="275" r:id="rId8"/>
    <p:sldId id="289" r:id="rId9"/>
    <p:sldId id="290" r:id="rId10"/>
    <p:sldId id="291" r:id="rId11"/>
    <p:sldId id="292" r:id="rId12"/>
    <p:sldId id="293" r:id="rId13"/>
    <p:sldId id="329" r:id="rId14"/>
    <p:sldId id="295" r:id="rId15"/>
    <p:sldId id="294" r:id="rId16"/>
    <p:sldId id="260" r:id="rId17"/>
    <p:sldId id="261" r:id="rId18"/>
    <p:sldId id="262" r:id="rId19"/>
    <p:sldId id="297" r:id="rId20"/>
    <p:sldId id="296" r:id="rId21"/>
    <p:sldId id="331" r:id="rId22"/>
    <p:sldId id="301" r:id="rId23"/>
    <p:sldId id="302" r:id="rId24"/>
    <p:sldId id="298" r:id="rId25"/>
    <p:sldId id="263" r:id="rId26"/>
    <p:sldId id="305" r:id="rId27"/>
    <p:sldId id="303" r:id="rId28"/>
    <p:sldId id="306" r:id="rId29"/>
    <p:sldId id="328"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05" autoAdjust="0"/>
    <p:restoredTop sz="84891" autoAdjust="0"/>
  </p:normalViewPr>
  <p:slideViewPr>
    <p:cSldViewPr snapToGrid="0">
      <p:cViewPr>
        <p:scale>
          <a:sx n="95" d="100"/>
          <a:sy n="95" d="100"/>
        </p:scale>
        <p:origin x="108" y="-4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2AB2B2-C516-40C0-A83F-D843D9C54C48}" type="datetimeFigureOut">
              <a:rPr lang="en-CA" smtClean="0"/>
              <a:t>2024-04-03</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1947D1-7011-447F-908E-AA651505C7D9}" type="slidenum">
              <a:rPr lang="en-CA" smtClean="0"/>
              <a:t>‹#›</a:t>
            </a:fld>
            <a:endParaRPr lang="en-CA"/>
          </a:p>
        </p:txBody>
      </p:sp>
    </p:spTree>
    <p:extLst>
      <p:ext uri="{BB962C8B-B14F-4D97-AF65-F5344CB8AC3E}">
        <p14:creationId xmlns:p14="http://schemas.microsoft.com/office/powerpoint/2010/main" val="3537117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DE1947D1-7011-447F-908E-AA651505C7D9}" type="slidenum">
              <a:rPr lang="en-CA" smtClean="0"/>
              <a:t>2</a:t>
            </a:fld>
            <a:endParaRPr lang="en-CA"/>
          </a:p>
        </p:txBody>
      </p:sp>
    </p:spTree>
    <p:extLst>
      <p:ext uri="{BB962C8B-B14F-4D97-AF65-F5344CB8AC3E}">
        <p14:creationId xmlns:p14="http://schemas.microsoft.com/office/powerpoint/2010/main" val="19186235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F0F0F"/>
                </a:solidFill>
                <a:effectLst/>
                <a:latin typeface="Söhne"/>
              </a:rPr>
              <a:t>In summary, while stacked autoencoders are not originally designed as generative models, they can be used to generate new data points after training. If generative modeling is a primary goal, you might explore architectures like Variational Autoencoders that are explicitly designed for this purpose.</a:t>
            </a:r>
            <a:endParaRPr lang="en-CA" dirty="0"/>
          </a:p>
        </p:txBody>
      </p:sp>
      <p:sp>
        <p:nvSpPr>
          <p:cNvPr id="4" name="Slide Number Placeholder 3"/>
          <p:cNvSpPr>
            <a:spLocks noGrp="1"/>
          </p:cNvSpPr>
          <p:nvPr>
            <p:ph type="sldNum" sz="quarter" idx="5"/>
          </p:nvPr>
        </p:nvSpPr>
        <p:spPr/>
        <p:txBody>
          <a:bodyPr/>
          <a:lstStyle/>
          <a:p>
            <a:fld id="{DE1947D1-7011-447F-908E-AA651505C7D9}" type="slidenum">
              <a:rPr lang="en-CA" smtClean="0"/>
              <a:t>15</a:t>
            </a:fld>
            <a:endParaRPr lang="en-CA"/>
          </a:p>
        </p:txBody>
      </p:sp>
    </p:spTree>
    <p:extLst>
      <p:ext uri="{BB962C8B-B14F-4D97-AF65-F5344CB8AC3E}">
        <p14:creationId xmlns:p14="http://schemas.microsoft.com/office/powerpoint/2010/main" val="34421817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42424"/>
                </a:solidFill>
                <a:effectLst/>
                <a:latin typeface="source-serif-pro"/>
              </a:rPr>
              <a:t>The encoder is similar, it is simply is a network that takes in an input and produces a much smaller representation (the </a:t>
            </a:r>
            <a:r>
              <a:rPr lang="en-US" b="0" i="1" dirty="0">
                <a:solidFill>
                  <a:srgbClr val="242424"/>
                </a:solidFill>
                <a:effectLst/>
                <a:latin typeface="source-serif-pro"/>
              </a:rPr>
              <a:t>encoding)</a:t>
            </a:r>
            <a:r>
              <a:rPr lang="en-US" b="0" i="0" dirty="0">
                <a:solidFill>
                  <a:srgbClr val="242424"/>
                </a:solidFill>
                <a:effectLst/>
                <a:latin typeface="source-serif-pro"/>
              </a:rPr>
              <a:t>, that contains enough information for the next part of the network to process it into the desired output format. Typically, the encoder is trained together with the other parts of the network, optimized via back-propagation, to produce encodings specifically useful for the task at hand.</a:t>
            </a:r>
            <a:endParaRPr lang="en-CA" dirty="0"/>
          </a:p>
        </p:txBody>
      </p:sp>
      <p:sp>
        <p:nvSpPr>
          <p:cNvPr id="4" name="Slide Number Placeholder 3"/>
          <p:cNvSpPr>
            <a:spLocks noGrp="1"/>
          </p:cNvSpPr>
          <p:nvPr>
            <p:ph type="sldNum" sz="quarter" idx="5"/>
          </p:nvPr>
        </p:nvSpPr>
        <p:spPr/>
        <p:txBody>
          <a:bodyPr/>
          <a:lstStyle/>
          <a:p>
            <a:fld id="{DE1947D1-7011-447F-908E-AA651505C7D9}" type="slidenum">
              <a:rPr lang="en-CA" smtClean="0"/>
              <a:t>16</a:t>
            </a:fld>
            <a:endParaRPr lang="en-CA"/>
          </a:p>
        </p:txBody>
      </p:sp>
    </p:spTree>
    <p:extLst>
      <p:ext uri="{BB962C8B-B14F-4D97-AF65-F5344CB8AC3E}">
        <p14:creationId xmlns:p14="http://schemas.microsoft.com/office/powerpoint/2010/main" val="16369425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42424"/>
                </a:solidFill>
                <a:effectLst/>
                <a:latin typeface="source-serif-pro"/>
              </a:rPr>
              <a:t>As the encoding (which is simply the output of the hidden layer in the middle) has far less units than the input, the encoder must choose to discard information. The encoder learns to preserve as much of the relevant information as possible in the limited encoding, and intelligently discard irrelevant parts. The decoder learns to take the encoding and properly reconstruct it into a full image. Together, they form an autoencoder.</a:t>
            </a:r>
            <a:endParaRPr lang="en-CA" dirty="0"/>
          </a:p>
        </p:txBody>
      </p:sp>
      <p:sp>
        <p:nvSpPr>
          <p:cNvPr id="4" name="Slide Number Placeholder 3"/>
          <p:cNvSpPr>
            <a:spLocks noGrp="1"/>
          </p:cNvSpPr>
          <p:nvPr>
            <p:ph type="sldNum" sz="quarter" idx="5"/>
          </p:nvPr>
        </p:nvSpPr>
        <p:spPr/>
        <p:txBody>
          <a:bodyPr/>
          <a:lstStyle/>
          <a:p>
            <a:fld id="{DE1947D1-7011-447F-908E-AA651505C7D9}" type="slidenum">
              <a:rPr lang="en-CA" smtClean="0"/>
              <a:t>17</a:t>
            </a:fld>
            <a:endParaRPr lang="en-CA"/>
          </a:p>
        </p:txBody>
      </p:sp>
    </p:spTree>
    <p:extLst>
      <p:ext uri="{BB962C8B-B14F-4D97-AF65-F5344CB8AC3E}">
        <p14:creationId xmlns:p14="http://schemas.microsoft.com/office/powerpoint/2010/main" val="19160275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effectLst/>
                <a:latin typeface="Söhne"/>
              </a:rPr>
              <a:t>In a standard autoencoder, the encoder typically outputs the mean (</a:t>
            </a:r>
            <a:r>
              <a:rPr lang="en-US" b="0" i="0" dirty="0">
                <a:effectLst/>
                <a:latin typeface="KaTeX_Main"/>
              </a:rPr>
              <a:t>�</a:t>
            </a:r>
            <a:r>
              <a:rPr lang="en-US" b="0" i="1" dirty="0">
                <a:effectLst/>
                <a:latin typeface="KaTeX_Math"/>
              </a:rPr>
              <a:t>μ</a:t>
            </a:r>
            <a:r>
              <a:rPr lang="en-US" b="0" i="0" dirty="0">
                <a:effectLst/>
                <a:latin typeface="Söhne"/>
              </a:rPr>
              <a:t>) and standard deviation (</a:t>
            </a:r>
            <a:r>
              <a:rPr lang="en-US" b="0" i="0" dirty="0">
                <a:effectLst/>
                <a:latin typeface="KaTeX_Main"/>
              </a:rPr>
              <a:t>�</a:t>
            </a:r>
            <a:r>
              <a:rPr lang="en-US" b="0" i="1" dirty="0">
                <a:effectLst/>
                <a:latin typeface="KaTeX_Math"/>
              </a:rPr>
              <a:t>σ</a:t>
            </a:r>
            <a:r>
              <a:rPr lang="en-US" b="0" i="0" dirty="0">
                <a:effectLst/>
                <a:latin typeface="Söhne"/>
              </a:rPr>
              <a:t>) of the distribution in the latent space. To sample from this distribution, you would directly sample from </a:t>
            </a:r>
            <a:r>
              <a:rPr lang="en-US" b="0" i="0" dirty="0">
                <a:effectLst/>
                <a:latin typeface="KaTeX_Main"/>
              </a:rPr>
              <a:t>�(�,�2)</a:t>
            </a:r>
            <a:r>
              <a:rPr lang="en-US" b="0" i="0" dirty="0">
                <a:effectLst/>
                <a:latin typeface="KaTeX_Caligraphic"/>
              </a:rPr>
              <a:t>N</a:t>
            </a:r>
            <a:r>
              <a:rPr lang="en-US" b="0" i="0" dirty="0">
                <a:effectLst/>
                <a:latin typeface="KaTeX_Main"/>
              </a:rPr>
              <a:t>(</a:t>
            </a:r>
            <a:r>
              <a:rPr lang="en-US" b="0" i="1" dirty="0">
                <a:effectLst/>
                <a:latin typeface="KaTeX_Math"/>
              </a:rPr>
              <a:t>μ</a:t>
            </a:r>
            <a:r>
              <a:rPr lang="en-US" b="0" i="0" dirty="0">
                <a:effectLst/>
                <a:latin typeface="KaTeX_Main"/>
              </a:rPr>
              <a:t>,</a:t>
            </a:r>
            <a:r>
              <a:rPr lang="en-US" b="0" i="1" dirty="0">
                <a:effectLst/>
                <a:latin typeface="KaTeX_Math"/>
              </a:rPr>
              <a:t>σ</a:t>
            </a:r>
            <a:r>
              <a:rPr lang="en-US" b="0" i="0" dirty="0">
                <a:effectLst/>
                <a:latin typeface="KaTeX_Main"/>
              </a:rPr>
              <a:t>2)</a:t>
            </a:r>
            <a:r>
              <a:rPr lang="en-US" b="0" i="0" dirty="0">
                <a:effectLst/>
                <a:latin typeface="Söhne"/>
              </a:rPr>
              <a:t>.</a:t>
            </a:r>
          </a:p>
          <a:p>
            <a:pPr algn="l"/>
            <a:r>
              <a:rPr lang="en-US" b="0" i="0" dirty="0">
                <a:effectLst/>
                <a:latin typeface="Söhne"/>
              </a:rPr>
              <a:t>However, sampling directly from a stochastic node like this makes it difficult to compute gradients during backpropagation, which is essential for training the model. The reparameterization trick addresses this issue by introducing a deterministic transformation that separates the stochasticity from the parameters.</a:t>
            </a:r>
          </a:p>
          <a:p>
            <a:pPr algn="l"/>
            <a:r>
              <a:rPr lang="en-US" b="0" i="0" dirty="0">
                <a:effectLst/>
                <a:latin typeface="Söhne"/>
              </a:rPr>
              <a:t>Instead of sampling directly from </a:t>
            </a:r>
            <a:r>
              <a:rPr lang="en-US" b="0" i="0" dirty="0">
                <a:effectLst/>
                <a:latin typeface="KaTeX_Main"/>
              </a:rPr>
              <a:t>�(�,�2)</a:t>
            </a:r>
            <a:r>
              <a:rPr lang="en-US" b="0" i="0" dirty="0">
                <a:effectLst/>
                <a:latin typeface="KaTeX_Caligraphic"/>
              </a:rPr>
              <a:t>N</a:t>
            </a:r>
            <a:r>
              <a:rPr lang="en-US" b="0" i="0" dirty="0">
                <a:effectLst/>
                <a:latin typeface="KaTeX_Main"/>
              </a:rPr>
              <a:t>(</a:t>
            </a:r>
            <a:r>
              <a:rPr lang="en-US" b="0" i="1" dirty="0">
                <a:effectLst/>
                <a:latin typeface="KaTeX_Math"/>
              </a:rPr>
              <a:t>μ</a:t>
            </a:r>
            <a:r>
              <a:rPr lang="en-US" b="0" i="0" dirty="0">
                <a:effectLst/>
                <a:latin typeface="KaTeX_Main"/>
              </a:rPr>
              <a:t>,</a:t>
            </a:r>
            <a:r>
              <a:rPr lang="en-US" b="0" i="1" dirty="0">
                <a:effectLst/>
                <a:latin typeface="KaTeX_Math"/>
              </a:rPr>
              <a:t>σ</a:t>
            </a:r>
            <a:r>
              <a:rPr lang="en-US" b="0" i="0" dirty="0">
                <a:effectLst/>
                <a:latin typeface="KaTeX_Main"/>
              </a:rPr>
              <a:t>2)</a:t>
            </a:r>
            <a:r>
              <a:rPr lang="en-US" b="0" i="0" dirty="0">
                <a:effectLst/>
                <a:latin typeface="Söhne"/>
              </a:rPr>
              <a:t>, the reparameterization trick samples from a simple distribution, usually </a:t>
            </a:r>
            <a:r>
              <a:rPr lang="en-US" b="0" i="0" dirty="0">
                <a:effectLst/>
                <a:latin typeface="KaTeX_Main"/>
              </a:rPr>
              <a:t>�(0,1)</a:t>
            </a:r>
            <a:r>
              <a:rPr lang="en-US" b="0" i="0" dirty="0">
                <a:effectLst/>
                <a:latin typeface="KaTeX_Caligraphic"/>
              </a:rPr>
              <a:t>N</a:t>
            </a:r>
            <a:r>
              <a:rPr lang="en-US" b="0" i="0" dirty="0">
                <a:effectLst/>
                <a:latin typeface="KaTeX_Main"/>
              </a:rPr>
              <a:t>(0,1)</a:t>
            </a:r>
            <a:r>
              <a:rPr lang="en-US" b="0" i="0" dirty="0">
                <a:effectLst/>
                <a:latin typeface="Söhne"/>
              </a:rPr>
              <a:t>, and then transforms the sampled values to obtain a sample from the desired distribution. This transformation is done using the mean and standard deviation obtained from the encoder.</a:t>
            </a:r>
          </a:p>
          <a:p>
            <a:endParaRPr lang="en-CA" dirty="0"/>
          </a:p>
        </p:txBody>
      </p:sp>
      <p:sp>
        <p:nvSpPr>
          <p:cNvPr id="4" name="Slide Number Placeholder 3"/>
          <p:cNvSpPr>
            <a:spLocks noGrp="1"/>
          </p:cNvSpPr>
          <p:nvPr>
            <p:ph type="sldNum" sz="quarter" idx="5"/>
          </p:nvPr>
        </p:nvSpPr>
        <p:spPr/>
        <p:txBody>
          <a:bodyPr/>
          <a:lstStyle/>
          <a:p>
            <a:fld id="{DE1947D1-7011-447F-908E-AA651505C7D9}" type="slidenum">
              <a:rPr lang="en-CA" smtClean="0"/>
              <a:t>26</a:t>
            </a:fld>
            <a:endParaRPr lang="en-CA"/>
          </a:p>
        </p:txBody>
      </p:sp>
    </p:spTree>
    <p:extLst>
      <p:ext uri="{BB962C8B-B14F-4D97-AF65-F5344CB8AC3E}">
        <p14:creationId xmlns:p14="http://schemas.microsoft.com/office/powerpoint/2010/main" val="22905540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E1E1E"/>
                </a:solidFill>
                <a:effectLst/>
                <a:latin typeface="Roboto" panose="02000000000000000000" pitchFamily="2" charset="0"/>
              </a:rPr>
              <a:t>In VAE, we optimize two loss functions: reconstruction loss and KL-divergence loss. We will learn about them in detail in the next section. For now, remember that the reconstruction loss ensures that the images generated by the decoder are similar to the input or the ones in the dataset. While the KL-divergence measures the divergence between a pair of probability distributions, in this case, the pair of distributions being the latent vector  ( sampled from  and  ) and unit normal distribution . KL-divergence ensures that the latent-variables are close to the standard normal distribution.</a:t>
            </a:r>
            <a:endParaRPr lang="en-CA" dirty="0"/>
          </a:p>
        </p:txBody>
      </p:sp>
      <p:sp>
        <p:nvSpPr>
          <p:cNvPr id="4" name="Slide Number Placeholder 3"/>
          <p:cNvSpPr>
            <a:spLocks noGrp="1"/>
          </p:cNvSpPr>
          <p:nvPr>
            <p:ph type="sldNum" sz="quarter" idx="5"/>
          </p:nvPr>
        </p:nvSpPr>
        <p:spPr/>
        <p:txBody>
          <a:bodyPr/>
          <a:lstStyle/>
          <a:p>
            <a:fld id="{DE1947D1-7011-447F-908E-AA651505C7D9}" type="slidenum">
              <a:rPr lang="en-CA" smtClean="0"/>
              <a:t>27</a:t>
            </a:fld>
            <a:endParaRPr lang="en-CA"/>
          </a:p>
        </p:txBody>
      </p:sp>
    </p:spTree>
    <p:extLst>
      <p:ext uri="{BB962C8B-B14F-4D97-AF65-F5344CB8AC3E}">
        <p14:creationId xmlns:p14="http://schemas.microsoft.com/office/powerpoint/2010/main" val="17115700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CD794-3852-A35D-0F44-5DAC86EE78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32A7F8CD-0767-2C38-4BA8-89A3F1F800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25345A17-2A96-3436-AC58-824FBBFF9580}"/>
              </a:ext>
            </a:extLst>
          </p:cNvPr>
          <p:cNvSpPr>
            <a:spLocks noGrp="1"/>
          </p:cNvSpPr>
          <p:nvPr>
            <p:ph type="dt" sz="half" idx="10"/>
          </p:nvPr>
        </p:nvSpPr>
        <p:spPr/>
        <p:txBody>
          <a:bodyPr/>
          <a:lstStyle/>
          <a:p>
            <a:fld id="{73093B10-2313-47F4-BEBA-395497299415}" type="datetimeFigureOut">
              <a:rPr lang="en-CA" smtClean="0"/>
              <a:t>2024-04-03</a:t>
            </a:fld>
            <a:endParaRPr lang="en-CA"/>
          </a:p>
        </p:txBody>
      </p:sp>
      <p:sp>
        <p:nvSpPr>
          <p:cNvPr id="5" name="Footer Placeholder 4">
            <a:extLst>
              <a:ext uri="{FF2B5EF4-FFF2-40B4-BE49-F238E27FC236}">
                <a16:creationId xmlns:a16="http://schemas.microsoft.com/office/drawing/2014/main" id="{AED05DAA-7A8F-3E65-53D5-F1D2A6C6378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7E13CBE-4872-4CD8-8D19-977EE0F88677}"/>
              </a:ext>
            </a:extLst>
          </p:cNvPr>
          <p:cNvSpPr>
            <a:spLocks noGrp="1"/>
          </p:cNvSpPr>
          <p:nvPr>
            <p:ph type="sldNum" sz="quarter" idx="12"/>
          </p:nvPr>
        </p:nvSpPr>
        <p:spPr/>
        <p:txBody>
          <a:bodyPr/>
          <a:lstStyle/>
          <a:p>
            <a:fld id="{30AB30FD-5A44-4CFB-A5CE-F26B96C5F57E}" type="slidenum">
              <a:rPr lang="en-CA" smtClean="0"/>
              <a:t>‹#›</a:t>
            </a:fld>
            <a:endParaRPr lang="en-CA"/>
          </a:p>
        </p:txBody>
      </p:sp>
    </p:spTree>
    <p:extLst>
      <p:ext uri="{BB962C8B-B14F-4D97-AF65-F5344CB8AC3E}">
        <p14:creationId xmlns:p14="http://schemas.microsoft.com/office/powerpoint/2010/main" val="20540891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4E4CF-00D8-3D1C-1900-340E2F29420F}"/>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759CAFDF-2931-FE57-A871-2EBDFFD0E5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4436D0C-4C0D-18A6-CF95-58F3E11F8F01}"/>
              </a:ext>
            </a:extLst>
          </p:cNvPr>
          <p:cNvSpPr>
            <a:spLocks noGrp="1"/>
          </p:cNvSpPr>
          <p:nvPr>
            <p:ph type="dt" sz="half" idx="10"/>
          </p:nvPr>
        </p:nvSpPr>
        <p:spPr/>
        <p:txBody>
          <a:bodyPr/>
          <a:lstStyle/>
          <a:p>
            <a:fld id="{73093B10-2313-47F4-BEBA-395497299415}" type="datetimeFigureOut">
              <a:rPr lang="en-CA" smtClean="0"/>
              <a:t>2024-04-03</a:t>
            </a:fld>
            <a:endParaRPr lang="en-CA"/>
          </a:p>
        </p:txBody>
      </p:sp>
      <p:sp>
        <p:nvSpPr>
          <p:cNvPr id="5" name="Footer Placeholder 4">
            <a:extLst>
              <a:ext uri="{FF2B5EF4-FFF2-40B4-BE49-F238E27FC236}">
                <a16:creationId xmlns:a16="http://schemas.microsoft.com/office/drawing/2014/main" id="{F36B6179-503E-FAA3-B801-D45025718F5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954A61C-346E-56D3-F807-FF02C5B4B8DB}"/>
              </a:ext>
            </a:extLst>
          </p:cNvPr>
          <p:cNvSpPr>
            <a:spLocks noGrp="1"/>
          </p:cNvSpPr>
          <p:nvPr>
            <p:ph type="sldNum" sz="quarter" idx="12"/>
          </p:nvPr>
        </p:nvSpPr>
        <p:spPr/>
        <p:txBody>
          <a:bodyPr/>
          <a:lstStyle/>
          <a:p>
            <a:fld id="{30AB30FD-5A44-4CFB-A5CE-F26B96C5F57E}" type="slidenum">
              <a:rPr lang="en-CA" smtClean="0"/>
              <a:t>‹#›</a:t>
            </a:fld>
            <a:endParaRPr lang="en-CA"/>
          </a:p>
        </p:txBody>
      </p:sp>
    </p:spTree>
    <p:extLst>
      <p:ext uri="{BB962C8B-B14F-4D97-AF65-F5344CB8AC3E}">
        <p14:creationId xmlns:p14="http://schemas.microsoft.com/office/powerpoint/2010/main" val="36744071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00482-CCC7-8701-A902-ABC798AED9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0227B6AC-2375-6085-318E-99074A26FD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6F4B39-089A-BFE6-5369-97E35A644F6A}"/>
              </a:ext>
            </a:extLst>
          </p:cNvPr>
          <p:cNvSpPr>
            <a:spLocks noGrp="1"/>
          </p:cNvSpPr>
          <p:nvPr>
            <p:ph type="dt" sz="half" idx="10"/>
          </p:nvPr>
        </p:nvSpPr>
        <p:spPr/>
        <p:txBody>
          <a:bodyPr/>
          <a:lstStyle/>
          <a:p>
            <a:fld id="{73093B10-2313-47F4-BEBA-395497299415}" type="datetimeFigureOut">
              <a:rPr lang="en-CA" smtClean="0"/>
              <a:t>2024-04-03</a:t>
            </a:fld>
            <a:endParaRPr lang="en-CA"/>
          </a:p>
        </p:txBody>
      </p:sp>
      <p:sp>
        <p:nvSpPr>
          <p:cNvPr id="5" name="Footer Placeholder 4">
            <a:extLst>
              <a:ext uri="{FF2B5EF4-FFF2-40B4-BE49-F238E27FC236}">
                <a16:creationId xmlns:a16="http://schemas.microsoft.com/office/drawing/2014/main" id="{3A40CEC5-F25B-031F-F4B8-FED6BF9A310C}"/>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E7BB134-AEC8-CA07-9AAB-B5FF9962B7F0}"/>
              </a:ext>
            </a:extLst>
          </p:cNvPr>
          <p:cNvSpPr>
            <a:spLocks noGrp="1"/>
          </p:cNvSpPr>
          <p:nvPr>
            <p:ph type="sldNum" sz="quarter" idx="12"/>
          </p:nvPr>
        </p:nvSpPr>
        <p:spPr/>
        <p:txBody>
          <a:bodyPr/>
          <a:lstStyle/>
          <a:p>
            <a:fld id="{30AB30FD-5A44-4CFB-A5CE-F26B96C5F57E}" type="slidenum">
              <a:rPr lang="en-CA" smtClean="0"/>
              <a:t>‹#›</a:t>
            </a:fld>
            <a:endParaRPr lang="en-CA"/>
          </a:p>
        </p:txBody>
      </p:sp>
    </p:spTree>
    <p:extLst>
      <p:ext uri="{BB962C8B-B14F-4D97-AF65-F5344CB8AC3E}">
        <p14:creationId xmlns:p14="http://schemas.microsoft.com/office/powerpoint/2010/main" val="3951634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A2E59-BFB2-A1BB-4C22-6263F0C8D4CA}"/>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4EDF0B50-0FAA-A47D-769E-BFD7628D7F9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03B1062A-2B0F-CE68-FD02-9AA89491C47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58753FF6-095A-AF93-84E6-5FD9E03643F7}"/>
              </a:ext>
            </a:extLst>
          </p:cNvPr>
          <p:cNvSpPr>
            <a:spLocks noGrp="1"/>
          </p:cNvSpPr>
          <p:nvPr>
            <p:ph type="dt" sz="half" idx="10"/>
          </p:nvPr>
        </p:nvSpPr>
        <p:spPr/>
        <p:txBody>
          <a:bodyPr/>
          <a:lstStyle/>
          <a:p>
            <a:fld id="{73093B10-2313-47F4-BEBA-395497299415}" type="datetimeFigureOut">
              <a:rPr lang="en-CA" smtClean="0"/>
              <a:t>2024-04-03</a:t>
            </a:fld>
            <a:endParaRPr lang="en-CA"/>
          </a:p>
        </p:txBody>
      </p:sp>
      <p:sp>
        <p:nvSpPr>
          <p:cNvPr id="6" name="Footer Placeholder 5">
            <a:extLst>
              <a:ext uri="{FF2B5EF4-FFF2-40B4-BE49-F238E27FC236}">
                <a16:creationId xmlns:a16="http://schemas.microsoft.com/office/drawing/2014/main" id="{C8351BD2-8743-491B-0845-4A7C98E3FC04}"/>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6D9A9964-4843-BBF0-A8D5-0E0373CD9B90}"/>
              </a:ext>
            </a:extLst>
          </p:cNvPr>
          <p:cNvSpPr>
            <a:spLocks noGrp="1"/>
          </p:cNvSpPr>
          <p:nvPr>
            <p:ph type="sldNum" sz="quarter" idx="12"/>
          </p:nvPr>
        </p:nvSpPr>
        <p:spPr/>
        <p:txBody>
          <a:bodyPr/>
          <a:lstStyle/>
          <a:p>
            <a:fld id="{30AB30FD-5A44-4CFB-A5CE-F26B96C5F57E}" type="slidenum">
              <a:rPr lang="en-CA" smtClean="0"/>
              <a:t>‹#›</a:t>
            </a:fld>
            <a:endParaRPr lang="en-CA"/>
          </a:p>
        </p:txBody>
      </p:sp>
    </p:spTree>
    <p:extLst>
      <p:ext uri="{BB962C8B-B14F-4D97-AF65-F5344CB8AC3E}">
        <p14:creationId xmlns:p14="http://schemas.microsoft.com/office/powerpoint/2010/main" val="404707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D6431-5E29-7F33-E6CA-C50E6FF3AC7B}"/>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3C61E4E-DBAF-CCDF-1103-CF7258B878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BB7855-B762-4EA8-2C3D-38596B839D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310A7595-1F18-40AD-E829-525E130D31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2F9608-7584-3AC5-384B-845B2A251FF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AF759B41-E7E4-C7D6-1476-0E888F389B12}"/>
              </a:ext>
            </a:extLst>
          </p:cNvPr>
          <p:cNvSpPr>
            <a:spLocks noGrp="1"/>
          </p:cNvSpPr>
          <p:nvPr>
            <p:ph type="dt" sz="half" idx="10"/>
          </p:nvPr>
        </p:nvSpPr>
        <p:spPr/>
        <p:txBody>
          <a:bodyPr/>
          <a:lstStyle/>
          <a:p>
            <a:fld id="{73093B10-2313-47F4-BEBA-395497299415}" type="datetimeFigureOut">
              <a:rPr lang="en-CA" smtClean="0"/>
              <a:t>2024-04-03</a:t>
            </a:fld>
            <a:endParaRPr lang="en-CA"/>
          </a:p>
        </p:txBody>
      </p:sp>
      <p:sp>
        <p:nvSpPr>
          <p:cNvPr id="8" name="Footer Placeholder 7">
            <a:extLst>
              <a:ext uri="{FF2B5EF4-FFF2-40B4-BE49-F238E27FC236}">
                <a16:creationId xmlns:a16="http://schemas.microsoft.com/office/drawing/2014/main" id="{1D84CAD9-B108-DE19-0E8C-8B4376D9E45B}"/>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6EE4A809-EA27-F881-2741-8480F129FBB7}"/>
              </a:ext>
            </a:extLst>
          </p:cNvPr>
          <p:cNvSpPr>
            <a:spLocks noGrp="1"/>
          </p:cNvSpPr>
          <p:nvPr>
            <p:ph type="sldNum" sz="quarter" idx="12"/>
          </p:nvPr>
        </p:nvSpPr>
        <p:spPr/>
        <p:txBody>
          <a:bodyPr/>
          <a:lstStyle/>
          <a:p>
            <a:fld id="{30AB30FD-5A44-4CFB-A5CE-F26B96C5F57E}" type="slidenum">
              <a:rPr lang="en-CA" smtClean="0"/>
              <a:t>‹#›</a:t>
            </a:fld>
            <a:endParaRPr lang="en-CA"/>
          </a:p>
        </p:txBody>
      </p:sp>
    </p:spTree>
    <p:extLst>
      <p:ext uri="{BB962C8B-B14F-4D97-AF65-F5344CB8AC3E}">
        <p14:creationId xmlns:p14="http://schemas.microsoft.com/office/powerpoint/2010/main" val="1036165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42C70-19CF-8158-CB53-1A1402CA7CBF}"/>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5DA2C2BB-6AFC-B4CE-07BB-BC10FBAB7AFA}"/>
              </a:ext>
            </a:extLst>
          </p:cNvPr>
          <p:cNvSpPr>
            <a:spLocks noGrp="1"/>
          </p:cNvSpPr>
          <p:nvPr>
            <p:ph type="dt" sz="half" idx="10"/>
          </p:nvPr>
        </p:nvSpPr>
        <p:spPr/>
        <p:txBody>
          <a:bodyPr/>
          <a:lstStyle/>
          <a:p>
            <a:fld id="{73093B10-2313-47F4-BEBA-395497299415}" type="datetimeFigureOut">
              <a:rPr lang="en-CA" smtClean="0"/>
              <a:t>2024-04-03</a:t>
            </a:fld>
            <a:endParaRPr lang="en-CA"/>
          </a:p>
        </p:txBody>
      </p:sp>
      <p:sp>
        <p:nvSpPr>
          <p:cNvPr id="4" name="Footer Placeholder 3">
            <a:extLst>
              <a:ext uri="{FF2B5EF4-FFF2-40B4-BE49-F238E27FC236}">
                <a16:creationId xmlns:a16="http://schemas.microsoft.com/office/drawing/2014/main" id="{044FDA64-126A-7B2D-F2B3-762858E40174}"/>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2FF8A2B6-16D3-768B-EA81-A420404B53E5}"/>
              </a:ext>
            </a:extLst>
          </p:cNvPr>
          <p:cNvSpPr>
            <a:spLocks noGrp="1"/>
          </p:cNvSpPr>
          <p:nvPr>
            <p:ph type="sldNum" sz="quarter" idx="12"/>
          </p:nvPr>
        </p:nvSpPr>
        <p:spPr/>
        <p:txBody>
          <a:bodyPr/>
          <a:lstStyle/>
          <a:p>
            <a:fld id="{30AB30FD-5A44-4CFB-A5CE-F26B96C5F57E}" type="slidenum">
              <a:rPr lang="en-CA" smtClean="0"/>
              <a:t>‹#›</a:t>
            </a:fld>
            <a:endParaRPr lang="en-CA"/>
          </a:p>
        </p:txBody>
      </p:sp>
    </p:spTree>
    <p:extLst>
      <p:ext uri="{BB962C8B-B14F-4D97-AF65-F5344CB8AC3E}">
        <p14:creationId xmlns:p14="http://schemas.microsoft.com/office/powerpoint/2010/main" val="4237193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3DF34A-F072-DF45-A081-47FDB6295135}"/>
              </a:ext>
            </a:extLst>
          </p:cNvPr>
          <p:cNvSpPr>
            <a:spLocks noGrp="1"/>
          </p:cNvSpPr>
          <p:nvPr>
            <p:ph type="dt" sz="half" idx="10"/>
          </p:nvPr>
        </p:nvSpPr>
        <p:spPr/>
        <p:txBody>
          <a:bodyPr/>
          <a:lstStyle/>
          <a:p>
            <a:fld id="{73093B10-2313-47F4-BEBA-395497299415}" type="datetimeFigureOut">
              <a:rPr lang="en-CA" smtClean="0"/>
              <a:t>2024-04-03</a:t>
            </a:fld>
            <a:endParaRPr lang="en-CA"/>
          </a:p>
        </p:txBody>
      </p:sp>
      <p:sp>
        <p:nvSpPr>
          <p:cNvPr id="3" name="Footer Placeholder 2">
            <a:extLst>
              <a:ext uri="{FF2B5EF4-FFF2-40B4-BE49-F238E27FC236}">
                <a16:creationId xmlns:a16="http://schemas.microsoft.com/office/drawing/2014/main" id="{C279A3E1-A594-3D16-2087-AA5D184B42CB}"/>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E55898F8-D7B7-7044-DDCD-BDF662880DE2}"/>
              </a:ext>
            </a:extLst>
          </p:cNvPr>
          <p:cNvSpPr>
            <a:spLocks noGrp="1"/>
          </p:cNvSpPr>
          <p:nvPr>
            <p:ph type="sldNum" sz="quarter" idx="12"/>
          </p:nvPr>
        </p:nvSpPr>
        <p:spPr/>
        <p:txBody>
          <a:bodyPr/>
          <a:lstStyle/>
          <a:p>
            <a:fld id="{30AB30FD-5A44-4CFB-A5CE-F26B96C5F57E}" type="slidenum">
              <a:rPr lang="en-CA" smtClean="0"/>
              <a:t>‹#›</a:t>
            </a:fld>
            <a:endParaRPr lang="en-CA"/>
          </a:p>
        </p:txBody>
      </p:sp>
    </p:spTree>
    <p:extLst>
      <p:ext uri="{BB962C8B-B14F-4D97-AF65-F5344CB8AC3E}">
        <p14:creationId xmlns:p14="http://schemas.microsoft.com/office/powerpoint/2010/main" val="39109746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EF2E6-0448-6DD9-85CB-D4C056DE29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397E2C48-AEA4-0ECA-8694-5DA3FC0776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B67F9937-59F2-8495-10A0-CF6EA2F90F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F4E6A5-7F30-66F4-0941-38C435DDC656}"/>
              </a:ext>
            </a:extLst>
          </p:cNvPr>
          <p:cNvSpPr>
            <a:spLocks noGrp="1"/>
          </p:cNvSpPr>
          <p:nvPr>
            <p:ph type="dt" sz="half" idx="10"/>
          </p:nvPr>
        </p:nvSpPr>
        <p:spPr/>
        <p:txBody>
          <a:bodyPr/>
          <a:lstStyle/>
          <a:p>
            <a:fld id="{73093B10-2313-47F4-BEBA-395497299415}" type="datetimeFigureOut">
              <a:rPr lang="en-CA" smtClean="0"/>
              <a:t>2024-04-03</a:t>
            </a:fld>
            <a:endParaRPr lang="en-CA"/>
          </a:p>
        </p:txBody>
      </p:sp>
      <p:sp>
        <p:nvSpPr>
          <p:cNvPr id="6" name="Footer Placeholder 5">
            <a:extLst>
              <a:ext uri="{FF2B5EF4-FFF2-40B4-BE49-F238E27FC236}">
                <a16:creationId xmlns:a16="http://schemas.microsoft.com/office/drawing/2014/main" id="{BD1C7B22-B3DB-2742-E125-F397E77EA799}"/>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EF85CD36-B11E-FD4E-50BB-336D6EAB6AC8}"/>
              </a:ext>
            </a:extLst>
          </p:cNvPr>
          <p:cNvSpPr>
            <a:spLocks noGrp="1"/>
          </p:cNvSpPr>
          <p:nvPr>
            <p:ph type="sldNum" sz="quarter" idx="12"/>
          </p:nvPr>
        </p:nvSpPr>
        <p:spPr/>
        <p:txBody>
          <a:bodyPr/>
          <a:lstStyle/>
          <a:p>
            <a:fld id="{30AB30FD-5A44-4CFB-A5CE-F26B96C5F57E}" type="slidenum">
              <a:rPr lang="en-CA" smtClean="0"/>
              <a:t>‹#›</a:t>
            </a:fld>
            <a:endParaRPr lang="en-CA"/>
          </a:p>
        </p:txBody>
      </p:sp>
    </p:spTree>
    <p:extLst>
      <p:ext uri="{BB962C8B-B14F-4D97-AF65-F5344CB8AC3E}">
        <p14:creationId xmlns:p14="http://schemas.microsoft.com/office/powerpoint/2010/main" val="26619421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E8824-A6AF-951C-ED45-6027A5AF12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9A576EB7-0E7B-A512-76DA-7C5A767C34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F958E75D-8B8D-535B-FD1B-BED6991D4F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9F28CC-E26A-EBD7-AE9C-06DAD1113B0D}"/>
              </a:ext>
            </a:extLst>
          </p:cNvPr>
          <p:cNvSpPr>
            <a:spLocks noGrp="1"/>
          </p:cNvSpPr>
          <p:nvPr>
            <p:ph type="dt" sz="half" idx="10"/>
          </p:nvPr>
        </p:nvSpPr>
        <p:spPr/>
        <p:txBody>
          <a:bodyPr/>
          <a:lstStyle/>
          <a:p>
            <a:fld id="{73093B10-2313-47F4-BEBA-395497299415}" type="datetimeFigureOut">
              <a:rPr lang="en-CA" smtClean="0"/>
              <a:t>2024-04-03</a:t>
            </a:fld>
            <a:endParaRPr lang="en-CA"/>
          </a:p>
        </p:txBody>
      </p:sp>
      <p:sp>
        <p:nvSpPr>
          <p:cNvPr id="6" name="Footer Placeholder 5">
            <a:extLst>
              <a:ext uri="{FF2B5EF4-FFF2-40B4-BE49-F238E27FC236}">
                <a16:creationId xmlns:a16="http://schemas.microsoft.com/office/drawing/2014/main" id="{5008A8FC-1E96-3717-70BE-E45042182312}"/>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60D2D45C-A633-2367-75D3-490044E74331}"/>
              </a:ext>
            </a:extLst>
          </p:cNvPr>
          <p:cNvSpPr>
            <a:spLocks noGrp="1"/>
          </p:cNvSpPr>
          <p:nvPr>
            <p:ph type="sldNum" sz="quarter" idx="12"/>
          </p:nvPr>
        </p:nvSpPr>
        <p:spPr/>
        <p:txBody>
          <a:bodyPr/>
          <a:lstStyle/>
          <a:p>
            <a:fld id="{30AB30FD-5A44-4CFB-A5CE-F26B96C5F57E}" type="slidenum">
              <a:rPr lang="en-CA" smtClean="0"/>
              <a:t>‹#›</a:t>
            </a:fld>
            <a:endParaRPr lang="en-CA"/>
          </a:p>
        </p:txBody>
      </p:sp>
    </p:spTree>
    <p:extLst>
      <p:ext uri="{BB962C8B-B14F-4D97-AF65-F5344CB8AC3E}">
        <p14:creationId xmlns:p14="http://schemas.microsoft.com/office/powerpoint/2010/main" val="41013981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42BED-65D6-17DA-55A6-49C777A8F162}"/>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06BB5BA7-9DA4-C589-87BD-3F95A13023D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71E61D5-297C-46F5-D676-B10EEEC78ECE}"/>
              </a:ext>
            </a:extLst>
          </p:cNvPr>
          <p:cNvSpPr>
            <a:spLocks noGrp="1"/>
          </p:cNvSpPr>
          <p:nvPr>
            <p:ph type="dt" sz="half" idx="10"/>
          </p:nvPr>
        </p:nvSpPr>
        <p:spPr/>
        <p:txBody>
          <a:bodyPr/>
          <a:lstStyle/>
          <a:p>
            <a:fld id="{73093B10-2313-47F4-BEBA-395497299415}" type="datetimeFigureOut">
              <a:rPr lang="en-CA" smtClean="0"/>
              <a:t>2024-04-03</a:t>
            </a:fld>
            <a:endParaRPr lang="en-CA"/>
          </a:p>
        </p:txBody>
      </p:sp>
      <p:sp>
        <p:nvSpPr>
          <p:cNvPr id="5" name="Footer Placeholder 4">
            <a:extLst>
              <a:ext uri="{FF2B5EF4-FFF2-40B4-BE49-F238E27FC236}">
                <a16:creationId xmlns:a16="http://schemas.microsoft.com/office/drawing/2014/main" id="{FC3DC520-F04F-007B-F9EA-241B60A8D64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FB46012-EA14-8E8B-20B6-23EFE4550BFE}"/>
              </a:ext>
            </a:extLst>
          </p:cNvPr>
          <p:cNvSpPr>
            <a:spLocks noGrp="1"/>
          </p:cNvSpPr>
          <p:nvPr>
            <p:ph type="sldNum" sz="quarter" idx="12"/>
          </p:nvPr>
        </p:nvSpPr>
        <p:spPr/>
        <p:txBody>
          <a:bodyPr/>
          <a:lstStyle/>
          <a:p>
            <a:fld id="{30AB30FD-5A44-4CFB-A5CE-F26B96C5F57E}" type="slidenum">
              <a:rPr lang="en-CA" smtClean="0"/>
              <a:t>‹#›</a:t>
            </a:fld>
            <a:endParaRPr lang="en-CA"/>
          </a:p>
        </p:txBody>
      </p:sp>
    </p:spTree>
    <p:extLst>
      <p:ext uri="{BB962C8B-B14F-4D97-AF65-F5344CB8AC3E}">
        <p14:creationId xmlns:p14="http://schemas.microsoft.com/office/powerpoint/2010/main" val="339587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46D602-B592-CB4A-8390-1A656775E1F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D6F31872-684F-9A79-65C0-0C62969219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7DF56B9-E7F4-04CC-1F20-B9524AC34A2D}"/>
              </a:ext>
            </a:extLst>
          </p:cNvPr>
          <p:cNvSpPr>
            <a:spLocks noGrp="1"/>
          </p:cNvSpPr>
          <p:nvPr>
            <p:ph type="dt" sz="half" idx="10"/>
          </p:nvPr>
        </p:nvSpPr>
        <p:spPr/>
        <p:txBody>
          <a:bodyPr/>
          <a:lstStyle/>
          <a:p>
            <a:fld id="{73093B10-2313-47F4-BEBA-395497299415}" type="datetimeFigureOut">
              <a:rPr lang="en-CA" smtClean="0"/>
              <a:t>2024-04-03</a:t>
            </a:fld>
            <a:endParaRPr lang="en-CA"/>
          </a:p>
        </p:txBody>
      </p:sp>
      <p:sp>
        <p:nvSpPr>
          <p:cNvPr id="5" name="Footer Placeholder 4">
            <a:extLst>
              <a:ext uri="{FF2B5EF4-FFF2-40B4-BE49-F238E27FC236}">
                <a16:creationId xmlns:a16="http://schemas.microsoft.com/office/drawing/2014/main" id="{9E0F7440-98E8-A2DB-BB1E-4CE5FB1FF4D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890DFFB-E4CD-1291-80D3-9D5ACCAD7B3D}"/>
              </a:ext>
            </a:extLst>
          </p:cNvPr>
          <p:cNvSpPr>
            <a:spLocks noGrp="1"/>
          </p:cNvSpPr>
          <p:nvPr>
            <p:ph type="sldNum" sz="quarter" idx="12"/>
          </p:nvPr>
        </p:nvSpPr>
        <p:spPr/>
        <p:txBody>
          <a:bodyPr/>
          <a:lstStyle/>
          <a:p>
            <a:fld id="{30AB30FD-5A44-4CFB-A5CE-F26B96C5F57E}" type="slidenum">
              <a:rPr lang="en-CA" smtClean="0"/>
              <a:t>‹#›</a:t>
            </a:fld>
            <a:endParaRPr lang="en-CA"/>
          </a:p>
        </p:txBody>
      </p:sp>
    </p:spTree>
    <p:extLst>
      <p:ext uri="{BB962C8B-B14F-4D97-AF65-F5344CB8AC3E}">
        <p14:creationId xmlns:p14="http://schemas.microsoft.com/office/powerpoint/2010/main" val="1425401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5E1259-C738-8D74-12CD-6097CAC7F9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F63B8A4-8CD9-2274-E7E1-A27DF30D71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9C09E89-B72E-6803-A4DB-95C9F1DD7D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093B10-2313-47F4-BEBA-395497299415}" type="datetimeFigureOut">
              <a:rPr lang="en-CA" smtClean="0"/>
              <a:t>2024-04-03</a:t>
            </a:fld>
            <a:endParaRPr lang="en-CA"/>
          </a:p>
        </p:txBody>
      </p:sp>
      <p:sp>
        <p:nvSpPr>
          <p:cNvPr id="5" name="Footer Placeholder 4">
            <a:extLst>
              <a:ext uri="{FF2B5EF4-FFF2-40B4-BE49-F238E27FC236}">
                <a16:creationId xmlns:a16="http://schemas.microsoft.com/office/drawing/2014/main" id="{9F132849-95F9-A74C-0DE4-1FE75519CB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FCFD4AC8-325D-F341-BB2F-726B8271DA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AB30FD-5A44-4CFB-A5CE-F26B96C5F57E}" type="slidenum">
              <a:rPr lang="en-CA" smtClean="0"/>
              <a:t>‹#›</a:t>
            </a:fld>
            <a:endParaRPr lang="en-CA"/>
          </a:p>
        </p:txBody>
      </p:sp>
    </p:spTree>
    <p:extLst>
      <p:ext uri="{BB962C8B-B14F-4D97-AF65-F5344CB8AC3E}">
        <p14:creationId xmlns:p14="http://schemas.microsoft.com/office/powerpoint/2010/main" val="13151579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11.png"/><Relationship Id="rId4" Type="http://schemas.openxmlformats.org/officeDocument/2006/relationships/image" Target="../media/image3.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78204-750B-3F8E-E19A-A2C4FFCFCEC9}"/>
              </a:ext>
            </a:extLst>
          </p:cNvPr>
          <p:cNvSpPr>
            <a:spLocks noGrp="1"/>
          </p:cNvSpPr>
          <p:nvPr>
            <p:ph type="ctrTitle"/>
          </p:nvPr>
        </p:nvSpPr>
        <p:spPr>
          <a:xfrm>
            <a:off x="1524000" y="1214438"/>
            <a:ext cx="9144000" cy="2387600"/>
          </a:xfrm>
        </p:spPr>
        <p:txBody>
          <a:bodyPr>
            <a:normAutofit fontScale="90000"/>
          </a:bodyPr>
          <a:lstStyle/>
          <a:p>
            <a:r>
              <a:rPr lang="en-CA" b="1" i="0" dirty="0">
                <a:solidFill>
                  <a:srgbClr val="242424"/>
                </a:solidFill>
                <a:effectLst/>
                <a:latin typeface="sohne"/>
              </a:rPr>
              <a:t>Autoencoder and </a:t>
            </a:r>
            <a:br>
              <a:rPr lang="en-CA" b="1" i="0" dirty="0">
                <a:solidFill>
                  <a:srgbClr val="242424"/>
                </a:solidFill>
                <a:effectLst/>
                <a:latin typeface="sohne"/>
              </a:rPr>
            </a:br>
            <a:r>
              <a:rPr lang="en-CA" b="1" i="0" dirty="0">
                <a:solidFill>
                  <a:srgbClr val="242424"/>
                </a:solidFill>
                <a:effectLst/>
                <a:latin typeface="sohne"/>
              </a:rPr>
              <a:t>Variational Autoencoder</a:t>
            </a:r>
            <a:br>
              <a:rPr lang="en-CA" b="1" i="0" dirty="0">
                <a:solidFill>
                  <a:srgbClr val="242424"/>
                </a:solidFill>
                <a:effectLst/>
                <a:latin typeface="sohne"/>
              </a:rPr>
            </a:br>
            <a:endParaRPr lang="en-CA" dirty="0"/>
          </a:p>
        </p:txBody>
      </p:sp>
      <p:sp>
        <p:nvSpPr>
          <p:cNvPr id="3" name="Subtitle 2">
            <a:extLst>
              <a:ext uri="{FF2B5EF4-FFF2-40B4-BE49-F238E27FC236}">
                <a16:creationId xmlns:a16="http://schemas.microsoft.com/office/drawing/2014/main" id="{62FE7FB2-3E79-02BA-AF1F-FA21F69CD890}"/>
              </a:ext>
            </a:extLst>
          </p:cNvPr>
          <p:cNvSpPr>
            <a:spLocks noGrp="1"/>
          </p:cNvSpPr>
          <p:nvPr>
            <p:ph type="subTitle" idx="1"/>
          </p:nvPr>
        </p:nvSpPr>
        <p:spPr>
          <a:xfrm>
            <a:off x="1524000" y="3987800"/>
            <a:ext cx="9144000" cy="1655762"/>
          </a:xfrm>
        </p:spPr>
        <p:txBody>
          <a:bodyPr>
            <a:normAutofit/>
          </a:bodyPr>
          <a:lstStyle/>
          <a:p>
            <a:r>
              <a:rPr lang="en-CA" sz="2800" dirty="0"/>
              <a:t>Hongyu Guo</a:t>
            </a:r>
          </a:p>
          <a:p>
            <a:r>
              <a:rPr lang="en-CA" sz="2800" dirty="0"/>
              <a:t>2023</a:t>
            </a:r>
          </a:p>
        </p:txBody>
      </p:sp>
    </p:spTree>
    <p:extLst>
      <p:ext uri="{BB962C8B-B14F-4D97-AF65-F5344CB8AC3E}">
        <p14:creationId xmlns:p14="http://schemas.microsoft.com/office/powerpoint/2010/main" val="2720307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04252" y="588808"/>
            <a:ext cx="9543570" cy="688165"/>
          </a:xfrm>
          <a:prstGeom prst="rect">
            <a:avLst/>
          </a:prstGeom>
        </p:spPr>
        <p:txBody>
          <a:bodyPr vert="horz" wrap="square" lIns="0" tIns="10950" rIns="0" bIns="0" rtlCol="0" anchor="ctr">
            <a:spAutoFit/>
          </a:bodyPr>
          <a:lstStyle/>
          <a:p>
            <a:pPr marL="11527">
              <a:lnSpc>
                <a:spcPct val="100000"/>
              </a:lnSpc>
              <a:spcBef>
                <a:spcPts val="86"/>
              </a:spcBef>
            </a:pPr>
            <a:r>
              <a:rPr spc="-9" dirty="0"/>
              <a:t>Vanilla</a:t>
            </a:r>
            <a:r>
              <a:rPr spc="-82" dirty="0"/>
              <a:t> </a:t>
            </a:r>
            <a:r>
              <a:rPr spc="-9" dirty="0"/>
              <a:t>Autoencoder</a:t>
            </a:r>
          </a:p>
        </p:txBody>
      </p:sp>
      <p:sp>
        <p:nvSpPr>
          <p:cNvPr id="3" name="object 3"/>
          <p:cNvSpPr txBox="1"/>
          <p:nvPr/>
        </p:nvSpPr>
        <p:spPr>
          <a:xfrm>
            <a:off x="1803700" y="1667191"/>
            <a:ext cx="1329530" cy="290946"/>
          </a:xfrm>
          <a:prstGeom prst="rect">
            <a:avLst/>
          </a:prstGeom>
        </p:spPr>
        <p:txBody>
          <a:bodyPr vert="horz" wrap="square" lIns="0" tIns="11526" rIns="0" bIns="0" rtlCol="0">
            <a:spAutoFit/>
          </a:bodyPr>
          <a:lstStyle/>
          <a:p>
            <a:pPr marL="276636" indent="-265110">
              <a:spcBef>
                <a:spcPts val="91"/>
              </a:spcBef>
              <a:buFont typeface="Arial"/>
              <a:buChar char="•"/>
              <a:tabLst>
                <a:tab pos="276636" algn="l"/>
              </a:tabLst>
            </a:pPr>
            <a:r>
              <a:rPr sz="1815" b="1" dirty="0">
                <a:latin typeface="Calibri"/>
                <a:cs typeface="Calibri"/>
              </a:rPr>
              <a:t>What</a:t>
            </a:r>
            <a:r>
              <a:rPr sz="1815" b="1" spc="32" dirty="0">
                <a:latin typeface="Calibri"/>
                <a:cs typeface="Calibri"/>
              </a:rPr>
              <a:t> </a:t>
            </a:r>
            <a:r>
              <a:rPr sz="1815" b="1" dirty="0">
                <a:latin typeface="Calibri"/>
                <a:cs typeface="Calibri"/>
              </a:rPr>
              <a:t>is</a:t>
            </a:r>
            <a:r>
              <a:rPr sz="1815" b="1" spc="41" dirty="0">
                <a:latin typeface="Calibri"/>
                <a:cs typeface="Calibri"/>
              </a:rPr>
              <a:t> </a:t>
            </a:r>
            <a:r>
              <a:rPr sz="1815" b="1" spc="-23" dirty="0">
                <a:latin typeface="Calibri"/>
                <a:cs typeface="Calibri"/>
              </a:rPr>
              <a:t>it?</a:t>
            </a:r>
            <a:endParaRPr sz="1815">
              <a:latin typeface="Calibri"/>
              <a:cs typeface="Calibri"/>
            </a:endParaRPr>
          </a:p>
        </p:txBody>
      </p:sp>
      <p:sp>
        <p:nvSpPr>
          <p:cNvPr id="4" name="object 4"/>
          <p:cNvSpPr txBox="1"/>
          <p:nvPr/>
        </p:nvSpPr>
        <p:spPr>
          <a:xfrm>
            <a:off x="1817014" y="3448033"/>
            <a:ext cx="8636634" cy="2282420"/>
          </a:xfrm>
          <a:prstGeom prst="rect">
            <a:avLst/>
          </a:prstGeom>
        </p:spPr>
        <p:txBody>
          <a:bodyPr vert="horz" wrap="square" lIns="0" tIns="0" rIns="0" bIns="0" rtlCol="0">
            <a:spAutoFit/>
          </a:bodyPr>
          <a:lstStyle/>
          <a:p>
            <a:pPr marL="11527" marR="367120">
              <a:lnSpc>
                <a:spcPct val="104000"/>
              </a:lnSpc>
            </a:pPr>
            <a:r>
              <a:rPr sz="1815" dirty="0">
                <a:latin typeface="Calibri"/>
                <a:cs typeface="Calibri"/>
              </a:rPr>
              <a:t>Reconstruct</a:t>
            </a:r>
            <a:r>
              <a:rPr sz="1815" spc="41" dirty="0">
                <a:latin typeface="Calibri"/>
                <a:cs typeface="Calibri"/>
              </a:rPr>
              <a:t> </a:t>
            </a:r>
            <a:r>
              <a:rPr sz="1815" dirty="0">
                <a:latin typeface="Calibri"/>
                <a:cs typeface="Calibri"/>
              </a:rPr>
              <a:t>high-dimensional</a:t>
            </a:r>
            <a:r>
              <a:rPr sz="1815" spc="41" dirty="0">
                <a:latin typeface="Calibri"/>
                <a:cs typeface="Calibri"/>
              </a:rPr>
              <a:t> </a:t>
            </a:r>
            <a:r>
              <a:rPr sz="1815" dirty="0">
                <a:latin typeface="Calibri"/>
                <a:cs typeface="Calibri"/>
              </a:rPr>
              <a:t>data</a:t>
            </a:r>
            <a:r>
              <a:rPr sz="1815" spc="59" dirty="0">
                <a:latin typeface="Calibri"/>
                <a:cs typeface="Calibri"/>
              </a:rPr>
              <a:t> </a:t>
            </a:r>
            <a:r>
              <a:rPr sz="1815" dirty="0">
                <a:latin typeface="Calibri"/>
                <a:cs typeface="Calibri"/>
              </a:rPr>
              <a:t>using</a:t>
            </a:r>
            <a:r>
              <a:rPr sz="1815" spc="50" dirty="0">
                <a:latin typeface="Calibri"/>
                <a:cs typeface="Calibri"/>
              </a:rPr>
              <a:t> </a:t>
            </a:r>
            <a:r>
              <a:rPr sz="1815" dirty="0">
                <a:latin typeface="Calibri"/>
                <a:cs typeface="Calibri"/>
              </a:rPr>
              <a:t>a</a:t>
            </a:r>
            <a:r>
              <a:rPr sz="1815" spc="54" dirty="0">
                <a:latin typeface="Calibri"/>
                <a:cs typeface="Calibri"/>
              </a:rPr>
              <a:t> </a:t>
            </a:r>
            <a:r>
              <a:rPr sz="1815" dirty="0">
                <a:latin typeface="Calibri"/>
                <a:cs typeface="Calibri"/>
              </a:rPr>
              <a:t>neural</a:t>
            </a:r>
            <a:r>
              <a:rPr sz="1815" spc="41" dirty="0">
                <a:latin typeface="Calibri"/>
                <a:cs typeface="Calibri"/>
              </a:rPr>
              <a:t> </a:t>
            </a:r>
            <a:r>
              <a:rPr sz="1815" dirty="0">
                <a:latin typeface="Calibri"/>
                <a:cs typeface="Calibri"/>
              </a:rPr>
              <a:t>network</a:t>
            </a:r>
            <a:r>
              <a:rPr sz="1815" spc="50" dirty="0">
                <a:latin typeface="Calibri"/>
                <a:cs typeface="Calibri"/>
              </a:rPr>
              <a:t> </a:t>
            </a:r>
            <a:r>
              <a:rPr sz="1815" dirty="0">
                <a:latin typeface="Calibri"/>
                <a:cs typeface="Calibri"/>
              </a:rPr>
              <a:t>model</a:t>
            </a:r>
            <a:r>
              <a:rPr sz="1815" spc="41" dirty="0">
                <a:latin typeface="Calibri"/>
                <a:cs typeface="Calibri"/>
              </a:rPr>
              <a:t> </a:t>
            </a:r>
            <a:r>
              <a:rPr sz="1815" dirty="0">
                <a:latin typeface="Calibri"/>
                <a:cs typeface="Calibri"/>
              </a:rPr>
              <a:t>with</a:t>
            </a:r>
            <a:r>
              <a:rPr sz="1815" spc="59" dirty="0">
                <a:latin typeface="Calibri"/>
                <a:cs typeface="Calibri"/>
              </a:rPr>
              <a:t> </a:t>
            </a:r>
            <a:r>
              <a:rPr sz="1815" dirty="0">
                <a:latin typeface="Calibri"/>
                <a:cs typeface="Calibri"/>
              </a:rPr>
              <a:t>a</a:t>
            </a:r>
            <a:r>
              <a:rPr sz="1815" spc="54" dirty="0">
                <a:latin typeface="Calibri"/>
                <a:cs typeface="Calibri"/>
              </a:rPr>
              <a:t> </a:t>
            </a:r>
            <a:r>
              <a:rPr sz="1815" spc="-9" dirty="0">
                <a:latin typeface="Calibri"/>
                <a:cs typeface="Calibri"/>
              </a:rPr>
              <a:t>narrow </a:t>
            </a:r>
            <a:r>
              <a:rPr sz="1815" dirty="0">
                <a:latin typeface="Calibri"/>
                <a:cs typeface="Calibri"/>
              </a:rPr>
              <a:t>bottleneck</a:t>
            </a:r>
            <a:r>
              <a:rPr sz="1815" spc="73" dirty="0">
                <a:latin typeface="Calibri"/>
                <a:cs typeface="Calibri"/>
              </a:rPr>
              <a:t> </a:t>
            </a:r>
            <a:r>
              <a:rPr sz="1815" spc="-9" dirty="0">
                <a:latin typeface="Calibri"/>
                <a:cs typeface="Calibri"/>
              </a:rPr>
              <a:t>layer.</a:t>
            </a:r>
            <a:endParaRPr sz="1815" dirty="0">
              <a:latin typeface="Calibri"/>
              <a:cs typeface="Calibri"/>
            </a:endParaRPr>
          </a:p>
          <a:p>
            <a:pPr>
              <a:spcBef>
                <a:spcPts val="50"/>
              </a:spcBef>
            </a:pPr>
            <a:endParaRPr sz="1815" dirty="0">
              <a:latin typeface="Calibri"/>
              <a:cs typeface="Calibri"/>
            </a:endParaRPr>
          </a:p>
          <a:p>
            <a:pPr marL="11527" marR="4611"/>
            <a:r>
              <a:rPr sz="1815" dirty="0">
                <a:latin typeface="Calibri"/>
                <a:cs typeface="Calibri"/>
              </a:rPr>
              <a:t>The</a:t>
            </a:r>
            <a:r>
              <a:rPr sz="1815" spc="45" dirty="0">
                <a:latin typeface="Calibri"/>
                <a:cs typeface="Calibri"/>
              </a:rPr>
              <a:t> </a:t>
            </a:r>
            <a:r>
              <a:rPr sz="1815" dirty="0">
                <a:latin typeface="Calibri"/>
                <a:cs typeface="Calibri"/>
              </a:rPr>
              <a:t>bottleneck</a:t>
            </a:r>
            <a:r>
              <a:rPr sz="1815" spc="41" dirty="0">
                <a:latin typeface="Calibri"/>
                <a:cs typeface="Calibri"/>
              </a:rPr>
              <a:t> </a:t>
            </a:r>
            <a:r>
              <a:rPr sz="1815" dirty="0">
                <a:latin typeface="Calibri"/>
                <a:cs typeface="Calibri"/>
              </a:rPr>
              <a:t>layer</a:t>
            </a:r>
            <a:r>
              <a:rPr sz="1815" spc="41" dirty="0">
                <a:latin typeface="Calibri"/>
                <a:cs typeface="Calibri"/>
              </a:rPr>
              <a:t> </a:t>
            </a:r>
            <a:r>
              <a:rPr sz="1815" dirty="0">
                <a:latin typeface="Calibri"/>
                <a:cs typeface="Calibri"/>
              </a:rPr>
              <a:t>captures</a:t>
            </a:r>
            <a:r>
              <a:rPr sz="1815" spc="41" dirty="0">
                <a:latin typeface="Calibri"/>
                <a:cs typeface="Calibri"/>
              </a:rPr>
              <a:t> </a:t>
            </a:r>
            <a:r>
              <a:rPr sz="1815" dirty="0">
                <a:latin typeface="Calibri"/>
                <a:cs typeface="Calibri"/>
              </a:rPr>
              <a:t>the</a:t>
            </a:r>
            <a:r>
              <a:rPr sz="1815" spc="50" dirty="0">
                <a:latin typeface="Calibri"/>
                <a:cs typeface="Calibri"/>
              </a:rPr>
              <a:t> </a:t>
            </a:r>
            <a:r>
              <a:rPr sz="1815" dirty="0">
                <a:latin typeface="Calibri"/>
                <a:cs typeface="Calibri"/>
              </a:rPr>
              <a:t>compressed</a:t>
            </a:r>
            <a:r>
              <a:rPr sz="1815" spc="45" dirty="0">
                <a:latin typeface="Calibri"/>
                <a:cs typeface="Calibri"/>
              </a:rPr>
              <a:t> </a:t>
            </a:r>
            <a:r>
              <a:rPr sz="1815" dirty="0">
                <a:latin typeface="Calibri"/>
                <a:cs typeface="Calibri"/>
              </a:rPr>
              <a:t>latent</a:t>
            </a:r>
            <a:r>
              <a:rPr sz="1815" spc="36" dirty="0">
                <a:latin typeface="Calibri"/>
                <a:cs typeface="Calibri"/>
              </a:rPr>
              <a:t> </a:t>
            </a:r>
            <a:r>
              <a:rPr sz="1815" dirty="0">
                <a:latin typeface="Calibri"/>
                <a:cs typeface="Calibri"/>
              </a:rPr>
              <a:t>coding,</a:t>
            </a:r>
            <a:r>
              <a:rPr sz="1815" spc="32" dirty="0">
                <a:latin typeface="Calibri"/>
                <a:cs typeface="Calibri"/>
              </a:rPr>
              <a:t> </a:t>
            </a:r>
            <a:r>
              <a:rPr sz="1815" dirty="0">
                <a:latin typeface="Calibri"/>
                <a:cs typeface="Calibri"/>
              </a:rPr>
              <a:t>so</a:t>
            </a:r>
            <a:r>
              <a:rPr sz="1815" spc="45" dirty="0">
                <a:latin typeface="Calibri"/>
                <a:cs typeface="Calibri"/>
              </a:rPr>
              <a:t> </a:t>
            </a:r>
            <a:r>
              <a:rPr sz="1815" dirty="0">
                <a:latin typeface="Calibri"/>
                <a:cs typeface="Calibri"/>
              </a:rPr>
              <a:t>the</a:t>
            </a:r>
            <a:r>
              <a:rPr sz="1815" spc="50" dirty="0">
                <a:latin typeface="Calibri"/>
                <a:cs typeface="Calibri"/>
              </a:rPr>
              <a:t> </a:t>
            </a:r>
            <a:r>
              <a:rPr sz="1815" dirty="0">
                <a:latin typeface="Calibri"/>
                <a:cs typeface="Calibri"/>
              </a:rPr>
              <a:t>nice</a:t>
            </a:r>
            <a:r>
              <a:rPr sz="1815" spc="50" dirty="0">
                <a:latin typeface="Calibri"/>
                <a:cs typeface="Calibri"/>
              </a:rPr>
              <a:t> </a:t>
            </a:r>
            <a:r>
              <a:rPr sz="1815" dirty="0">
                <a:latin typeface="Calibri"/>
                <a:cs typeface="Calibri"/>
              </a:rPr>
              <a:t>by-</a:t>
            </a:r>
            <a:r>
              <a:rPr sz="1815" spc="-9" dirty="0">
                <a:latin typeface="Calibri"/>
                <a:cs typeface="Calibri"/>
              </a:rPr>
              <a:t>product </a:t>
            </a:r>
            <a:r>
              <a:rPr sz="1815" dirty="0">
                <a:latin typeface="Calibri"/>
                <a:cs typeface="Calibri"/>
              </a:rPr>
              <a:t>is</a:t>
            </a:r>
            <a:r>
              <a:rPr sz="1815" spc="68" dirty="0">
                <a:latin typeface="Calibri"/>
                <a:cs typeface="Calibri"/>
              </a:rPr>
              <a:t> </a:t>
            </a:r>
            <a:r>
              <a:rPr sz="1815" dirty="0">
                <a:latin typeface="Calibri"/>
                <a:cs typeface="Calibri"/>
              </a:rPr>
              <a:t>dimension</a:t>
            </a:r>
            <a:r>
              <a:rPr sz="1815" spc="77" dirty="0">
                <a:latin typeface="Calibri"/>
                <a:cs typeface="Calibri"/>
              </a:rPr>
              <a:t> </a:t>
            </a:r>
            <a:r>
              <a:rPr sz="1815" spc="-9" dirty="0">
                <a:latin typeface="Calibri"/>
                <a:cs typeface="Calibri"/>
              </a:rPr>
              <a:t>reduction.</a:t>
            </a:r>
            <a:endParaRPr sz="1815" dirty="0">
              <a:latin typeface="Calibri"/>
              <a:cs typeface="Calibri"/>
            </a:endParaRPr>
          </a:p>
          <a:p>
            <a:pPr>
              <a:spcBef>
                <a:spcPts val="73"/>
              </a:spcBef>
            </a:pPr>
            <a:endParaRPr sz="1815" dirty="0">
              <a:latin typeface="Calibri"/>
              <a:cs typeface="Calibri"/>
            </a:endParaRPr>
          </a:p>
          <a:p>
            <a:pPr marL="11527" marR="119876"/>
            <a:r>
              <a:rPr sz="1815" dirty="0">
                <a:latin typeface="Calibri"/>
                <a:cs typeface="Calibri"/>
              </a:rPr>
              <a:t>The</a:t>
            </a:r>
            <a:r>
              <a:rPr sz="1815" spc="45" dirty="0">
                <a:latin typeface="Calibri"/>
                <a:cs typeface="Calibri"/>
              </a:rPr>
              <a:t> </a:t>
            </a:r>
            <a:r>
              <a:rPr sz="1815" dirty="0">
                <a:latin typeface="Calibri"/>
                <a:cs typeface="Calibri"/>
              </a:rPr>
              <a:t>low-dimensional</a:t>
            </a:r>
            <a:r>
              <a:rPr sz="1815" spc="27" dirty="0">
                <a:latin typeface="Calibri"/>
                <a:cs typeface="Calibri"/>
              </a:rPr>
              <a:t> </a:t>
            </a:r>
            <a:r>
              <a:rPr sz="1815" dirty="0">
                <a:latin typeface="Calibri"/>
                <a:cs typeface="Calibri"/>
              </a:rPr>
              <a:t>representation</a:t>
            </a:r>
            <a:r>
              <a:rPr sz="1815" spc="45" dirty="0">
                <a:latin typeface="Calibri"/>
                <a:cs typeface="Calibri"/>
              </a:rPr>
              <a:t> </a:t>
            </a:r>
            <a:r>
              <a:rPr sz="1815" dirty="0">
                <a:latin typeface="Calibri"/>
                <a:cs typeface="Calibri"/>
              </a:rPr>
              <a:t>can</a:t>
            </a:r>
            <a:r>
              <a:rPr sz="1815" spc="45" dirty="0">
                <a:latin typeface="Calibri"/>
                <a:cs typeface="Calibri"/>
              </a:rPr>
              <a:t> </a:t>
            </a:r>
            <a:r>
              <a:rPr sz="1815" dirty="0">
                <a:latin typeface="Calibri"/>
                <a:cs typeface="Calibri"/>
              </a:rPr>
              <a:t>be</a:t>
            </a:r>
            <a:r>
              <a:rPr sz="1815" spc="45" dirty="0">
                <a:latin typeface="Calibri"/>
                <a:cs typeface="Calibri"/>
              </a:rPr>
              <a:t> </a:t>
            </a:r>
            <a:r>
              <a:rPr sz="1815" dirty="0">
                <a:latin typeface="Calibri"/>
                <a:cs typeface="Calibri"/>
              </a:rPr>
              <a:t>used</a:t>
            </a:r>
            <a:r>
              <a:rPr sz="1815" spc="45" dirty="0">
                <a:latin typeface="Calibri"/>
                <a:cs typeface="Calibri"/>
              </a:rPr>
              <a:t> </a:t>
            </a:r>
            <a:r>
              <a:rPr sz="1815" dirty="0">
                <a:latin typeface="Calibri"/>
                <a:cs typeface="Calibri"/>
              </a:rPr>
              <a:t>as</a:t>
            </a:r>
            <a:r>
              <a:rPr sz="1815" spc="41" dirty="0">
                <a:latin typeface="Calibri"/>
                <a:cs typeface="Calibri"/>
              </a:rPr>
              <a:t> </a:t>
            </a:r>
            <a:r>
              <a:rPr sz="1815" dirty="0">
                <a:latin typeface="Calibri"/>
                <a:cs typeface="Calibri"/>
              </a:rPr>
              <a:t>the</a:t>
            </a:r>
            <a:r>
              <a:rPr sz="1815" spc="45" dirty="0">
                <a:latin typeface="Calibri"/>
                <a:cs typeface="Calibri"/>
              </a:rPr>
              <a:t> </a:t>
            </a:r>
            <a:r>
              <a:rPr sz="1815" dirty="0">
                <a:latin typeface="Calibri"/>
                <a:cs typeface="Calibri"/>
              </a:rPr>
              <a:t>representation</a:t>
            </a:r>
            <a:r>
              <a:rPr sz="1815" spc="45" dirty="0">
                <a:latin typeface="Calibri"/>
                <a:cs typeface="Calibri"/>
              </a:rPr>
              <a:t> </a:t>
            </a:r>
            <a:r>
              <a:rPr sz="1815" dirty="0">
                <a:latin typeface="Calibri"/>
                <a:cs typeface="Calibri"/>
              </a:rPr>
              <a:t>of</a:t>
            </a:r>
            <a:r>
              <a:rPr sz="1815" spc="36" dirty="0">
                <a:latin typeface="Calibri"/>
                <a:cs typeface="Calibri"/>
              </a:rPr>
              <a:t> </a:t>
            </a:r>
            <a:r>
              <a:rPr sz="1815" dirty="0">
                <a:latin typeface="Calibri"/>
                <a:cs typeface="Calibri"/>
              </a:rPr>
              <a:t>the</a:t>
            </a:r>
            <a:r>
              <a:rPr sz="1815" spc="45" dirty="0">
                <a:latin typeface="Calibri"/>
                <a:cs typeface="Calibri"/>
              </a:rPr>
              <a:t> </a:t>
            </a:r>
            <a:r>
              <a:rPr sz="1815" spc="-18" dirty="0">
                <a:latin typeface="Calibri"/>
                <a:cs typeface="Calibri"/>
              </a:rPr>
              <a:t>data </a:t>
            </a:r>
            <a:r>
              <a:rPr sz="1815" dirty="0">
                <a:latin typeface="Calibri"/>
                <a:cs typeface="Calibri"/>
              </a:rPr>
              <a:t>in</a:t>
            </a:r>
            <a:r>
              <a:rPr sz="1815" spc="59" dirty="0">
                <a:latin typeface="Calibri"/>
                <a:cs typeface="Calibri"/>
              </a:rPr>
              <a:t> </a:t>
            </a:r>
            <a:r>
              <a:rPr sz="1815" dirty="0">
                <a:latin typeface="Calibri"/>
                <a:cs typeface="Calibri"/>
              </a:rPr>
              <a:t>various</a:t>
            </a:r>
            <a:r>
              <a:rPr sz="1815" spc="50" dirty="0">
                <a:latin typeface="Calibri"/>
                <a:cs typeface="Calibri"/>
              </a:rPr>
              <a:t> </a:t>
            </a:r>
            <a:r>
              <a:rPr sz="1815" dirty="0">
                <a:latin typeface="Calibri"/>
                <a:cs typeface="Calibri"/>
              </a:rPr>
              <a:t>applications,</a:t>
            </a:r>
            <a:r>
              <a:rPr sz="1815" spc="45" dirty="0">
                <a:latin typeface="Calibri"/>
                <a:cs typeface="Calibri"/>
              </a:rPr>
              <a:t> </a:t>
            </a:r>
            <a:r>
              <a:rPr sz="1815" dirty="0">
                <a:latin typeface="Calibri"/>
                <a:cs typeface="Calibri"/>
              </a:rPr>
              <a:t>e.g.,</a:t>
            </a:r>
            <a:r>
              <a:rPr sz="1815" spc="45" dirty="0">
                <a:latin typeface="Calibri"/>
                <a:cs typeface="Calibri"/>
              </a:rPr>
              <a:t> </a:t>
            </a:r>
            <a:r>
              <a:rPr sz="1815" dirty="0">
                <a:latin typeface="Calibri"/>
                <a:cs typeface="Calibri"/>
              </a:rPr>
              <a:t>image</a:t>
            </a:r>
            <a:r>
              <a:rPr sz="1815" spc="64" dirty="0">
                <a:latin typeface="Calibri"/>
                <a:cs typeface="Calibri"/>
              </a:rPr>
              <a:t> </a:t>
            </a:r>
            <a:r>
              <a:rPr sz="1815" dirty="0">
                <a:latin typeface="Calibri"/>
                <a:cs typeface="Calibri"/>
              </a:rPr>
              <a:t>retrieval,</a:t>
            </a:r>
            <a:r>
              <a:rPr sz="1815" spc="45" dirty="0">
                <a:latin typeface="Calibri"/>
                <a:cs typeface="Calibri"/>
              </a:rPr>
              <a:t> </a:t>
            </a:r>
            <a:r>
              <a:rPr sz="1815" dirty="0">
                <a:latin typeface="Calibri"/>
                <a:cs typeface="Calibri"/>
              </a:rPr>
              <a:t>data</a:t>
            </a:r>
            <a:r>
              <a:rPr sz="1815" spc="54" dirty="0">
                <a:latin typeface="Calibri"/>
                <a:cs typeface="Calibri"/>
              </a:rPr>
              <a:t> </a:t>
            </a:r>
            <a:r>
              <a:rPr sz="1815" dirty="0">
                <a:latin typeface="Calibri"/>
                <a:cs typeface="Calibri"/>
              </a:rPr>
              <a:t>compression</a:t>
            </a:r>
            <a:r>
              <a:rPr sz="1815" spc="64" dirty="0">
                <a:latin typeface="Calibri"/>
                <a:cs typeface="Calibri"/>
              </a:rPr>
              <a:t> </a:t>
            </a:r>
            <a:r>
              <a:rPr sz="1815" spc="-45" dirty="0">
                <a:latin typeface="Calibri"/>
                <a:cs typeface="Calibri"/>
              </a:rPr>
              <a:t>…</a:t>
            </a:r>
            <a:endParaRPr sz="1815" dirty="0">
              <a:latin typeface="Calibri"/>
              <a:cs typeface="Calibri"/>
            </a:endParaRPr>
          </a:p>
        </p:txBody>
      </p:sp>
      <p:grpSp>
        <p:nvGrpSpPr>
          <p:cNvPr id="5" name="object 5"/>
          <p:cNvGrpSpPr/>
          <p:nvPr/>
        </p:nvGrpSpPr>
        <p:grpSpPr>
          <a:xfrm>
            <a:off x="6532607" y="2246657"/>
            <a:ext cx="1180844" cy="863301"/>
            <a:chOff x="5827776" y="2475483"/>
            <a:chExt cx="1301115" cy="951230"/>
          </a:xfrm>
        </p:grpSpPr>
        <p:pic>
          <p:nvPicPr>
            <p:cNvPr id="6" name="object 6"/>
            <p:cNvPicPr/>
            <p:nvPr/>
          </p:nvPicPr>
          <p:blipFill>
            <a:blip r:embed="rId3" cstate="print"/>
            <a:stretch>
              <a:fillRect/>
            </a:stretch>
          </p:blipFill>
          <p:spPr>
            <a:xfrm>
              <a:off x="5827776" y="2475483"/>
              <a:ext cx="374903" cy="950976"/>
            </a:xfrm>
            <a:prstGeom prst="rect">
              <a:avLst/>
            </a:prstGeom>
          </p:spPr>
        </p:pic>
        <p:pic>
          <p:nvPicPr>
            <p:cNvPr id="7" name="object 7"/>
            <p:cNvPicPr/>
            <p:nvPr/>
          </p:nvPicPr>
          <p:blipFill>
            <a:blip r:embed="rId4" cstate="print"/>
            <a:stretch>
              <a:fillRect/>
            </a:stretch>
          </p:blipFill>
          <p:spPr>
            <a:xfrm>
              <a:off x="5964936" y="2877819"/>
              <a:ext cx="131063" cy="140208"/>
            </a:xfrm>
            <a:prstGeom prst="rect">
              <a:avLst/>
            </a:prstGeom>
          </p:spPr>
        </p:pic>
        <p:sp>
          <p:nvSpPr>
            <p:cNvPr id="8" name="object 8"/>
            <p:cNvSpPr/>
            <p:nvPr/>
          </p:nvSpPr>
          <p:spPr>
            <a:xfrm>
              <a:off x="6352748" y="2798423"/>
              <a:ext cx="770255" cy="306705"/>
            </a:xfrm>
            <a:custGeom>
              <a:avLst/>
              <a:gdLst/>
              <a:ahLst/>
              <a:cxnLst/>
              <a:rect l="l" t="t" r="r" b="b"/>
              <a:pathLst>
                <a:path w="770254" h="306705">
                  <a:moveTo>
                    <a:pt x="718680" y="0"/>
                  </a:moveTo>
                  <a:lnTo>
                    <a:pt x="51118" y="0"/>
                  </a:lnTo>
                  <a:lnTo>
                    <a:pt x="31221" y="4016"/>
                  </a:lnTo>
                  <a:lnTo>
                    <a:pt x="14972" y="14968"/>
                  </a:lnTo>
                  <a:lnTo>
                    <a:pt x="4017" y="31213"/>
                  </a:lnTo>
                  <a:lnTo>
                    <a:pt x="0" y="51106"/>
                  </a:lnTo>
                  <a:lnTo>
                    <a:pt x="0" y="255522"/>
                  </a:lnTo>
                  <a:lnTo>
                    <a:pt x="4017" y="275415"/>
                  </a:lnTo>
                  <a:lnTo>
                    <a:pt x="14972" y="291660"/>
                  </a:lnTo>
                  <a:lnTo>
                    <a:pt x="31221" y="302612"/>
                  </a:lnTo>
                  <a:lnTo>
                    <a:pt x="51118" y="306628"/>
                  </a:lnTo>
                  <a:lnTo>
                    <a:pt x="718680" y="306628"/>
                  </a:lnTo>
                  <a:lnTo>
                    <a:pt x="738578" y="302612"/>
                  </a:lnTo>
                  <a:lnTo>
                    <a:pt x="754827" y="291660"/>
                  </a:lnTo>
                  <a:lnTo>
                    <a:pt x="765783" y="275415"/>
                  </a:lnTo>
                  <a:lnTo>
                    <a:pt x="769800" y="255522"/>
                  </a:lnTo>
                  <a:lnTo>
                    <a:pt x="769800" y="51106"/>
                  </a:lnTo>
                  <a:lnTo>
                    <a:pt x="765783" y="31213"/>
                  </a:lnTo>
                  <a:lnTo>
                    <a:pt x="754827" y="14968"/>
                  </a:lnTo>
                  <a:lnTo>
                    <a:pt x="738578" y="4016"/>
                  </a:lnTo>
                  <a:lnTo>
                    <a:pt x="718680" y="0"/>
                  </a:lnTo>
                  <a:close/>
                </a:path>
              </a:pathLst>
            </a:custGeom>
            <a:solidFill>
              <a:srgbClr val="E7E6E6"/>
            </a:solidFill>
          </p:spPr>
          <p:txBody>
            <a:bodyPr wrap="square" lIns="0" tIns="0" rIns="0" bIns="0" rtlCol="0"/>
            <a:lstStyle/>
            <a:p>
              <a:endParaRPr sz="1634"/>
            </a:p>
          </p:txBody>
        </p:sp>
        <p:sp>
          <p:nvSpPr>
            <p:cNvPr id="9" name="object 9"/>
            <p:cNvSpPr/>
            <p:nvPr/>
          </p:nvSpPr>
          <p:spPr>
            <a:xfrm>
              <a:off x="6352748" y="2798423"/>
              <a:ext cx="770255" cy="306705"/>
            </a:xfrm>
            <a:custGeom>
              <a:avLst/>
              <a:gdLst/>
              <a:ahLst/>
              <a:cxnLst/>
              <a:rect l="l" t="t" r="r" b="b"/>
              <a:pathLst>
                <a:path w="770254" h="306705">
                  <a:moveTo>
                    <a:pt x="0" y="51105"/>
                  </a:moveTo>
                  <a:lnTo>
                    <a:pt x="4017" y="31213"/>
                  </a:lnTo>
                  <a:lnTo>
                    <a:pt x="14972" y="14968"/>
                  </a:lnTo>
                  <a:lnTo>
                    <a:pt x="31221" y="4016"/>
                  </a:lnTo>
                  <a:lnTo>
                    <a:pt x="51119" y="0"/>
                  </a:lnTo>
                  <a:lnTo>
                    <a:pt x="718681" y="0"/>
                  </a:lnTo>
                  <a:lnTo>
                    <a:pt x="738579" y="4016"/>
                  </a:lnTo>
                  <a:lnTo>
                    <a:pt x="754828" y="14968"/>
                  </a:lnTo>
                  <a:lnTo>
                    <a:pt x="765783" y="31213"/>
                  </a:lnTo>
                  <a:lnTo>
                    <a:pt x="769800" y="51105"/>
                  </a:lnTo>
                  <a:lnTo>
                    <a:pt x="769800" y="255523"/>
                  </a:lnTo>
                  <a:lnTo>
                    <a:pt x="765783" y="275416"/>
                  </a:lnTo>
                  <a:lnTo>
                    <a:pt x="754828" y="291660"/>
                  </a:lnTo>
                  <a:lnTo>
                    <a:pt x="738579" y="302613"/>
                  </a:lnTo>
                  <a:lnTo>
                    <a:pt x="718681" y="306629"/>
                  </a:lnTo>
                  <a:lnTo>
                    <a:pt x="51119" y="306629"/>
                  </a:lnTo>
                  <a:lnTo>
                    <a:pt x="31221" y="302613"/>
                  </a:lnTo>
                  <a:lnTo>
                    <a:pt x="14972" y="291660"/>
                  </a:lnTo>
                  <a:lnTo>
                    <a:pt x="4017" y="275416"/>
                  </a:lnTo>
                  <a:lnTo>
                    <a:pt x="0" y="255523"/>
                  </a:lnTo>
                  <a:lnTo>
                    <a:pt x="0" y="51105"/>
                  </a:lnTo>
                  <a:close/>
                </a:path>
              </a:pathLst>
            </a:custGeom>
            <a:ln w="10818">
              <a:solidFill>
                <a:srgbClr val="000000"/>
              </a:solidFill>
            </a:ln>
          </p:spPr>
          <p:txBody>
            <a:bodyPr wrap="square" lIns="0" tIns="0" rIns="0" bIns="0" rtlCol="0"/>
            <a:lstStyle/>
            <a:p>
              <a:endParaRPr sz="1634"/>
            </a:p>
          </p:txBody>
        </p:sp>
      </p:grpSp>
      <p:sp>
        <p:nvSpPr>
          <p:cNvPr id="10" name="object 10"/>
          <p:cNvSpPr txBox="1"/>
          <p:nvPr/>
        </p:nvSpPr>
        <p:spPr>
          <a:xfrm>
            <a:off x="7211192" y="2481402"/>
            <a:ext cx="294352" cy="346795"/>
          </a:xfrm>
          <a:prstGeom prst="rect">
            <a:avLst/>
          </a:prstGeom>
        </p:spPr>
        <p:txBody>
          <a:bodyPr vert="horz" wrap="square" lIns="0" tIns="11526" rIns="0" bIns="0" rtlCol="0">
            <a:spAutoFit/>
          </a:bodyPr>
          <a:lstStyle/>
          <a:p>
            <a:pPr marL="11527">
              <a:spcBef>
                <a:spcPts val="91"/>
              </a:spcBef>
            </a:pPr>
            <a:r>
              <a:rPr sz="2178" spc="-631" dirty="0">
                <a:latin typeface="Cambria Math"/>
                <a:cs typeface="Cambria Math"/>
              </a:rPr>
              <a:t>𝑥</a:t>
            </a:r>
            <a:r>
              <a:rPr sz="2178" spc="322" dirty="0">
                <a:latin typeface="Cambria Math"/>
                <a:cs typeface="Cambria Math"/>
              </a:rPr>
              <a:t>!</a:t>
            </a:r>
            <a:endParaRPr sz="2178" dirty="0">
              <a:latin typeface="Cambria Math"/>
              <a:cs typeface="Cambria Math"/>
            </a:endParaRPr>
          </a:p>
        </p:txBody>
      </p:sp>
      <p:grpSp>
        <p:nvGrpSpPr>
          <p:cNvPr id="11" name="object 11"/>
          <p:cNvGrpSpPr/>
          <p:nvPr/>
        </p:nvGrpSpPr>
        <p:grpSpPr>
          <a:xfrm>
            <a:off x="5691366" y="2534559"/>
            <a:ext cx="709428" cy="288728"/>
            <a:chOff x="4900853" y="2792708"/>
            <a:chExt cx="781685" cy="318135"/>
          </a:xfrm>
        </p:grpSpPr>
        <p:sp>
          <p:nvSpPr>
            <p:cNvPr id="12" name="object 12"/>
            <p:cNvSpPr/>
            <p:nvPr/>
          </p:nvSpPr>
          <p:spPr>
            <a:xfrm>
              <a:off x="4906568" y="2798423"/>
              <a:ext cx="770255" cy="306705"/>
            </a:xfrm>
            <a:custGeom>
              <a:avLst/>
              <a:gdLst/>
              <a:ahLst/>
              <a:cxnLst/>
              <a:rect l="l" t="t" r="r" b="b"/>
              <a:pathLst>
                <a:path w="770254" h="306705">
                  <a:moveTo>
                    <a:pt x="718681" y="0"/>
                  </a:moveTo>
                  <a:lnTo>
                    <a:pt x="51120" y="0"/>
                  </a:lnTo>
                  <a:lnTo>
                    <a:pt x="31221" y="4016"/>
                  </a:lnTo>
                  <a:lnTo>
                    <a:pt x="14972" y="14968"/>
                  </a:lnTo>
                  <a:lnTo>
                    <a:pt x="4017" y="31213"/>
                  </a:lnTo>
                  <a:lnTo>
                    <a:pt x="0" y="51106"/>
                  </a:lnTo>
                  <a:lnTo>
                    <a:pt x="0" y="255522"/>
                  </a:lnTo>
                  <a:lnTo>
                    <a:pt x="4017" y="275415"/>
                  </a:lnTo>
                  <a:lnTo>
                    <a:pt x="14972" y="291660"/>
                  </a:lnTo>
                  <a:lnTo>
                    <a:pt x="31221" y="302612"/>
                  </a:lnTo>
                  <a:lnTo>
                    <a:pt x="51120" y="306628"/>
                  </a:lnTo>
                  <a:lnTo>
                    <a:pt x="718681" y="306628"/>
                  </a:lnTo>
                  <a:lnTo>
                    <a:pt x="738579" y="302612"/>
                  </a:lnTo>
                  <a:lnTo>
                    <a:pt x="754828" y="291660"/>
                  </a:lnTo>
                  <a:lnTo>
                    <a:pt x="765784" y="275415"/>
                  </a:lnTo>
                  <a:lnTo>
                    <a:pt x="769801" y="255522"/>
                  </a:lnTo>
                  <a:lnTo>
                    <a:pt x="769801" y="51106"/>
                  </a:lnTo>
                  <a:lnTo>
                    <a:pt x="765784" y="31213"/>
                  </a:lnTo>
                  <a:lnTo>
                    <a:pt x="754828" y="14968"/>
                  </a:lnTo>
                  <a:lnTo>
                    <a:pt x="738579" y="4016"/>
                  </a:lnTo>
                  <a:lnTo>
                    <a:pt x="718681" y="0"/>
                  </a:lnTo>
                  <a:close/>
                </a:path>
              </a:pathLst>
            </a:custGeom>
            <a:solidFill>
              <a:srgbClr val="E7E6E6"/>
            </a:solidFill>
          </p:spPr>
          <p:txBody>
            <a:bodyPr wrap="square" lIns="0" tIns="0" rIns="0" bIns="0" rtlCol="0"/>
            <a:lstStyle/>
            <a:p>
              <a:endParaRPr sz="1634"/>
            </a:p>
          </p:txBody>
        </p:sp>
        <p:sp>
          <p:nvSpPr>
            <p:cNvPr id="13" name="object 13"/>
            <p:cNvSpPr/>
            <p:nvPr/>
          </p:nvSpPr>
          <p:spPr>
            <a:xfrm>
              <a:off x="4906568" y="2798423"/>
              <a:ext cx="770255" cy="306705"/>
            </a:xfrm>
            <a:custGeom>
              <a:avLst/>
              <a:gdLst/>
              <a:ahLst/>
              <a:cxnLst/>
              <a:rect l="l" t="t" r="r" b="b"/>
              <a:pathLst>
                <a:path w="770254" h="306705">
                  <a:moveTo>
                    <a:pt x="0" y="51105"/>
                  </a:moveTo>
                  <a:lnTo>
                    <a:pt x="4017" y="31213"/>
                  </a:lnTo>
                  <a:lnTo>
                    <a:pt x="14972" y="14968"/>
                  </a:lnTo>
                  <a:lnTo>
                    <a:pt x="31221" y="4016"/>
                  </a:lnTo>
                  <a:lnTo>
                    <a:pt x="51119" y="0"/>
                  </a:lnTo>
                  <a:lnTo>
                    <a:pt x="718681" y="0"/>
                  </a:lnTo>
                  <a:lnTo>
                    <a:pt x="738579" y="4016"/>
                  </a:lnTo>
                  <a:lnTo>
                    <a:pt x="754828" y="14968"/>
                  </a:lnTo>
                  <a:lnTo>
                    <a:pt x="765783" y="31213"/>
                  </a:lnTo>
                  <a:lnTo>
                    <a:pt x="769800" y="51105"/>
                  </a:lnTo>
                  <a:lnTo>
                    <a:pt x="769800" y="255523"/>
                  </a:lnTo>
                  <a:lnTo>
                    <a:pt x="765783" y="275416"/>
                  </a:lnTo>
                  <a:lnTo>
                    <a:pt x="754828" y="291660"/>
                  </a:lnTo>
                  <a:lnTo>
                    <a:pt x="738579" y="302613"/>
                  </a:lnTo>
                  <a:lnTo>
                    <a:pt x="718681" y="306629"/>
                  </a:lnTo>
                  <a:lnTo>
                    <a:pt x="51119" y="306629"/>
                  </a:lnTo>
                  <a:lnTo>
                    <a:pt x="31221" y="302613"/>
                  </a:lnTo>
                  <a:lnTo>
                    <a:pt x="14972" y="291660"/>
                  </a:lnTo>
                  <a:lnTo>
                    <a:pt x="4017" y="275416"/>
                  </a:lnTo>
                  <a:lnTo>
                    <a:pt x="0" y="255523"/>
                  </a:lnTo>
                  <a:lnTo>
                    <a:pt x="0" y="51105"/>
                  </a:lnTo>
                  <a:close/>
                </a:path>
              </a:pathLst>
            </a:custGeom>
            <a:ln w="10818">
              <a:solidFill>
                <a:srgbClr val="000000"/>
              </a:solidFill>
            </a:ln>
          </p:spPr>
          <p:txBody>
            <a:bodyPr wrap="square" lIns="0" tIns="0" rIns="0" bIns="0" rtlCol="0"/>
            <a:lstStyle/>
            <a:p>
              <a:endParaRPr sz="1634"/>
            </a:p>
          </p:txBody>
        </p:sp>
      </p:grpSp>
      <p:sp>
        <p:nvSpPr>
          <p:cNvPr id="14" name="object 14"/>
          <p:cNvSpPr txBox="1"/>
          <p:nvPr/>
        </p:nvSpPr>
        <p:spPr>
          <a:xfrm>
            <a:off x="5934393" y="2481402"/>
            <a:ext cx="157331" cy="346795"/>
          </a:xfrm>
          <a:prstGeom prst="rect">
            <a:avLst/>
          </a:prstGeom>
        </p:spPr>
        <p:txBody>
          <a:bodyPr vert="horz" wrap="square" lIns="0" tIns="11526" rIns="0" bIns="0" rtlCol="0">
            <a:spAutoFit/>
          </a:bodyPr>
          <a:lstStyle/>
          <a:p>
            <a:pPr marL="11527">
              <a:spcBef>
                <a:spcPts val="91"/>
              </a:spcBef>
            </a:pPr>
            <a:r>
              <a:rPr sz="2178" spc="-45" dirty="0">
                <a:latin typeface="Cambria Math"/>
                <a:cs typeface="Cambria Math"/>
              </a:rPr>
              <a:t>𝑧</a:t>
            </a:r>
            <a:endParaRPr sz="2178">
              <a:latin typeface="Cambria Math"/>
              <a:cs typeface="Cambria Math"/>
            </a:endParaRPr>
          </a:p>
        </p:txBody>
      </p:sp>
      <p:grpSp>
        <p:nvGrpSpPr>
          <p:cNvPr id="15" name="object 15"/>
          <p:cNvGrpSpPr/>
          <p:nvPr/>
        </p:nvGrpSpPr>
        <p:grpSpPr>
          <a:xfrm>
            <a:off x="4377753" y="2246657"/>
            <a:ext cx="2631397" cy="863301"/>
            <a:chOff x="3453446" y="2475483"/>
            <a:chExt cx="2899410" cy="951230"/>
          </a:xfrm>
        </p:grpSpPr>
        <p:pic>
          <p:nvPicPr>
            <p:cNvPr id="16" name="object 16"/>
            <p:cNvPicPr/>
            <p:nvPr/>
          </p:nvPicPr>
          <p:blipFill>
            <a:blip r:embed="rId5" cstate="print"/>
            <a:stretch>
              <a:fillRect/>
            </a:stretch>
          </p:blipFill>
          <p:spPr>
            <a:xfrm>
              <a:off x="6194631" y="2919282"/>
              <a:ext cx="158116" cy="64910"/>
            </a:xfrm>
            <a:prstGeom prst="rect">
              <a:avLst/>
            </a:prstGeom>
          </p:spPr>
        </p:pic>
        <p:pic>
          <p:nvPicPr>
            <p:cNvPr id="17" name="object 17"/>
            <p:cNvPicPr/>
            <p:nvPr/>
          </p:nvPicPr>
          <p:blipFill>
            <a:blip r:embed="rId6" cstate="print"/>
            <a:stretch>
              <a:fillRect/>
            </a:stretch>
          </p:blipFill>
          <p:spPr>
            <a:xfrm>
              <a:off x="4386071" y="2475483"/>
              <a:ext cx="374903" cy="950976"/>
            </a:xfrm>
            <a:prstGeom prst="rect">
              <a:avLst/>
            </a:prstGeom>
          </p:spPr>
        </p:pic>
        <p:pic>
          <p:nvPicPr>
            <p:cNvPr id="18" name="object 18"/>
            <p:cNvPicPr/>
            <p:nvPr/>
          </p:nvPicPr>
          <p:blipFill>
            <a:blip r:embed="rId7" cstate="print"/>
            <a:stretch>
              <a:fillRect/>
            </a:stretch>
          </p:blipFill>
          <p:spPr>
            <a:xfrm>
              <a:off x="4504943" y="2886963"/>
              <a:ext cx="106679" cy="137160"/>
            </a:xfrm>
            <a:prstGeom prst="rect">
              <a:avLst/>
            </a:prstGeom>
          </p:spPr>
        </p:pic>
        <p:sp>
          <p:nvSpPr>
            <p:cNvPr id="19" name="object 19"/>
            <p:cNvSpPr/>
            <p:nvPr/>
          </p:nvSpPr>
          <p:spPr>
            <a:xfrm>
              <a:off x="3459161" y="2798423"/>
              <a:ext cx="770255" cy="306705"/>
            </a:xfrm>
            <a:custGeom>
              <a:avLst/>
              <a:gdLst/>
              <a:ahLst/>
              <a:cxnLst/>
              <a:rect l="l" t="t" r="r" b="b"/>
              <a:pathLst>
                <a:path w="770254" h="306705">
                  <a:moveTo>
                    <a:pt x="718681" y="0"/>
                  </a:moveTo>
                  <a:lnTo>
                    <a:pt x="51120" y="0"/>
                  </a:lnTo>
                  <a:lnTo>
                    <a:pt x="31221" y="4016"/>
                  </a:lnTo>
                  <a:lnTo>
                    <a:pt x="14972" y="14968"/>
                  </a:lnTo>
                  <a:lnTo>
                    <a:pt x="4017" y="31213"/>
                  </a:lnTo>
                  <a:lnTo>
                    <a:pt x="0" y="51106"/>
                  </a:lnTo>
                  <a:lnTo>
                    <a:pt x="0" y="255522"/>
                  </a:lnTo>
                  <a:lnTo>
                    <a:pt x="4017" y="275415"/>
                  </a:lnTo>
                  <a:lnTo>
                    <a:pt x="14972" y="291660"/>
                  </a:lnTo>
                  <a:lnTo>
                    <a:pt x="31221" y="302612"/>
                  </a:lnTo>
                  <a:lnTo>
                    <a:pt x="51120" y="306628"/>
                  </a:lnTo>
                  <a:lnTo>
                    <a:pt x="718681" y="306628"/>
                  </a:lnTo>
                  <a:lnTo>
                    <a:pt x="738579" y="302612"/>
                  </a:lnTo>
                  <a:lnTo>
                    <a:pt x="754828" y="291660"/>
                  </a:lnTo>
                  <a:lnTo>
                    <a:pt x="765784" y="275415"/>
                  </a:lnTo>
                  <a:lnTo>
                    <a:pt x="769801" y="255522"/>
                  </a:lnTo>
                  <a:lnTo>
                    <a:pt x="769801" y="51106"/>
                  </a:lnTo>
                  <a:lnTo>
                    <a:pt x="765784" y="31213"/>
                  </a:lnTo>
                  <a:lnTo>
                    <a:pt x="754828" y="14968"/>
                  </a:lnTo>
                  <a:lnTo>
                    <a:pt x="738579" y="4016"/>
                  </a:lnTo>
                  <a:lnTo>
                    <a:pt x="718681" y="0"/>
                  </a:lnTo>
                  <a:close/>
                </a:path>
              </a:pathLst>
            </a:custGeom>
            <a:solidFill>
              <a:srgbClr val="E7E6E6"/>
            </a:solidFill>
          </p:spPr>
          <p:txBody>
            <a:bodyPr wrap="square" lIns="0" tIns="0" rIns="0" bIns="0" rtlCol="0"/>
            <a:lstStyle/>
            <a:p>
              <a:endParaRPr sz="1634"/>
            </a:p>
          </p:txBody>
        </p:sp>
        <p:sp>
          <p:nvSpPr>
            <p:cNvPr id="20" name="object 20"/>
            <p:cNvSpPr/>
            <p:nvPr/>
          </p:nvSpPr>
          <p:spPr>
            <a:xfrm>
              <a:off x="3459161" y="2798423"/>
              <a:ext cx="770255" cy="306705"/>
            </a:xfrm>
            <a:custGeom>
              <a:avLst/>
              <a:gdLst/>
              <a:ahLst/>
              <a:cxnLst/>
              <a:rect l="l" t="t" r="r" b="b"/>
              <a:pathLst>
                <a:path w="770254" h="306705">
                  <a:moveTo>
                    <a:pt x="0" y="51105"/>
                  </a:moveTo>
                  <a:lnTo>
                    <a:pt x="4017" y="31213"/>
                  </a:lnTo>
                  <a:lnTo>
                    <a:pt x="14972" y="14968"/>
                  </a:lnTo>
                  <a:lnTo>
                    <a:pt x="31221" y="4016"/>
                  </a:lnTo>
                  <a:lnTo>
                    <a:pt x="51119" y="0"/>
                  </a:lnTo>
                  <a:lnTo>
                    <a:pt x="718681" y="0"/>
                  </a:lnTo>
                  <a:lnTo>
                    <a:pt x="738579" y="4016"/>
                  </a:lnTo>
                  <a:lnTo>
                    <a:pt x="754828" y="14968"/>
                  </a:lnTo>
                  <a:lnTo>
                    <a:pt x="765783" y="31213"/>
                  </a:lnTo>
                  <a:lnTo>
                    <a:pt x="769800" y="51105"/>
                  </a:lnTo>
                  <a:lnTo>
                    <a:pt x="769800" y="255523"/>
                  </a:lnTo>
                  <a:lnTo>
                    <a:pt x="765783" y="275416"/>
                  </a:lnTo>
                  <a:lnTo>
                    <a:pt x="754828" y="291660"/>
                  </a:lnTo>
                  <a:lnTo>
                    <a:pt x="738579" y="302613"/>
                  </a:lnTo>
                  <a:lnTo>
                    <a:pt x="718681" y="306629"/>
                  </a:lnTo>
                  <a:lnTo>
                    <a:pt x="51119" y="306629"/>
                  </a:lnTo>
                  <a:lnTo>
                    <a:pt x="31221" y="302613"/>
                  </a:lnTo>
                  <a:lnTo>
                    <a:pt x="14972" y="291660"/>
                  </a:lnTo>
                  <a:lnTo>
                    <a:pt x="4017" y="275416"/>
                  </a:lnTo>
                  <a:lnTo>
                    <a:pt x="0" y="255523"/>
                  </a:lnTo>
                  <a:lnTo>
                    <a:pt x="0" y="51105"/>
                  </a:lnTo>
                  <a:close/>
                </a:path>
              </a:pathLst>
            </a:custGeom>
            <a:ln w="10818">
              <a:solidFill>
                <a:srgbClr val="000000"/>
              </a:solidFill>
            </a:ln>
          </p:spPr>
          <p:txBody>
            <a:bodyPr wrap="square" lIns="0" tIns="0" rIns="0" bIns="0" rtlCol="0"/>
            <a:lstStyle/>
            <a:p>
              <a:endParaRPr sz="1634"/>
            </a:p>
          </p:txBody>
        </p:sp>
      </p:grpSp>
      <p:sp>
        <p:nvSpPr>
          <p:cNvPr id="21" name="object 21"/>
          <p:cNvSpPr txBox="1"/>
          <p:nvPr/>
        </p:nvSpPr>
        <p:spPr>
          <a:xfrm>
            <a:off x="4612210" y="2481402"/>
            <a:ext cx="170586" cy="346795"/>
          </a:xfrm>
          <a:prstGeom prst="rect">
            <a:avLst/>
          </a:prstGeom>
        </p:spPr>
        <p:txBody>
          <a:bodyPr vert="horz" wrap="square" lIns="0" tIns="11526" rIns="0" bIns="0" rtlCol="0">
            <a:spAutoFit/>
          </a:bodyPr>
          <a:lstStyle/>
          <a:p>
            <a:pPr marL="11527">
              <a:spcBef>
                <a:spcPts val="91"/>
              </a:spcBef>
            </a:pPr>
            <a:r>
              <a:rPr sz="2178" spc="-45" dirty="0">
                <a:latin typeface="Cambria Math"/>
                <a:cs typeface="Cambria Math"/>
              </a:rPr>
              <a:t>𝑥</a:t>
            </a:r>
            <a:endParaRPr sz="2178">
              <a:latin typeface="Cambria Math"/>
              <a:cs typeface="Cambria Math"/>
            </a:endParaRPr>
          </a:p>
        </p:txBody>
      </p:sp>
      <p:grpSp>
        <p:nvGrpSpPr>
          <p:cNvPr id="22" name="object 22"/>
          <p:cNvGrpSpPr/>
          <p:nvPr/>
        </p:nvGrpSpPr>
        <p:grpSpPr>
          <a:xfrm>
            <a:off x="5081538" y="1941284"/>
            <a:ext cx="1459198" cy="767059"/>
            <a:chOff x="4228913" y="2139007"/>
            <a:chExt cx="1607820" cy="845185"/>
          </a:xfrm>
        </p:grpSpPr>
        <p:pic>
          <p:nvPicPr>
            <p:cNvPr id="23" name="object 23"/>
            <p:cNvPicPr/>
            <p:nvPr/>
          </p:nvPicPr>
          <p:blipFill>
            <a:blip r:embed="rId8" cstate="print"/>
            <a:stretch>
              <a:fillRect/>
            </a:stretch>
          </p:blipFill>
          <p:spPr>
            <a:xfrm>
              <a:off x="5676370" y="2919282"/>
              <a:ext cx="160168" cy="64910"/>
            </a:xfrm>
            <a:prstGeom prst="rect">
              <a:avLst/>
            </a:prstGeom>
          </p:spPr>
        </p:pic>
        <p:pic>
          <p:nvPicPr>
            <p:cNvPr id="24" name="object 24"/>
            <p:cNvPicPr/>
            <p:nvPr/>
          </p:nvPicPr>
          <p:blipFill>
            <a:blip r:embed="rId9" cstate="print"/>
            <a:stretch>
              <a:fillRect/>
            </a:stretch>
          </p:blipFill>
          <p:spPr>
            <a:xfrm>
              <a:off x="4751784" y="2918650"/>
              <a:ext cx="154783" cy="64908"/>
            </a:xfrm>
            <a:prstGeom prst="rect">
              <a:avLst/>
            </a:prstGeom>
          </p:spPr>
        </p:pic>
        <p:pic>
          <p:nvPicPr>
            <p:cNvPr id="25" name="object 25"/>
            <p:cNvPicPr/>
            <p:nvPr/>
          </p:nvPicPr>
          <p:blipFill>
            <a:blip r:embed="rId10" cstate="print"/>
            <a:stretch>
              <a:fillRect/>
            </a:stretch>
          </p:blipFill>
          <p:spPr>
            <a:xfrm>
              <a:off x="4228913" y="2918369"/>
              <a:ext cx="164830" cy="64908"/>
            </a:xfrm>
            <a:prstGeom prst="rect">
              <a:avLst/>
            </a:prstGeom>
          </p:spPr>
        </p:pic>
        <p:sp>
          <p:nvSpPr>
            <p:cNvPr id="26" name="object 26"/>
            <p:cNvSpPr/>
            <p:nvPr/>
          </p:nvSpPr>
          <p:spPr>
            <a:xfrm>
              <a:off x="5042873" y="2144722"/>
              <a:ext cx="513080" cy="219710"/>
            </a:xfrm>
            <a:custGeom>
              <a:avLst/>
              <a:gdLst/>
              <a:ahLst/>
              <a:cxnLst/>
              <a:rect l="l" t="t" r="r" b="b"/>
              <a:pathLst>
                <a:path w="513079" h="219710">
                  <a:moveTo>
                    <a:pt x="476238" y="0"/>
                  </a:moveTo>
                  <a:lnTo>
                    <a:pt x="36596" y="0"/>
                  </a:lnTo>
                  <a:lnTo>
                    <a:pt x="22351" y="2875"/>
                  </a:lnTo>
                  <a:lnTo>
                    <a:pt x="10719" y="10715"/>
                  </a:lnTo>
                  <a:lnTo>
                    <a:pt x="2876" y="22345"/>
                  </a:lnTo>
                  <a:lnTo>
                    <a:pt x="0" y="36586"/>
                  </a:lnTo>
                  <a:lnTo>
                    <a:pt x="0" y="182928"/>
                  </a:lnTo>
                  <a:lnTo>
                    <a:pt x="2876" y="197169"/>
                  </a:lnTo>
                  <a:lnTo>
                    <a:pt x="10719" y="208799"/>
                  </a:lnTo>
                  <a:lnTo>
                    <a:pt x="22351" y="216640"/>
                  </a:lnTo>
                  <a:lnTo>
                    <a:pt x="36596" y="219515"/>
                  </a:lnTo>
                  <a:lnTo>
                    <a:pt x="476238" y="219515"/>
                  </a:lnTo>
                  <a:lnTo>
                    <a:pt x="490483" y="216640"/>
                  </a:lnTo>
                  <a:lnTo>
                    <a:pt x="502116" y="208799"/>
                  </a:lnTo>
                  <a:lnTo>
                    <a:pt x="509959" y="197169"/>
                  </a:lnTo>
                  <a:lnTo>
                    <a:pt x="512834" y="182928"/>
                  </a:lnTo>
                  <a:lnTo>
                    <a:pt x="512834" y="36586"/>
                  </a:lnTo>
                  <a:lnTo>
                    <a:pt x="509959" y="22345"/>
                  </a:lnTo>
                  <a:lnTo>
                    <a:pt x="502116" y="10715"/>
                  </a:lnTo>
                  <a:lnTo>
                    <a:pt x="490483" y="2875"/>
                  </a:lnTo>
                  <a:lnTo>
                    <a:pt x="476238" y="0"/>
                  </a:lnTo>
                  <a:close/>
                </a:path>
              </a:pathLst>
            </a:custGeom>
            <a:solidFill>
              <a:srgbClr val="D0CECE"/>
            </a:solidFill>
          </p:spPr>
          <p:txBody>
            <a:bodyPr wrap="square" lIns="0" tIns="0" rIns="0" bIns="0" rtlCol="0"/>
            <a:lstStyle/>
            <a:p>
              <a:endParaRPr sz="1634"/>
            </a:p>
          </p:txBody>
        </p:sp>
        <p:sp>
          <p:nvSpPr>
            <p:cNvPr id="27" name="object 27"/>
            <p:cNvSpPr/>
            <p:nvPr/>
          </p:nvSpPr>
          <p:spPr>
            <a:xfrm>
              <a:off x="5042873" y="2144722"/>
              <a:ext cx="513080" cy="219710"/>
            </a:xfrm>
            <a:custGeom>
              <a:avLst/>
              <a:gdLst/>
              <a:ahLst/>
              <a:cxnLst/>
              <a:rect l="l" t="t" r="r" b="b"/>
              <a:pathLst>
                <a:path w="513079" h="219710">
                  <a:moveTo>
                    <a:pt x="0" y="36586"/>
                  </a:moveTo>
                  <a:lnTo>
                    <a:pt x="2875" y="22345"/>
                  </a:lnTo>
                  <a:lnTo>
                    <a:pt x="10718" y="10716"/>
                  </a:lnTo>
                  <a:lnTo>
                    <a:pt x="22351" y="2875"/>
                  </a:lnTo>
                  <a:lnTo>
                    <a:pt x="36596" y="0"/>
                  </a:lnTo>
                  <a:lnTo>
                    <a:pt x="476238" y="0"/>
                  </a:lnTo>
                  <a:lnTo>
                    <a:pt x="490483" y="2875"/>
                  </a:lnTo>
                  <a:lnTo>
                    <a:pt x="502115" y="10716"/>
                  </a:lnTo>
                  <a:lnTo>
                    <a:pt x="509958" y="22345"/>
                  </a:lnTo>
                  <a:lnTo>
                    <a:pt x="512834" y="36586"/>
                  </a:lnTo>
                  <a:lnTo>
                    <a:pt x="512834" y="182928"/>
                  </a:lnTo>
                  <a:lnTo>
                    <a:pt x="509958" y="197169"/>
                  </a:lnTo>
                  <a:lnTo>
                    <a:pt x="502115" y="208799"/>
                  </a:lnTo>
                  <a:lnTo>
                    <a:pt x="490483" y="216640"/>
                  </a:lnTo>
                  <a:lnTo>
                    <a:pt x="476238" y="219515"/>
                  </a:lnTo>
                  <a:lnTo>
                    <a:pt x="36596" y="219515"/>
                  </a:lnTo>
                  <a:lnTo>
                    <a:pt x="22351" y="216640"/>
                  </a:lnTo>
                  <a:lnTo>
                    <a:pt x="10718" y="208799"/>
                  </a:lnTo>
                  <a:lnTo>
                    <a:pt x="2875" y="197169"/>
                  </a:lnTo>
                  <a:lnTo>
                    <a:pt x="0" y="182928"/>
                  </a:lnTo>
                  <a:lnTo>
                    <a:pt x="0" y="36586"/>
                  </a:lnTo>
                  <a:close/>
                </a:path>
              </a:pathLst>
            </a:custGeom>
            <a:ln w="10818">
              <a:solidFill>
                <a:srgbClr val="4472C4"/>
              </a:solidFill>
            </a:ln>
          </p:spPr>
          <p:txBody>
            <a:bodyPr wrap="square" lIns="0" tIns="0" rIns="0" bIns="0" rtlCol="0"/>
            <a:lstStyle/>
            <a:p>
              <a:endParaRPr sz="1634"/>
            </a:p>
          </p:txBody>
        </p:sp>
      </p:grpSp>
      <p:sp>
        <p:nvSpPr>
          <p:cNvPr id="28" name="object 28"/>
          <p:cNvSpPr txBox="1"/>
          <p:nvPr/>
        </p:nvSpPr>
        <p:spPr>
          <a:xfrm>
            <a:off x="5966218" y="1918442"/>
            <a:ext cx="125634" cy="221055"/>
          </a:xfrm>
          <a:prstGeom prst="rect">
            <a:avLst/>
          </a:prstGeom>
        </p:spPr>
        <p:txBody>
          <a:bodyPr vert="horz" wrap="square" lIns="0" tIns="11526" rIns="0" bIns="0" rtlCol="0">
            <a:spAutoFit/>
          </a:bodyPr>
          <a:lstStyle/>
          <a:p>
            <a:pPr marL="11527">
              <a:spcBef>
                <a:spcPts val="91"/>
              </a:spcBef>
            </a:pPr>
            <a:r>
              <a:rPr sz="1361" spc="-45" dirty="0">
                <a:latin typeface="Cambria Math"/>
                <a:cs typeface="Cambria Math"/>
              </a:rPr>
              <a:t>ℒ</a:t>
            </a:r>
            <a:endParaRPr sz="1361">
              <a:latin typeface="Cambria Math"/>
              <a:cs typeface="Cambria Math"/>
            </a:endParaRPr>
          </a:p>
        </p:txBody>
      </p:sp>
      <p:sp>
        <p:nvSpPr>
          <p:cNvPr id="29" name="object 29"/>
          <p:cNvSpPr/>
          <p:nvPr/>
        </p:nvSpPr>
        <p:spPr>
          <a:xfrm>
            <a:off x="4727362" y="2017681"/>
            <a:ext cx="2636008" cy="522706"/>
          </a:xfrm>
          <a:custGeom>
            <a:avLst/>
            <a:gdLst/>
            <a:ahLst/>
            <a:cxnLst/>
            <a:rect l="l" t="t" r="r" b="b"/>
            <a:pathLst>
              <a:path w="2904490" h="575944">
                <a:moveTo>
                  <a:pt x="1204201" y="31305"/>
                </a:moveTo>
                <a:lnTo>
                  <a:pt x="1194904" y="26860"/>
                </a:lnTo>
                <a:lnTo>
                  <a:pt x="1138707" y="0"/>
                </a:lnTo>
                <a:lnTo>
                  <a:pt x="1139190" y="27254"/>
                </a:lnTo>
                <a:lnTo>
                  <a:pt x="1091679" y="29019"/>
                </a:lnTo>
                <a:lnTo>
                  <a:pt x="1035672" y="32854"/>
                </a:lnTo>
                <a:lnTo>
                  <a:pt x="980020" y="38138"/>
                </a:lnTo>
                <a:lnTo>
                  <a:pt x="924801" y="44818"/>
                </a:lnTo>
                <a:lnTo>
                  <a:pt x="870140" y="52844"/>
                </a:lnTo>
                <a:lnTo>
                  <a:pt x="816127" y="62179"/>
                </a:lnTo>
                <a:lnTo>
                  <a:pt x="762571" y="72821"/>
                </a:lnTo>
                <a:lnTo>
                  <a:pt x="710539" y="84531"/>
                </a:lnTo>
                <a:lnTo>
                  <a:pt x="659168" y="97447"/>
                </a:lnTo>
                <a:lnTo>
                  <a:pt x="608888" y="111467"/>
                </a:lnTo>
                <a:lnTo>
                  <a:pt x="559828" y="126542"/>
                </a:lnTo>
                <a:lnTo>
                  <a:pt x="512076" y="142621"/>
                </a:lnTo>
                <a:lnTo>
                  <a:pt x="465734" y="159651"/>
                </a:lnTo>
                <a:lnTo>
                  <a:pt x="420941" y="177571"/>
                </a:lnTo>
                <a:lnTo>
                  <a:pt x="377786" y="196354"/>
                </a:lnTo>
                <a:lnTo>
                  <a:pt x="336372" y="215938"/>
                </a:lnTo>
                <a:lnTo>
                  <a:pt x="296824" y="236283"/>
                </a:lnTo>
                <a:lnTo>
                  <a:pt x="259245" y="257340"/>
                </a:lnTo>
                <a:lnTo>
                  <a:pt x="223735" y="279057"/>
                </a:lnTo>
                <a:lnTo>
                  <a:pt x="190411" y="301396"/>
                </a:lnTo>
                <a:lnTo>
                  <a:pt x="159385" y="324294"/>
                </a:lnTo>
                <a:lnTo>
                  <a:pt x="104635" y="371640"/>
                </a:lnTo>
                <a:lnTo>
                  <a:pt x="60375" y="420738"/>
                </a:lnTo>
                <a:lnTo>
                  <a:pt x="27520" y="471271"/>
                </a:lnTo>
                <a:lnTo>
                  <a:pt x="7035" y="522922"/>
                </a:lnTo>
                <a:lnTo>
                  <a:pt x="0" y="574878"/>
                </a:lnTo>
                <a:lnTo>
                  <a:pt x="10795" y="575614"/>
                </a:lnTo>
                <a:lnTo>
                  <a:pt x="12484" y="550824"/>
                </a:lnTo>
                <a:lnTo>
                  <a:pt x="12509" y="550481"/>
                </a:lnTo>
                <a:lnTo>
                  <a:pt x="12433" y="550824"/>
                </a:lnTo>
                <a:lnTo>
                  <a:pt x="12534" y="550125"/>
                </a:lnTo>
                <a:lnTo>
                  <a:pt x="12509" y="550481"/>
                </a:lnTo>
                <a:lnTo>
                  <a:pt x="12573" y="550125"/>
                </a:lnTo>
                <a:lnTo>
                  <a:pt x="17449" y="526021"/>
                </a:lnTo>
                <a:lnTo>
                  <a:pt x="17513" y="525703"/>
                </a:lnTo>
                <a:lnTo>
                  <a:pt x="17614" y="525386"/>
                </a:lnTo>
                <a:lnTo>
                  <a:pt x="37007" y="476529"/>
                </a:lnTo>
                <a:lnTo>
                  <a:pt x="51549" y="451751"/>
                </a:lnTo>
                <a:lnTo>
                  <a:pt x="51409" y="451929"/>
                </a:lnTo>
                <a:lnTo>
                  <a:pt x="51676" y="451535"/>
                </a:lnTo>
                <a:lnTo>
                  <a:pt x="51549" y="451751"/>
                </a:lnTo>
                <a:lnTo>
                  <a:pt x="51701" y="451535"/>
                </a:lnTo>
                <a:lnTo>
                  <a:pt x="68821" y="427532"/>
                </a:lnTo>
                <a:lnTo>
                  <a:pt x="68935" y="427367"/>
                </a:lnTo>
                <a:lnTo>
                  <a:pt x="69088" y="427189"/>
                </a:lnTo>
                <a:lnTo>
                  <a:pt x="89077" y="403364"/>
                </a:lnTo>
                <a:lnTo>
                  <a:pt x="89192" y="403225"/>
                </a:lnTo>
                <a:lnTo>
                  <a:pt x="89331" y="403085"/>
                </a:lnTo>
                <a:lnTo>
                  <a:pt x="112090" y="379501"/>
                </a:lnTo>
                <a:lnTo>
                  <a:pt x="137744" y="356006"/>
                </a:lnTo>
                <a:lnTo>
                  <a:pt x="196557" y="310311"/>
                </a:lnTo>
                <a:lnTo>
                  <a:pt x="229489" y="288226"/>
                </a:lnTo>
                <a:lnTo>
                  <a:pt x="264629" y="266725"/>
                </a:lnTo>
                <a:lnTo>
                  <a:pt x="301879" y="245859"/>
                </a:lnTo>
                <a:lnTo>
                  <a:pt x="341096" y="225679"/>
                </a:lnTo>
                <a:lnTo>
                  <a:pt x="382181" y="206248"/>
                </a:lnTo>
                <a:lnTo>
                  <a:pt x="425043" y="187591"/>
                </a:lnTo>
                <a:lnTo>
                  <a:pt x="469557" y="169773"/>
                </a:lnTo>
                <a:lnTo>
                  <a:pt x="515594" y="152844"/>
                </a:lnTo>
                <a:lnTo>
                  <a:pt x="563079" y="136867"/>
                </a:lnTo>
                <a:lnTo>
                  <a:pt x="611873" y="121869"/>
                </a:lnTo>
                <a:lnTo>
                  <a:pt x="661885" y="107924"/>
                </a:lnTo>
                <a:lnTo>
                  <a:pt x="712990" y="95072"/>
                </a:lnTo>
                <a:lnTo>
                  <a:pt x="765073" y="83350"/>
                </a:lnTo>
                <a:lnTo>
                  <a:pt x="818057" y="72821"/>
                </a:lnTo>
                <a:lnTo>
                  <a:pt x="871791" y="63538"/>
                </a:lnTo>
                <a:lnTo>
                  <a:pt x="926172" y="55549"/>
                </a:lnTo>
                <a:lnTo>
                  <a:pt x="981138" y="48907"/>
                </a:lnTo>
                <a:lnTo>
                  <a:pt x="1036497" y="43649"/>
                </a:lnTo>
                <a:lnTo>
                  <a:pt x="1092200" y="39827"/>
                </a:lnTo>
                <a:lnTo>
                  <a:pt x="1139380" y="38074"/>
                </a:lnTo>
                <a:lnTo>
                  <a:pt x="1139863" y="64897"/>
                </a:lnTo>
                <a:lnTo>
                  <a:pt x="1204201" y="31305"/>
                </a:lnTo>
                <a:close/>
              </a:path>
              <a:path w="2904490" h="575944">
                <a:moveTo>
                  <a:pt x="2904375" y="574878"/>
                </a:moveTo>
                <a:lnTo>
                  <a:pt x="2902712" y="550113"/>
                </a:lnTo>
                <a:lnTo>
                  <a:pt x="2902635" y="549046"/>
                </a:lnTo>
                <a:lnTo>
                  <a:pt x="2897924" y="525373"/>
                </a:lnTo>
                <a:lnTo>
                  <a:pt x="2897441" y="522935"/>
                </a:lnTo>
                <a:lnTo>
                  <a:pt x="2879394" y="476021"/>
                </a:lnTo>
                <a:lnTo>
                  <a:pt x="2865780" y="451510"/>
                </a:lnTo>
                <a:lnTo>
                  <a:pt x="2862516" y="445871"/>
                </a:lnTo>
                <a:lnTo>
                  <a:pt x="2849346" y="427164"/>
                </a:lnTo>
                <a:lnTo>
                  <a:pt x="2844850" y="420763"/>
                </a:lnTo>
                <a:lnTo>
                  <a:pt x="2830207" y="403059"/>
                </a:lnTo>
                <a:lnTo>
                  <a:pt x="2824378" y="396011"/>
                </a:lnTo>
                <a:lnTo>
                  <a:pt x="2808427" y="379247"/>
                </a:lnTo>
                <a:lnTo>
                  <a:pt x="2801213" y="371665"/>
                </a:lnTo>
                <a:lnTo>
                  <a:pt x="2757360" y="332727"/>
                </a:lnTo>
                <a:lnTo>
                  <a:pt x="2716631" y="301409"/>
                </a:lnTo>
                <a:lnTo>
                  <a:pt x="2683776" y="279082"/>
                </a:lnTo>
                <a:lnTo>
                  <a:pt x="2648762" y="257365"/>
                </a:lnTo>
                <a:lnTo>
                  <a:pt x="2611717" y="236308"/>
                </a:lnTo>
                <a:lnTo>
                  <a:pt x="2572715" y="215963"/>
                </a:lnTo>
                <a:lnTo>
                  <a:pt x="2531884" y="196367"/>
                </a:lnTo>
                <a:lnTo>
                  <a:pt x="2511831" y="187515"/>
                </a:lnTo>
                <a:lnTo>
                  <a:pt x="2489339" y="177584"/>
                </a:lnTo>
                <a:lnTo>
                  <a:pt x="2469934" y="169710"/>
                </a:lnTo>
                <a:lnTo>
                  <a:pt x="2445169" y="159651"/>
                </a:lnTo>
                <a:lnTo>
                  <a:pt x="2426741" y="152793"/>
                </a:lnTo>
                <a:lnTo>
                  <a:pt x="2399487" y="142633"/>
                </a:lnTo>
                <a:lnTo>
                  <a:pt x="2382456" y="136817"/>
                </a:lnTo>
                <a:lnTo>
                  <a:pt x="2352395" y="126555"/>
                </a:lnTo>
                <a:lnTo>
                  <a:pt x="2337231" y="121831"/>
                </a:lnTo>
                <a:lnTo>
                  <a:pt x="2304021" y="111480"/>
                </a:lnTo>
                <a:lnTo>
                  <a:pt x="2291308" y="107886"/>
                </a:lnTo>
                <a:lnTo>
                  <a:pt x="2254440" y="97459"/>
                </a:lnTo>
                <a:lnTo>
                  <a:pt x="2244941" y="95034"/>
                </a:lnTo>
                <a:lnTo>
                  <a:pt x="2203793" y="84531"/>
                </a:lnTo>
                <a:lnTo>
                  <a:pt x="2198471" y="83312"/>
                </a:lnTo>
                <a:lnTo>
                  <a:pt x="2152358" y="72796"/>
                </a:lnTo>
                <a:lnTo>
                  <a:pt x="2106333" y="63525"/>
                </a:lnTo>
                <a:lnTo>
                  <a:pt x="2099678" y="62179"/>
                </a:lnTo>
                <a:lnTo>
                  <a:pt x="2061730" y="55537"/>
                </a:lnTo>
                <a:lnTo>
                  <a:pt x="2046427" y="52857"/>
                </a:lnTo>
                <a:lnTo>
                  <a:pt x="2019808" y="48882"/>
                </a:lnTo>
                <a:lnTo>
                  <a:pt x="1992528" y="44818"/>
                </a:lnTo>
                <a:lnTo>
                  <a:pt x="1982825" y="43624"/>
                </a:lnTo>
                <a:lnTo>
                  <a:pt x="1951748" y="39814"/>
                </a:lnTo>
                <a:lnTo>
                  <a:pt x="1938083" y="38138"/>
                </a:lnTo>
                <a:lnTo>
                  <a:pt x="1883206" y="32854"/>
                </a:lnTo>
                <a:lnTo>
                  <a:pt x="1827987" y="29019"/>
                </a:lnTo>
                <a:lnTo>
                  <a:pt x="1782051" y="27292"/>
                </a:lnTo>
                <a:lnTo>
                  <a:pt x="1782064" y="26885"/>
                </a:lnTo>
                <a:lnTo>
                  <a:pt x="1782559" y="38"/>
                </a:lnTo>
                <a:lnTo>
                  <a:pt x="1717040" y="31305"/>
                </a:lnTo>
                <a:lnTo>
                  <a:pt x="1781365" y="64935"/>
                </a:lnTo>
                <a:lnTo>
                  <a:pt x="1781860" y="38112"/>
                </a:lnTo>
                <a:lnTo>
                  <a:pt x="1827403" y="39827"/>
                </a:lnTo>
                <a:lnTo>
                  <a:pt x="1882343" y="43637"/>
                </a:lnTo>
                <a:lnTo>
                  <a:pt x="1936902" y="48895"/>
                </a:lnTo>
                <a:lnTo>
                  <a:pt x="1991080" y="55549"/>
                </a:lnTo>
                <a:lnTo>
                  <a:pt x="2044636" y="63525"/>
                </a:lnTo>
                <a:lnTo>
                  <a:pt x="2097608" y="72796"/>
                </a:lnTo>
                <a:lnTo>
                  <a:pt x="2097735" y="72821"/>
                </a:lnTo>
                <a:lnTo>
                  <a:pt x="2149906" y="83337"/>
                </a:lnTo>
                <a:lnTo>
                  <a:pt x="2201189" y="95034"/>
                </a:lnTo>
                <a:lnTo>
                  <a:pt x="2201316" y="95059"/>
                </a:lnTo>
                <a:lnTo>
                  <a:pt x="2251621" y="107911"/>
                </a:lnTo>
                <a:lnTo>
                  <a:pt x="2300935" y="121856"/>
                </a:lnTo>
                <a:lnTo>
                  <a:pt x="2349042" y="136842"/>
                </a:lnTo>
                <a:lnTo>
                  <a:pt x="2395766" y="152793"/>
                </a:lnTo>
                <a:lnTo>
                  <a:pt x="2395905" y="152844"/>
                </a:lnTo>
                <a:lnTo>
                  <a:pt x="2441219" y="169735"/>
                </a:lnTo>
                <a:lnTo>
                  <a:pt x="2485110" y="187553"/>
                </a:lnTo>
                <a:lnTo>
                  <a:pt x="2527338" y="206184"/>
                </a:lnTo>
                <a:lnTo>
                  <a:pt x="2567863" y="225628"/>
                </a:lnTo>
                <a:lnTo>
                  <a:pt x="2606535" y="245808"/>
                </a:lnTo>
                <a:lnTo>
                  <a:pt x="2643149" y="266611"/>
                </a:lnTo>
                <a:lnTo>
                  <a:pt x="2643327" y="266712"/>
                </a:lnTo>
                <a:lnTo>
                  <a:pt x="2677884" y="288163"/>
                </a:lnTo>
                <a:lnTo>
                  <a:pt x="2710345" y="310222"/>
                </a:lnTo>
                <a:lnTo>
                  <a:pt x="2740533" y="332828"/>
                </a:lnTo>
                <a:lnTo>
                  <a:pt x="2768308" y="355879"/>
                </a:lnTo>
                <a:lnTo>
                  <a:pt x="2816275" y="403186"/>
                </a:lnTo>
                <a:lnTo>
                  <a:pt x="2816390" y="403339"/>
                </a:lnTo>
                <a:lnTo>
                  <a:pt x="2836240" y="427342"/>
                </a:lnTo>
                <a:lnTo>
                  <a:pt x="2836126" y="427164"/>
                </a:lnTo>
                <a:lnTo>
                  <a:pt x="2836380" y="427494"/>
                </a:lnTo>
                <a:lnTo>
                  <a:pt x="2836240" y="427342"/>
                </a:lnTo>
                <a:lnTo>
                  <a:pt x="2836354" y="427494"/>
                </a:lnTo>
                <a:lnTo>
                  <a:pt x="2867609" y="476262"/>
                </a:lnTo>
                <a:lnTo>
                  <a:pt x="2878925" y="501218"/>
                </a:lnTo>
                <a:lnTo>
                  <a:pt x="2886951" y="525678"/>
                </a:lnTo>
                <a:lnTo>
                  <a:pt x="2887014" y="525995"/>
                </a:lnTo>
                <a:lnTo>
                  <a:pt x="2891891" y="550456"/>
                </a:lnTo>
                <a:lnTo>
                  <a:pt x="2891866" y="550113"/>
                </a:lnTo>
                <a:lnTo>
                  <a:pt x="2891955" y="550811"/>
                </a:lnTo>
                <a:lnTo>
                  <a:pt x="2891891" y="550456"/>
                </a:lnTo>
                <a:lnTo>
                  <a:pt x="2891917" y="550811"/>
                </a:lnTo>
                <a:lnTo>
                  <a:pt x="2893580" y="575602"/>
                </a:lnTo>
                <a:lnTo>
                  <a:pt x="2904375" y="574878"/>
                </a:lnTo>
                <a:close/>
              </a:path>
            </a:pathLst>
          </a:custGeom>
          <a:solidFill>
            <a:srgbClr val="4472C4"/>
          </a:solidFill>
        </p:spPr>
        <p:txBody>
          <a:bodyPr wrap="square" lIns="0" tIns="0" rIns="0" bIns="0" rtlCol="0"/>
          <a:lstStyle/>
          <a:p>
            <a:endParaRPr sz="1634"/>
          </a:p>
        </p:txBody>
      </p:sp>
      <p:sp>
        <p:nvSpPr>
          <p:cNvPr id="30" name="object 30"/>
          <p:cNvSpPr txBox="1">
            <a:spLocks noGrp="1"/>
          </p:cNvSpPr>
          <p:nvPr>
            <p:ph type="sldNum" sz="quarter" idx="7"/>
          </p:nvPr>
        </p:nvSpPr>
        <p:spPr>
          <a:xfrm>
            <a:off x="9577123" y="6334774"/>
            <a:ext cx="221615" cy="180975"/>
          </a:xfrm>
          <a:prstGeom prst="rect">
            <a:avLst/>
          </a:prstGeom>
        </p:spPr>
        <p:txBody>
          <a:bodyPr vert="horz" wrap="square" lIns="0" tIns="0" rIns="0" bIns="0" rtlCol="0">
            <a:spAutoFit/>
          </a:bodyPr>
          <a:lstStyle>
            <a:defPPr>
              <a:defRPr kern="0"/>
            </a:defPPr>
            <a:lvl1pPr>
              <a:defRPr sz="1000" b="0" i="0">
                <a:solidFill>
                  <a:srgbClr val="898989"/>
                </a:solidFill>
                <a:latin typeface="Calibri"/>
                <a:cs typeface="Calibri"/>
              </a:defRPr>
            </a:lvl1pPr>
          </a:lstStyle>
          <a:p>
            <a:pPr marL="104139">
              <a:spcBef>
                <a:spcPts val="50"/>
              </a:spcBef>
            </a:pPr>
            <a:fld id="{81D60167-4931-47E6-BA6A-407CBD079E47}" type="slidenum">
              <a:rPr lang="en-CA" spc="-50" smtClean="0"/>
              <a:pPr marL="104139">
                <a:spcBef>
                  <a:spcPts val="50"/>
                </a:spcBef>
              </a:pPr>
              <a:t>2</a:t>
            </a:fld>
            <a:endParaRPr spc="-4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128577" y="3184217"/>
            <a:ext cx="2967958" cy="2116183"/>
          </a:xfrm>
          <a:custGeom>
            <a:avLst/>
            <a:gdLst/>
            <a:ahLst/>
            <a:cxnLst/>
            <a:rect l="l" t="t" r="r" b="b"/>
            <a:pathLst>
              <a:path w="3270250" h="2331720">
                <a:moveTo>
                  <a:pt x="0" y="1343904"/>
                </a:moveTo>
                <a:lnTo>
                  <a:pt x="5218" y="1298607"/>
                </a:lnTo>
                <a:lnTo>
                  <a:pt x="20084" y="1257027"/>
                </a:lnTo>
                <a:lnTo>
                  <a:pt x="43411" y="1220347"/>
                </a:lnTo>
                <a:lnTo>
                  <a:pt x="74012" y="1189754"/>
                </a:lnTo>
                <a:lnTo>
                  <a:pt x="110702" y="1166434"/>
                </a:lnTo>
                <a:lnTo>
                  <a:pt x="152294" y="1151572"/>
                </a:lnTo>
                <a:lnTo>
                  <a:pt x="197602" y="1146354"/>
                </a:lnTo>
                <a:lnTo>
                  <a:pt x="544943" y="1146354"/>
                </a:lnTo>
                <a:lnTo>
                  <a:pt x="1007022" y="0"/>
                </a:lnTo>
                <a:lnTo>
                  <a:pt x="1362358" y="1146354"/>
                </a:lnTo>
                <a:lnTo>
                  <a:pt x="3072058" y="1146354"/>
                </a:lnTo>
                <a:lnTo>
                  <a:pt x="3117366" y="1151572"/>
                </a:lnTo>
                <a:lnTo>
                  <a:pt x="3158958" y="1166434"/>
                </a:lnTo>
                <a:lnTo>
                  <a:pt x="3195648" y="1189754"/>
                </a:lnTo>
                <a:lnTo>
                  <a:pt x="3226249" y="1220347"/>
                </a:lnTo>
                <a:lnTo>
                  <a:pt x="3249576" y="1257027"/>
                </a:lnTo>
                <a:lnTo>
                  <a:pt x="3264441" y="1298607"/>
                </a:lnTo>
                <a:lnTo>
                  <a:pt x="3269660" y="1343904"/>
                </a:lnTo>
                <a:lnTo>
                  <a:pt x="3269660" y="1640217"/>
                </a:lnTo>
                <a:lnTo>
                  <a:pt x="3269660" y="2134072"/>
                </a:lnTo>
                <a:lnTo>
                  <a:pt x="3264441" y="2179368"/>
                </a:lnTo>
                <a:lnTo>
                  <a:pt x="3249576" y="2220949"/>
                </a:lnTo>
                <a:lnTo>
                  <a:pt x="3226249" y="2257629"/>
                </a:lnTo>
                <a:lnTo>
                  <a:pt x="3195648" y="2288222"/>
                </a:lnTo>
                <a:lnTo>
                  <a:pt x="3158958" y="2311542"/>
                </a:lnTo>
                <a:lnTo>
                  <a:pt x="3117366" y="2326404"/>
                </a:lnTo>
                <a:lnTo>
                  <a:pt x="3072058" y="2331621"/>
                </a:lnTo>
                <a:lnTo>
                  <a:pt x="1362358" y="2331621"/>
                </a:lnTo>
                <a:lnTo>
                  <a:pt x="544943" y="2331621"/>
                </a:lnTo>
                <a:lnTo>
                  <a:pt x="197602" y="2331621"/>
                </a:lnTo>
                <a:lnTo>
                  <a:pt x="152294" y="2326404"/>
                </a:lnTo>
                <a:lnTo>
                  <a:pt x="110702" y="2311542"/>
                </a:lnTo>
                <a:lnTo>
                  <a:pt x="74012" y="2288222"/>
                </a:lnTo>
                <a:lnTo>
                  <a:pt x="43411" y="2257629"/>
                </a:lnTo>
                <a:lnTo>
                  <a:pt x="20084" y="2220949"/>
                </a:lnTo>
                <a:lnTo>
                  <a:pt x="5218" y="2179368"/>
                </a:lnTo>
                <a:lnTo>
                  <a:pt x="0" y="2134072"/>
                </a:lnTo>
                <a:lnTo>
                  <a:pt x="0" y="1640217"/>
                </a:lnTo>
                <a:lnTo>
                  <a:pt x="0" y="1343900"/>
                </a:lnTo>
                <a:close/>
              </a:path>
            </a:pathLst>
          </a:custGeom>
          <a:ln w="10819">
            <a:solidFill>
              <a:srgbClr val="000000"/>
            </a:solidFill>
          </a:ln>
        </p:spPr>
        <p:txBody>
          <a:bodyPr wrap="square" lIns="0" tIns="0" rIns="0" bIns="0" rtlCol="0"/>
          <a:lstStyle/>
          <a:p>
            <a:endParaRPr sz="1634"/>
          </a:p>
        </p:txBody>
      </p:sp>
      <p:sp>
        <p:nvSpPr>
          <p:cNvPr id="3" name="object 3"/>
          <p:cNvSpPr txBox="1"/>
          <p:nvPr/>
        </p:nvSpPr>
        <p:spPr>
          <a:xfrm>
            <a:off x="3375671" y="4410780"/>
            <a:ext cx="2475219" cy="656090"/>
          </a:xfrm>
          <a:prstGeom prst="rect">
            <a:avLst/>
          </a:prstGeom>
        </p:spPr>
        <p:txBody>
          <a:bodyPr vert="horz" wrap="square" lIns="0" tIns="16713" rIns="0" bIns="0" rtlCol="0">
            <a:spAutoFit/>
          </a:bodyPr>
          <a:lstStyle/>
          <a:p>
            <a:pPr marL="11527" marR="4611" indent="-5187" algn="ctr">
              <a:lnSpc>
                <a:spcPct val="102699"/>
              </a:lnSpc>
              <a:spcBef>
                <a:spcPts val="132"/>
              </a:spcBef>
            </a:pPr>
            <a:r>
              <a:rPr sz="1361" dirty="0">
                <a:latin typeface="Calibri"/>
                <a:cs typeface="Calibri"/>
              </a:rPr>
              <a:t>Latent</a:t>
            </a:r>
            <a:r>
              <a:rPr sz="1361" spc="41" dirty="0">
                <a:latin typeface="Calibri"/>
                <a:cs typeface="Calibri"/>
              </a:rPr>
              <a:t> </a:t>
            </a:r>
            <a:r>
              <a:rPr sz="1361" dirty="0">
                <a:latin typeface="Calibri"/>
                <a:cs typeface="Calibri"/>
              </a:rPr>
              <a:t>code:</a:t>
            </a:r>
            <a:r>
              <a:rPr sz="1361" spc="45" dirty="0">
                <a:latin typeface="Calibri"/>
                <a:cs typeface="Calibri"/>
              </a:rPr>
              <a:t> </a:t>
            </a:r>
            <a:r>
              <a:rPr sz="1361" dirty="0">
                <a:latin typeface="Calibri"/>
                <a:cs typeface="Calibri"/>
              </a:rPr>
              <a:t>the</a:t>
            </a:r>
            <a:r>
              <a:rPr sz="1361" spc="54" dirty="0">
                <a:latin typeface="Calibri"/>
                <a:cs typeface="Calibri"/>
              </a:rPr>
              <a:t> </a:t>
            </a:r>
            <a:r>
              <a:rPr sz="1361" dirty="0">
                <a:latin typeface="Calibri"/>
                <a:cs typeface="Calibri"/>
              </a:rPr>
              <a:t>compressed</a:t>
            </a:r>
            <a:r>
              <a:rPr sz="1361" spc="50" dirty="0">
                <a:latin typeface="Calibri"/>
                <a:cs typeface="Calibri"/>
              </a:rPr>
              <a:t> </a:t>
            </a:r>
            <a:r>
              <a:rPr sz="1361" spc="-23" dirty="0">
                <a:latin typeface="Calibri"/>
                <a:cs typeface="Calibri"/>
              </a:rPr>
              <a:t>low </a:t>
            </a:r>
            <a:r>
              <a:rPr sz="1361" dirty="0">
                <a:latin typeface="Calibri"/>
                <a:cs typeface="Calibri"/>
              </a:rPr>
              <a:t>dimensional</a:t>
            </a:r>
            <a:r>
              <a:rPr sz="1361" spc="59" dirty="0">
                <a:latin typeface="Calibri"/>
                <a:cs typeface="Calibri"/>
              </a:rPr>
              <a:t> </a:t>
            </a:r>
            <a:r>
              <a:rPr sz="1361" dirty="0">
                <a:latin typeface="Calibri"/>
                <a:cs typeface="Calibri"/>
              </a:rPr>
              <a:t>representation</a:t>
            </a:r>
            <a:r>
              <a:rPr sz="1361" spc="68" dirty="0">
                <a:latin typeface="Calibri"/>
                <a:cs typeface="Calibri"/>
              </a:rPr>
              <a:t> </a:t>
            </a:r>
            <a:r>
              <a:rPr sz="1361" dirty="0">
                <a:latin typeface="Calibri"/>
                <a:cs typeface="Calibri"/>
              </a:rPr>
              <a:t>of</a:t>
            </a:r>
            <a:r>
              <a:rPr sz="1361" spc="59" dirty="0">
                <a:latin typeface="Calibri"/>
                <a:cs typeface="Calibri"/>
              </a:rPr>
              <a:t> </a:t>
            </a:r>
            <a:r>
              <a:rPr sz="1361" spc="-23" dirty="0">
                <a:latin typeface="Calibri"/>
                <a:cs typeface="Calibri"/>
              </a:rPr>
              <a:t>the </a:t>
            </a:r>
            <a:r>
              <a:rPr sz="1361" dirty="0">
                <a:latin typeface="Calibri"/>
                <a:cs typeface="Calibri"/>
              </a:rPr>
              <a:t>input</a:t>
            </a:r>
            <a:r>
              <a:rPr sz="1361" spc="64" dirty="0">
                <a:latin typeface="Calibri"/>
                <a:cs typeface="Calibri"/>
              </a:rPr>
              <a:t> </a:t>
            </a:r>
            <a:r>
              <a:rPr sz="1361" spc="-18" dirty="0">
                <a:latin typeface="Calibri"/>
                <a:cs typeface="Calibri"/>
              </a:rPr>
              <a:t>data</a:t>
            </a:r>
            <a:endParaRPr sz="1361">
              <a:latin typeface="Calibri"/>
              <a:cs typeface="Calibri"/>
            </a:endParaRPr>
          </a:p>
        </p:txBody>
      </p:sp>
      <p:sp>
        <p:nvSpPr>
          <p:cNvPr id="4" name="object 4"/>
          <p:cNvSpPr txBox="1">
            <a:spLocks noGrp="1"/>
          </p:cNvSpPr>
          <p:nvPr>
            <p:ph type="title"/>
          </p:nvPr>
        </p:nvSpPr>
        <p:spPr>
          <a:xfrm>
            <a:off x="2004252" y="588808"/>
            <a:ext cx="9543570" cy="688165"/>
          </a:xfrm>
          <a:prstGeom prst="rect">
            <a:avLst/>
          </a:prstGeom>
        </p:spPr>
        <p:txBody>
          <a:bodyPr vert="horz" wrap="square" lIns="0" tIns="10950" rIns="0" bIns="0" rtlCol="0" anchor="ctr">
            <a:spAutoFit/>
          </a:bodyPr>
          <a:lstStyle/>
          <a:p>
            <a:pPr marL="11527">
              <a:lnSpc>
                <a:spcPct val="100000"/>
              </a:lnSpc>
              <a:spcBef>
                <a:spcPts val="86"/>
              </a:spcBef>
            </a:pPr>
            <a:r>
              <a:rPr spc="-9" dirty="0"/>
              <a:t>Vanilla</a:t>
            </a:r>
            <a:r>
              <a:rPr spc="-82" dirty="0"/>
              <a:t> </a:t>
            </a:r>
            <a:r>
              <a:rPr spc="-9" dirty="0"/>
              <a:t>Autoencoder</a:t>
            </a:r>
          </a:p>
        </p:txBody>
      </p:sp>
      <p:grpSp>
        <p:nvGrpSpPr>
          <p:cNvPr id="5" name="object 5"/>
          <p:cNvGrpSpPr/>
          <p:nvPr/>
        </p:nvGrpSpPr>
        <p:grpSpPr>
          <a:xfrm>
            <a:off x="4579633" y="2537113"/>
            <a:ext cx="1180268" cy="863301"/>
            <a:chOff x="3675888" y="2795523"/>
            <a:chExt cx="1300480" cy="951230"/>
          </a:xfrm>
        </p:grpSpPr>
        <p:pic>
          <p:nvPicPr>
            <p:cNvPr id="6" name="object 6"/>
            <p:cNvPicPr/>
            <p:nvPr/>
          </p:nvPicPr>
          <p:blipFill>
            <a:blip r:embed="rId2" cstate="print"/>
            <a:stretch>
              <a:fillRect/>
            </a:stretch>
          </p:blipFill>
          <p:spPr>
            <a:xfrm>
              <a:off x="3675888" y="2795523"/>
              <a:ext cx="374903" cy="950976"/>
            </a:xfrm>
            <a:prstGeom prst="rect">
              <a:avLst/>
            </a:prstGeom>
          </p:spPr>
        </p:pic>
        <p:pic>
          <p:nvPicPr>
            <p:cNvPr id="7" name="object 7"/>
            <p:cNvPicPr/>
            <p:nvPr/>
          </p:nvPicPr>
          <p:blipFill>
            <a:blip r:embed="rId3" cstate="print"/>
            <a:stretch>
              <a:fillRect/>
            </a:stretch>
          </p:blipFill>
          <p:spPr>
            <a:xfrm>
              <a:off x="3813048" y="3197859"/>
              <a:ext cx="131063" cy="137160"/>
            </a:xfrm>
            <a:prstGeom prst="rect">
              <a:avLst/>
            </a:prstGeom>
          </p:spPr>
        </p:pic>
        <p:sp>
          <p:nvSpPr>
            <p:cNvPr id="8" name="object 8"/>
            <p:cNvSpPr/>
            <p:nvPr/>
          </p:nvSpPr>
          <p:spPr>
            <a:xfrm>
              <a:off x="4200823" y="3116398"/>
              <a:ext cx="770255" cy="306705"/>
            </a:xfrm>
            <a:custGeom>
              <a:avLst/>
              <a:gdLst/>
              <a:ahLst/>
              <a:cxnLst/>
              <a:rect l="l" t="t" r="r" b="b"/>
              <a:pathLst>
                <a:path w="770254" h="306704">
                  <a:moveTo>
                    <a:pt x="718681" y="0"/>
                  </a:moveTo>
                  <a:lnTo>
                    <a:pt x="51120" y="0"/>
                  </a:lnTo>
                  <a:lnTo>
                    <a:pt x="31222" y="4016"/>
                  </a:lnTo>
                  <a:lnTo>
                    <a:pt x="14972" y="14968"/>
                  </a:lnTo>
                  <a:lnTo>
                    <a:pt x="4017" y="31213"/>
                  </a:lnTo>
                  <a:lnTo>
                    <a:pt x="0" y="51106"/>
                  </a:lnTo>
                  <a:lnTo>
                    <a:pt x="0" y="255522"/>
                  </a:lnTo>
                  <a:lnTo>
                    <a:pt x="4017" y="275415"/>
                  </a:lnTo>
                  <a:lnTo>
                    <a:pt x="14972" y="291660"/>
                  </a:lnTo>
                  <a:lnTo>
                    <a:pt x="31222" y="302612"/>
                  </a:lnTo>
                  <a:lnTo>
                    <a:pt x="51120" y="306628"/>
                  </a:lnTo>
                  <a:lnTo>
                    <a:pt x="718681" y="306628"/>
                  </a:lnTo>
                  <a:lnTo>
                    <a:pt x="738580" y="302612"/>
                  </a:lnTo>
                  <a:lnTo>
                    <a:pt x="754829" y="291660"/>
                  </a:lnTo>
                  <a:lnTo>
                    <a:pt x="765784" y="275415"/>
                  </a:lnTo>
                  <a:lnTo>
                    <a:pt x="769801" y="255522"/>
                  </a:lnTo>
                  <a:lnTo>
                    <a:pt x="769801" y="51106"/>
                  </a:lnTo>
                  <a:lnTo>
                    <a:pt x="765784" y="31213"/>
                  </a:lnTo>
                  <a:lnTo>
                    <a:pt x="754829" y="14968"/>
                  </a:lnTo>
                  <a:lnTo>
                    <a:pt x="738580" y="4016"/>
                  </a:lnTo>
                  <a:lnTo>
                    <a:pt x="718681" y="0"/>
                  </a:lnTo>
                  <a:close/>
                </a:path>
              </a:pathLst>
            </a:custGeom>
            <a:solidFill>
              <a:srgbClr val="E7E6E6"/>
            </a:solidFill>
          </p:spPr>
          <p:txBody>
            <a:bodyPr wrap="square" lIns="0" tIns="0" rIns="0" bIns="0" rtlCol="0"/>
            <a:lstStyle/>
            <a:p>
              <a:endParaRPr sz="1634"/>
            </a:p>
          </p:txBody>
        </p:sp>
        <p:sp>
          <p:nvSpPr>
            <p:cNvPr id="9" name="object 9"/>
            <p:cNvSpPr/>
            <p:nvPr/>
          </p:nvSpPr>
          <p:spPr>
            <a:xfrm>
              <a:off x="4200823" y="3116398"/>
              <a:ext cx="770255" cy="306705"/>
            </a:xfrm>
            <a:custGeom>
              <a:avLst/>
              <a:gdLst/>
              <a:ahLst/>
              <a:cxnLst/>
              <a:rect l="l" t="t" r="r" b="b"/>
              <a:pathLst>
                <a:path w="770254" h="306704">
                  <a:moveTo>
                    <a:pt x="0" y="51105"/>
                  </a:moveTo>
                  <a:lnTo>
                    <a:pt x="4017" y="31213"/>
                  </a:lnTo>
                  <a:lnTo>
                    <a:pt x="14972" y="14968"/>
                  </a:lnTo>
                  <a:lnTo>
                    <a:pt x="31221" y="4016"/>
                  </a:lnTo>
                  <a:lnTo>
                    <a:pt x="51119" y="0"/>
                  </a:lnTo>
                  <a:lnTo>
                    <a:pt x="718681" y="0"/>
                  </a:lnTo>
                  <a:lnTo>
                    <a:pt x="738579" y="4016"/>
                  </a:lnTo>
                  <a:lnTo>
                    <a:pt x="754828" y="14968"/>
                  </a:lnTo>
                  <a:lnTo>
                    <a:pt x="765783" y="31213"/>
                  </a:lnTo>
                  <a:lnTo>
                    <a:pt x="769800" y="51105"/>
                  </a:lnTo>
                  <a:lnTo>
                    <a:pt x="769800" y="255523"/>
                  </a:lnTo>
                  <a:lnTo>
                    <a:pt x="765783" y="275416"/>
                  </a:lnTo>
                  <a:lnTo>
                    <a:pt x="754828" y="291660"/>
                  </a:lnTo>
                  <a:lnTo>
                    <a:pt x="738579" y="302613"/>
                  </a:lnTo>
                  <a:lnTo>
                    <a:pt x="718681" y="306629"/>
                  </a:lnTo>
                  <a:lnTo>
                    <a:pt x="51119" y="306629"/>
                  </a:lnTo>
                  <a:lnTo>
                    <a:pt x="31221" y="302613"/>
                  </a:lnTo>
                  <a:lnTo>
                    <a:pt x="14972" y="291660"/>
                  </a:lnTo>
                  <a:lnTo>
                    <a:pt x="4017" y="275416"/>
                  </a:lnTo>
                  <a:lnTo>
                    <a:pt x="0" y="255523"/>
                  </a:lnTo>
                  <a:lnTo>
                    <a:pt x="0" y="51105"/>
                  </a:lnTo>
                  <a:close/>
                </a:path>
              </a:pathLst>
            </a:custGeom>
            <a:ln w="10818">
              <a:solidFill>
                <a:srgbClr val="000000"/>
              </a:solidFill>
            </a:ln>
          </p:spPr>
          <p:txBody>
            <a:bodyPr wrap="square" lIns="0" tIns="0" rIns="0" bIns="0" rtlCol="0"/>
            <a:lstStyle/>
            <a:p>
              <a:endParaRPr sz="1634"/>
            </a:p>
          </p:txBody>
        </p:sp>
      </p:grpSp>
      <p:sp>
        <p:nvSpPr>
          <p:cNvPr id="10" name="object 10"/>
          <p:cNvSpPr txBox="1"/>
          <p:nvPr/>
        </p:nvSpPr>
        <p:spPr>
          <a:xfrm>
            <a:off x="5258187" y="2769094"/>
            <a:ext cx="206315" cy="346795"/>
          </a:xfrm>
          <a:prstGeom prst="rect">
            <a:avLst/>
          </a:prstGeom>
        </p:spPr>
        <p:txBody>
          <a:bodyPr vert="horz" wrap="square" lIns="0" tIns="11526" rIns="0" bIns="0" rtlCol="0">
            <a:spAutoFit/>
          </a:bodyPr>
          <a:lstStyle/>
          <a:p>
            <a:pPr marL="11527">
              <a:spcBef>
                <a:spcPts val="91"/>
              </a:spcBef>
            </a:pPr>
            <a:r>
              <a:rPr sz="2178" spc="-631" dirty="0">
                <a:latin typeface="Cambria Math"/>
                <a:cs typeface="Cambria Math"/>
              </a:rPr>
              <a:t>𝑥</a:t>
            </a:r>
            <a:r>
              <a:rPr sz="2178" spc="322" dirty="0">
                <a:latin typeface="Cambria Math"/>
                <a:cs typeface="Cambria Math"/>
              </a:rPr>
              <a:t>!</a:t>
            </a:r>
            <a:endParaRPr sz="2178">
              <a:latin typeface="Cambria Math"/>
              <a:cs typeface="Cambria Math"/>
            </a:endParaRPr>
          </a:p>
        </p:txBody>
      </p:sp>
      <p:grpSp>
        <p:nvGrpSpPr>
          <p:cNvPr id="11" name="object 11"/>
          <p:cNvGrpSpPr/>
          <p:nvPr/>
        </p:nvGrpSpPr>
        <p:grpSpPr>
          <a:xfrm>
            <a:off x="2425024" y="2230144"/>
            <a:ext cx="3010027" cy="1167589"/>
            <a:chOff x="1301828" y="2457288"/>
            <a:chExt cx="3316604" cy="1286510"/>
          </a:xfrm>
        </p:grpSpPr>
        <p:sp>
          <p:nvSpPr>
            <p:cNvPr id="12" name="object 12"/>
            <p:cNvSpPr/>
            <p:nvPr/>
          </p:nvSpPr>
          <p:spPr>
            <a:xfrm>
              <a:off x="2754645" y="3116398"/>
              <a:ext cx="770255" cy="306705"/>
            </a:xfrm>
            <a:custGeom>
              <a:avLst/>
              <a:gdLst/>
              <a:ahLst/>
              <a:cxnLst/>
              <a:rect l="l" t="t" r="r" b="b"/>
              <a:pathLst>
                <a:path w="770254" h="306704">
                  <a:moveTo>
                    <a:pt x="718681" y="0"/>
                  </a:moveTo>
                  <a:lnTo>
                    <a:pt x="51120" y="0"/>
                  </a:lnTo>
                  <a:lnTo>
                    <a:pt x="31221" y="4016"/>
                  </a:lnTo>
                  <a:lnTo>
                    <a:pt x="14972" y="14968"/>
                  </a:lnTo>
                  <a:lnTo>
                    <a:pt x="4017" y="31213"/>
                  </a:lnTo>
                  <a:lnTo>
                    <a:pt x="0" y="51106"/>
                  </a:lnTo>
                  <a:lnTo>
                    <a:pt x="0" y="255522"/>
                  </a:lnTo>
                  <a:lnTo>
                    <a:pt x="4017" y="275415"/>
                  </a:lnTo>
                  <a:lnTo>
                    <a:pt x="14972" y="291660"/>
                  </a:lnTo>
                  <a:lnTo>
                    <a:pt x="31221" y="302612"/>
                  </a:lnTo>
                  <a:lnTo>
                    <a:pt x="51120" y="306628"/>
                  </a:lnTo>
                  <a:lnTo>
                    <a:pt x="718681" y="306628"/>
                  </a:lnTo>
                  <a:lnTo>
                    <a:pt x="738579" y="302612"/>
                  </a:lnTo>
                  <a:lnTo>
                    <a:pt x="754828" y="291660"/>
                  </a:lnTo>
                  <a:lnTo>
                    <a:pt x="765784" y="275415"/>
                  </a:lnTo>
                  <a:lnTo>
                    <a:pt x="769801" y="255522"/>
                  </a:lnTo>
                  <a:lnTo>
                    <a:pt x="769801" y="51106"/>
                  </a:lnTo>
                  <a:lnTo>
                    <a:pt x="765784" y="31213"/>
                  </a:lnTo>
                  <a:lnTo>
                    <a:pt x="754828" y="14968"/>
                  </a:lnTo>
                  <a:lnTo>
                    <a:pt x="738579" y="4016"/>
                  </a:lnTo>
                  <a:lnTo>
                    <a:pt x="718681" y="0"/>
                  </a:lnTo>
                  <a:close/>
                </a:path>
              </a:pathLst>
            </a:custGeom>
            <a:solidFill>
              <a:srgbClr val="E7E6E6"/>
            </a:solidFill>
          </p:spPr>
          <p:txBody>
            <a:bodyPr wrap="square" lIns="0" tIns="0" rIns="0" bIns="0" rtlCol="0"/>
            <a:lstStyle/>
            <a:p>
              <a:endParaRPr sz="1634"/>
            </a:p>
          </p:txBody>
        </p:sp>
        <p:sp>
          <p:nvSpPr>
            <p:cNvPr id="13" name="object 13"/>
            <p:cNvSpPr/>
            <p:nvPr/>
          </p:nvSpPr>
          <p:spPr>
            <a:xfrm>
              <a:off x="2754645" y="3116398"/>
              <a:ext cx="770255" cy="306705"/>
            </a:xfrm>
            <a:custGeom>
              <a:avLst/>
              <a:gdLst/>
              <a:ahLst/>
              <a:cxnLst/>
              <a:rect l="l" t="t" r="r" b="b"/>
              <a:pathLst>
                <a:path w="770254" h="306704">
                  <a:moveTo>
                    <a:pt x="0" y="51105"/>
                  </a:moveTo>
                  <a:lnTo>
                    <a:pt x="4017" y="31213"/>
                  </a:lnTo>
                  <a:lnTo>
                    <a:pt x="14972" y="14968"/>
                  </a:lnTo>
                  <a:lnTo>
                    <a:pt x="31221" y="4016"/>
                  </a:lnTo>
                  <a:lnTo>
                    <a:pt x="51119" y="0"/>
                  </a:lnTo>
                  <a:lnTo>
                    <a:pt x="718681" y="0"/>
                  </a:lnTo>
                  <a:lnTo>
                    <a:pt x="738579" y="4016"/>
                  </a:lnTo>
                  <a:lnTo>
                    <a:pt x="754828" y="14968"/>
                  </a:lnTo>
                  <a:lnTo>
                    <a:pt x="765783" y="31213"/>
                  </a:lnTo>
                  <a:lnTo>
                    <a:pt x="769800" y="51105"/>
                  </a:lnTo>
                  <a:lnTo>
                    <a:pt x="769800" y="255523"/>
                  </a:lnTo>
                  <a:lnTo>
                    <a:pt x="765783" y="275416"/>
                  </a:lnTo>
                  <a:lnTo>
                    <a:pt x="754828" y="291660"/>
                  </a:lnTo>
                  <a:lnTo>
                    <a:pt x="738579" y="302613"/>
                  </a:lnTo>
                  <a:lnTo>
                    <a:pt x="718681" y="306629"/>
                  </a:lnTo>
                  <a:lnTo>
                    <a:pt x="51119" y="306629"/>
                  </a:lnTo>
                  <a:lnTo>
                    <a:pt x="31221" y="302613"/>
                  </a:lnTo>
                  <a:lnTo>
                    <a:pt x="14972" y="291660"/>
                  </a:lnTo>
                  <a:lnTo>
                    <a:pt x="4017" y="275416"/>
                  </a:lnTo>
                  <a:lnTo>
                    <a:pt x="0" y="255523"/>
                  </a:lnTo>
                  <a:lnTo>
                    <a:pt x="0" y="51105"/>
                  </a:lnTo>
                  <a:close/>
                </a:path>
              </a:pathLst>
            </a:custGeom>
            <a:ln w="10818">
              <a:solidFill>
                <a:srgbClr val="000000"/>
              </a:solidFill>
            </a:ln>
          </p:spPr>
          <p:txBody>
            <a:bodyPr wrap="square" lIns="0" tIns="0" rIns="0" bIns="0" rtlCol="0"/>
            <a:lstStyle/>
            <a:p>
              <a:endParaRPr sz="1634"/>
            </a:p>
          </p:txBody>
        </p:sp>
        <p:pic>
          <p:nvPicPr>
            <p:cNvPr id="14" name="object 14"/>
            <p:cNvPicPr/>
            <p:nvPr/>
          </p:nvPicPr>
          <p:blipFill>
            <a:blip r:embed="rId4" cstate="print"/>
            <a:stretch>
              <a:fillRect/>
            </a:stretch>
          </p:blipFill>
          <p:spPr>
            <a:xfrm>
              <a:off x="4042708" y="3237257"/>
              <a:ext cx="158116" cy="64910"/>
            </a:xfrm>
            <a:prstGeom prst="rect">
              <a:avLst/>
            </a:prstGeom>
          </p:spPr>
        </p:pic>
        <p:pic>
          <p:nvPicPr>
            <p:cNvPr id="15" name="object 15"/>
            <p:cNvPicPr/>
            <p:nvPr/>
          </p:nvPicPr>
          <p:blipFill>
            <a:blip r:embed="rId5" cstate="print"/>
            <a:stretch>
              <a:fillRect/>
            </a:stretch>
          </p:blipFill>
          <p:spPr>
            <a:xfrm>
              <a:off x="2234183" y="2792476"/>
              <a:ext cx="374904" cy="950976"/>
            </a:xfrm>
            <a:prstGeom prst="rect">
              <a:avLst/>
            </a:prstGeom>
          </p:spPr>
        </p:pic>
        <p:pic>
          <p:nvPicPr>
            <p:cNvPr id="16" name="object 16"/>
            <p:cNvPicPr/>
            <p:nvPr/>
          </p:nvPicPr>
          <p:blipFill>
            <a:blip r:embed="rId6" cstate="print"/>
            <a:stretch>
              <a:fillRect/>
            </a:stretch>
          </p:blipFill>
          <p:spPr>
            <a:xfrm>
              <a:off x="2353055" y="3203956"/>
              <a:ext cx="106680" cy="137160"/>
            </a:xfrm>
            <a:prstGeom prst="rect">
              <a:avLst/>
            </a:prstGeom>
          </p:spPr>
        </p:pic>
        <p:pic>
          <p:nvPicPr>
            <p:cNvPr id="17" name="object 17"/>
            <p:cNvPicPr/>
            <p:nvPr/>
          </p:nvPicPr>
          <p:blipFill>
            <a:blip r:embed="rId7" cstate="print"/>
            <a:stretch>
              <a:fillRect/>
            </a:stretch>
          </p:blipFill>
          <p:spPr>
            <a:xfrm>
              <a:off x="1301828" y="2457288"/>
              <a:ext cx="3316361" cy="971148"/>
            </a:xfrm>
            <a:prstGeom prst="rect">
              <a:avLst/>
            </a:prstGeom>
          </p:spPr>
        </p:pic>
        <p:pic>
          <p:nvPicPr>
            <p:cNvPr id="18" name="object 18"/>
            <p:cNvPicPr/>
            <p:nvPr/>
          </p:nvPicPr>
          <p:blipFill>
            <a:blip r:embed="rId8" cstate="print"/>
            <a:stretch>
              <a:fillRect/>
            </a:stretch>
          </p:blipFill>
          <p:spPr>
            <a:xfrm>
              <a:off x="3524446" y="3237257"/>
              <a:ext cx="160168" cy="64910"/>
            </a:xfrm>
            <a:prstGeom prst="rect">
              <a:avLst/>
            </a:prstGeom>
          </p:spPr>
        </p:pic>
        <p:pic>
          <p:nvPicPr>
            <p:cNvPr id="19" name="object 19"/>
            <p:cNvPicPr/>
            <p:nvPr/>
          </p:nvPicPr>
          <p:blipFill>
            <a:blip r:embed="rId9" cstate="print"/>
            <a:stretch>
              <a:fillRect/>
            </a:stretch>
          </p:blipFill>
          <p:spPr>
            <a:xfrm>
              <a:off x="2599861" y="3236625"/>
              <a:ext cx="154783" cy="64908"/>
            </a:xfrm>
            <a:prstGeom prst="rect">
              <a:avLst/>
            </a:prstGeom>
          </p:spPr>
        </p:pic>
      </p:grpSp>
      <p:sp>
        <p:nvSpPr>
          <p:cNvPr id="20" name="object 20"/>
          <p:cNvSpPr txBox="1"/>
          <p:nvPr/>
        </p:nvSpPr>
        <p:spPr>
          <a:xfrm>
            <a:off x="4148913" y="3405771"/>
            <a:ext cx="1536423" cy="485523"/>
          </a:xfrm>
          <a:prstGeom prst="rect">
            <a:avLst/>
          </a:prstGeom>
        </p:spPr>
        <p:txBody>
          <a:bodyPr vert="horz" wrap="square" lIns="0" tIns="23627" rIns="0" bIns="0" rtlCol="0">
            <a:spAutoFit/>
          </a:bodyPr>
          <a:lstStyle/>
          <a:p>
            <a:pPr marL="530220" marR="4611" indent="-519270">
              <a:lnSpc>
                <a:spcPts val="1805"/>
              </a:lnSpc>
              <a:spcBef>
                <a:spcPts val="185"/>
              </a:spcBef>
            </a:pPr>
            <a:r>
              <a:rPr sz="1543" spc="-9" dirty="0">
                <a:solidFill>
                  <a:srgbClr val="FF0000"/>
                </a:solidFill>
                <a:latin typeface="Calibri"/>
                <a:cs typeface="Calibri"/>
              </a:rPr>
              <a:t>decoder/generator </a:t>
            </a:r>
            <a:r>
              <a:rPr sz="1543" dirty="0">
                <a:solidFill>
                  <a:srgbClr val="FF0000"/>
                </a:solidFill>
                <a:latin typeface="Calibri"/>
                <a:cs typeface="Calibri"/>
              </a:rPr>
              <a:t>Z</a:t>
            </a:r>
            <a:r>
              <a:rPr sz="1543" spc="-5" dirty="0">
                <a:solidFill>
                  <a:srgbClr val="FF0000"/>
                </a:solidFill>
                <a:latin typeface="Calibri"/>
                <a:cs typeface="Calibri"/>
              </a:rPr>
              <a:t> </a:t>
            </a:r>
            <a:r>
              <a:rPr sz="1543" spc="-154" dirty="0">
                <a:solidFill>
                  <a:srgbClr val="FF0000"/>
                </a:solidFill>
                <a:latin typeface="Wingdings"/>
                <a:cs typeface="Wingdings"/>
              </a:rPr>
              <a:t></a:t>
            </a:r>
            <a:r>
              <a:rPr sz="1543" spc="-32" dirty="0">
                <a:solidFill>
                  <a:srgbClr val="FF0000"/>
                </a:solidFill>
                <a:latin typeface="Times New Roman"/>
                <a:cs typeface="Times New Roman"/>
              </a:rPr>
              <a:t> </a:t>
            </a:r>
            <a:r>
              <a:rPr sz="1543" spc="-45" dirty="0">
                <a:solidFill>
                  <a:srgbClr val="FF0000"/>
                </a:solidFill>
                <a:latin typeface="Calibri"/>
                <a:cs typeface="Calibri"/>
              </a:rPr>
              <a:t>X</a:t>
            </a:r>
            <a:endParaRPr sz="1543">
              <a:latin typeface="Calibri"/>
              <a:cs typeface="Calibri"/>
            </a:endParaRPr>
          </a:p>
        </p:txBody>
      </p:sp>
      <p:sp>
        <p:nvSpPr>
          <p:cNvPr id="21" name="object 21"/>
          <p:cNvSpPr txBox="1"/>
          <p:nvPr/>
        </p:nvSpPr>
        <p:spPr>
          <a:xfrm>
            <a:off x="3128458" y="3411303"/>
            <a:ext cx="680037" cy="482614"/>
          </a:xfrm>
          <a:prstGeom prst="rect">
            <a:avLst/>
          </a:prstGeom>
        </p:spPr>
        <p:txBody>
          <a:bodyPr vert="horz" wrap="square" lIns="0" tIns="20747" rIns="0" bIns="0" rtlCol="0">
            <a:spAutoFit/>
          </a:bodyPr>
          <a:lstStyle/>
          <a:p>
            <a:pPr marL="102010" marR="4611" indent="-91060">
              <a:lnSpc>
                <a:spcPts val="1833"/>
              </a:lnSpc>
              <a:spcBef>
                <a:spcPts val="163"/>
              </a:spcBef>
            </a:pPr>
            <a:r>
              <a:rPr sz="1543" spc="-9" dirty="0">
                <a:solidFill>
                  <a:srgbClr val="FF0000"/>
                </a:solidFill>
                <a:latin typeface="Calibri"/>
                <a:cs typeface="Calibri"/>
              </a:rPr>
              <a:t>encoder </a:t>
            </a:r>
            <a:r>
              <a:rPr sz="1543" dirty="0">
                <a:solidFill>
                  <a:srgbClr val="FF0000"/>
                </a:solidFill>
                <a:latin typeface="Calibri"/>
                <a:cs typeface="Calibri"/>
              </a:rPr>
              <a:t>X</a:t>
            </a:r>
            <a:r>
              <a:rPr sz="1543" spc="-5" dirty="0">
                <a:solidFill>
                  <a:srgbClr val="FF0000"/>
                </a:solidFill>
                <a:latin typeface="Calibri"/>
                <a:cs typeface="Calibri"/>
              </a:rPr>
              <a:t> </a:t>
            </a:r>
            <a:r>
              <a:rPr sz="1543" spc="-154" dirty="0">
                <a:solidFill>
                  <a:srgbClr val="FF0000"/>
                </a:solidFill>
                <a:latin typeface="Wingdings"/>
                <a:cs typeface="Wingdings"/>
              </a:rPr>
              <a:t></a:t>
            </a:r>
            <a:r>
              <a:rPr sz="1543" spc="-32" dirty="0">
                <a:solidFill>
                  <a:srgbClr val="FF0000"/>
                </a:solidFill>
                <a:latin typeface="Times New Roman"/>
                <a:cs typeface="Times New Roman"/>
              </a:rPr>
              <a:t> </a:t>
            </a:r>
            <a:r>
              <a:rPr sz="1543" spc="-45" dirty="0">
                <a:solidFill>
                  <a:srgbClr val="FF0000"/>
                </a:solidFill>
                <a:latin typeface="Calibri"/>
                <a:cs typeface="Calibri"/>
              </a:rPr>
              <a:t>Z</a:t>
            </a:r>
            <a:endParaRPr sz="1543">
              <a:latin typeface="Calibri"/>
              <a:cs typeface="Calibri"/>
            </a:endParaRPr>
          </a:p>
        </p:txBody>
      </p:sp>
      <p:sp>
        <p:nvSpPr>
          <p:cNvPr id="22" name="object 22"/>
          <p:cNvSpPr txBox="1"/>
          <p:nvPr/>
        </p:nvSpPr>
        <p:spPr>
          <a:xfrm>
            <a:off x="1803700" y="1608713"/>
            <a:ext cx="2335178" cy="1518311"/>
          </a:xfrm>
          <a:prstGeom prst="rect">
            <a:avLst/>
          </a:prstGeom>
        </p:spPr>
        <p:txBody>
          <a:bodyPr vert="horz" wrap="square" lIns="0" tIns="69733" rIns="0" bIns="0" rtlCol="0">
            <a:spAutoFit/>
          </a:bodyPr>
          <a:lstStyle/>
          <a:p>
            <a:pPr marL="276636" indent="-265110">
              <a:spcBef>
                <a:spcPts val="549"/>
              </a:spcBef>
              <a:buFont typeface="Arial"/>
              <a:buChar char="•"/>
              <a:tabLst>
                <a:tab pos="276636" algn="l"/>
              </a:tabLst>
            </a:pPr>
            <a:r>
              <a:rPr sz="1815" b="1" dirty="0">
                <a:latin typeface="Calibri"/>
                <a:cs typeface="Calibri"/>
              </a:rPr>
              <a:t>How</a:t>
            </a:r>
            <a:r>
              <a:rPr sz="1815" b="1" spc="50" dirty="0">
                <a:latin typeface="Calibri"/>
                <a:cs typeface="Calibri"/>
              </a:rPr>
              <a:t> </a:t>
            </a:r>
            <a:r>
              <a:rPr sz="1815" b="1" dirty="0">
                <a:latin typeface="Calibri"/>
                <a:cs typeface="Calibri"/>
              </a:rPr>
              <a:t>it</a:t>
            </a:r>
            <a:r>
              <a:rPr sz="1815" b="1" spc="45" dirty="0">
                <a:latin typeface="Calibri"/>
                <a:cs typeface="Calibri"/>
              </a:rPr>
              <a:t> </a:t>
            </a:r>
            <a:r>
              <a:rPr sz="1815" b="1" spc="-9" dirty="0">
                <a:latin typeface="Calibri"/>
                <a:cs typeface="Calibri"/>
              </a:rPr>
              <a:t>works?</a:t>
            </a:r>
            <a:endParaRPr sz="1815">
              <a:latin typeface="Calibri"/>
              <a:cs typeface="Calibri"/>
            </a:endParaRPr>
          </a:p>
          <a:p>
            <a:pPr marL="781498">
              <a:spcBef>
                <a:spcPts val="345"/>
              </a:spcBef>
            </a:pPr>
            <a:r>
              <a:rPr sz="1361" spc="-9" dirty="0">
                <a:latin typeface="Calibri"/>
                <a:cs typeface="Calibri"/>
              </a:rPr>
              <a:t>Input</a:t>
            </a:r>
            <a:endParaRPr sz="1361">
              <a:latin typeface="Calibri"/>
              <a:cs typeface="Calibri"/>
            </a:endParaRPr>
          </a:p>
          <a:p>
            <a:pPr marR="4611" algn="r">
              <a:spcBef>
                <a:spcPts val="86"/>
              </a:spcBef>
            </a:pPr>
            <a:r>
              <a:rPr sz="1361" spc="-45" dirty="0">
                <a:latin typeface="Cambria Math"/>
                <a:cs typeface="Cambria Math"/>
              </a:rPr>
              <a:t>ℒ</a:t>
            </a:r>
            <a:endParaRPr sz="1361">
              <a:latin typeface="Cambria Math"/>
              <a:cs typeface="Cambria Math"/>
            </a:endParaRPr>
          </a:p>
          <a:p>
            <a:pPr>
              <a:spcBef>
                <a:spcPts val="1203"/>
              </a:spcBef>
            </a:pPr>
            <a:endParaRPr sz="1361">
              <a:latin typeface="Cambria Math"/>
              <a:cs typeface="Cambria Math"/>
            </a:endParaRPr>
          </a:p>
          <a:p>
            <a:pPr marL="866794">
              <a:tabLst>
                <a:tab pos="2188886" algn="l"/>
              </a:tabLst>
            </a:pPr>
            <a:r>
              <a:rPr sz="2178" spc="-45" dirty="0">
                <a:latin typeface="Cambria Math"/>
                <a:cs typeface="Cambria Math"/>
              </a:rPr>
              <a:t>𝑥</a:t>
            </a:r>
            <a:r>
              <a:rPr sz="2178" dirty="0">
                <a:latin typeface="Cambria Math"/>
                <a:cs typeface="Cambria Math"/>
              </a:rPr>
              <a:t>	</a:t>
            </a:r>
            <a:r>
              <a:rPr sz="2178" spc="-45" dirty="0">
                <a:latin typeface="Cambria Math"/>
                <a:cs typeface="Cambria Math"/>
              </a:rPr>
              <a:t>𝑧</a:t>
            </a:r>
            <a:endParaRPr sz="2178">
              <a:latin typeface="Cambria Math"/>
              <a:cs typeface="Cambria Math"/>
            </a:endParaRPr>
          </a:p>
        </p:txBody>
      </p:sp>
      <p:sp>
        <p:nvSpPr>
          <p:cNvPr id="23" name="object 23"/>
          <p:cNvSpPr txBox="1"/>
          <p:nvPr/>
        </p:nvSpPr>
        <p:spPr>
          <a:xfrm>
            <a:off x="4656734" y="1990365"/>
            <a:ext cx="1481674" cy="221055"/>
          </a:xfrm>
          <a:prstGeom prst="rect">
            <a:avLst/>
          </a:prstGeom>
        </p:spPr>
        <p:txBody>
          <a:bodyPr vert="horz" wrap="square" lIns="0" tIns="11526" rIns="0" bIns="0" rtlCol="0">
            <a:spAutoFit/>
          </a:bodyPr>
          <a:lstStyle/>
          <a:p>
            <a:pPr marL="11527">
              <a:spcBef>
                <a:spcPts val="91"/>
              </a:spcBef>
            </a:pPr>
            <a:r>
              <a:rPr sz="1361" dirty="0">
                <a:latin typeface="Calibri"/>
                <a:cs typeface="Calibri"/>
              </a:rPr>
              <a:t>Reconstructed</a:t>
            </a:r>
            <a:r>
              <a:rPr sz="1361" spc="64" dirty="0">
                <a:latin typeface="Calibri"/>
                <a:cs typeface="Calibri"/>
              </a:rPr>
              <a:t> </a:t>
            </a:r>
            <a:r>
              <a:rPr sz="1361" spc="-18" dirty="0">
                <a:latin typeface="Calibri"/>
                <a:cs typeface="Calibri"/>
              </a:rPr>
              <a:t>Input</a:t>
            </a:r>
            <a:endParaRPr sz="1361">
              <a:latin typeface="Calibri"/>
              <a:cs typeface="Calibri"/>
            </a:endParaRPr>
          </a:p>
        </p:txBody>
      </p:sp>
      <p:sp>
        <p:nvSpPr>
          <p:cNvPr id="24" name="object 24"/>
          <p:cNvSpPr txBox="1"/>
          <p:nvPr/>
        </p:nvSpPr>
        <p:spPr>
          <a:xfrm>
            <a:off x="6272372" y="2349062"/>
            <a:ext cx="3910213" cy="249076"/>
          </a:xfrm>
          <a:prstGeom prst="rect">
            <a:avLst/>
          </a:prstGeom>
        </p:spPr>
        <p:txBody>
          <a:bodyPr vert="horz" wrap="square" lIns="0" tIns="11526" rIns="0" bIns="0" rtlCol="0">
            <a:spAutoFit/>
          </a:bodyPr>
          <a:lstStyle/>
          <a:p>
            <a:pPr marL="11527">
              <a:spcBef>
                <a:spcPts val="91"/>
              </a:spcBef>
            </a:pPr>
            <a:r>
              <a:rPr sz="1543" dirty="0">
                <a:latin typeface="Calibri"/>
                <a:cs typeface="Calibri"/>
              </a:rPr>
              <a:t>Ideally</a:t>
            </a:r>
            <a:r>
              <a:rPr sz="1543" spc="-27" dirty="0">
                <a:latin typeface="Calibri"/>
                <a:cs typeface="Calibri"/>
              </a:rPr>
              <a:t> </a:t>
            </a:r>
            <a:r>
              <a:rPr sz="1543" dirty="0">
                <a:latin typeface="Calibri"/>
                <a:cs typeface="Calibri"/>
              </a:rPr>
              <a:t>the</a:t>
            </a:r>
            <a:r>
              <a:rPr sz="1543" spc="-18" dirty="0">
                <a:latin typeface="Calibri"/>
                <a:cs typeface="Calibri"/>
              </a:rPr>
              <a:t> </a:t>
            </a:r>
            <a:r>
              <a:rPr sz="1543" dirty="0">
                <a:latin typeface="Calibri"/>
                <a:cs typeface="Calibri"/>
              </a:rPr>
              <a:t>input</a:t>
            </a:r>
            <a:r>
              <a:rPr sz="1543" spc="-14" dirty="0">
                <a:latin typeface="Calibri"/>
                <a:cs typeface="Calibri"/>
              </a:rPr>
              <a:t> </a:t>
            </a:r>
            <a:r>
              <a:rPr sz="1543" dirty="0">
                <a:latin typeface="Calibri"/>
                <a:cs typeface="Calibri"/>
              </a:rPr>
              <a:t>and</a:t>
            </a:r>
            <a:r>
              <a:rPr sz="1543" spc="-23" dirty="0">
                <a:latin typeface="Calibri"/>
                <a:cs typeface="Calibri"/>
              </a:rPr>
              <a:t> </a:t>
            </a:r>
            <a:r>
              <a:rPr sz="1543" dirty="0">
                <a:latin typeface="Calibri"/>
                <a:cs typeface="Calibri"/>
              </a:rPr>
              <a:t>reconstruction</a:t>
            </a:r>
            <a:r>
              <a:rPr sz="1543" spc="-18" dirty="0">
                <a:latin typeface="Calibri"/>
                <a:cs typeface="Calibri"/>
              </a:rPr>
              <a:t> </a:t>
            </a:r>
            <a:r>
              <a:rPr sz="1543" dirty="0">
                <a:latin typeface="Calibri"/>
                <a:cs typeface="Calibri"/>
              </a:rPr>
              <a:t>are</a:t>
            </a:r>
            <a:r>
              <a:rPr sz="1543" spc="-18" dirty="0">
                <a:latin typeface="Calibri"/>
                <a:cs typeface="Calibri"/>
              </a:rPr>
              <a:t> </a:t>
            </a:r>
            <a:r>
              <a:rPr sz="1543" spc="-9" dirty="0">
                <a:latin typeface="Calibri"/>
                <a:cs typeface="Calibri"/>
              </a:rPr>
              <a:t>identical</a:t>
            </a:r>
            <a:endParaRPr sz="1543">
              <a:latin typeface="Calibri"/>
              <a:cs typeface="Calibri"/>
            </a:endParaRPr>
          </a:p>
        </p:txBody>
      </p:sp>
      <p:grpSp>
        <p:nvGrpSpPr>
          <p:cNvPr id="25" name="object 25"/>
          <p:cNvGrpSpPr/>
          <p:nvPr/>
        </p:nvGrpSpPr>
        <p:grpSpPr>
          <a:xfrm>
            <a:off x="1510291" y="3217720"/>
            <a:ext cx="1708160" cy="1379668"/>
            <a:chOff x="293928" y="3545451"/>
            <a:chExt cx="1882139" cy="1520190"/>
          </a:xfrm>
        </p:grpSpPr>
        <p:sp>
          <p:nvSpPr>
            <p:cNvPr id="26" name="object 26"/>
            <p:cNvSpPr/>
            <p:nvPr/>
          </p:nvSpPr>
          <p:spPr>
            <a:xfrm>
              <a:off x="299338" y="3550860"/>
              <a:ext cx="1871345" cy="1509395"/>
            </a:xfrm>
            <a:custGeom>
              <a:avLst/>
              <a:gdLst/>
              <a:ahLst/>
              <a:cxnLst/>
              <a:rect l="l" t="t" r="r" b="b"/>
              <a:pathLst>
                <a:path w="1871345" h="1509395">
                  <a:moveTo>
                    <a:pt x="1504685" y="289276"/>
                  </a:moveTo>
                  <a:lnTo>
                    <a:pt x="203377" y="289276"/>
                  </a:lnTo>
                  <a:lnTo>
                    <a:pt x="156745" y="294646"/>
                  </a:lnTo>
                  <a:lnTo>
                    <a:pt x="113937" y="309942"/>
                  </a:lnTo>
                  <a:lnTo>
                    <a:pt x="76175" y="333944"/>
                  </a:lnTo>
                  <a:lnTo>
                    <a:pt x="44679" y="365430"/>
                  </a:lnTo>
                  <a:lnTo>
                    <a:pt x="20671" y="403182"/>
                  </a:lnTo>
                  <a:lnTo>
                    <a:pt x="5371" y="445978"/>
                  </a:lnTo>
                  <a:lnTo>
                    <a:pt x="0" y="492593"/>
                  </a:lnTo>
                  <a:lnTo>
                    <a:pt x="0" y="1305860"/>
                  </a:lnTo>
                  <a:lnTo>
                    <a:pt x="5371" y="1352481"/>
                  </a:lnTo>
                  <a:lnTo>
                    <a:pt x="20671" y="1395277"/>
                  </a:lnTo>
                  <a:lnTo>
                    <a:pt x="44679" y="1433029"/>
                  </a:lnTo>
                  <a:lnTo>
                    <a:pt x="76175" y="1464516"/>
                  </a:lnTo>
                  <a:lnTo>
                    <a:pt x="113937" y="1488518"/>
                  </a:lnTo>
                  <a:lnTo>
                    <a:pt x="156745" y="1503814"/>
                  </a:lnTo>
                  <a:lnTo>
                    <a:pt x="203377" y="1509184"/>
                  </a:lnTo>
                  <a:lnTo>
                    <a:pt x="1504685" y="1509184"/>
                  </a:lnTo>
                  <a:lnTo>
                    <a:pt x="1551317" y="1503814"/>
                  </a:lnTo>
                  <a:lnTo>
                    <a:pt x="1594125" y="1488518"/>
                  </a:lnTo>
                  <a:lnTo>
                    <a:pt x="1631887" y="1464516"/>
                  </a:lnTo>
                  <a:lnTo>
                    <a:pt x="1663383" y="1433029"/>
                  </a:lnTo>
                  <a:lnTo>
                    <a:pt x="1687391" y="1395277"/>
                  </a:lnTo>
                  <a:lnTo>
                    <a:pt x="1702691" y="1352481"/>
                  </a:lnTo>
                  <a:lnTo>
                    <a:pt x="1708063" y="1305860"/>
                  </a:lnTo>
                  <a:lnTo>
                    <a:pt x="1708062" y="492593"/>
                  </a:lnTo>
                  <a:lnTo>
                    <a:pt x="1702691" y="445978"/>
                  </a:lnTo>
                  <a:lnTo>
                    <a:pt x="1687391" y="403182"/>
                  </a:lnTo>
                  <a:lnTo>
                    <a:pt x="1663383" y="365430"/>
                  </a:lnTo>
                  <a:lnTo>
                    <a:pt x="1631887" y="333944"/>
                  </a:lnTo>
                  <a:lnTo>
                    <a:pt x="1594125" y="309942"/>
                  </a:lnTo>
                  <a:lnTo>
                    <a:pt x="1551317" y="294646"/>
                  </a:lnTo>
                  <a:lnTo>
                    <a:pt x="1504685" y="289276"/>
                  </a:lnTo>
                  <a:close/>
                </a:path>
                <a:path w="1871345" h="1509395">
                  <a:moveTo>
                    <a:pt x="1871012" y="0"/>
                  </a:moveTo>
                  <a:lnTo>
                    <a:pt x="996370" y="289276"/>
                  </a:lnTo>
                  <a:lnTo>
                    <a:pt x="1423386" y="289276"/>
                  </a:lnTo>
                  <a:lnTo>
                    <a:pt x="1871012" y="0"/>
                  </a:lnTo>
                  <a:close/>
                </a:path>
              </a:pathLst>
            </a:custGeom>
            <a:solidFill>
              <a:srgbClr val="FFFFFF"/>
            </a:solidFill>
          </p:spPr>
          <p:txBody>
            <a:bodyPr wrap="square" lIns="0" tIns="0" rIns="0" bIns="0" rtlCol="0"/>
            <a:lstStyle/>
            <a:p>
              <a:endParaRPr sz="1634"/>
            </a:p>
          </p:txBody>
        </p:sp>
        <p:sp>
          <p:nvSpPr>
            <p:cNvPr id="27" name="object 27"/>
            <p:cNvSpPr/>
            <p:nvPr/>
          </p:nvSpPr>
          <p:spPr>
            <a:xfrm>
              <a:off x="299338" y="3550860"/>
              <a:ext cx="1871345" cy="1509395"/>
            </a:xfrm>
            <a:custGeom>
              <a:avLst/>
              <a:gdLst/>
              <a:ahLst/>
              <a:cxnLst/>
              <a:rect l="l" t="t" r="r" b="b"/>
              <a:pathLst>
                <a:path w="1871345" h="1509395">
                  <a:moveTo>
                    <a:pt x="0" y="492599"/>
                  </a:moveTo>
                  <a:lnTo>
                    <a:pt x="5371" y="445978"/>
                  </a:lnTo>
                  <a:lnTo>
                    <a:pt x="20671" y="403182"/>
                  </a:lnTo>
                  <a:lnTo>
                    <a:pt x="44679" y="365430"/>
                  </a:lnTo>
                  <a:lnTo>
                    <a:pt x="76175" y="333943"/>
                  </a:lnTo>
                  <a:lnTo>
                    <a:pt x="113937" y="309942"/>
                  </a:lnTo>
                  <a:lnTo>
                    <a:pt x="156745" y="294646"/>
                  </a:lnTo>
                  <a:lnTo>
                    <a:pt x="203377" y="289276"/>
                  </a:lnTo>
                  <a:lnTo>
                    <a:pt x="996369" y="289276"/>
                  </a:lnTo>
                  <a:lnTo>
                    <a:pt x="1871012" y="0"/>
                  </a:lnTo>
                  <a:lnTo>
                    <a:pt x="1423385" y="289276"/>
                  </a:lnTo>
                  <a:lnTo>
                    <a:pt x="1504685" y="289276"/>
                  </a:lnTo>
                  <a:lnTo>
                    <a:pt x="1551317" y="294646"/>
                  </a:lnTo>
                  <a:lnTo>
                    <a:pt x="1594125" y="309942"/>
                  </a:lnTo>
                  <a:lnTo>
                    <a:pt x="1631887" y="333943"/>
                  </a:lnTo>
                  <a:lnTo>
                    <a:pt x="1663383" y="365430"/>
                  </a:lnTo>
                  <a:lnTo>
                    <a:pt x="1687391" y="403182"/>
                  </a:lnTo>
                  <a:lnTo>
                    <a:pt x="1702691" y="445978"/>
                  </a:lnTo>
                  <a:lnTo>
                    <a:pt x="1708063" y="492599"/>
                  </a:lnTo>
                  <a:lnTo>
                    <a:pt x="1708063" y="797571"/>
                  </a:lnTo>
                  <a:lnTo>
                    <a:pt x="1708063" y="1305860"/>
                  </a:lnTo>
                  <a:lnTo>
                    <a:pt x="1702691" y="1352480"/>
                  </a:lnTo>
                  <a:lnTo>
                    <a:pt x="1687391" y="1395277"/>
                  </a:lnTo>
                  <a:lnTo>
                    <a:pt x="1663383" y="1433028"/>
                  </a:lnTo>
                  <a:lnTo>
                    <a:pt x="1631887" y="1464515"/>
                  </a:lnTo>
                  <a:lnTo>
                    <a:pt x="1594125" y="1488517"/>
                  </a:lnTo>
                  <a:lnTo>
                    <a:pt x="1551317" y="1503813"/>
                  </a:lnTo>
                  <a:lnTo>
                    <a:pt x="1504685" y="1509183"/>
                  </a:lnTo>
                  <a:lnTo>
                    <a:pt x="1423385" y="1509183"/>
                  </a:lnTo>
                  <a:lnTo>
                    <a:pt x="996369" y="1509183"/>
                  </a:lnTo>
                  <a:lnTo>
                    <a:pt x="203377" y="1509183"/>
                  </a:lnTo>
                  <a:lnTo>
                    <a:pt x="156745" y="1503813"/>
                  </a:lnTo>
                  <a:lnTo>
                    <a:pt x="113937" y="1488517"/>
                  </a:lnTo>
                  <a:lnTo>
                    <a:pt x="76175" y="1464515"/>
                  </a:lnTo>
                  <a:lnTo>
                    <a:pt x="44679" y="1433028"/>
                  </a:lnTo>
                  <a:lnTo>
                    <a:pt x="20671" y="1395277"/>
                  </a:lnTo>
                  <a:lnTo>
                    <a:pt x="5371" y="1352480"/>
                  </a:lnTo>
                  <a:lnTo>
                    <a:pt x="0" y="1305860"/>
                  </a:lnTo>
                  <a:lnTo>
                    <a:pt x="0" y="797571"/>
                  </a:lnTo>
                  <a:lnTo>
                    <a:pt x="0" y="492593"/>
                  </a:lnTo>
                  <a:close/>
                </a:path>
              </a:pathLst>
            </a:custGeom>
            <a:ln w="10819">
              <a:solidFill>
                <a:srgbClr val="000000"/>
              </a:solidFill>
            </a:ln>
          </p:spPr>
          <p:txBody>
            <a:bodyPr wrap="square" lIns="0" tIns="0" rIns="0" bIns="0" rtlCol="0"/>
            <a:lstStyle/>
            <a:p>
              <a:endParaRPr sz="1634"/>
            </a:p>
          </p:txBody>
        </p:sp>
      </p:grpSp>
      <p:sp>
        <p:nvSpPr>
          <p:cNvPr id="28" name="object 28"/>
          <p:cNvSpPr txBox="1"/>
          <p:nvPr/>
        </p:nvSpPr>
        <p:spPr>
          <a:xfrm>
            <a:off x="1758535" y="3475786"/>
            <a:ext cx="1063278" cy="1070650"/>
          </a:xfrm>
          <a:prstGeom prst="rect">
            <a:avLst/>
          </a:prstGeom>
        </p:spPr>
        <p:txBody>
          <a:bodyPr vert="horz" wrap="square" lIns="0" tIns="19594" rIns="0" bIns="0" rtlCol="0">
            <a:spAutoFit/>
          </a:bodyPr>
          <a:lstStyle/>
          <a:p>
            <a:pPr marL="10950" marR="4611" indent="-576" algn="ctr">
              <a:lnSpc>
                <a:spcPct val="101299"/>
              </a:lnSpc>
              <a:spcBef>
                <a:spcPts val="154"/>
              </a:spcBef>
            </a:pPr>
            <a:r>
              <a:rPr sz="1361" dirty="0">
                <a:latin typeface="Calibri"/>
                <a:cs typeface="Calibri"/>
              </a:rPr>
              <a:t>The</a:t>
            </a:r>
            <a:r>
              <a:rPr sz="1361" spc="45" dirty="0">
                <a:latin typeface="Calibri"/>
                <a:cs typeface="Calibri"/>
              </a:rPr>
              <a:t> </a:t>
            </a:r>
            <a:r>
              <a:rPr sz="1361" spc="-9" dirty="0">
                <a:latin typeface="Calibri"/>
                <a:cs typeface="Calibri"/>
              </a:rPr>
              <a:t>encoder </a:t>
            </a:r>
            <a:r>
              <a:rPr sz="1361" dirty="0">
                <a:latin typeface="Calibri"/>
                <a:cs typeface="Calibri"/>
              </a:rPr>
              <a:t>network</a:t>
            </a:r>
            <a:r>
              <a:rPr sz="1361" spc="23" dirty="0">
                <a:latin typeface="Calibri"/>
                <a:cs typeface="Calibri"/>
              </a:rPr>
              <a:t> </a:t>
            </a:r>
            <a:r>
              <a:rPr sz="1361" dirty="0">
                <a:latin typeface="Calibri"/>
                <a:cs typeface="Calibri"/>
              </a:rPr>
              <a:t>is</a:t>
            </a:r>
            <a:r>
              <a:rPr sz="1361" spc="27" dirty="0">
                <a:latin typeface="Calibri"/>
                <a:cs typeface="Calibri"/>
              </a:rPr>
              <a:t> </a:t>
            </a:r>
            <a:r>
              <a:rPr sz="1361" spc="-23" dirty="0">
                <a:latin typeface="Calibri"/>
                <a:cs typeface="Calibri"/>
              </a:rPr>
              <a:t>for </a:t>
            </a:r>
            <a:r>
              <a:rPr sz="1361" spc="-9" dirty="0">
                <a:latin typeface="Calibri"/>
                <a:cs typeface="Calibri"/>
              </a:rPr>
              <a:t>dimension </a:t>
            </a:r>
            <a:r>
              <a:rPr sz="1361" dirty="0">
                <a:latin typeface="Calibri"/>
                <a:cs typeface="Calibri"/>
              </a:rPr>
              <a:t>reduction,</a:t>
            </a:r>
            <a:r>
              <a:rPr sz="1361" spc="82" dirty="0">
                <a:latin typeface="Calibri"/>
                <a:cs typeface="Calibri"/>
              </a:rPr>
              <a:t> </a:t>
            </a:r>
            <a:r>
              <a:rPr sz="1361" spc="-18" dirty="0">
                <a:latin typeface="Calibri"/>
                <a:cs typeface="Calibri"/>
              </a:rPr>
              <a:t>just </a:t>
            </a:r>
            <a:r>
              <a:rPr sz="1361" dirty="0">
                <a:latin typeface="Calibri"/>
                <a:cs typeface="Calibri"/>
              </a:rPr>
              <a:t>like</a:t>
            </a:r>
            <a:r>
              <a:rPr sz="1361" spc="-36" dirty="0">
                <a:latin typeface="Calibri"/>
                <a:cs typeface="Calibri"/>
              </a:rPr>
              <a:t> </a:t>
            </a:r>
            <a:r>
              <a:rPr sz="1361" spc="-23" dirty="0">
                <a:latin typeface="Calibri"/>
                <a:cs typeface="Calibri"/>
              </a:rPr>
              <a:t>PCA</a:t>
            </a:r>
            <a:endParaRPr sz="1361">
              <a:latin typeface="Calibri"/>
              <a:cs typeface="Calibri"/>
            </a:endParaRPr>
          </a:p>
        </p:txBody>
      </p:sp>
      <p:sp>
        <p:nvSpPr>
          <p:cNvPr id="29" name="object 29"/>
          <p:cNvSpPr txBox="1">
            <a:spLocks noGrp="1"/>
          </p:cNvSpPr>
          <p:nvPr>
            <p:ph type="sldNum" sz="quarter" idx="7"/>
          </p:nvPr>
        </p:nvSpPr>
        <p:spPr>
          <a:xfrm>
            <a:off x="9577123" y="6334774"/>
            <a:ext cx="221615" cy="180975"/>
          </a:xfrm>
          <a:prstGeom prst="rect">
            <a:avLst/>
          </a:prstGeom>
        </p:spPr>
        <p:txBody>
          <a:bodyPr vert="horz" wrap="square" lIns="0" tIns="0" rIns="0" bIns="0" rtlCol="0">
            <a:spAutoFit/>
          </a:bodyPr>
          <a:lstStyle>
            <a:defPPr>
              <a:defRPr kern="0"/>
            </a:defPPr>
            <a:lvl1pPr>
              <a:defRPr sz="1000" b="0" i="0">
                <a:solidFill>
                  <a:srgbClr val="898989"/>
                </a:solidFill>
                <a:latin typeface="Calibri"/>
                <a:cs typeface="Calibri"/>
              </a:defRPr>
            </a:lvl1pPr>
          </a:lstStyle>
          <a:p>
            <a:pPr marL="104139">
              <a:spcBef>
                <a:spcPts val="50"/>
              </a:spcBef>
            </a:pPr>
            <a:fld id="{81D60167-4931-47E6-BA6A-407CBD079E47}" type="slidenum">
              <a:rPr lang="en-CA" spc="-50" smtClean="0"/>
              <a:pPr marL="104139">
                <a:spcBef>
                  <a:spcPts val="50"/>
                </a:spcBef>
              </a:pPr>
              <a:t>3</a:t>
            </a:fld>
            <a:endParaRPr spc="-4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28369" y="355725"/>
            <a:ext cx="9543570" cy="688165"/>
          </a:xfrm>
          <a:prstGeom prst="rect">
            <a:avLst/>
          </a:prstGeom>
        </p:spPr>
        <p:txBody>
          <a:bodyPr vert="horz" wrap="square" lIns="0" tIns="10950" rIns="0" bIns="0" rtlCol="0" anchor="ctr">
            <a:spAutoFit/>
          </a:bodyPr>
          <a:lstStyle/>
          <a:p>
            <a:pPr marL="11527">
              <a:lnSpc>
                <a:spcPct val="100000"/>
              </a:lnSpc>
              <a:spcBef>
                <a:spcPts val="86"/>
              </a:spcBef>
            </a:pPr>
            <a:r>
              <a:rPr spc="-9" dirty="0"/>
              <a:t>Vanilla</a:t>
            </a:r>
            <a:r>
              <a:rPr spc="-82" dirty="0"/>
              <a:t> </a:t>
            </a:r>
            <a:r>
              <a:rPr spc="-9" dirty="0"/>
              <a:t>Autoencoder</a:t>
            </a:r>
          </a:p>
        </p:txBody>
      </p:sp>
      <p:pic>
        <p:nvPicPr>
          <p:cNvPr id="59" name="Picture 58">
            <a:extLst>
              <a:ext uri="{FF2B5EF4-FFF2-40B4-BE49-F238E27FC236}">
                <a16:creationId xmlns:a16="http://schemas.microsoft.com/office/drawing/2014/main" id="{C7FAFDC1-D81C-7964-F9C2-A82BFF021CBE}"/>
              </a:ext>
            </a:extLst>
          </p:cNvPr>
          <p:cNvPicPr>
            <a:picLocks noChangeAspect="1"/>
          </p:cNvPicPr>
          <p:nvPr/>
        </p:nvPicPr>
        <p:blipFill>
          <a:blip r:embed="rId2"/>
          <a:stretch>
            <a:fillRect/>
          </a:stretch>
        </p:blipFill>
        <p:spPr>
          <a:xfrm>
            <a:off x="1064559" y="1374402"/>
            <a:ext cx="9829800" cy="46291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59428" y="369110"/>
            <a:ext cx="9543570" cy="688165"/>
          </a:xfrm>
          <a:prstGeom prst="rect">
            <a:avLst/>
          </a:prstGeom>
        </p:spPr>
        <p:txBody>
          <a:bodyPr vert="horz" wrap="square" lIns="0" tIns="10950" rIns="0" bIns="0" rtlCol="0" anchor="ctr">
            <a:spAutoFit/>
          </a:bodyPr>
          <a:lstStyle/>
          <a:p>
            <a:pPr marL="11527">
              <a:lnSpc>
                <a:spcPct val="100000"/>
              </a:lnSpc>
              <a:spcBef>
                <a:spcPts val="86"/>
              </a:spcBef>
            </a:pPr>
            <a:r>
              <a:rPr spc="-9" dirty="0"/>
              <a:t>Vanilla</a:t>
            </a:r>
            <a:r>
              <a:rPr spc="-82" dirty="0"/>
              <a:t> </a:t>
            </a:r>
            <a:r>
              <a:rPr spc="-9" dirty="0"/>
              <a:t>Autoencoder</a:t>
            </a:r>
          </a:p>
        </p:txBody>
      </p:sp>
      <p:pic>
        <p:nvPicPr>
          <p:cNvPr id="42" name="Picture 41">
            <a:extLst>
              <a:ext uri="{FF2B5EF4-FFF2-40B4-BE49-F238E27FC236}">
                <a16:creationId xmlns:a16="http://schemas.microsoft.com/office/drawing/2014/main" id="{3CACCDFC-D7D4-6D7A-E35A-C5C4896DE247}"/>
              </a:ext>
            </a:extLst>
          </p:cNvPr>
          <p:cNvPicPr>
            <a:picLocks noChangeAspect="1"/>
          </p:cNvPicPr>
          <p:nvPr/>
        </p:nvPicPr>
        <p:blipFill>
          <a:blip r:embed="rId2"/>
          <a:stretch>
            <a:fillRect/>
          </a:stretch>
        </p:blipFill>
        <p:spPr>
          <a:xfrm>
            <a:off x="1290637" y="1191745"/>
            <a:ext cx="9610725" cy="47434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04252" y="588808"/>
            <a:ext cx="9543570" cy="688165"/>
          </a:xfrm>
          <a:prstGeom prst="rect">
            <a:avLst/>
          </a:prstGeom>
        </p:spPr>
        <p:txBody>
          <a:bodyPr vert="horz" wrap="square" lIns="0" tIns="10950" rIns="0" bIns="0" rtlCol="0" anchor="ctr">
            <a:spAutoFit/>
          </a:bodyPr>
          <a:lstStyle/>
          <a:p>
            <a:pPr marL="11527">
              <a:lnSpc>
                <a:spcPct val="100000"/>
              </a:lnSpc>
              <a:spcBef>
                <a:spcPts val="86"/>
              </a:spcBef>
            </a:pPr>
            <a:r>
              <a:rPr spc="-9" dirty="0"/>
              <a:t>Vanilla</a:t>
            </a:r>
            <a:r>
              <a:rPr spc="-82" dirty="0"/>
              <a:t> </a:t>
            </a:r>
            <a:r>
              <a:rPr spc="-9" dirty="0"/>
              <a:t>Autoencoder</a:t>
            </a:r>
          </a:p>
        </p:txBody>
      </p:sp>
      <p:sp>
        <p:nvSpPr>
          <p:cNvPr id="3" name="object 3"/>
          <p:cNvSpPr txBox="1"/>
          <p:nvPr/>
        </p:nvSpPr>
        <p:spPr>
          <a:xfrm>
            <a:off x="1803700" y="1667191"/>
            <a:ext cx="7036077" cy="570253"/>
          </a:xfrm>
          <a:prstGeom prst="rect">
            <a:avLst/>
          </a:prstGeom>
        </p:spPr>
        <p:txBody>
          <a:bodyPr vert="horz" wrap="square" lIns="0" tIns="11526" rIns="0" bIns="0" rtlCol="0">
            <a:spAutoFit/>
          </a:bodyPr>
          <a:lstStyle/>
          <a:p>
            <a:pPr marL="276636" indent="-265110">
              <a:spcBef>
                <a:spcPts val="91"/>
              </a:spcBef>
              <a:buFont typeface="Arial"/>
              <a:buChar char="•"/>
              <a:tabLst>
                <a:tab pos="276636" algn="l"/>
              </a:tabLst>
            </a:pPr>
            <a:r>
              <a:rPr sz="1815" b="1" spc="-9" dirty="0">
                <a:latin typeface="Calibri"/>
                <a:cs typeface="Calibri"/>
              </a:rPr>
              <a:t>Example:</a:t>
            </a:r>
            <a:endParaRPr sz="1815">
              <a:latin typeface="Calibri"/>
              <a:cs typeface="Calibri"/>
            </a:endParaRPr>
          </a:p>
          <a:p>
            <a:pPr marL="629924" lvl="1" indent="-265110">
              <a:buFont typeface="Arial"/>
              <a:buChar char="•"/>
              <a:tabLst>
                <a:tab pos="629924" algn="l"/>
              </a:tabLst>
            </a:pPr>
            <a:r>
              <a:rPr sz="1815" dirty="0">
                <a:latin typeface="Calibri"/>
                <a:cs typeface="Calibri"/>
              </a:rPr>
              <a:t>Compress</a:t>
            </a:r>
            <a:r>
              <a:rPr sz="1815" spc="41" dirty="0">
                <a:latin typeface="Calibri"/>
                <a:cs typeface="Calibri"/>
              </a:rPr>
              <a:t> </a:t>
            </a:r>
            <a:r>
              <a:rPr sz="1815" dirty="0">
                <a:latin typeface="Calibri"/>
                <a:cs typeface="Calibri"/>
              </a:rPr>
              <a:t>MNIST</a:t>
            </a:r>
            <a:r>
              <a:rPr sz="1815" spc="54" dirty="0">
                <a:latin typeface="Calibri"/>
                <a:cs typeface="Calibri"/>
              </a:rPr>
              <a:t> </a:t>
            </a:r>
            <a:r>
              <a:rPr sz="1815" dirty="0">
                <a:latin typeface="Calibri"/>
                <a:cs typeface="Calibri"/>
              </a:rPr>
              <a:t>(28x28x1)</a:t>
            </a:r>
            <a:r>
              <a:rPr sz="1815" spc="41" dirty="0">
                <a:latin typeface="Calibri"/>
                <a:cs typeface="Calibri"/>
              </a:rPr>
              <a:t> </a:t>
            </a:r>
            <a:r>
              <a:rPr sz="1815" dirty="0">
                <a:latin typeface="Calibri"/>
                <a:cs typeface="Calibri"/>
              </a:rPr>
              <a:t>to</a:t>
            </a:r>
            <a:r>
              <a:rPr sz="1815" spc="45" dirty="0">
                <a:latin typeface="Calibri"/>
                <a:cs typeface="Calibri"/>
              </a:rPr>
              <a:t> </a:t>
            </a:r>
            <a:r>
              <a:rPr sz="1815" dirty="0">
                <a:latin typeface="Calibri"/>
                <a:cs typeface="Calibri"/>
              </a:rPr>
              <a:t>the</a:t>
            </a:r>
            <a:r>
              <a:rPr sz="1815" spc="54" dirty="0">
                <a:latin typeface="Calibri"/>
                <a:cs typeface="Calibri"/>
              </a:rPr>
              <a:t> </a:t>
            </a:r>
            <a:r>
              <a:rPr sz="1815" dirty="0">
                <a:latin typeface="Calibri"/>
                <a:cs typeface="Calibri"/>
              </a:rPr>
              <a:t>latent</a:t>
            </a:r>
            <a:r>
              <a:rPr sz="1815" spc="41" dirty="0">
                <a:latin typeface="Calibri"/>
                <a:cs typeface="Calibri"/>
              </a:rPr>
              <a:t> </a:t>
            </a:r>
            <a:r>
              <a:rPr sz="1815" dirty="0">
                <a:latin typeface="Calibri"/>
                <a:cs typeface="Calibri"/>
              </a:rPr>
              <a:t>code</a:t>
            </a:r>
            <a:r>
              <a:rPr sz="1815" spc="54" dirty="0">
                <a:latin typeface="Calibri"/>
                <a:cs typeface="Calibri"/>
              </a:rPr>
              <a:t> </a:t>
            </a:r>
            <a:r>
              <a:rPr sz="1815" dirty="0">
                <a:latin typeface="Calibri"/>
                <a:cs typeface="Calibri"/>
              </a:rPr>
              <a:t>with</a:t>
            </a:r>
            <a:r>
              <a:rPr sz="1815" spc="50" dirty="0">
                <a:latin typeface="Calibri"/>
                <a:cs typeface="Calibri"/>
              </a:rPr>
              <a:t> </a:t>
            </a:r>
            <a:r>
              <a:rPr sz="1815" dirty="0">
                <a:latin typeface="Calibri"/>
                <a:cs typeface="Calibri"/>
              </a:rPr>
              <a:t>only</a:t>
            </a:r>
            <a:r>
              <a:rPr sz="1815" spc="50" dirty="0">
                <a:latin typeface="Calibri"/>
                <a:cs typeface="Calibri"/>
              </a:rPr>
              <a:t> </a:t>
            </a:r>
            <a:r>
              <a:rPr sz="1815" dirty="0">
                <a:latin typeface="Calibri"/>
                <a:cs typeface="Calibri"/>
              </a:rPr>
              <a:t>2</a:t>
            </a:r>
            <a:r>
              <a:rPr sz="1815" spc="50" dirty="0">
                <a:latin typeface="Calibri"/>
                <a:cs typeface="Calibri"/>
              </a:rPr>
              <a:t> </a:t>
            </a:r>
            <a:r>
              <a:rPr sz="1815" spc="-9" dirty="0">
                <a:latin typeface="Calibri"/>
                <a:cs typeface="Calibri"/>
              </a:rPr>
              <a:t>variables</a:t>
            </a:r>
            <a:endParaRPr sz="1815">
              <a:latin typeface="Calibri"/>
              <a:cs typeface="Calibri"/>
            </a:endParaRPr>
          </a:p>
        </p:txBody>
      </p:sp>
      <p:pic>
        <p:nvPicPr>
          <p:cNvPr id="4" name="object 4"/>
          <p:cNvPicPr/>
          <p:nvPr/>
        </p:nvPicPr>
        <p:blipFill>
          <a:blip r:embed="rId2" cstate="print"/>
          <a:stretch>
            <a:fillRect/>
          </a:stretch>
        </p:blipFill>
        <p:spPr>
          <a:xfrm>
            <a:off x="2753810" y="2709216"/>
            <a:ext cx="6197660" cy="3110379"/>
          </a:xfrm>
          <a:prstGeom prst="rect">
            <a:avLst/>
          </a:prstGeom>
        </p:spPr>
      </p:pic>
      <p:sp>
        <p:nvSpPr>
          <p:cNvPr id="5" name="object 5"/>
          <p:cNvSpPr txBox="1"/>
          <p:nvPr/>
        </p:nvSpPr>
        <p:spPr>
          <a:xfrm>
            <a:off x="8308515" y="3434349"/>
            <a:ext cx="403987" cy="221055"/>
          </a:xfrm>
          <a:prstGeom prst="rect">
            <a:avLst/>
          </a:prstGeom>
        </p:spPr>
        <p:txBody>
          <a:bodyPr vert="horz" wrap="square" lIns="0" tIns="11526" rIns="0" bIns="0" rtlCol="0">
            <a:spAutoFit/>
          </a:bodyPr>
          <a:lstStyle/>
          <a:p>
            <a:pPr marL="11527">
              <a:spcBef>
                <a:spcPts val="91"/>
              </a:spcBef>
            </a:pPr>
            <a:r>
              <a:rPr sz="1361" spc="-9" dirty="0">
                <a:solidFill>
                  <a:srgbClr val="FF0000"/>
                </a:solidFill>
                <a:latin typeface="Calibri"/>
                <a:cs typeface="Calibri"/>
              </a:rPr>
              <a:t>Lossy</a:t>
            </a:r>
            <a:endParaRPr sz="1361">
              <a:latin typeface="Calibri"/>
              <a:cs typeface="Calibri"/>
            </a:endParaRPr>
          </a:p>
        </p:txBody>
      </p:sp>
      <p:sp>
        <p:nvSpPr>
          <p:cNvPr id="6" name="object 6"/>
          <p:cNvSpPr txBox="1">
            <a:spLocks noGrp="1"/>
          </p:cNvSpPr>
          <p:nvPr>
            <p:ph type="sldNum" sz="quarter" idx="7"/>
          </p:nvPr>
        </p:nvSpPr>
        <p:spPr>
          <a:xfrm>
            <a:off x="9577123" y="6334774"/>
            <a:ext cx="221615" cy="180975"/>
          </a:xfrm>
          <a:prstGeom prst="rect">
            <a:avLst/>
          </a:prstGeom>
        </p:spPr>
        <p:txBody>
          <a:bodyPr vert="horz" wrap="square" lIns="0" tIns="0" rIns="0" bIns="0" rtlCol="0">
            <a:spAutoFit/>
          </a:bodyPr>
          <a:lstStyle>
            <a:defPPr>
              <a:defRPr kern="0"/>
            </a:defPPr>
            <a:lvl1pPr>
              <a:defRPr sz="1000" b="0" i="0">
                <a:solidFill>
                  <a:srgbClr val="898989"/>
                </a:solidFill>
                <a:latin typeface="Calibri"/>
                <a:cs typeface="Calibri"/>
              </a:defRPr>
            </a:lvl1pPr>
          </a:lstStyle>
          <a:p>
            <a:pPr marL="104139">
              <a:spcBef>
                <a:spcPts val="50"/>
              </a:spcBef>
            </a:pPr>
            <a:fld id="{81D60167-4931-47E6-BA6A-407CBD079E47}" type="slidenum">
              <a:rPr lang="en-CA" spc="-50" smtClean="0"/>
              <a:pPr marL="104139">
                <a:spcBef>
                  <a:spcPts val="50"/>
                </a:spcBef>
              </a:pPr>
              <a:t>6</a:t>
            </a:fld>
            <a:endParaRPr spc="-4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45664" y="432739"/>
            <a:ext cx="9543570" cy="688165"/>
          </a:xfrm>
          <a:prstGeom prst="rect">
            <a:avLst/>
          </a:prstGeom>
        </p:spPr>
        <p:txBody>
          <a:bodyPr vert="horz" wrap="square" lIns="0" tIns="10950" rIns="0" bIns="0" rtlCol="0" anchor="ctr">
            <a:spAutoFit/>
          </a:bodyPr>
          <a:lstStyle/>
          <a:p>
            <a:pPr marL="11527">
              <a:lnSpc>
                <a:spcPct val="100000"/>
              </a:lnSpc>
              <a:spcBef>
                <a:spcPts val="86"/>
              </a:spcBef>
            </a:pPr>
            <a:r>
              <a:rPr lang="en-CA" spc="-10" dirty="0"/>
              <a:t>Stacked</a:t>
            </a:r>
            <a:r>
              <a:rPr lang="en-CA" spc="-105" dirty="0"/>
              <a:t> </a:t>
            </a:r>
            <a:r>
              <a:rPr lang="en-CA" spc="-10" dirty="0"/>
              <a:t>Autoencoder</a:t>
            </a:r>
            <a:endParaRPr spc="-9" dirty="0"/>
          </a:p>
        </p:txBody>
      </p:sp>
      <p:sp>
        <p:nvSpPr>
          <p:cNvPr id="4" name="object 4"/>
          <p:cNvSpPr txBox="1">
            <a:spLocks noGrp="1"/>
          </p:cNvSpPr>
          <p:nvPr>
            <p:ph type="sldNum" sz="quarter" idx="7"/>
          </p:nvPr>
        </p:nvSpPr>
        <p:spPr>
          <a:xfrm>
            <a:off x="9577123" y="6334774"/>
            <a:ext cx="221615" cy="180975"/>
          </a:xfrm>
          <a:prstGeom prst="rect">
            <a:avLst/>
          </a:prstGeom>
        </p:spPr>
        <p:txBody>
          <a:bodyPr vert="horz" wrap="square" lIns="0" tIns="0" rIns="0" bIns="0" rtlCol="0">
            <a:spAutoFit/>
          </a:bodyPr>
          <a:lstStyle>
            <a:defPPr>
              <a:defRPr kern="0"/>
            </a:defPPr>
            <a:lvl1pPr>
              <a:defRPr sz="1000" b="0" i="0">
                <a:solidFill>
                  <a:srgbClr val="898989"/>
                </a:solidFill>
                <a:latin typeface="Calibri"/>
                <a:cs typeface="Calibri"/>
              </a:defRPr>
            </a:lvl1pPr>
          </a:lstStyle>
          <a:p>
            <a:pPr marL="104139">
              <a:spcBef>
                <a:spcPts val="50"/>
              </a:spcBef>
            </a:pPr>
            <a:fld id="{81D60167-4931-47E6-BA6A-407CBD079E47}" type="slidenum">
              <a:rPr lang="en-CA" spc="-50" smtClean="0"/>
              <a:pPr marL="104139">
                <a:spcBef>
                  <a:spcPts val="50"/>
                </a:spcBef>
              </a:pPr>
              <a:t>7</a:t>
            </a:fld>
            <a:endParaRPr spc="-23" dirty="0"/>
          </a:p>
        </p:txBody>
      </p:sp>
      <p:pic>
        <p:nvPicPr>
          <p:cNvPr id="6" name="Picture 5">
            <a:extLst>
              <a:ext uri="{FF2B5EF4-FFF2-40B4-BE49-F238E27FC236}">
                <a16:creationId xmlns:a16="http://schemas.microsoft.com/office/drawing/2014/main" id="{34E60B5B-3297-3B28-933F-FF17132F7503}"/>
              </a:ext>
            </a:extLst>
          </p:cNvPr>
          <p:cNvPicPr>
            <a:picLocks noChangeAspect="1"/>
          </p:cNvPicPr>
          <p:nvPr/>
        </p:nvPicPr>
        <p:blipFill>
          <a:blip r:embed="rId2"/>
          <a:stretch>
            <a:fillRect/>
          </a:stretch>
        </p:blipFill>
        <p:spPr>
          <a:xfrm>
            <a:off x="1645664" y="1387656"/>
            <a:ext cx="8582025" cy="48672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789099" y="221255"/>
            <a:ext cx="9543570" cy="688165"/>
          </a:xfrm>
          <a:prstGeom prst="rect">
            <a:avLst/>
          </a:prstGeom>
        </p:spPr>
        <p:txBody>
          <a:bodyPr vert="horz" wrap="square" lIns="0" tIns="10950" rIns="0" bIns="0" rtlCol="0" anchor="ctr">
            <a:spAutoFit/>
          </a:bodyPr>
          <a:lstStyle/>
          <a:p>
            <a:pPr marL="11527">
              <a:lnSpc>
                <a:spcPct val="100000"/>
              </a:lnSpc>
              <a:spcBef>
                <a:spcPts val="86"/>
              </a:spcBef>
            </a:pPr>
            <a:r>
              <a:rPr spc="-9" dirty="0"/>
              <a:t>Stacked</a:t>
            </a:r>
            <a:r>
              <a:rPr spc="-95" dirty="0"/>
              <a:t> </a:t>
            </a:r>
            <a:r>
              <a:rPr spc="-9" dirty="0"/>
              <a:t>Autoencoder</a:t>
            </a:r>
          </a:p>
        </p:txBody>
      </p:sp>
      <p:pic>
        <p:nvPicPr>
          <p:cNvPr id="74" name="Picture 73">
            <a:extLst>
              <a:ext uri="{FF2B5EF4-FFF2-40B4-BE49-F238E27FC236}">
                <a16:creationId xmlns:a16="http://schemas.microsoft.com/office/drawing/2014/main" id="{766E5650-3619-DD51-7694-B995E36AD32C}"/>
              </a:ext>
            </a:extLst>
          </p:cNvPr>
          <p:cNvPicPr>
            <a:picLocks noChangeAspect="1"/>
          </p:cNvPicPr>
          <p:nvPr/>
        </p:nvPicPr>
        <p:blipFill>
          <a:blip r:embed="rId2"/>
          <a:stretch>
            <a:fillRect/>
          </a:stretch>
        </p:blipFill>
        <p:spPr>
          <a:xfrm>
            <a:off x="1328458" y="1108542"/>
            <a:ext cx="9391650" cy="52863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33C95-D1EC-9A68-D38E-9890FCBCC0C8}"/>
              </a:ext>
            </a:extLst>
          </p:cNvPr>
          <p:cNvSpPr>
            <a:spLocks noGrp="1"/>
          </p:cNvSpPr>
          <p:nvPr>
            <p:ph type="title"/>
          </p:nvPr>
        </p:nvSpPr>
        <p:spPr>
          <a:xfrm>
            <a:off x="838200" y="184150"/>
            <a:ext cx="10515600" cy="1325563"/>
          </a:xfrm>
        </p:spPr>
        <p:txBody>
          <a:bodyPr/>
          <a:lstStyle/>
          <a:p>
            <a:r>
              <a:rPr lang="en-CA" dirty="0"/>
              <a:t>Stacked Autoencoder</a:t>
            </a:r>
          </a:p>
        </p:txBody>
      </p:sp>
      <p:sp>
        <p:nvSpPr>
          <p:cNvPr id="3" name="Content Placeholder 2">
            <a:extLst>
              <a:ext uri="{FF2B5EF4-FFF2-40B4-BE49-F238E27FC236}">
                <a16:creationId xmlns:a16="http://schemas.microsoft.com/office/drawing/2014/main" id="{CB1BB83E-578D-D45B-7B2B-9EFC1202C9C5}"/>
              </a:ext>
            </a:extLst>
          </p:cNvPr>
          <p:cNvSpPr>
            <a:spLocks noGrp="1"/>
          </p:cNvSpPr>
          <p:nvPr>
            <p:ph idx="1"/>
          </p:nvPr>
        </p:nvSpPr>
        <p:spPr/>
        <p:txBody>
          <a:bodyPr/>
          <a:lstStyle/>
          <a:p>
            <a:endParaRPr lang="en-CA"/>
          </a:p>
        </p:txBody>
      </p:sp>
      <p:pic>
        <p:nvPicPr>
          <p:cNvPr id="5" name="Picture 4">
            <a:extLst>
              <a:ext uri="{FF2B5EF4-FFF2-40B4-BE49-F238E27FC236}">
                <a16:creationId xmlns:a16="http://schemas.microsoft.com/office/drawing/2014/main" id="{D8696BC6-001C-6071-618D-CF288158FAAE}"/>
              </a:ext>
            </a:extLst>
          </p:cNvPr>
          <p:cNvPicPr>
            <a:picLocks noChangeAspect="1"/>
          </p:cNvPicPr>
          <p:nvPr/>
        </p:nvPicPr>
        <p:blipFill>
          <a:blip r:embed="rId2"/>
          <a:stretch>
            <a:fillRect/>
          </a:stretch>
        </p:blipFill>
        <p:spPr>
          <a:xfrm>
            <a:off x="766483" y="1295027"/>
            <a:ext cx="10010775" cy="5153025"/>
          </a:xfrm>
          <a:prstGeom prst="rect">
            <a:avLst/>
          </a:prstGeom>
        </p:spPr>
      </p:pic>
    </p:spTree>
    <p:extLst>
      <p:ext uri="{BB962C8B-B14F-4D97-AF65-F5344CB8AC3E}">
        <p14:creationId xmlns:p14="http://schemas.microsoft.com/office/powerpoint/2010/main" val="763050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7B6B1-15F5-0C9B-B2EE-D1D9D9E3FE23}"/>
              </a:ext>
            </a:extLst>
          </p:cNvPr>
          <p:cNvSpPr>
            <a:spLocks noGrp="1"/>
          </p:cNvSpPr>
          <p:nvPr>
            <p:ph type="title"/>
          </p:nvPr>
        </p:nvSpPr>
        <p:spPr/>
        <p:txBody>
          <a:bodyPr/>
          <a:lstStyle/>
          <a:p>
            <a:r>
              <a:rPr lang="en-CA" dirty="0"/>
              <a:t>Stacked Autoencoder</a:t>
            </a:r>
          </a:p>
        </p:txBody>
      </p:sp>
      <p:sp>
        <p:nvSpPr>
          <p:cNvPr id="3" name="Content Placeholder 2">
            <a:extLst>
              <a:ext uri="{FF2B5EF4-FFF2-40B4-BE49-F238E27FC236}">
                <a16:creationId xmlns:a16="http://schemas.microsoft.com/office/drawing/2014/main" id="{90E3B3CB-4E9E-668B-BCCC-C71E232CF6AE}"/>
              </a:ext>
            </a:extLst>
          </p:cNvPr>
          <p:cNvSpPr>
            <a:spLocks noGrp="1"/>
          </p:cNvSpPr>
          <p:nvPr>
            <p:ph idx="1"/>
          </p:nvPr>
        </p:nvSpPr>
        <p:spPr/>
        <p:txBody>
          <a:bodyPr/>
          <a:lstStyle/>
          <a:p>
            <a:endParaRPr lang="en-CA"/>
          </a:p>
        </p:txBody>
      </p:sp>
      <p:pic>
        <p:nvPicPr>
          <p:cNvPr id="5" name="Picture 4">
            <a:extLst>
              <a:ext uri="{FF2B5EF4-FFF2-40B4-BE49-F238E27FC236}">
                <a16:creationId xmlns:a16="http://schemas.microsoft.com/office/drawing/2014/main" id="{9A2C108B-91E8-777B-E659-3A46439A7DF9}"/>
              </a:ext>
            </a:extLst>
          </p:cNvPr>
          <p:cNvPicPr>
            <a:picLocks noChangeAspect="1"/>
          </p:cNvPicPr>
          <p:nvPr/>
        </p:nvPicPr>
        <p:blipFill>
          <a:blip r:embed="rId2"/>
          <a:stretch>
            <a:fillRect/>
          </a:stretch>
        </p:blipFill>
        <p:spPr>
          <a:xfrm>
            <a:off x="838200" y="1510833"/>
            <a:ext cx="9826159" cy="4817103"/>
          </a:xfrm>
          <a:prstGeom prst="rect">
            <a:avLst/>
          </a:prstGeom>
        </p:spPr>
      </p:pic>
    </p:spTree>
    <p:extLst>
      <p:ext uri="{BB962C8B-B14F-4D97-AF65-F5344CB8AC3E}">
        <p14:creationId xmlns:p14="http://schemas.microsoft.com/office/powerpoint/2010/main" val="2349792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1AA82-8579-FD37-BA48-12BC64679CDD}"/>
              </a:ext>
            </a:extLst>
          </p:cNvPr>
          <p:cNvSpPr>
            <a:spLocks noGrp="1"/>
          </p:cNvSpPr>
          <p:nvPr>
            <p:ph type="title"/>
          </p:nvPr>
        </p:nvSpPr>
        <p:spPr>
          <a:xfrm>
            <a:off x="838200" y="226546"/>
            <a:ext cx="10515600" cy="1325563"/>
          </a:xfrm>
        </p:spPr>
        <p:txBody>
          <a:bodyPr/>
          <a:lstStyle/>
          <a:p>
            <a:r>
              <a:rPr lang="en-CA" dirty="0"/>
              <a:t>Stacked Autoencoder</a:t>
            </a:r>
          </a:p>
        </p:txBody>
      </p:sp>
      <p:pic>
        <p:nvPicPr>
          <p:cNvPr id="5" name="Picture 4">
            <a:extLst>
              <a:ext uri="{FF2B5EF4-FFF2-40B4-BE49-F238E27FC236}">
                <a16:creationId xmlns:a16="http://schemas.microsoft.com/office/drawing/2014/main" id="{7AE43D15-19DD-3264-3DAF-ED69E6DBFF25}"/>
              </a:ext>
            </a:extLst>
          </p:cNvPr>
          <p:cNvPicPr>
            <a:picLocks noChangeAspect="1"/>
          </p:cNvPicPr>
          <p:nvPr/>
        </p:nvPicPr>
        <p:blipFill>
          <a:blip r:embed="rId2"/>
          <a:stretch>
            <a:fillRect/>
          </a:stretch>
        </p:blipFill>
        <p:spPr>
          <a:xfrm>
            <a:off x="1044389" y="1437901"/>
            <a:ext cx="8951259" cy="4843994"/>
          </a:xfrm>
          <a:prstGeom prst="rect">
            <a:avLst/>
          </a:prstGeom>
        </p:spPr>
      </p:pic>
    </p:spTree>
    <p:extLst>
      <p:ext uri="{BB962C8B-B14F-4D97-AF65-F5344CB8AC3E}">
        <p14:creationId xmlns:p14="http://schemas.microsoft.com/office/powerpoint/2010/main" val="1199098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31ADD-4D7C-0BE5-45AC-216275E968C5}"/>
              </a:ext>
            </a:extLst>
          </p:cNvPr>
          <p:cNvSpPr>
            <a:spLocks noGrp="1"/>
          </p:cNvSpPr>
          <p:nvPr>
            <p:ph type="title"/>
          </p:nvPr>
        </p:nvSpPr>
        <p:spPr>
          <a:xfrm>
            <a:off x="1071283" y="184990"/>
            <a:ext cx="10515600" cy="1325563"/>
          </a:xfrm>
        </p:spPr>
        <p:txBody>
          <a:bodyPr/>
          <a:lstStyle/>
          <a:p>
            <a:r>
              <a:rPr lang="en-CA" dirty="0"/>
              <a:t>Stacked Autoencoder</a:t>
            </a:r>
          </a:p>
        </p:txBody>
      </p:sp>
      <p:pic>
        <p:nvPicPr>
          <p:cNvPr id="5" name="Picture 4">
            <a:extLst>
              <a:ext uri="{FF2B5EF4-FFF2-40B4-BE49-F238E27FC236}">
                <a16:creationId xmlns:a16="http://schemas.microsoft.com/office/drawing/2014/main" id="{B39E03B8-9E55-9D77-64D5-F64EE282B231}"/>
              </a:ext>
            </a:extLst>
          </p:cNvPr>
          <p:cNvPicPr>
            <a:picLocks noChangeAspect="1"/>
          </p:cNvPicPr>
          <p:nvPr/>
        </p:nvPicPr>
        <p:blipFill>
          <a:blip r:embed="rId2"/>
          <a:stretch>
            <a:fillRect/>
          </a:stretch>
        </p:blipFill>
        <p:spPr>
          <a:xfrm>
            <a:off x="1339383" y="1510553"/>
            <a:ext cx="9172575" cy="4876800"/>
          </a:xfrm>
          <a:prstGeom prst="rect">
            <a:avLst/>
          </a:prstGeom>
        </p:spPr>
      </p:pic>
    </p:spTree>
    <p:extLst>
      <p:ext uri="{BB962C8B-B14F-4D97-AF65-F5344CB8AC3E}">
        <p14:creationId xmlns:p14="http://schemas.microsoft.com/office/powerpoint/2010/main" val="1464503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158CB-4201-5EBE-44CA-11A52078C1E7}"/>
              </a:ext>
            </a:extLst>
          </p:cNvPr>
          <p:cNvSpPr>
            <a:spLocks noGrp="1"/>
          </p:cNvSpPr>
          <p:nvPr>
            <p:ph type="title"/>
          </p:nvPr>
        </p:nvSpPr>
        <p:spPr/>
        <p:txBody>
          <a:bodyPr/>
          <a:lstStyle/>
          <a:p>
            <a:r>
              <a:rPr lang="en-CA" b="0" i="0" dirty="0">
                <a:solidFill>
                  <a:srgbClr val="333333"/>
                </a:solidFill>
                <a:effectLst/>
                <a:latin typeface="Poppins" panose="00000500000000000000" pitchFamily="2" charset="0"/>
              </a:rPr>
              <a:t>What is an Autoencoder?</a:t>
            </a:r>
            <a:endParaRPr lang="en-CA" dirty="0"/>
          </a:p>
        </p:txBody>
      </p:sp>
      <p:sp>
        <p:nvSpPr>
          <p:cNvPr id="3" name="Content Placeholder 2">
            <a:extLst>
              <a:ext uri="{FF2B5EF4-FFF2-40B4-BE49-F238E27FC236}">
                <a16:creationId xmlns:a16="http://schemas.microsoft.com/office/drawing/2014/main" id="{8A5A1018-70EE-217E-88DF-989186A0D9E3}"/>
              </a:ext>
            </a:extLst>
          </p:cNvPr>
          <p:cNvSpPr>
            <a:spLocks noGrp="1"/>
          </p:cNvSpPr>
          <p:nvPr>
            <p:ph idx="1"/>
          </p:nvPr>
        </p:nvSpPr>
        <p:spPr/>
        <p:txBody>
          <a:bodyPr/>
          <a:lstStyle/>
          <a:p>
            <a:r>
              <a:rPr lang="en-US" b="0" i="0" dirty="0">
                <a:solidFill>
                  <a:srgbClr val="1E1E1E"/>
                </a:solidFill>
                <a:effectLst/>
                <a:latin typeface="Roboto" panose="02000000000000000000" pitchFamily="2" charset="0"/>
              </a:rPr>
              <a:t>An Autoencoder is an unsupervised learning neural network. It is primarily used for learning data compression and inherently learns an identity function.</a:t>
            </a:r>
          </a:p>
          <a:p>
            <a:r>
              <a:rPr lang="en-US" b="0" i="0" dirty="0">
                <a:solidFill>
                  <a:srgbClr val="1E1E1E"/>
                </a:solidFill>
                <a:effectLst/>
                <a:latin typeface="Roboto" panose="02000000000000000000" pitchFamily="2" charset="0"/>
              </a:rPr>
              <a:t>An Autoencoder network aims to learn a generalized latent representation ( encoding ) of a dataset. Autoencoder is helpful in various domains, such as for processing image, text, and audio.</a:t>
            </a:r>
            <a:endParaRPr lang="en-CA" dirty="0"/>
          </a:p>
        </p:txBody>
      </p:sp>
    </p:spTree>
    <p:extLst>
      <p:ext uri="{BB962C8B-B14F-4D97-AF65-F5344CB8AC3E}">
        <p14:creationId xmlns:p14="http://schemas.microsoft.com/office/powerpoint/2010/main" val="17283502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F9A4E-B6E6-F1E5-11DB-D31C589A0467}"/>
              </a:ext>
            </a:extLst>
          </p:cNvPr>
          <p:cNvSpPr>
            <a:spLocks noGrp="1"/>
          </p:cNvSpPr>
          <p:nvPr>
            <p:ph type="title"/>
          </p:nvPr>
        </p:nvSpPr>
        <p:spPr>
          <a:xfrm>
            <a:off x="838200" y="177333"/>
            <a:ext cx="10515600" cy="1325563"/>
          </a:xfrm>
        </p:spPr>
        <p:txBody>
          <a:bodyPr/>
          <a:lstStyle/>
          <a:p>
            <a:r>
              <a:rPr lang="en-CA" dirty="0"/>
              <a:t>What is generative models?</a:t>
            </a:r>
          </a:p>
        </p:txBody>
      </p:sp>
      <p:sp>
        <p:nvSpPr>
          <p:cNvPr id="3" name="Content Placeholder 2">
            <a:extLst>
              <a:ext uri="{FF2B5EF4-FFF2-40B4-BE49-F238E27FC236}">
                <a16:creationId xmlns:a16="http://schemas.microsoft.com/office/drawing/2014/main" id="{4490685A-0010-5ED9-7EBB-4BE531D8B85B}"/>
              </a:ext>
            </a:extLst>
          </p:cNvPr>
          <p:cNvSpPr>
            <a:spLocks noGrp="1"/>
          </p:cNvSpPr>
          <p:nvPr>
            <p:ph idx="1"/>
          </p:nvPr>
        </p:nvSpPr>
        <p:spPr>
          <a:xfrm>
            <a:off x="775447" y="1502896"/>
            <a:ext cx="10515600" cy="4351338"/>
          </a:xfrm>
        </p:spPr>
        <p:txBody>
          <a:bodyPr>
            <a:normAutofit fontScale="92500" lnSpcReduction="10000"/>
          </a:bodyPr>
          <a:lstStyle/>
          <a:p>
            <a:r>
              <a:rPr lang="en-US" b="0" i="0" dirty="0">
                <a:solidFill>
                  <a:srgbClr val="0F0F0F"/>
                </a:solidFill>
                <a:effectLst/>
                <a:latin typeface="Söhne"/>
              </a:rPr>
              <a:t>A generative model is a type of machine learning model that is trained to generate new, synthetic data that is like the training data it was trained on. </a:t>
            </a:r>
          </a:p>
          <a:p>
            <a:r>
              <a:rPr lang="en-US" b="0" i="0" dirty="0">
                <a:solidFill>
                  <a:srgbClr val="0F0F0F"/>
                </a:solidFill>
                <a:effectLst/>
                <a:latin typeface="Söhne"/>
              </a:rPr>
              <a:t>The goal of a generative model is to capture the underlying patterns and structure of the input data to produce new samples that resemble the original data distribution.</a:t>
            </a:r>
          </a:p>
          <a:p>
            <a:r>
              <a:rPr lang="en-US" b="0" i="0" dirty="0">
                <a:solidFill>
                  <a:srgbClr val="0F0F0F"/>
                </a:solidFill>
                <a:effectLst/>
                <a:latin typeface="Söhne"/>
              </a:rPr>
              <a:t>Generative models are contrasted with discriminative models, which are trained to distinguish between different classes or categories in the input data.</a:t>
            </a:r>
          </a:p>
          <a:p>
            <a:r>
              <a:rPr lang="en-US" b="0" i="0" dirty="0">
                <a:solidFill>
                  <a:srgbClr val="0F0F0F"/>
                </a:solidFill>
                <a:effectLst/>
                <a:latin typeface="Söhne"/>
              </a:rPr>
              <a:t>The primary aim of a generative model is to model the probability distribution of the input data, allowing it to generate new samples that are representative of the learned distribution.</a:t>
            </a:r>
            <a:endParaRPr lang="en-CA" dirty="0"/>
          </a:p>
        </p:txBody>
      </p:sp>
    </p:spTree>
    <p:extLst>
      <p:ext uri="{BB962C8B-B14F-4D97-AF65-F5344CB8AC3E}">
        <p14:creationId xmlns:p14="http://schemas.microsoft.com/office/powerpoint/2010/main" val="8935816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32990-794C-497A-1158-20F830EE4ECD}"/>
              </a:ext>
            </a:extLst>
          </p:cNvPr>
          <p:cNvSpPr>
            <a:spLocks noGrp="1"/>
          </p:cNvSpPr>
          <p:nvPr>
            <p:ph type="title"/>
          </p:nvPr>
        </p:nvSpPr>
        <p:spPr>
          <a:xfrm>
            <a:off x="838200" y="249050"/>
            <a:ext cx="10515600" cy="1325563"/>
          </a:xfrm>
        </p:spPr>
        <p:txBody>
          <a:bodyPr/>
          <a:lstStyle/>
          <a:p>
            <a:r>
              <a:rPr lang="en-CA" dirty="0"/>
              <a:t>Autoencoders: Generative model or Not?</a:t>
            </a:r>
          </a:p>
        </p:txBody>
      </p:sp>
      <p:sp>
        <p:nvSpPr>
          <p:cNvPr id="3" name="Content Placeholder 2">
            <a:extLst>
              <a:ext uri="{FF2B5EF4-FFF2-40B4-BE49-F238E27FC236}">
                <a16:creationId xmlns:a16="http://schemas.microsoft.com/office/drawing/2014/main" id="{051DF13B-92E9-4CED-248C-85D5D0DB95B4}"/>
              </a:ext>
            </a:extLst>
          </p:cNvPr>
          <p:cNvSpPr>
            <a:spLocks noGrp="1"/>
          </p:cNvSpPr>
          <p:nvPr>
            <p:ph idx="1"/>
          </p:nvPr>
        </p:nvSpPr>
        <p:spPr>
          <a:xfrm>
            <a:off x="838199" y="1574612"/>
            <a:ext cx="10627659" cy="4772399"/>
          </a:xfrm>
        </p:spPr>
        <p:txBody>
          <a:bodyPr>
            <a:normAutofit fontScale="55000" lnSpcReduction="20000"/>
          </a:bodyPr>
          <a:lstStyle/>
          <a:p>
            <a:pPr>
              <a:lnSpc>
                <a:spcPct val="120000"/>
              </a:lnSpc>
            </a:pPr>
            <a:r>
              <a:rPr lang="en-US" b="0" i="0" dirty="0">
                <a:solidFill>
                  <a:srgbClr val="0F0F0F"/>
                </a:solidFill>
                <a:effectLst/>
                <a:latin typeface="Söhne"/>
              </a:rPr>
              <a:t>Stacked autoencoders can be used as generative models, but their primary purpose is not necessarily generative. </a:t>
            </a:r>
          </a:p>
          <a:p>
            <a:pPr>
              <a:lnSpc>
                <a:spcPct val="120000"/>
              </a:lnSpc>
            </a:pPr>
            <a:r>
              <a:rPr lang="en-US" b="0" i="0" dirty="0">
                <a:solidFill>
                  <a:srgbClr val="0F0F0F"/>
                </a:solidFill>
                <a:effectLst/>
                <a:latin typeface="Söhne"/>
              </a:rPr>
              <a:t>The primary goal of autoencoders, including stacked autoencoders, is to learn a compact representation of input data in an unsupervised manner. </a:t>
            </a:r>
          </a:p>
          <a:p>
            <a:pPr>
              <a:lnSpc>
                <a:spcPct val="120000"/>
              </a:lnSpc>
            </a:pPr>
            <a:r>
              <a:rPr lang="en-US" b="0" i="0" dirty="0">
                <a:solidFill>
                  <a:srgbClr val="0F0F0F"/>
                </a:solidFill>
                <a:effectLst/>
                <a:latin typeface="Söhne"/>
              </a:rPr>
              <a:t>However, once trained, an autoencoder can be used to generate new data points by sampling from the learned latent space.</a:t>
            </a:r>
          </a:p>
          <a:p>
            <a:pPr algn="l">
              <a:lnSpc>
                <a:spcPct val="120000"/>
              </a:lnSpc>
            </a:pPr>
            <a:r>
              <a:rPr lang="en-US" b="0" i="0" dirty="0">
                <a:effectLst/>
                <a:latin typeface="Söhne"/>
              </a:rPr>
              <a:t>Here's how stacked autoencoders can be used as a generative model:</a:t>
            </a:r>
          </a:p>
          <a:p>
            <a:pPr algn="l">
              <a:lnSpc>
                <a:spcPct val="120000"/>
              </a:lnSpc>
              <a:buFont typeface="+mj-lt"/>
              <a:buAutoNum type="arabicPeriod"/>
            </a:pPr>
            <a:r>
              <a:rPr lang="en-US" b="1" i="0" dirty="0">
                <a:effectLst/>
                <a:latin typeface="Söhne"/>
              </a:rPr>
              <a:t>Latent Space Sampling:</a:t>
            </a:r>
            <a:r>
              <a:rPr lang="en-US" b="0" i="0" dirty="0">
                <a:effectLst/>
                <a:latin typeface="Söhne"/>
              </a:rPr>
              <a:t> After training a stacked autoencoder, you can sample points from the learned latent space. This involves generating new representations in the reduced-dimensional space (the middle layer of the autoencoder) and then decoding these representations to produce new data points.</a:t>
            </a:r>
          </a:p>
          <a:p>
            <a:pPr algn="l">
              <a:lnSpc>
                <a:spcPct val="120000"/>
              </a:lnSpc>
              <a:buFont typeface="+mj-lt"/>
              <a:buAutoNum type="arabicPeriod"/>
            </a:pPr>
            <a:r>
              <a:rPr lang="en-US" b="1" i="0" dirty="0">
                <a:effectLst/>
                <a:latin typeface="Söhne"/>
              </a:rPr>
              <a:t>Data Generation:</a:t>
            </a:r>
            <a:r>
              <a:rPr lang="en-US" b="0" i="0" dirty="0">
                <a:effectLst/>
                <a:latin typeface="Söhne"/>
              </a:rPr>
              <a:t> By sampling from the latent space and decoding the samples, you can generate data that is similar to the training data. The idea is that the autoencoder has learned a meaningful representation of the data, and sampling in this representation space should produce realistic samples.</a:t>
            </a:r>
          </a:p>
          <a:p>
            <a:pPr algn="l">
              <a:lnSpc>
                <a:spcPct val="120000"/>
              </a:lnSpc>
              <a:buFont typeface="+mj-lt"/>
              <a:buAutoNum type="arabicPeriod"/>
            </a:pPr>
            <a:r>
              <a:rPr lang="en-US" b="1" i="0" dirty="0">
                <a:effectLst/>
                <a:latin typeface="Söhne"/>
              </a:rPr>
              <a:t>Variational Autoencoder (VAE) Extension:</a:t>
            </a:r>
            <a:r>
              <a:rPr lang="en-US" b="0" i="0" dirty="0">
                <a:effectLst/>
                <a:latin typeface="Söhne"/>
              </a:rPr>
              <a:t> If you specifically want a generative model, you might be interested in a variation of the autoencoder called a Variational Autoencoder (VAE). VAEs are designed explicitly for generative modeling and involve probabilistic interpretations of the latent space.</a:t>
            </a:r>
          </a:p>
          <a:p>
            <a:pPr lvl="1">
              <a:lnSpc>
                <a:spcPct val="120000"/>
              </a:lnSpc>
              <a:buFont typeface="+mj-lt"/>
              <a:buAutoNum type="arabicPeriod"/>
            </a:pPr>
            <a:r>
              <a:rPr lang="en-US" b="0" i="0" dirty="0">
                <a:solidFill>
                  <a:srgbClr val="242424"/>
                </a:solidFill>
                <a:effectLst/>
                <a:latin typeface="source-serif-pro"/>
              </a:rPr>
              <a:t>having applications as diverse as from generating fake human faces, to producing purely synthetic music.</a:t>
            </a:r>
          </a:p>
          <a:p>
            <a:pPr algn="l">
              <a:lnSpc>
                <a:spcPct val="120000"/>
              </a:lnSpc>
              <a:buFont typeface="+mj-lt"/>
              <a:buAutoNum type="arabicPeriod"/>
            </a:pPr>
            <a:endParaRPr lang="en-US" b="0" i="0" dirty="0">
              <a:effectLst/>
              <a:latin typeface="Söhne"/>
            </a:endParaRPr>
          </a:p>
          <a:p>
            <a:pPr>
              <a:lnSpc>
                <a:spcPct val="120000"/>
              </a:lnSpc>
            </a:pPr>
            <a:endParaRPr lang="en-CA" dirty="0"/>
          </a:p>
        </p:txBody>
      </p:sp>
    </p:spTree>
    <p:extLst>
      <p:ext uri="{BB962C8B-B14F-4D97-AF65-F5344CB8AC3E}">
        <p14:creationId xmlns:p14="http://schemas.microsoft.com/office/powerpoint/2010/main" val="38643403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CFD0E01-3442-5997-EB9B-C2727181570D}"/>
              </a:ext>
            </a:extLst>
          </p:cNvPr>
          <p:cNvPicPr>
            <a:picLocks noChangeAspect="1"/>
          </p:cNvPicPr>
          <p:nvPr/>
        </p:nvPicPr>
        <p:blipFill>
          <a:blip r:embed="rId3"/>
          <a:stretch>
            <a:fillRect/>
          </a:stretch>
        </p:blipFill>
        <p:spPr>
          <a:xfrm>
            <a:off x="4445484" y="2645191"/>
            <a:ext cx="5957473" cy="2584064"/>
          </a:xfrm>
          <a:prstGeom prst="rect">
            <a:avLst/>
          </a:prstGeom>
        </p:spPr>
      </p:pic>
      <p:sp>
        <p:nvSpPr>
          <p:cNvPr id="3" name="Content Placeholder 2">
            <a:extLst>
              <a:ext uri="{FF2B5EF4-FFF2-40B4-BE49-F238E27FC236}">
                <a16:creationId xmlns:a16="http://schemas.microsoft.com/office/drawing/2014/main" id="{4F3979CB-7B17-C1B8-FBB3-75FA7B09A638}"/>
              </a:ext>
            </a:extLst>
          </p:cNvPr>
          <p:cNvSpPr>
            <a:spLocks noGrp="1"/>
          </p:cNvSpPr>
          <p:nvPr>
            <p:ph idx="1"/>
          </p:nvPr>
        </p:nvSpPr>
        <p:spPr>
          <a:xfrm>
            <a:off x="838199" y="1319628"/>
            <a:ext cx="10770705" cy="5054668"/>
          </a:xfrm>
        </p:spPr>
        <p:txBody>
          <a:bodyPr>
            <a:normAutofit fontScale="92500" lnSpcReduction="10000"/>
          </a:bodyPr>
          <a:lstStyle/>
          <a:p>
            <a:r>
              <a:rPr lang="en-US" b="0" i="0" dirty="0">
                <a:solidFill>
                  <a:srgbClr val="242424"/>
                </a:solidFill>
                <a:effectLst/>
                <a:latin typeface="source-serif-pro"/>
              </a:rPr>
              <a:t>An autoencoder network is a pair of two connected networks, an encoder and a decoder. </a:t>
            </a:r>
          </a:p>
          <a:p>
            <a:r>
              <a:rPr lang="en-US" b="0" i="0" dirty="0">
                <a:solidFill>
                  <a:srgbClr val="242424"/>
                </a:solidFill>
                <a:effectLst/>
                <a:latin typeface="source-serif-pro"/>
              </a:rPr>
              <a:t>An encoder network takes in an input, and converts it into a smaller, dense representation, which the decoder network can use to convert it back to the original input.</a:t>
            </a:r>
          </a:p>
          <a:p>
            <a:endParaRPr lang="en-CA" dirty="0"/>
          </a:p>
          <a:p>
            <a:endParaRPr lang="en-CA" dirty="0"/>
          </a:p>
          <a:p>
            <a:endParaRPr lang="en-CA" dirty="0"/>
          </a:p>
          <a:p>
            <a:endParaRPr lang="en-CA" dirty="0"/>
          </a:p>
          <a:p>
            <a:endParaRPr lang="en-CA" dirty="0"/>
          </a:p>
          <a:p>
            <a:r>
              <a:rPr lang="en-CA" dirty="0"/>
              <a:t>Making the encoder generate encodings specifically useful for reconstructing its own input.</a:t>
            </a:r>
          </a:p>
        </p:txBody>
      </p:sp>
      <p:sp>
        <p:nvSpPr>
          <p:cNvPr id="2" name="Title 1">
            <a:extLst>
              <a:ext uri="{FF2B5EF4-FFF2-40B4-BE49-F238E27FC236}">
                <a16:creationId xmlns:a16="http://schemas.microsoft.com/office/drawing/2014/main" id="{949DD797-B4CE-33D1-A586-3212614D7926}"/>
              </a:ext>
            </a:extLst>
          </p:cNvPr>
          <p:cNvSpPr>
            <a:spLocks noGrp="1"/>
          </p:cNvSpPr>
          <p:nvPr>
            <p:ph type="title"/>
          </p:nvPr>
        </p:nvSpPr>
        <p:spPr>
          <a:xfrm>
            <a:off x="838199" y="-5935"/>
            <a:ext cx="10515600" cy="1325563"/>
          </a:xfrm>
        </p:spPr>
        <p:txBody>
          <a:bodyPr/>
          <a:lstStyle/>
          <a:p>
            <a:r>
              <a:rPr lang="en-CA" b="1" i="0" dirty="0">
                <a:solidFill>
                  <a:srgbClr val="242424"/>
                </a:solidFill>
                <a:effectLst/>
                <a:latin typeface="sohne"/>
              </a:rPr>
              <a:t>The standard autoencoder</a:t>
            </a:r>
            <a:endParaRPr lang="en-CA" dirty="0"/>
          </a:p>
        </p:txBody>
      </p:sp>
    </p:spTree>
    <p:extLst>
      <p:ext uri="{BB962C8B-B14F-4D97-AF65-F5344CB8AC3E}">
        <p14:creationId xmlns:p14="http://schemas.microsoft.com/office/powerpoint/2010/main" val="36276210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77FA9-EA89-DB95-DB81-527F2BE34885}"/>
              </a:ext>
            </a:extLst>
          </p:cNvPr>
          <p:cNvSpPr>
            <a:spLocks noGrp="1"/>
          </p:cNvSpPr>
          <p:nvPr>
            <p:ph type="title"/>
          </p:nvPr>
        </p:nvSpPr>
        <p:spPr/>
        <p:txBody>
          <a:bodyPr/>
          <a:lstStyle/>
          <a:p>
            <a:r>
              <a:rPr lang="en-CA" b="1" i="0" dirty="0">
                <a:solidFill>
                  <a:srgbClr val="242424"/>
                </a:solidFill>
                <a:effectLst/>
                <a:latin typeface="sohne"/>
              </a:rPr>
              <a:t>The standard autoencoder</a:t>
            </a:r>
            <a:endParaRPr lang="en-CA" dirty="0"/>
          </a:p>
        </p:txBody>
      </p:sp>
      <p:sp>
        <p:nvSpPr>
          <p:cNvPr id="3" name="Content Placeholder 2">
            <a:extLst>
              <a:ext uri="{FF2B5EF4-FFF2-40B4-BE49-F238E27FC236}">
                <a16:creationId xmlns:a16="http://schemas.microsoft.com/office/drawing/2014/main" id="{BBEE1B5F-013B-D56D-CF96-A6BD0617FBAC}"/>
              </a:ext>
            </a:extLst>
          </p:cNvPr>
          <p:cNvSpPr>
            <a:spLocks noGrp="1"/>
          </p:cNvSpPr>
          <p:nvPr>
            <p:ph idx="1"/>
          </p:nvPr>
        </p:nvSpPr>
        <p:spPr>
          <a:xfrm>
            <a:off x="591378" y="1685098"/>
            <a:ext cx="11009243" cy="4351338"/>
          </a:xfrm>
        </p:spPr>
        <p:txBody>
          <a:bodyPr/>
          <a:lstStyle/>
          <a:p>
            <a:r>
              <a:rPr lang="en-US" b="0" i="0" dirty="0">
                <a:solidFill>
                  <a:srgbClr val="242424"/>
                </a:solidFill>
                <a:effectLst/>
                <a:latin typeface="source-serif-pro"/>
              </a:rPr>
              <a:t>The entire network is usually trained as a whole. </a:t>
            </a:r>
          </a:p>
          <a:p>
            <a:r>
              <a:rPr lang="en-US" b="0" i="0" dirty="0">
                <a:solidFill>
                  <a:srgbClr val="242424"/>
                </a:solidFill>
                <a:effectLst/>
                <a:latin typeface="source-serif-pro"/>
              </a:rPr>
              <a:t>The loss function is usually either the mean-squared error or cross-entropy between the output and the input, known as the</a:t>
            </a:r>
            <a:r>
              <a:rPr lang="en-US" b="0" i="1" dirty="0">
                <a:solidFill>
                  <a:srgbClr val="242424"/>
                </a:solidFill>
                <a:effectLst/>
                <a:latin typeface="source-serif-pro"/>
              </a:rPr>
              <a:t> reconstruction loss</a:t>
            </a:r>
            <a:r>
              <a:rPr lang="en-US" b="0" i="0" dirty="0">
                <a:solidFill>
                  <a:srgbClr val="242424"/>
                </a:solidFill>
                <a:effectLst/>
                <a:latin typeface="source-serif-pro"/>
              </a:rPr>
              <a:t>, which penalizes the network for creating outputs different from the input.</a:t>
            </a:r>
            <a:endParaRPr lang="en-CA" dirty="0"/>
          </a:p>
        </p:txBody>
      </p:sp>
      <p:pic>
        <p:nvPicPr>
          <p:cNvPr id="5" name="Picture 4">
            <a:extLst>
              <a:ext uri="{FF2B5EF4-FFF2-40B4-BE49-F238E27FC236}">
                <a16:creationId xmlns:a16="http://schemas.microsoft.com/office/drawing/2014/main" id="{1DDFE1A6-67E1-D542-4DD2-D2B12CE9F2C1}"/>
              </a:ext>
            </a:extLst>
          </p:cNvPr>
          <p:cNvPicPr>
            <a:picLocks noChangeAspect="1"/>
          </p:cNvPicPr>
          <p:nvPr/>
        </p:nvPicPr>
        <p:blipFill>
          <a:blip r:embed="rId3"/>
          <a:stretch>
            <a:fillRect/>
          </a:stretch>
        </p:blipFill>
        <p:spPr>
          <a:xfrm>
            <a:off x="2589971" y="3731386"/>
            <a:ext cx="6667500" cy="2305050"/>
          </a:xfrm>
          <a:prstGeom prst="rect">
            <a:avLst/>
          </a:prstGeom>
        </p:spPr>
      </p:pic>
    </p:spTree>
    <p:extLst>
      <p:ext uri="{BB962C8B-B14F-4D97-AF65-F5344CB8AC3E}">
        <p14:creationId xmlns:p14="http://schemas.microsoft.com/office/powerpoint/2010/main" val="5024427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12EAA-9DEE-4EFE-0D04-3A0152CD788C}"/>
              </a:ext>
            </a:extLst>
          </p:cNvPr>
          <p:cNvSpPr>
            <a:spLocks noGrp="1"/>
          </p:cNvSpPr>
          <p:nvPr>
            <p:ph type="title"/>
          </p:nvPr>
        </p:nvSpPr>
        <p:spPr/>
        <p:txBody>
          <a:bodyPr/>
          <a:lstStyle/>
          <a:p>
            <a:r>
              <a:rPr lang="en-US" dirty="0">
                <a:solidFill>
                  <a:srgbClr val="242424"/>
                </a:solidFill>
                <a:latin typeface="source-serif-pro"/>
              </a:rPr>
              <a:t>The problem with standard autoencoders</a:t>
            </a:r>
            <a:endParaRPr lang="en-CA" dirty="0"/>
          </a:p>
        </p:txBody>
      </p:sp>
      <p:sp>
        <p:nvSpPr>
          <p:cNvPr id="3" name="Content Placeholder 2">
            <a:extLst>
              <a:ext uri="{FF2B5EF4-FFF2-40B4-BE49-F238E27FC236}">
                <a16:creationId xmlns:a16="http://schemas.microsoft.com/office/drawing/2014/main" id="{C7F15427-149B-FF46-42F6-C36DA68B7FD6}"/>
              </a:ext>
            </a:extLst>
          </p:cNvPr>
          <p:cNvSpPr>
            <a:spLocks noGrp="1"/>
          </p:cNvSpPr>
          <p:nvPr>
            <p:ph idx="1"/>
          </p:nvPr>
        </p:nvSpPr>
        <p:spPr/>
        <p:txBody>
          <a:bodyPr/>
          <a:lstStyle/>
          <a:p>
            <a:r>
              <a:rPr lang="en-US" b="0" i="0" dirty="0">
                <a:solidFill>
                  <a:srgbClr val="242424"/>
                </a:solidFill>
                <a:effectLst/>
                <a:latin typeface="source-serif-pro"/>
              </a:rPr>
              <a:t>The latent space they convert their inputs to and where their encoded vectors lie, may not be continuous, or allow easy interpolation</a:t>
            </a:r>
            <a:endParaRPr lang="en-US" b="1" i="0" dirty="0">
              <a:solidFill>
                <a:srgbClr val="242424"/>
              </a:solidFill>
              <a:effectLst/>
              <a:latin typeface="sohne"/>
            </a:endParaRPr>
          </a:p>
          <a:p>
            <a:r>
              <a:rPr lang="en-US" b="0" i="0" dirty="0">
                <a:solidFill>
                  <a:srgbClr val="242424"/>
                </a:solidFill>
                <a:effectLst/>
                <a:latin typeface="source-serif-pro"/>
              </a:rPr>
              <a:t>But when you’re building a </a:t>
            </a:r>
            <a:r>
              <a:rPr lang="en-US" b="0" i="1" dirty="0">
                <a:solidFill>
                  <a:srgbClr val="242424"/>
                </a:solidFill>
                <a:effectLst/>
                <a:latin typeface="source-serif-pro"/>
              </a:rPr>
              <a:t>generative </a:t>
            </a:r>
            <a:r>
              <a:rPr lang="en-US" b="0" i="0" dirty="0">
                <a:solidFill>
                  <a:srgbClr val="242424"/>
                </a:solidFill>
                <a:effectLst/>
                <a:latin typeface="source-serif-pro"/>
              </a:rPr>
              <a:t>model, you </a:t>
            </a:r>
            <a:r>
              <a:rPr lang="en-US" b="1" i="0" dirty="0">
                <a:solidFill>
                  <a:srgbClr val="242424"/>
                </a:solidFill>
                <a:effectLst/>
                <a:latin typeface="source-serif-pro"/>
              </a:rPr>
              <a:t>don’t</a:t>
            </a:r>
            <a:r>
              <a:rPr lang="en-US" b="0" i="0" dirty="0">
                <a:solidFill>
                  <a:srgbClr val="242424"/>
                </a:solidFill>
                <a:effectLst/>
                <a:latin typeface="source-serif-pro"/>
              </a:rPr>
              <a:t> want to prepare to </a:t>
            </a:r>
            <a:r>
              <a:rPr lang="en-US" b="0" i="1" dirty="0">
                <a:solidFill>
                  <a:srgbClr val="242424"/>
                </a:solidFill>
                <a:effectLst/>
                <a:latin typeface="source-serif-pro"/>
              </a:rPr>
              <a:t>replicate</a:t>
            </a:r>
            <a:r>
              <a:rPr lang="en-US" b="0" i="0" dirty="0">
                <a:solidFill>
                  <a:srgbClr val="242424"/>
                </a:solidFill>
                <a:effectLst/>
                <a:latin typeface="source-serif-pro"/>
              </a:rPr>
              <a:t> the same image you put in. You want to randomly sample from the latent space, or generate variations on an input image, from a continuous latent space.</a:t>
            </a:r>
            <a:endParaRPr lang="en-CA" dirty="0"/>
          </a:p>
        </p:txBody>
      </p:sp>
    </p:spTree>
    <p:extLst>
      <p:ext uri="{BB962C8B-B14F-4D97-AF65-F5344CB8AC3E}">
        <p14:creationId xmlns:p14="http://schemas.microsoft.com/office/powerpoint/2010/main" val="3392061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3BD91-BCF5-6CD3-BBD5-8C6FDB0C7987}"/>
              </a:ext>
            </a:extLst>
          </p:cNvPr>
          <p:cNvSpPr>
            <a:spLocks noGrp="1"/>
          </p:cNvSpPr>
          <p:nvPr>
            <p:ph type="title"/>
          </p:nvPr>
        </p:nvSpPr>
        <p:spPr>
          <a:xfrm>
            <a:off x="838200" y="192741"/>
            <a:ext cx="10515600" cy="1325563"/>
          </a:xfrm>
        </p:spPr>
        <p:txBody>
          <a:bodyPr/>
          <a:lstStyle/>
          <a:p>
            <a:r>
              <a:rPr lang="en-CA" dirty="0"/>
              <a:t>Variational Autoencoder</a:t>
            </a:r>
          </a:p>
        </p:txBody>
      </p:sp>
      <p:sp>
        <p:nvSpPr>
          <p:cNvPr id="3" name="Content Placeholder 2">
            <a:extLst>
              <a:ext uri="{FF2B5EF4-FFF2-40B4-BE49-F238E27FC236}">
                <a16:creationId xmlns:a16="http://schemas.microsoft.com/office/drawing/2014/main" id="{D4195A46-70BC-E814-571B-3CAA5A31AC49}"/>
              </a:ext>
            </a:extLst>
          </p:cNvPr>
          <p:cNvSpPr>
            <a:spLocks noGrp="1"/>
          </p:cNvSpPr>
          <p:nvPr>
            <p:ph idx="1"/>
          </p:nvPr>
        </p:nvSpPr>
        <p:spPr/>
        <p:txBody>
          <a:bodyPr/>
          <a:lstStyle/>
          <a:p>
            <a:endParaRPr lang="en-CA"/>
          </a:p>
        </p:txBody>
      </p:sp>
      <p:pic>
        <p:nvPicPr>
          <p:cNvPr id="5" name="Picture 4">
            <a:extLst>
              <a:ext uri="{FF2B5EF4-FFF2-40B4-BE49-F238E27FC236}">
                <a16:creationId xmlns:a16="http://schemas.microsoft.com/office/drawing/2014/main" id="{296A635D-9379-EAF4-92D2-57A020CD96D7}"/>
              </a:ext>
            </a:extLst>
          </p:cNvPr>
          <p:cNvPicPr>
            <a:picLocks noChangeAspect="1"/>
          </p:cNvPicPr>
          <p:nvPr/>
        </p:nvPicPr>
        <p:blipFill>
          <a:blip r:embed="rId2"/>
          <a:stretch>
            <a:fillRect/>
          </a:stretch>
        </p:blipFill>
        <p:spPr>
          <a:xfrm>
            <a:off x="748553" y="1410494"/>
            <a:ext cx="10363200" cy="5181600"/>
          </a:xfrm>
          <a:prstGeom prst="rect">
            <a:avLst/>
          </a:prstGeom>
        </p:spPr>
      </p:pic>
    </p:spTree>
    <p:extLst>
      <p:ext uri="{BB962C8B-B14F-4D97-AF65-F5344CB8AC3E}">
        <p14:creationId xmlns:p14="http://schemas.microsoft.com/office/powerpoint/2010/main" val="12191201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7E90D-5C88-46BB-FB46-B524596C0661}"/>
              </a:ext>
            </a:extLst>
          </p:cNvPr>
          <p:cNvSpPr>
            <a:spLocks noGrp="1"/>
          </p:cNvSpPr>
          <p:nvPr>
            <p:ph type="title"/>
          </p:nvPr>
        </p:nvSpPr>
        <p:spPr>
          <a:xfrm>
            <a:off x="838200" y="212725"/>
            <a:ext cx="10515600" cy="1325563"/>
          </a:xfrm>
        </p:spPr>
        <p:txBody>
          <a:bodyPr/>
          <a:lstStyle/>
          <a:p>
            <a:r>
              <a:rPr lang="en-CA" dirty="0"/>
              <a:t>Variational Autoencoder</a:t>
            </a:r>
          </a:p>
        </p:txBody>
      </p:sp>
      <p:sp>
        <p:nvSpPr>
          <p:cNvPr id="3" name="Content Placeholder 2">
            <a:extLst>
              <a:ext uri="{FF2B5EF4-FFF2-40B4-BE49-F238E27FC236}">
                <a16:creationId xmlns:a16="http://schemas.microsoft.com/office/drawing/2014/main" id="{BCBA6568-D301-831F-4737-84B333FA4C8B}"/>
              </a:ext>
            </a:extLst>
          </p:cNvPr>
          <p:cNvSpPr>
            <a:spLocks noGrp="1"/>
          </p:cNvSpPr>
          <p:nvPr>
            <p:ph idx="1"/>
          </p:nvPr>
        </p:nvSpPr>
        <p:spPr/>
        <p:txBody>
          <a:bodyPr/>
          <a:lstStyle/>
          <a:p>
            <a:endParaRPr lang="en-CA"/>
          </a:p>
        </p:txBody>
      </p:sp>
      <p:pic>
        <p:nvPicPr>
          <p:cNvPr id="5" name="Picture 4">
            <a:extLst>
              <a:ext uri="{FF2B5EF4-FFF2-40B4-BE49-F238E27FC236}">
                <a16:creationId xmlns:a16="http://schemas.microsoft.com/office/drawing/2014/main" id="{3568EB6F-3313-1D4F-9E20-DA792530474D}"/>
              </a:ext>
            </a:extLst>
          </p:cNvPr>
          <p:cNvPicPr>
            <a:picLocks noChangeAspect="1"/>
          </p:cNvPicPr>
          <p:nvPr/>
        </p:nvPicPr>
        <p:blipFill>
          <a:blip r:embed="rId2"/>
          <a:stretch>
            <a:fillRect/>
          </a:stretch>
        </p:blipFill>
        <p:spPr>
          <a:xfrm>
            <a:off x="981076" y="1376597"/>
            <a:ext cx="9166972" cy="5019144"/>
          </a:xfrm>
          <a:prstGeom prst="rect">
            <a:avLst/>
          </a:prstGeom>
        </p:spPr>
      </p:pic>
    </p:spTree>
    <p:extLst>
      <p:ext uri="{BB962C8B-B14F-4D97-AF65-F5344CB8AC3E}">
        <p14:creationId xmlns:p14="http://schemas.microsoft.com/office/powerpoint/2010/main" val="3994897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BA2D6-A00C-4901-5A3B-7171664233BB}"/>
              </a:ext>
            </a:extLst>
          </p:cNvPr>
          <p:cNvSpPr>
            <a:spLocks noGrp="1"/>
          </p:cNvSpPr>
          <p:nvPr>
            <p:ph type="title"/>
          </p:nvPr>
        </p:nvSpPr>
        <p:spPr/>
        <p:txBody>
          <a:bodyPr/>
          <a:lstStyle/>
          <a:p>
            <a:r>
              <a:rPr lang="en-CA" dirty="0"/>
              <a:t>Variational Autoencoder</a:t>
            </a:r>
          </a:p>
        </p:txBody>
      </p:sp>
      <p:sp>
        <p:nvSpPr>
          <p:cNvPr id="3" name="Content Placeholder 2">
            <a:extLst>
              <a:ext uri="{FF2B5EF4-FFF2-40B4-BE49-F238E27FC236}">
                <a16:creationId xmlns:a16="http://schemas.microsoft.com/office/drawing/2014/main" id="{0380B2E1-915F-CB65-DE20-A2CB90B37E4B}"/>
              </a:ext>
            </a:extLst>
          </p:cNvPr>
          <p:cNvSpPr>
            <a:spLocks noGrp="1"/>
          </p:cNvSpPr>
          <p:nvPr>
            <p:ph idx="1"/>
          </p:nvPr>
        </p:nvSpPr>
        <p:spPr/>
        <p:txBody>
          <a:bodyPr/>
          <a:lstStyle/>
          <a:p>
            <a:endParaRPr lang="en-CA"/>
          </a:p>
        </p:txBody>
      </p:sp>
      <p:pic>
        <p:nvPicPr>
          <p:cNvPr id="1026" name="Picture 2" descr="Architecture of Variational Autoencoder in TensorFlow ">
            <a:extLst>
              <a:ext uri="{FF2B5EF4-FFF2-40B4-BE49-F238E27FC236}">
                <a16:creationId xmlns:a16="http://schemas.microsoft.com/office/drawing/2014/main" id="{4FD44879-0703-5486-5172-7A3B770881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7442" y="1899343"/>
            <a:ext cx="7694986" cy="40709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28009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04252" y="588808"/>
            <a:ext cx="9543570" cy="688165"/>
          </a:xfrm>
          <a:prstGeom prst="rect">
            <a:avLst/>
          </a:prstGeom>
        </p:spPr>
        <p:txBody>
          <a:bodyPr vert="horz" wrap="square" lIns="0" tIns="10950" rIns="0" bIns="0" rtlCol="0" anchor="ctr">
            <a:spAutoFit/>
          </a:bodyPr>
          <a:lstStyle/>
          <a:p>
            <a:pPr marL="11527">
              <a:lnSpc>
                <a:spcPct val="100000"/>
              </a:lnSpc>
              <a:spcBef>
                <a:spcPts val="86"/>
              </a:spcBef>
            </a:pPr>
            <a:r>
              <a:rPr spc="-9" dirty="0"/>
              <a:t>Variational</a:t>
            </a:r>
            <a:r>
              <a:rPr spc="-73" dirty="0"/>
              <a:t> </a:t>
            </a:r>
            <a:r>
              <a:rPr spc="-9" dirty="0"/>
              <a:t>Autoencoder</a:t>
            </a:r>
          </a:p>
        </p:txBody>
      </p:sp>
      <p:sp>
        <p:nvSpPr>
          <p:cNvPr id="3" name="object 3"/>
          <p:cNvSpPr txBox="1"/>
          <p:nvPr/>
        </p:nvSpPr>
        <p:spPr>
          <a:xfrm>
            <a:off x="1803700" y="1667191"/>
            <a:ext cx="1998041" cy="290946"/>
          </a:xfrm>
          <a:prstGeom prst="rect">
            <a:avLst/>
          </a:prstGeom>
        </p:spPr>
        <p:txBody>
          <a:bodyPr vert="horz" wrap="square" lIns="0" tIns="11526" rIns="0" bIns="0" rtlCol="0">
            <a:spAutoFit/>
          </a:bodyPr>
          <a:lstStyle/>
          <a:p>
            <a:pPr marL="276636" indent="-265110">
              <a:spcBef>
                <a:spcPts val="91"/>
              </a:spcBef>
              <a:buFont typeface="Arial"/>
              <a:buChar char="•"/>
              <a:tabLst>
                <a:tab pos="276636" algn="l"/>
              </a:tabLst>
            </a:pPr>
            <a:r>
              <a:rPr sz="1815" b="1" dirty="0">
                <a:latin typeface="Calibri"/>
                <a:cs typeface="Calibri"/>
              </a:rPr>
              <a:t>Encoder,</a:t>
            </a:r>
            <a:r>
              <a:rPr sz="1815" b="1" spc="-50" dirty="0">
                <a:latin typeface="Calibri"/>
                <a:cs typeface="Calibri"/>
              </a:rPr>
              <a:t> </a:t>
            </a:r>
            <a:r>
              <a:rPr sz="1815" b="1" spc="-9" dirty="0">
                <a:latin typeface="Calibri"/>
                <a:cs typeface="Calibri"/>
              </a:rPr>
              <a:t>Decoder</a:t>
            </a:r>
            <a:endParaRPr sz="1815">
              <a:latin typeface="Calibri"/>
              <a:cs typeface="Calibri"/>
            </a:endParaRPr>
          </a:p>
        </p:txBody>
      </p:sp>
      <p:pic>
        <p:nvPicPr>
          <p:cNvPr id="4" name="object 4"/>
          <p:cNvPicPr/>
          <p:nvPr/>
        </p:nvPicPr>
        <p:blipFill>
          <a:blip r:embed="rId2" cstate="print"/>
          <a:stretch>
            <a:fillRect/>
          </a:stretch>
        </p:blipFill>
        <p:spPr>
          <a:xfrm>
            <a:off x="2516614" y="2166650"/>
            <a:ext cx="5821627" cy="2733214"/>
          </a:xfrm>
          <a:prstGeom prst="rect">
            <a:avLst/>
          </a:prstGeom>
        </p:spPr>
      </p:pic>
      <p:sp>
        <p:nvSpPr>
          <p:cNvPr id="5" name="object 5"/>
          <p:cNvSpPr txBox="1">
            <a:spLocks noGrp="1"/>
          </p:cNvSpPr>
          <p:nvPr>
            <p:ph type="sldNum" sz="quarter" idx="7"/>
          </p:nvPr>
        </p:nvSpPr>
        <p:spPr>
          <a:xfrm>
            <a:off x="9577123" y="6334774"/>
            <a:ext cx="221615" cy="180975"/>
          </a:xfrm>
          <a:prstGeom prst="rect">
            <a:avLst/>
          </a:prstGeom>
        </p:spPr>
        <p:txBody>
          <a:bodyPr vert="horz" wrap="square" lIns="0" tIns="0" rIns="0" bIns="0" rtlCol="0">
            <a:spAutoFit/>
          </a:bodyPr>
          <a:lstStyle>
            <a:defPPr>
              <a:defRPr kern="0"/>
            </a:defPPr>
            <a:lvl1pPr>
              <a:defRPr sz="1000" b="0" i="0">
                <a:solidFill>
                  <a:srgbClr val="898989"/>
                </a:solidFill>
                <a:latin typeface="Calibri"/>
                <a:cs typeface="Calibri"/>
              </a:defRPr>
            </a:lvl1pPr>
          </a:lstStyle>
          <a:p>
            <a:pPr marL="104139">
              <a:spcBef>
                <a:spcPts val="50"/>
              </a:spcBef>
            </a:pPr>
            <a:fld id="{81D60167-4931-47E6-BA6A-407CBD079E47}" type="slidenum">
              <a:rPr lang="en-CA" spc="-50" smtClean="0"/>
              <a:pPr marL="104139">
                <a:spcBef>
                  <a:spcPts val="50"/>
                </a:spcBef>
              </a:pPr>
              <a:t>22</a:t>
            </a:fld>
            <a:endParaRPr spc="-23" dirty="0"/>
          </a:p>
        </p:txBody>
      </p:sp>
      <p:sp>
        <p:nvSpPr>
          <p:cNvPr id="6" name="object 6"/>
          <p:cNvSpPr txBox="1"/>
          <p:nvPr/>
        </p:nvSpPr>
        <p:spPr>
          <a:xfrm>
            <a:off x="1436696" y="5829895"/>
            <a:ext cx="5523860" cy="212326"/>
          </a:xfrm>
          <a:prstGeom prst="rect">
            <a:avLst/>
          </a:prstGeom>
        </p:spPr>
        <p:txBody>
          <a:bodyPr vert="horz" wrap="square" lIns="0" tIns="2882" rIns="0" bIns="0" rtlCol="0">
            <a:spAutoFit/>
          </a:bodyPr>
          <a:lstStyle/>
          <a:p>
            <a:pPr marL="11527">
              <a:spcBef>
                <a:spcPts val="23"/>
              </a:spcBef>
            </a:pPr>
            <a:r>
              <a:rPr sz="1361" dirty="0">
                <a:latin typeface="Calibri"/>
                <a:cs typeface="Calibri"/>
              </a:rPr>
              <a:t>Auto-Encoding</a:t>
            </a:r>
            <a:r>
              <a:rPr sz="1361" spc="54" dirty="0">
                <a:latin typeface="Calibri"/>
                <a:cs typeface="Calibri"/>
              </a:rPr>
              <a:t> </a:t>
            </a:r>
            <a:r>
              <a:rPr sz="1361" dirty="0">
                <a:latin typeface="Calibri"/>
                <a:cs typeface="Calibri"/>
              </a:rPr>
              <a:t>Variational</a:t>
            </a:r>
            <a:r>
              <a:rPr sz="1361" spc="41" dirty="0">
                <a:latin typeface="Calibri"/>
                <a:cs typeface="Calibri"/>
              </a:rPr>
              <a:t> </a:t>
            </a:r>
            <a:r>
              <a:rPr sz="1361" dirty="0">
                <a:latin typeface="Calibri"/>
                <a:cs typeface="Calibri"/>
              </a:rPr>
              <a:t>Bayes.</a:t>
            </a:r>
            <a:r>
              <a:rPr sz="1361" spc="41" dirty="0">
                <a:latin typeface="Calibri"/>
                <a:cs typeface="Calibri"/>
              </a:rPr>
              <a:t> </a:t>
            </a:r>
            <a:r>
              <a:rPr sz="1361" dirty="0">
                <a:latin typeface="Calibri"/>
                <a:cs typeface="Calibri"/>
              </a:rPr>
              <a:t>Diederik</a:t>
            </a:r>
            <a:r>
              <a:rPr sz="1361" spc="45" dirty="0">
                <a:latin typeface="Calibri"/>
                <a:cs typeface="Calibri"/>
              </a:rPr>
              <a:t> </a:t>
            </a:r>
            <a:r>
              <a:rPr sz="1361" spc="-82" dirty="0">
                <a:latin typeface="Calibri"/>
                <a:cs typeface="Calibri"/>
              </a:rPr>
              <a:t>P.</a:t>
            </a:r>
            <a:r>
              <a:rPr sz="1361" spc="41" dirty="0">
                <a:latin typeface="Calibri"/>
                <a:cs typeface="Calibri"/>
              </a:rPr>
              <a:t> </a:t>
            </a:r>
            <a:r>
              <a:rPr sz="1361" dirty="0">
                <a:latin typeface="Calibri"/>
                <a:cs typeface="Calibri"/>
              </a:rPr>
              <a:t>Kingma,</a:t>
            </a:r>
            <a:r>
              <a:rPr sz="1361" spc="45" dirty="0">
                <a:latin typeface="Calibri"/>
                <a:cs typeface="Calibri"/>
              </a:rPr>
              <a:t> </a:t>
            </a:r>
            <a:r>
              <a:rPr sz="1361" dirty="0">
                <a:latin typeface="Calibri"/>
                <a:cs typeface="Calibri"/>
              </a:rPr>
              <a:t>Max</a:t>
            </a:r>
            <a:r>
              <a:rPr sz="1361" spc="45" dirty="0">
                <a:latin typeface="Calibri"/>
                <a:cs typeface="Calibri"/>
              </a:rPr>
              <a:t> </a:t>
            </a:r>
            <a:r>
              <a:rPr sz="1361" dirty="0">
                <a:latin typeface="Calibri"/>
                <a:cs typeface="Calibri"/>
              </a:rPr>
              <a:t>Welling.</a:t>
            </a:r>
            <a:r>
              <a:rPr sz="1361" spc="41" dirty="0">
                <a:latin typeface="Calibri"/>
                <a:cs typeface="Calibri"/>
              </a:rPr>
              <a:t> </a:t>
            </a:r>
            <a:r>
              <a:rPr sz="1361" dirty="0">
                <a:latin typeface="Calibri"/>
                <a:cs typeface="Calibri"/>
              </a:rPr>
              <a:t>ICLR</a:t>
            </a:r>
            <a:r>
              <a:rPr sz="1361" spc="50" dirty="0">
                <a:latin typeface="Calibri"/>
                <a:cs typeface="Calibri"/>
              </a:rPr>
              <a:t> </a:t>
            </a:r>
            <a:r>
              <a:rPr sz="1361" spc="-18" dirty="0">
                <a:latin typeface="Calibri"/>
                <a:cs typeface="Calibri"/>
              </a:rPr>
              <a:t>2013</a:t>
            </a:r>
            <a:endParaRPr sz="1361">
              <a:latin typeface="Calibri"/>
              <a:cs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04252" y="588808"/>
            <a:ext cx="9543570" cy="688165"/>
          </a:xfrm>
          <a:prstGeom prst="rect">
            <a:avLst/>
          </a:prstGeom>
        </p:spPr>
        <p:txBody>
          <a:bodyPr vert="horz" wrap="square" lIns="0" tIns="10950" rIns="0" bIns="0" rtlCol="0" anchor="ctr">
            <a:spAutoFit/>
          </a:bodyPr>
          <a:lstStyle/>
          <a:p>
            <a:pPr marL="11527">
              <a:lnSpc>
                <a:spcPct val="100000"/>
              </a:lnSpc>
              <a:spcBef>
                <a:spcPts val="86"/>
              </a:spcBef>
            </a:pPr>
            <a:r>
              <a:rPr spc="-9" dirty="0"/>
              <a:t>Variational</a:t>
            </a:r>
            <a:r>
              <a:rPr spc="-73" dirty="0"/>
              <a:t> </a:t>
            </a:r>
            <a:r>
              <a:rPr spc="-9" dirty="0"/>
              <a:t>Autoencoder</a:t>
            </a:r>
          </a:p>
        </p:txBody>
      </p:sp>
      <p:sp>
        <p:nvSpPr>
          <p:cNvPr id="3" name="object 3"/>
          <p:cNvSpPr txBox="1"/>
          <p:nvPr/>
        </p:nvSpPr>
        <p:spPr>
          <a:xfrm>
            <a:off x="1803700" y="1616951"/>
            <a:ext cx="1572729" cy="290946"/>
          </a:xfrm>
          <a:prstGeom prst="rect">
            <a:avLst/>
          </a:prstGeom>
        </p:spPr>
        <p:txBody>
          <a:bodyPr vert="horz" wrap="square" lIns="0" tIns="11526" rIns="0" bIns="0" rtlCol="0">
            <a:spAutoFit/>
          </a:bodyPr>
          <a:lstStyle/>
          <a:p>
            <a:pPr marL="276636" indent="-265110">
              <a:spcBef>
                <a:spcPts val="91"/>
              </a:spcBef>
              <a:buFont typeface="Arial"/>
              <a:buChar char="•"/>
              <a:tabLst>
                <a:tab pos="276636" algn="l"/>
              </a:tabLst>
            </a:pPr>
            <a:r>
              <a:rPr sz="1815" b="1" dirty="0">
                <a:latin typeface="Calibri"/>
                <a:cs typeface="Calibri"/>
              </a:rPr>
              <a:t>Loss</a:t>
            </a:r>
            <a:r>
              <a:rPr sz="1815" b="1" spc="36" dirty="0">
                <a:latin typeface="Calibri"/>
                <a:cs typeface="Calibri"/>
              </a:rPr>
              <a:t> </a:t>
            </a:r>
            <a:r>
              <a:rPr sz="1815" b="1" spc="-9" dirty="0">
                <a:latin typeface="Calibri"/>
                <a:cs typeface="Calibri"/>
              </a:rPr>
              <a:t>function</a:t>
            </a:r>
            <a:endParaRPr sz="1815" dirty="0">
              <a:latin typeface="Calibri"/>
              <a:cs typeface="Calibri"/>
            </a:endParaRPr>
          </a:p>
        </p:txBody>
      </p:sp>
      <p:sp>
        <p:nvSpPr>
          <p:cNvPr id="7" name="object 7"/>
          <p:cNvSpPr txBox="1">
            <a:spLocks noGrp="1"/>
          </p:cNvSpPr>
          <p:nvPr>
            <p:ph type="sldNum" sz="quarter" idx="7"/>
          </p:nvPr>
        </p:nvSpPr>
        <p:spPr>
          <a:xfrm>
            <a:off x="9577123" y="6334774"/>
            <a:ext cx="221615" cy="180975"/>
          </a:xfrm>
          <a:prstGeom prst="rect">
            <a:avLst/>
          </a:prstGeom>
        </p:spPr>
        <p:txBody>
          <a:bodyPr vert="horz" wrap="square" lIns="0" tIns="0" rIns="0" bIns="0" rtlCol="0">
            <a:spAutoFit/>
          </a:bodyPr>
          <a:lstStyle>
            <a:defPPr>
              <a:defRPr kern="0"/>
            </a:defPPr>
            <a:lvl1pPr>
              <a:defRPr sz="1000" b="0" i="0">
                <a:solidFill>
                  <a:srgbClr val="898989"/>
                </a:solidFill>
                <a:latin typeface="Calibri"/>
                <a:cs typeface="Calibri"/>
              </a:defRPr>
            </a:lvl1pPr>
          </a:lstStyle>
          <a:p>
            <a:pPr marL="104139">
              <a:spcBef>
                <a:spcPts val="50"/>
              </a:spcBef>
            </a:pPr>
            <a:fld id="{81D60167-4931-47E6-BA6A-407CBD079E47}" type="slidenum">
              <a:rPr lang="en-CA" spc="-50" smtClean="0"/>
              <a:pPr marL="104139">
                <a:spcBef>
                  <a:spcPts val="50"/>
                </a:spcBef>
              </a:pPr>
              <a:t>23</a:t>
            </a:fld>
            <a:endParaRPr spc="-23" dirty="0"/>
          </a:p>
        </p:txBody>
      </p:sp>
      <p:sp>
        <p:nvSpPr>
          <p:cNvPr id="8" name="object 8"/>
          <p:cNvSpPr txBox="1"/>
          <p:nvPr/>
        </p:nvSpPr>
        <p:spPr>
          <a:xfrm>
            <a:off x="1346261" y="6534866"/>
            <a:ext cx="5523860" cy="212326"/>
          </a:xfrm>
          <a:prstGeom prst="rect">
            <a:avLst/>
          </a:prstGeom>
        </p:spPr>
        <p:txBody>
          <a:bodyPr vert="horz" wrap="square" lIns="0" tIns="2882" rIns="0" bIns="0" rtlCol="0">
            <a:spAutoFit/>
          </a:bodyPr>
          <a:lstStyle/>
          <a:p>
            <a:pPr marL="11527">
              <a:spcBef>
                <a:spcPts val="23"/>
              </a:spcBef>
            </a:pPr>
            <a:r>
              <a:rPr sz="1361" dirty="0">
                <a:latin typeface="Calibri"/>
                <a:cs typeface="Calibri"/>
              </a:rPr>
              <a:t>Auto-Encoding</a:t>
            </a:r>
            <a:r>
              <a:rPr sz="1361" spc="54" dirty="0">
                <a:latin typeface="Calibri"/>
                <a:cs typeface="Calibri"/>
              </a:rPr>
              <a:t> </a:t>
            </a:r>
            <a:r>
              <a:rPr sz="1361" dirty="0">
                <a:latin typeface="Calibri"/>
                <a:cs typeface="Calibri"/>
              </a:rPr>
              <a:t>Variational</a:t>
            </a:r>
            <a:r>
              <a:rPr sz="1361" spc="41" dirty="0">
                <a:latin typeface="Calibri"/>
                <a:cs typeface="Calibri"/>
              </a:rPr>
              <a:t> </a:t>
            </a:r>
            <a:r>
              <a:rPr sz="1361" dirty="0">
                <a:latin typeface="Calibri"/>
                <a:cs typeface="Calibri"/>
              </a:rPr>
              <a:t>Bayes.</a:t>
            </a:r>
            <a:r>
              <a:rPr sz="1361" spc="41" dirty="0">
                <a:latin typeface="Calibri"/>
                <a:cs typeface="Calibri"/>
              </a:rPr>
              <a:t> </a:t>
            </a:r>
            <a:r>
              <a:rPr sz="1361" dirty="0">
                <a:latin typeface="Calibri"/>
                <a:cs typeface="Calibri"/>
              </a:rPr>
              <a:t>Diederik</a:t>
            </a:r>
            <a:r>
              <a:rPr sz="1361" spc="45" dirty="0">
                <a:latin typeface="Calibri"/>
                <a:cs typeface="Calibri"/>
              </a:rPr>
              <a:t> </a:t>
            </a:r>
            <a:r>
              <a:rPr sz="1361" spc="-82" dirty="0">
                <a:latin typeface="Calibri"/>
                <a:cs typeface="Calibri"/>
              </a:rPr>
              <a:t>P.</a:t>
            </a:r>
            <a:r>
              <a:rPr sz="1361" spc="41" dirty="0">
                <a:latin typeface="Calibri"/>
                <a:cs typeface="Calibri"/>
              </a:rPr>
              <a:t> </a:t>
            </a:r>
            <a:r>
              <a:rPr sz="1361" dirty="0">
                <a:latin typeface="Calibri"/>
                <a:cs typeface="Calibri"/>
              </a:rPr>
              <a:t>Kingma,</a:t>
            </a:r>
            <a:r>
              <a:rPr sz="1361" spc="45" dirty="0">
                <a:latin typeface="Calibri"/>
                <a:cs typeface="Calibri"/>
              </a:rPr>
              <a:t> </a:t>
            </a:r>
            <a:r>
              <a:rPr sz="1361" dirty="0">
                <a:latin typeface="Calibri"/>
                <a:cs typeface="Calibri"/>
              </a:rPr>
              <a:t>Max</a:t>
            </a:r>
            <a:r>
              <a:rPr sz="1361" spc="45" dirty="0">
                <a:latin typeface="Calibri"/>
                <a:cs typeface="Calibri"/>
              </a:rPr>
              <a:t> </a:t>
            </a:r>
            <a:r>
              <a:rPr sz="1361" dirty="0">
                <a:latin typeface="Calibri"/>
                <a:cs typeface="Calibri"/>
              </a:rPr>
              <a:t>Welling.</a:t>
            </a:r>
            <a:r>
              <a:rPr sz="1361" spc="41" dirty="0">
                <a:latin typeface="Calibri"/>
                <a:cs typeface="Calibri"/>
              </a:rPr>
              <a:t> </a:t>
            </a:r>
            <a:r>
              <a:rPr sz="1361" dirty="0">
                <a:latin typeface="Calibri"/>
                <a:cs typeface="Calibri"/>
              </a:rPr>
              <a:t>ICLR</a:t>
            </a:r>
            <a:r>
              <a:rPr sz="1361" spc="50" dirty="0">
                <a:latin typeface="Calibri"/>
                <a:cs typeface="Calibri"/>
              </a:rPr>
              <a:t> </a:t>
            </a:r>
            <a:r>
              <a:rPr sz="1361" spc="-18" dirty="0">
                <a:latin typeface="Calibri"/>
                <a:cs typeface="Calibri"/>
              </a:rPr>
              <a:t>2013</a:t>
            </a:r>
            <a:endParaRPr sz="1361" dirty="0">
              <a:latin typeface="Calibri"/>
              <a:cs typeface="Calibri"/>
            </a:endParaRPr>
          </a:p>
        </p:txBody>
      </p:sp>
      <p:grpSp>
        <p:nvGrpSpPr>
          <p:cNvPr id="11" name="Group 10">
            <a:extLst>
              <a:ext uri="{FF2B5EF4-FFF2-40B4-BE49-F238E27FC236}">
                <a16:creationId xmlns:a16="http://schemas.microsoft.com/office/drawing/2014/main" id="{53BBF1F6-0125-CFA2-E000-70A8B17179BE}"/>
              </a:ext>
            </a:extLst>
          </p:cNvPr>
          <p:cNvGrpSpPr/>
          <p:nvPr/>
        </p:nvGrpSpPr>
        <p:grpSpPr>
          <a:xfrm>
            <a:off x="2335095" y="2026433"/>
            <a:ext cx="7926450" cy="923877"/>
            <a:chOff x="2335095" y="2076673"/>
            <a:chExt cx="7926450" cy="923877"/>
          </a:xfrm>
        </p:grpSpPr>
        <p:pic>
          <p:nvPicPr>
            <p:cNvPr id="4" name="object 4"/>
            <p:cNvPicPr/>
            <p:nvPr/>
          </p:nvPicPr>
          <p:blipFill>
            <a:blip r:embed="rId2" cstate="print"/>
            <a:stretch>
              <a:fillRect/>
            </a:stretch>
          </p:blipFill>
          <p:spPr>
            <a:xfrm>
              <a:off x="2335095" y="2076673"/>
              <a:ext cx="7926450" cy="595907"/>
            </a:xfrm>
            <a:prstGeom prst="rect">
              <a:avLst/>
            </a:prstGeom>
          </p:spPr>
        </p:pic>
        <p:sp>
          <p:nvSpPr>
            <p:cNvPr id="5" name="object 5"/>
            <p:cNvSpPr txBox="1"/>
            <p:nvPr/>
          </p:nvSpPr>
          <p:spPr>
            <a:xfrm>
              <a:off x="8400846" y="2779495"/>
              <a:ext cx="1008529" cy="221055"/>
            </a:xfrm>
            <a:prstGeom prst="rect">
              <a:avLst/>
            </a:prstGeom>
          </p:spPr>
          <p:txBody>
            <a:bodyPr vert="horz" wrap="square" lIns="0" tIns="11526" rIns="0" bIns="0" rtlCol="0">
              <a:spAutoFit/>
            </a:bodyPr>
            <a:lstStyle/>
            <a:p>
              <a:pPr marL="11527">
                <a:spcBef>
                  <a:spcPts val="91"/>
                </a:spcBef>
              </a:pPr>
              <a:r>
                <a:rPr sz="1361" spc="-9" dirty="0">
                  <a:solidFill>
                    <a:srgbClr val="FF0000"/>
                  </a:solidFill>
                  <a:latin typeface="Calibri"/>
                  <a:cs typeface="Calibri"/>
                </a:rPr>
                <a:t>regularization</a:t>
              </a:r>
              <a:endParaRPr sz="1361" dirty="0">
                <a:latin typeface="Calibri"/>
                <a:cs typeface="Calibri"/>
              </a:endParaRPr>
            </a:p>
          </p:txBody>
        </p:sp>
        <p:sp>
          <p:nvSpPr>
            <p:cNvPr id="6" name="object 6"/>
            <p:cNvSpPr txBox="1"/>
            <p:nvPr/>
          </p:nvSpPr>
          <p:spPr>
            <a:xfrm>
              <a:off x="4558208" y="2778650"/>
              <a:ext cx="2003804" cy="221055"/>
            </a:xfrm>
            <a:prstGeom prst="rect">
              <a:avLst/>
            </a:prstGeom>
          </p:spPr>
          <p:txBody>
            <a:bodyPr vert="horz" wrap="square" lIns="0" tIns="11526" rIns="0" bIns="0" rtlCol="0">
              <a:spAutoFit/>
            </a:bodyPr>
            <a:lstStyle/>
            <a:p>
              <a:pPr marL="11527">
                <a:spcBef>
                  <a:spcPts val="91"/>
                </a:spcBef>
              </a:pPr>
              <a:r>
                <a:rPr sz="1361" dirty="0">
                  <a:solidFill>
                    <a:srgbClr val="FF0000"/>
                  </a:solidFill>
                  <a:latin typeface="Calibri"/>
                  <a:cs typeface="Calibri"/>
                </a:rPr>
                <a:t>Can</a:t>
              </a:r>
              <a:r>
                <a:rPr sz="1361" spc="41" dirty="0">
                  <a:solidFill>
                    <a:srgbClr val="FF0000"/>
                  </a:solidFill>
                  <a:latin typeface="Calibri"/>
                  <a:cs typeface="Calibri"/>
                </a:rPr>
                <a:t> </a:t>
              </a:r>
              <a:r>
                <a:rPr sz="1361" dirty="0">
                  <a:solidFill>
                    <a:srgbClr val="FF0000"/>
                  </a:solidFill>
                  <a:latin typeface="Calibri"/>
                  <a:cs typeface="Calibri"/>
                </a:rPr>
                <a:t>be</a:t>
              </a:r>
              <a:r>
                <a:rPr sz="1361" spc="41" dirty="0">
                  <a:solidFill>
                    <a:srgbClr val="FF0000"/>
                  </a:solidFill>
                  <a:latin typeface="Calibri"/>
                  <a:cs typeface="Calibri"/>
                </a:rPr>
                <a:t> </a:t>
              </a:r>
              <a:r>
                <a:rPr sz="1361" dirty="0">
                  <a:solidFill>
                    <a:srgbClr val="FF0000"/>
                  </a:solidFill>
                  <a:latin typeface="Calibri"/>
                  <a:cs typeface="Calibri"/>
                </a:rPr>
                <a:t>represented</a:t>
              </a:r>
              <a:r>
                <a:rPr sz="1361" spc="41" dirty="0">
                  <a:solidFill>
                    <a:srgbClr val="FF0000"/>
                  </a:solidFill>
                  <a:latin typeface="Calibri"/>
                  <a:cs typeface="Calibri"/>
                </a:rPr>
                <a:t> </a:t>
              </a:r>
              <a:r>
                <a:rPr sz="1361" dirty="0">
                  <a:solidFill>
                    <a:srgbClr val="FF0000"/>
                  </a:solidFill>
                  <a:latin typeface="Calibri"/>
                  <a:cs typeface="Calibri"/>
                </a:rPr>
                <a:t>by</a:t>
              </a:r>
              <a:r>
                <a:rPr sz="1361" spc="41" dirty="0">
                  <a:solidFill>
                    <a:srgbClr val="FF0000"/>
                  </a:solidFill>
                  <a:latin typeface="Calibri"/>
                  <a:cs typeface="Calibri"/>
                </a:rPr>
                <a:t> </a:t>
              </a:r>
              <a:r>
                <a:rPr sz="1361" spc="-23" dirty="0">
                  <a:solidFill>
                    <a:srgbClr val="FF0000"/>
                  </a:solidFill>
                  <a:latin typeface="Calibri"/>
                  <a:cs typeface="Calibri"/>
                </a:rPr>
                <a:t>MSE</a:t>
              </a:r>
              <a:endParaRPr sz="1361" dirty="0">
                <a:latin typeface="Calibri"/>
                <a:cs typeface="Calibri"/>
              </a:endParaRPr>
            </a:p>
          </p:txBody>
        </p:sp>
      </p:gr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C082155D-3FFD-6332-AAE8-18A6608DE7AD}"/>
                  </a:ext>
                </a:extLst>
              </p:cNvPr>
              <p:cNvSpPr txBox="1"/>
              <p:nvPr/>
            </p:nvSpPr>
            <p:spPr>
              <a:xfrm>
                <a:off x="1803700" y="2994698"/>
                <a:ext cx="9648482" cy="3032305"/>
              </a:xfrm>
              <a:prstGeom prst="rect">
                <a:avLst/>
              </a:prstGeom>
              <a:noFill/>
            </p:spPr>
            <p:txBody>
              <a:bodyPr wrap="square">
                <a:spAutoFit/>
              </a:bodyPr>
              <a:lstStyle/>
              <a:p>
                <a:pPr marL="342900" lvl="1" indent="-342900">
                  <a:lnSpc>
                    <a:spcPct val="150000"/>
                  </a:lnSpc>
                  <a:buFont typeface="Arial" panose="020B0604020202020204" pitchFamily="34" charset="0"/>
                  <a:buChar char="•"/>
                </a:pPr>
                <a:r>
                  <a:rPr lang="en-US" b="0" i="0" dirty="0">
                    <a:solidFill>
                      <a:srgbClr val="0D0D0D"/>
                    </a:solidFill>
                    <a:effectLst/>
                    <a:latin typeface="KaTeX_Main"/>
                  </a:rPr>
                  <a:t>Loss = </a:t>
                </a:r>
                <a:r>
                  <a:rPr lang="en-US" b="0" i="1" dirty="0">
                    <a:solidFill>
                      <a:srgbClr val="0D0D0D"/>
                    </a:solidFill>
                    <a:effectLst/>
                    <a:latin typeface="KaTeX_Main"/>
                  </a:rPr>
                  <a:t>Reconstruction Loss + Regularization Term</a:t>
                </a:r>
                <a:endParaRPr lang="en-US" dirty="0"/>
              </a:p>
              <a:p>
                <a:pPr marL="342900" lvl="1" indent="-342900">
                  <a:lnSpc>
                    <a:spcPct val="150000"/>
                  </a:lnSpc>
                  <a:buFont typeface="Arial" panose="020B0604020202020204" pitchFamily="34" charset="0"/>
                  <a:buChar char="•"/>
                </a:pPr>
                <a:r>
                  <a:rPr lang="en-US" dirty="0"/>
                  <a:t>The idea is to jointly optimize the generative model parameters </a:t>
                </a:r>
                <a14:m>
                  <m:oMath xmlns:m="http://schemas.openxmlformats.org/officeDocument/2006/math">
                    <m:r>
                      <a:rPr lang="en-US" i="1">
                        <a:latin typeface="Cambria Math" panose="02040503050406030204" pitchFamily="18" charset="0"/>
                        <a:ea typeface="Cambria Math" panose="02040503050406030204" pitchFamily="18" charset="0"/>
                      </a:rPr>
                      <m:t>𝜃</m:t>
                    </m:r>
                  </m:oMath>
                </a14:m>
                <a:r>
                  <a:rPr lang="en-US" dirty="0"/>
                  <a:t> to reduce the reconstruction error between the input and the output and </a:t>
                </a:r>
                <a14:m>
                  <m:oMath xmlns:m="http://schemas.openxmlformats.org/officeDocument/2006/math">
                    <m:r>
                      <m:rPr>
                        <m:sty m:val="p"/>
                      </m:rPr>
                      <a:rPr lang="el-GR" i="1">
                        <a:latin typeface="Cambria Math" panose="02040503050406030204" pitchFamily="18" charset="0"/>
                      </a:rPr>
                      <m:t>ϕ</m:t>
                    </m:r>
                  </m:oMath>
                </a14:m>
                <a:r>
                  <a:rPr lang="en-US" dirty="0"/>
                  <a:t> to make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𝑞</m:t>
                        </m:r>
                      </m:e>
                      <m:sub>
                        <m:r>
                          <m:rPr>
                            <m:sty m:val="p"/>
                          </m:rPr>
                          <a:rPr lang="el-GR" i="1">
                            <a:latin typeface="Cambria Math" panose="02040503050406030204" pitchFamily="18" charset="0"/>
                          </a:rPr>
                          <m:t>ϕ</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𝑧</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oMath>
                </a14:m>
                <a:r>
                  <a:rPr lang="en-US" dirty="0"/>
                  <a:t> as close as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ea typeface="Cambria Math" panose="02040503050406030204" pitchFamily="18" charset="0"/>
                          </a:rPr>
                          <m:t>𝜃</m:t>
                        </m:r>
                      </m:sub>
                    </m:sSub>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𝑧</m:t>
                        </m:r>
                      </m:e>
                      <m:e>
                        <m:r>
                          <a:rPr lang="en-US" i="1">
                            <a:latin typeface="Cambria Math" panose="02040503050406030204" pitchFamily="18" charset="0"/>
                            <a:ea typeface="Cambria Math" panose="02040503050406030204" pitchFamily="18" charset="0"/>
                          </a:rPr>
                          <m:t>𝑥</m:t>
                        </m:r>
                      </m:e>
                    </m:d>
                  </m:oMath>
                </a14:m>
                <a:endParaRPr lang="en-US" dirty="0">
                  <a:ea typeface="Cambria Math" panose="02040503050406030204" pitchFamily="18" charset="0"/>
                </a:endParaRPr>
              </a:p>
              <a:p>
                <a:pPr marL="742950" lvl="2" indent="-342900">
                  <a:lnSpc>
                    <a:spcPct val="150000"/>
                  </a:lnSpc>
                  <a:buFont typeface="Arial" panose="020B0604020202020204" pitchFamily="34" charset="0"/>
                  <a:buChar char="•"/>
                </a:pPr>
                <a:r>
                  <a:rPr lang="en-US" i="1" dirty="0"/>
                  <a:t>Min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𝐾𝐿</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𝑞</m:t>
                        </m:r>
                      </m:e>
                      <m:sub>
                        <m:r>
                          <a:rPr lang="el-GR" i="1">
                            <a:latin typeface="Cambria Math" panose="02040503050406030204" pitchFamily="18" charset="0"/>
                          </a:rPr>
                          <m:t>𝜙</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ea typeface="Cambria Math" panose="02040503050406030204" pitchFamily="18" charset="0"/>
                          </a:rPr>
                          <m:t>𝜃</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𝑥</m:t>
                    </m:r>
                    <m:r>
                      <a:rPr lang="en-US" i="1">
                        <a:latin typeface="Cambria Math" panose="02040503050406030204" pitchFamily="18" charset="0"/>
                        <a:ea typeface="Cambria Math" panose="02040503050406030204" pitchFamily="18" charset="0"/>
                      </a:rPr>
                      <m:t>))</m:t>
                    </m:r>
                  </m:oMath>
                </a14:m>
                <a:endParaRPr lang="en-US" i="1" dirty="0"/>
              </a:p>
              <a:p>
                <a:pPr marL="285750" indent="-285750">
                  <a:lnSpc>
                    <a:spcPct val="150000"/>
                  </a:lnSpc>
                  <a:buFont typeface="Arial" panose="020B0604020202020204" pitchFamily="34" charset="0"/>
                  <a:buChar char="•"/>
                </a:pPr>
                <a:r>
                  <a:rPr lang="en-US" b="0" i="0" dirty="0">
                    <a:solidFill>
                      <a:srgbClr val="0D0D0D"/>
                    </a:solidFill>
                    <a:effectLst/>
                    <a:latin typeface="Söhne"/>
                  </a:rPr>
                  <a:t>Regularization Term: The </a:t>
                </a:r>
                <a:r>
                  <a:rPr lang="en-US" b="0" i="0" dirty="0" err="1">
                    <a:solidFill>
                      <a:srgbClr val="0D0D0D"/>
                    </a:solidFill>
                    <a:effectLst/>
                    <a:latin typeface="Söhne"/>
                  </a:rPr>
                  <a:t>Kullback-Leibler</a:t>
                </a:r>
                <a:r>
                  <a:rPr lang="en-US" b="0" i="0" dirty="0">
                    <a:solidFill>
                      <a:srgbClr val="0D0D0D"/>
                    </a:solidFill>
                    <a:effectLst/>
                    <a:latin typeface="Söhne"/>
                  </a:rPr>
                  <a:t> (KL) divergence, also known as relative entropy, is a measure of how one probability distribution diverges from a second, expected probability distribution.</a:t>
                </a:r>
                <a:endParaRPr lang="en-CA" i="1" dirty="0"/>
              </a:p>
            </p:txBody>
          </p:sp>
        </mc:Choice>
        <mc:Fallback>
          <p:sp>
            <p:nvSpPr>
              <p:cNvPr id="10" name="TextBox 9">
                <a:extLst>
                  <a:ext uri="{FF2B5EF4-FFF2-40B4-BE49-F238E27FC236}">
                    <a16:creationId xmlns:a16="http://schemas.microsoft.com/office/drawing/2014/main" id="{C082155D-3FFD-6332-AAE8-18A6608DE7AD}"/>
                  </a:ext>
                </a:extLst>
              </p:cNvPr>
              <p:cNvSpPr txBox="1">
                <a:spLocks noRot="1" noChangeAspect="1" noMove="1" noResize="1" noEditPoints="1" noAdjustHandles="1" noChangeArrowheads="1" noChangeShapeType="1" noTextEdit="1"/>
              </p:cNvSpPr>
              <p:nvPr/>
            </p:nvSpPr>
            <p:spPr>
              <a:xfrm>
                <a:off x="1803700" y="2994698"/>
                <a:ext cx="9648482" cy="3032305"/>
              </a:xfrm>
              <a:prstGeom prst="rect">
                <a:avLst/>
              </a:prstGeom>
              <a:blipFill>
                <a:blip r:embed="rId3"/>
                <a:stretch>
                  <a:fillRect l="-442" b="-2209"/>
                </a:stretch>
              </a:blipFill>
            </p:spPr>
            <p:txBody>
              <a:bodyPr/>
              <a:lstStyle/>
              <a:p>
                <a:r>
                  <a:rPr lang="en-CA">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66D74-0FCA-9A2F-295B-41B35EBD91B7}"/>
              </a:ext>
            </a:extLst>
          </p:cNvPr>
          <p:cNvSpPr>
            <a:spLocks noGrp="1"/>
          </p:cNvSpPr>
          <p:nvPr>
            <p:ph type="title"/>
          </p:nvPr>
        </p:nvSpPr>
        <p:spPr>
          <a:xfrm>
            <a:off x="838200" y="185737"/>
            <a:ext cx="10515600" cy="1325563"/>
          </a:xfrm>
        </p:spPr>
        <p:txBody>
          <a:bodyPr/>
          <a:lstStyle/>
          <a:p>
            <a:r>
              <a:rPr lang="en-CA" spc="-10" dirty="0"/>
              <a:t>Variational</a:t>
            </a:r>
            <a:r>
              <a:rPr lang="en-CA" spc="-80" dirty="0"/>
              <a:t> </a:t>
            </a:r>
            <a:r>
              <a:rPr lang="en-CA" spc="-10" dirty="0"/>
              <a:t>Autoencoder</a:t>
            </a:r>
            <a:endParaRPr lang="en-CA" dirty="0"/>
          </a:p>
        </p:txBody>
      </p:sp>
      <p:sp>
        <p:nvSpPr>
          <p:cNvPr id="3" name="Content Placeholder 2">
            <a:extLst>
              <a:ext uri="{FF2B5EF4-FFF2-40B4-BE49-F238E27FC236}">
                <a16:creationId xmlns:a16="http://schemas.microsoft.com/office/drawing/2014/main" id="{181E5C2B-B176-4732-8A54-8E1228791040}"/>
              </a:ext>
            </a:extLst>
          </p:cNvPr>
          <p:cNvSpPr>
            <a:spLocks noGrp="1"/>
          </p:cNvSpPr>
          <p:nvPr>
            <p:ph idx="1"/>
          </p:nvPr>
        </p:nvSpPr>
        <p:spPr/>
        <p:txBody>
          <a:bodyPr/>
          <a:lstStyle/>
          <a:p>
            <a:endParaRPr lang="en-CA"/>
          </a:p>
        </p:txBody>
      </p:sp>
      <p:pic>
        <p:nvPicPr>
          <p:cNvPr id="5" name="Picture 4">
            <a:extLst>
              <a:ext uri="{FF2B5EF4-FFF2-40B4-BE49-F238E27FC236}">
                <a16:creationId xmlns:a16="http://schemas.microsoft.com/office/drawing/2014/main" id="{DA887CBA-A6BC-0696-FDFC-4656A90B1D1E}"/>
              </a:ext>
            </a:extLst>
          </p:cNvPr>
          <p:cNvPicPr>
            <a:picLocks noChangeAspect="1"/>
          </p:cNvPicPr>
          <p:nvPr/>
        </p:nvPicPr>
        <p:blipFill>
          <a:blip r:embed="rId2"/>
          <a:stretch>
            <a:fillRect/>
          </a:stretch>
        </p:blipFill>
        <p:spPr>
          <a:xfrm>
            <a:off x="838200" y="1313516"/>
            <a:ext cx="10248900" cy="5114925"/>
          </a:xfrm>
          <a:prstGeom prst="rect">
            <a:avLst/>
          </a:prstGeom>
        </p:spPr>
      </p:pic>
    </p:spTree>
    <p:extLst>
      <p:ext uri="{BB962C8B-B14F-4D97-AF65-F5344CB8AC3E}">
        <p14:creationId xmlns:p14="http://schemas.microsoft.com/office/powerpoint/2010/main" val="19097076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A3436E0-D0E0-0A0B-9F69-3E64734ECA6E}"/>
              </a:ext>
            </a:extLst>
          </p:cNvPr>
          <p:cNvPicPr>
            <a:picLocks noChangeAspect="1"/>
          </p:cNvPicPr>
          <p:nvPr/>
        </p:nvPicPr>
        <p:blipFill>
          <a:blip r:embed="rId2"/>
          <a:stretch>
            <a:fillRect/>
          </a:stretch>
        </p:blipFill>
        <p:spPr>
          <a:xfrm>
            <a:off x="6369528" y="1974752"/>
            <a:ext cx="5928488" cy="3337466"/>
          </a:xfrm>
          <a:prstGeom prst="rect">
            <a:avLst/>
          </a:prstGeom>
        </p:spPr>
      </p:pic>
      <p:sp>
        <p:nvSpPr>
          <p:cNvPr id="2" name="Title 1">
            <a:extLst>
              <a:ext uri="{FF2B5EF4-FFF2-40B4-BE49-F238E27FC236}">
                <a16:creationId xmlns:a16="http://schemas.microsoft.com/office/drawing/2014/main" id="{65DD1D00-7481-0205-7388-9DCBB622771B}"/>
              </a:ext>
            </a:extLst>
          </p:cNvPr>
          <p:cNvSpPr>
            <a:spLocks noGrp="1"/>
          </p:cNvSpPr>
          <p:nvPr>
            <p:ph type="title"/>
          </p:nvPr>
        </p:nvSpPr>
        <p:spPr>
          <a:xfrm>
            <a:off x="831438" y="14853"/>
            <a:ext cx="10515600" cy="1325563"/>
          </a:xfrm>
        </p:spPr>
        <p:txBody>
          <a:bodyPr/>
          <a:lstStyle/>
          <a:p>
            <a:r>
              <a:rPr lang="en-CA" b="0" i="0" dirty="0">
                <a:solidFill>
                  <a:srgbClr val="242424"/>
                </a:solidFill>
                <a:effectLst/>
                <a:latin typeface="source-serif-pro"/>
              </a:rPr>
              <a:t>Variational Autoencoders (VAEs)</a:t>
            </a:r>
            <a:endParaRPr lang="en-CA" dirty="0"/>
          </a:p>
        </p:txBody>
      </p:sp>
      <p:sp>
        <p:nvSpPr>
          <p:cNvPr id="3" name="Content Placeholder 2">
            <a:extLst>
              <a:ext uri="{FF2B5EF4-FFF2-40B4-BE49-F238E27FC236}">
                <a16:creationId xmlns:a16="http://schemas.microsoft.com/office/drawing/2014/main" id="{ED92B1F9-15D5-656F-C069-47EEC0BBF50A}"/>
              </a:ext>
            </a:extLst>
          </p:cNvPr>
          <p:cNvSpPr>
            <a:spLocks noGrp="1"/>
          </p:cNvSpPr>
          <p:nvPr>
            <p:ph idx="1"/>
          </p:nvPr>
        </p:nvSpPr>
        <p:spPr>
          <a:xfrm>
            <a:off x="447803" y="1298688"/>
            <a:ext cx="5921725" cy="4351338"/>
          </a:xfrm>
        </p:spPr>
        <p:txBody>
          <a:bodyPr/>
          <a:lstStyle/>
          <a:p>
            <a:r>
              <a:rPr lang="en-US" dirty="0">
                <a:solidFill>
                  <a:srgbClr val="242424"/>
                </a:solidFill>
                <a:latin typeface="source-serif-pro"/>
              </a:rPr>
              <a:t>The </a:t>
            </a:r>
            <a:r>
              <a:rPr lang="en-US" b="0" i="0" dirty="0">
                <a:solidFill>
                  <a:srgbClr val="242424"/>
                </a:solidFill>
                <a:effectLst/>
                <a:latin typeface="source-serif-pro"/>
              </a:rPr>
              <a:t>latent spaces are, </a:t>
            </a:r>
            <a:r>
              <a:rPr lang="en-US" b="0" i="1" dirty="0">
                <a:solidFill>
                  <a:srgbClr val="242424"/>
                </a:solidFill>
                <a:effectLst/>
                <a:latin typeface="source-serif-pro"/>
              </a:rPr>
              <a:t>by design, </a:t>
            </a:r>
            <a:r>
              <a:rPr lang="en-US" b="0" i="0" dirty="0">
                <a:solidFill>
                  <a:srgbClr val="242424"/>
                </a:solidFill>
                <a:effectLst/>
                <a:latin typeface="source-serif-pro"/>
              </a:rPr>
              <a:t>continuous, allowing easy random sampling and interpolation.</a:t>
            </a:r>
          </a:p>
          <a:p>
            <a:r>
              <a:rPr lang="en-US" b="0" i="0" dirty="0">
                <a:solidFill>
                  <a:srgbClr val="242424"/>
                </a:solidFill>
                <a:effectLst/>
                <a:latin typeface="source-serif-pro"/>
              </a:rPr>
              <a:t>The encoder’s outputs are two vectors of size n: </a:t>
            </a:r>
          </a:p>
          <a:p>
            <a:pPr lvl="1"/>
            <a:r>
              <a:rPr lang="en-US" dirty="0">
                <a:solidFill>
                  <a:srgbClr val="242424"/>
                </a:solidFill>
                <a:latin typeface="source-serif-pro"/>
              </a:rPr>
              <a:t>A</a:t>
            </a:r>
            <a:r>
              <a:rPr lang="en-US" b="0" i="0" dirty="0">
                <a:solidFill>
                  <a:srgbClr val="242424"/>
                </a:solidFill>
                <a:effectLst/>
                <a:latin typeface="source-serif-pro"/>
              </a:rPr>
              <a:t> vector of means</a:t>
            </a:r>
            <a:r>
              <a:rPr lang="en-US" b="1" i="0" dirty="0">
                <a:solidFill>
                  <a:srgbClr val="242424"/>
                </a:solidFill>
                <a:effectLst/>
                <a:latin typeface="source-serif-pro"/>
              </a:rPr>
              <a:t>, μ</a:t>
            </a:r>
          </a:p>
          <a:p>
            <a:pPr lvl="1"/>
            <a:r>
              <a:rPr lang="en-US" dirty="0">
                <a:solidFill>
                  <a:srgbClr val="242424"/>
                </a:solidFill>
                <a:latin typeface="source-serif-pro"/>
              </a:rPr>
              <a:t>A </a:t>
            </a:r>
            <a:r>
              <a:rPr lang="en-US" b="0" i="0" dirty="0">
                <a:solidFill>
                  <a:srgbClr val="242424"/>
                </a:solidFill>
                <a:effectLst/>
                <a:latin typeface="source-serif-pro"/>
              </a:rPr>
              <a:t>vector of standard deviations, </a:t>
            </a:r>
            <a:r>
              <a:rPr lang="en-US" b="1" i="0" dirty="0">
                <a:solidFill>
                  <a:srgbClr val="242424"/>
                </a:solidFill>
                <a:effectLst/>
                <a:latin typeface="source-serif-pro"/>
              </a:rPr>
              <a:t>σ</a:t>
            </a:r>
            <a:r>
              <a:rPr lang="en-US" b="0" i="0" dirty="0">
                <a:solidFill>
                  <a:srgbClr val="242424"/>
                </a:solidFill>
                <a:effectLst/>
                <a:latin typeface="source-serif-pro"/>
              </a:rPr>
              <a:t>.</a:t>
            </a:r>
            <a:endParaRPr lang="en-CA" dirty="0"/>
          </a:p>
        </p:txBody>
      </p:sp>
      <p:pic>
        <p:nvPicPr>
          <p:cNvPr id="4" name="Picture 3">
            <a:extLst>
              <a:ext uri="{FF2B5EF4-FFF2-40B4-BE49-F238E27FC236}">
                <a16:creationId xmlns:a16="http://schemas.microsoft.com/office/drawing/2014/main" id="{8F42E388-070F-2FB9-5B7A-3804093C06C2}"/>
              </a:ext>
            </a:extLst>
          </p:cNvPr>
          <p:cNvPicPr>
            <a:picLocks noChangeAspect="1"/>
          </p:cNvPicPr>
          <p:nvPr/>
        </p:nvPicPr>
        <p:blipFill>
          <a:blip r:embed="rId3"/>
          <a:stretch>
            <a:fillRect/>
          </a:stretch>
        </p:blipFill>
        <p:spPr>
          <a:xfrm>
            <a:off x="268765" y="4388577"/>
            <a:ext cx="6291063" cy="2035956"/>
          </a:xfrm>
          <a:prstGeom prst="rect">
            <a:avLst/>
          </a:prstGeom>
        </p:spPr>
      </p:pic>
    </p:spTree>
    <p:extLst>
      <p:ext uri="{BB962C8B-B14F-4D97-AF65-F5344CB8AC3E}">
        <p14:creationId xmlns:p14="http://schemas.microsoft.com/office/powerpoint/2010/main" val="11048506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04252" y="588808"/>
            <a:ext cx="9543570" cy="688165"/>
          </a:xfrm>
          <a:prstGeom prst="rect">
            <a:avLst/>
          </a:prstGeom>
        </p:spPr>
        <p:txBody>
          <a:bodyPr vert="horz" wrap="square" lIns="0" tIns="10950" rIns="0" bIns="0" rtlCol="0" anchor="ctr">
            <a:spAutoFit/>
          </a:bodyPr>
          <a:lstStyle/>
          <a:p>
            <a:pPr marL="11527">
              <a:lnSpc>
                <a:spcPct val="100000"/>
              </a:lnSpc>
              <a:spcBef>
                <a:spcPts val="86"/>
              </a:spcBef>
            </a:pPr>
            <a:r>
              <a:rPr spc="-9" dirty="0"/>
              <a:t>Variational</a:t>
            </a:r>
            <a:r>
              <a:rPr spc="-73" dirty="0"/>
              <a:t> </a:t>
            </a:r>
            <a:r>
              <a:rPr spc="-9" dirty="0"/>
              <a:t>Autoencoder</a:t>
            </a:r>
          </a:p>
        </p:txBody>
      </p:sp>
      <p:sp>
        <p:nvSpPr>
          <p:cNvPr id="3" name="object 3"/>
          <p:cNvSpPr txBox="1"/>
          <p:nvPr/>
        </p:nvSpPr>
        <p:spPr>
          <a:xfrm>
            <a:off x="1443280" y="1510853"/>
            <a:ext cx="2728216" cy="290946"/>
          </a:xfrm>
          <a:prstGeom prst="rect">
            <a:avLst/>
          </a:prstGeom>
        </p:spPr>
        <p:txBody>
          <a:bodyPr vert="horz" wrap="square" lIns="0" tIns="11526" rIns="0" bIns="0" rtlCol="0">
            <a:spAutoFit/>
          </a:bodyPr>
          <a:lstStyle/>
          <a:p>
            <a:pPr marL="276636" indent="-265110">
              <a:spcBef>
                <a:spcPts val="91"/>
              </a:spcBef>
              <a:buFont typeface="Arial"/>
              <a:buChar char="•"/>
              <a:tabLst>
                <a:tab pos="276636" algn="l"/>
              </a:tabLst>
            </a:pPr>
            <a:r>
              <a:rPr sz="1815" b="1" dirty="0">
                <a:latin typeface="Calibri"/>
                <a:cs typeface="Calibri"/>
              </a:rPr>
              <a:t>Reparameterization</a:t>
            </a:r>
            <a:r>
              <a:rPr sz="1815" b="1" spc="100" dirty="0">
                <a:latin typeface="Calibri"/>
                <a:cs typeface="Calibri"/>
              </a:rPr>
              <a:t> </a:t>
            </a:r>
            <a:r>
              <a:rPr sz="1815" b="1" spc="-18" dirty="0">
                <a:latin typeface="Calibri"/>
                <a:cs typeface="Calibri"/>
              </a:rPr>
              <a:t>Trick</a:t>
            </a:r>
            <a:endParaRPr sz="1815" dirty="0">
              <a:latin typeface="Calibri"/>
              <a:cs typeface="Calibri"/>
            </a:endParaRPr>
          </a:p>
        </p:txBody>
      </p:sp>
      <p:sp>
        <p:nvSpPr>
          <p:cNvPr id="4" name="object 4"/>
          <p:cNvSpPr txBox="1"/>
          <p:nvPr/>
        </p:nvSpPr>
        <p:spPr>
          <a:xfrm>
            <a:off x="2155430" y="1856026"/>
            <a:ext cx="3477986" cy="862384"/>
          </a:xfrm>
          <a:prstGeom prst="rect">
            <a:avLst/>
          </a:prstGeom>
        </p:spPr>
        <p:txBody>
          <a:bodyPr vert="horz" wrap="square" lIns="0" tIns="11526" rIns="0" bIns="0" rtlCol="0">
            <a:spAutoFit/>
          </a:bodyPr>
          <a:lstStyle/>
          <a:p>
            <a:pPr marL="276636" indent="-265110">
              <a:spcBef>
                <a:spcPts val="91"/>
              </a:spcBef>
              <a:buFont typeface="Arial"/>
              <a:buChar char="•"/>
              <a:tabLst>
                <a:tab pos="276636" algn="l"/>
              </a:tabLst>
            </a:pPr>
            <a:r>
              <a:rPr sz="1815" dirty="0">
                <a:latin typeface="Calibri"/>
                <a:cs typeface="Calibri"/>
              </a:rPr>
              <a:t>z</a:t>
            </a:r>
            <a:r>
              <a:rPr sz="1815" spc="27" dirty="0">
                <a:latin typeface="Calibri"/>
                <a:cs typeface="Calibri"/>
              </a:rPr>
              <a:t> </a:t>
            </a:r>
            <a:r>
              <a:rPr sz="1815" dirty="0">
                <a:latin typeface="Calibri"/>
                <a:cs typeface="Calibri"/>
              </a:rPr>
              <a:t>~</a:t>
            </a:r>
            <a:r>
              <a:rPr sz="1815" spc="41" dirty="0">
                <a:latin typeface="Calibri"/>
                <a:cs typeface="Calibri"/>
              </a:rPr>
              <a:t> </a:t>
            </a:r>
            <a:r>
              <a:rPr sz="1815" dirty="0">
                <a:latin typeface="Calibri"/>
                <a:cs typeface="Calibri"/>
              </a:rPr>
              <a:t>N(μ,</a:t>
            </a:r>
            <a:r>
              <a:rPr sz="1815" spc="23" dirty="0">
                <a:latin typeface="Calibri"/>
                <a:cs typeface="Calibri"/>
              </a:rPr>
              <a:t> </a:t>
            </a:r>
            <a:r>
              <a:rPr sz="1815" dirty="0">
                <a:latin typeface="Calibri"/>
                <a:cs typeface="Calibri"/>
              </a:rPr>
              <a:t>σ)</a:t>
            </a:r>
            <a:r>
              <a:rPr sz="1815" spc="27" dirty="0">
                <a:latin typeface="Calibri"/>
                <a:cs typeface="Calibri"/>
              </a:rPr>
              <a:t> </a:t>
            </a:r>
            <a:r>
              <a:rPr sz="1815" dirty="0">
                <a:latin typeface="Calibri"/>
                <a:cs typeface="Calibri"/>
              </a:rPr>
              <a:t>is</a:t>
            </a:r>
            <a:r>
              <a:rPr sz="1815" spc="27" dirty="0">
                <a:latin typeface="Calibri"/>
                <a:cs typeface="Calibri"/>
              </a:rPr>
              <a:t> </a:t>
            </a:r>
            <a:r>
              <a:rPr sz="1815" dirty="0">
                <a:latin typeface="Calibri"/>
                <a:cs typeface="Calibri"/>
              </a:rPr>
              <a:t>not</a:t>
            </a:r>
            <a:r>
              <a:rPr sz="1815" spc="27" dirty="0">
                <a:latin typeface="Calibri"/>
                <a:cs typeface="Calibri"/>
              </a:rPr>
              <a:t> </a:t>
            </a:r>
            <a:r>
              <a:rPr sz="1815" spc="-9" dirty="0">
                <a:latin typeface="Calibri"/>
                <a:cs typeface="Calibri"/>
              </a:rPr>
              <a:t>differentiable</a:t>
            </a:r>
            <a:endParaRPr sz="1815" dirty="0">
              <a:latin typeface="Calibri"/>
              <a:cs typeface="Calibri"/>
            </a:endParaRPr>
          </a:p>
          <a:p>
            <a:pPr marL="276636" indent="-265110">
              <a:spcBef>
                <a:spcPts val="86"/>
              </a:spcBef>
              <a:buFont typeface="Arial"/>
              <a:buChar char="•"/>
              <a:tabLst>
                <a:tab pos="276636" algn="l"/>
              </a:tabLst>
            </a:pPr>
            <a:r>
              <a:rPr sz="1815" spc="-27" dirty="0">
                <a:latin typeface="Calibri"/>
                <a:cs typeface="Calibri"/>
              </a:rPr>
              <a:t>To</a:t>
            </a:r>
            <a:r>
              <a:rPr sz="1815" spc="5" dirty="0">
                <a:latin typeface="Calibri"/>
                <a:cs typeface="Calibri"/>
              </a:rPr>
              <a:t> </a:t>
            </a:r>
            <a:r>
              <a:rPr sz="1815" dirty="0">
                <a:latin typeface="Calibri"/>
                <a:cs typeface="Calibri"/>
              </a:rPr>
              <a:t>make</a:t>
            </a:r>
            <a:r>
              <a:rPr sz="1815" spc="14" dirty="0">
                <a:latin typeface="Calibri"/>
                <a:cs typeface="Calibri"/>
              </a:rPr>
              <a:t> </a:t>
            </a:r>
            <a:r>
              <a:rPr sz="1815" dirty="0">
                <a:latin typeface="Calibri"/>
                <a:cs typeface="Calibri"/>
              </a:rPr>
              <a:t>sampling</a:t>
            </a:r>
            <a:r>
              <a:rPr sz="1815" spc="5" dirty="0">
                <a:latin typeface="Calibri"/>
                <a:cs typeface="Calibri"/>
              </a:rPr>
              <a:t> </a:t>
            </a:r>
            <a:r>
              <a:rPr sz="1815" dirty="0">
                <a:latin typeface="Calibri"/>
                <a:cs typeface="Calibri"/>
              </a:rPr>
              <a:t>z</a:t>
            </a:r>
            <a:r>
              <a:rPr sz="1815" spc="5" dirty="0">
                <a:latin typeface="Calibri"/>
                <a:cs typeface="Calibri"/>
              </a:rPr>
              <a:t> </a:t>
            </a:r>
            <a:r>
              <a:rPr sz="1815" spc="-9" dirty="0">
                <a:latin typeface="Calibri"/>
                <a:cs typeface="Calibri"/>
              </a:rPr>
              <a:t>differentiable</a:t>
            </a:r>
            <a:endParaRPr sz="1815" dirty="0">
              <a:latin typeface="Calibri"/>
              <a:cs typeface="Calibri"/>
            </a:endParaRPr>
          </a:p>
          <a:p>
            <a:pPr marL="11527"/>
            <a:endParaRPr sz="1815" dirty="0">
              <a:latin typeface="Arial"/>
              <a:cs typeface="Arial"/>
            </a:endParaRPr>
          </a:p>
        </p:txBody>
      </p:sp>
      <p:pic>
        <p:nvPicPr>
          <p:cNvPr id="6" name="object 6"/>
          <p:cNvPicPr/>
          <p:nvPr/>
        </p:nvPicPr>
        <p:blipFill>
          <a:blip r:embed="rId3" cstate="print"/>
          <a:stretch>
            <a:fillRect/>
          </a:stretch>
        </p:blipFill>
        <p:spPr>
          <a:xfrm>
            <a:off x="7219806" y="2040456"/>
            <a:ext cx="2592784" cy="2938182"/>
          </a:xfrm>
          <a:prstGeom prst="rect">
            <a:avLst/>
          </a:prstGeom>
        </p:spPr>
      </p:pic>
      <p:pic>
        <p:nvPicPr>
          <p:cNvPr id="12" name="Picture 11">
            <a:extLst>
              <a:ext uri="{FF2B5EF4-FFF2-40B4-BE49-F238E27FC236}">
                <a16:creationId xmlns:a16="http://schemas.microsoft.com/office/drawing/2014/main" id="{2DB21B88-BE22-D95A-ED49-5B4CFF2C593A}"/>
              </a:ext>
            </a:extLst>
          </p:cNvPr>
          <p:cNvPicPr>
            <a:picLocks noChangeAspect="1"/>
          </p:cNvPicPr>
          <p:nvPr/>
        </p:nvPicPr>
        <p:blipFill>
          <a:blip r:embed="rId4"/>
          <a:stretch>
            <a:fillRect/>
          </a:stretch>
        </p:blipFill>
        <p:spPr>
          <a:xfrm>
            <a:off x="1298246" y="2439674"/>
            <a:ext cx="5568492" cy="2934475"/>
          </a:xfrm>
          <a:prstGeom prst="rect">
            <a:avLst/>
          </a:prstGeom>
        </p:spPr>
      </p:pic>
      <p:pic>
        <p:nvPicPr>
          <p:cNvPr id="14" name="Picture 13">
            <a:extLst>
              <a:ext uri="{FF2B5EF4-FFF2-40B4-BE49-F238E27FC236}">
                <a16:creationId xmlns:a16="http://schemas.microsoft.com/office/drawing/2014/main" id="{BAF8BEFD-29BB-42FD-F959-037224CF2EB4}"/>
              </a:ext>
            </a:extLst>
          </p:cNvPr>
          <p:cNvPicPr>
            <a:picLocks noChangeAspect="1"/>
          </p:cNvPicPr>
          <p:nvPr/>
        </p:nvPicPr>
        <p:blipFill>
          <a:blip r:embed="rId5"/>
          <a:stretch>
            <a:fillRect/>
          </a:stretch>
        </p:blipFill>
        <p:spPr>
          <a:xfrm>
            <a:off x="8364378" y="3270627"/>
            <a:ext cx="2028750" cy="531015"/>
          </a:xfrm>
          <a:prstGeom prst="rect">
            <a:avLst/>
          </a:prstGeom>
        </p:spPr>
      </p:pic>
      <p:sp>
        <p:nvSpPr>
          <p:cNvPr id="16" name="TextBox 15">
            <a:extLst>
              <a:ext uri="{FF2B5EF4-FFF2-40B4-BE49-F238E27FC236}">
                <a16:creationId xmlns:a16="http://schemas.microsoft.com/office/drawing/2014/main" id="{CEECC7EB-2AFA-492C-2FFE-A20521A49586}"/>
              </a:ext>
            </a:extLst>
          </p:cNvPr>
          <p:cNvSpPr txBox="1"/>
          <p:nvPr/>
        </p:nvSpPr>
        <p:spPr>
          <a:xfrm>
            <a:off x="1443280" y="5634631"/>
            <a:ext cx="9543570" cy="646331"/>
          </a:xfrm>
          <a:prstGeom prst="rect">
            <a:avLst/>
          </a:prstGeom>
          <a:noFill/>
        </p:spPr>
        <p:txBody>
          <a:bodyPr wrap="square">
            <a:spAutoFit/>
          </a:bodyPr>
          <a:lstStyle/>
          <a:p>
            <a:r>
              <a:rPr lang="en-US" b="0" i="0" dirty="0">
                <a:solidFill>
                  <a:srgbClr val="0F0F0F"/>
                </a:solidFill>
                <a:effectLst/>
                <a:latin typeface="Söhne"/>
              </a:rPr>
              <a:t>This trick allows the gradients to flow through the deterministic path (mean and standard deviation), making it possible to train the model using backpropagation.</a:t>
            </a:r>
            <a:endParaRPr lang="en-CA"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4D41B-F81F-E05C-FFE1-B70D492D6B62}"/>
              </a:ext>
            </a:extLst>
          </p:cNvPr>
          <p:cNvSpPr>
            <a:spLocks noGrp="1"/>
          </p:cNvSpPr>
          <p:nvPr>
            <p:ph type="title"/>
          </p:nvPr>
        </p:nvSpPr>
        <p:spPr>
          <a:xfrm>
            <a:off x="838200" y="221690"/>
            <a:ext cx="10515600" cy="1325563"/>
          </a:xfrm>
        </p:spPr>
        <p:txBody>
          <a:bodyPr/>
          <a:lstStyle/>
          <a:p>
            <a:r>
              <a:rPr lang="en-CA" spc="-9" dirty="0"/>
              <a:t>Variational</a:t>
            </a:r>
            <a:r>
              <a:rPr lang="en-CA" spc="-73" dirty="0"/>
              <a:t> </a:t>
            </a:r>
            <a:r>
              <a:rPr lang="en-CA" spc="-9" dirty="0"/>
              <a:t>Autoencoder</a:t>
            </a:r>
            <a:endParaRPr lang="en-CA" dirty="0"/>
          </a:p>
        </p:txBody>
      </p:sp>
      <p:sp>
        <p:nvSpPr>
          <p:cNvPr id="3" name="Content Placeholder 2">
            <a:extLst>
              <a:ext uri="{FF2B5EF4-FFF2-40B4-BE49-F238E27FC236}">
                <a16:creationId xmlns:a16="http://schemas.microsoft.com/office/drawing/2014/main" id="{0D83814C-7C95-6BA2-06AB-DAD2BFC5E30F}"/>
              </a:ext>
            </a:extLst>
          </p:cNvPr>
          <p:cNvSpPr>
            <a:spLocks noGrp="1"/>
          </p:cNvSpPr>
          <p:nvPr>
            <p:ph idx="1"/>
          </p:nvPr>
        </p:nvSpPr>
        <p:spPr>
          <a:xfrm>
            <a:off x="658492" y="1404284"/>
            <a:ext cx="10515600" cy="4351338"/>
          </a:xfrm>
        </p:spPr>
        <p:txBody>
          <a:bodyPr/>
          <a:lstStyle/>
          <a:p>
            <a:r>
              <a:rPr lang="en-US" b="0" i="0" dirty="0">
                <a:solidFill>
                  <a:srgbClr val="3B3B3B"/>
                </a:solidFill>
                <a:effectLst/>
                <a:latin typeface="Calendas Plus"/>
              </a:rPr>
              <a:t>How can we know how well our variational posterior </a:t>
            </a:r>
            <a:r>
              <a:rPr lang="en-US" b="0" i="1" dirty="0">
                <a:solidFill>
                  <a:srgbClr val="3B3B3B"/>
                </a:solidFill>
                <a:effectLst/>
                <a:latin typeface="KaTeX_Math"/>
              </a:rPr>
              <a:t>q</a:t>
            </a:r>
            <a:r>
              <a:rPr lang="en-US" b="0" i="0" dirty="0">
                <a:solidFill>
                  <a:srgbClr val="3B3B3B"/>
                </a:solidFill>
                <a:effectLst/>
                <a:latin typeface="KaTeX_Main"/>
              </a:rPr>
              <a:t>(</a:t>
            </a:r>
            <a:r>
              <a:rPr lang="en-US" b="0" i="1" dirty="0" err="1">
                <a:solidFill>
                  <a:srgbClr val="3B3B3B"/>
                </a:solidFill>
                <a:effectLst/>
                <a:latin typeface="KaTeX_Math"/>
              </a:rPr>
              <a:t>z</a:t>
            </a:r>
            <a:r>
              <a:rPr lang="en-US" b="0" i="0" dirty="0" err="1">
                <a:solidFill>
                  <a:srgbClr val="3B3B3B"/>
                </a:solidFill>
                <a:effectLst/>
                <a:latin typeface="KaTeX_Main"/>
              </a:rPr>
              <a:t>∣</a:t>
            </a:r>
            <a:r>
              <a:rPr lang="en-US" b="0" i="1" dirty="0" err="1">
                <a:solidFill>
                  <a:srgbClr val="3B3B3B"/>
                </a:solidFill>
                <a:effectLst/>
                <a:latin typeface="KaTeX_Math"/>
              </a:rPr>
              <a:t>x</a:t>
            </a:r>
            <a:r>
              <a:rPr lang="en-US" b="0" i="0" dirty="0">
                <a:solidFill>
                  <a:srgbClr val="3B3B3B"/>
                </a:solidFill>
                <a:effectLst/>
                <a:latin typeface="KaTeX_Main"/>
              </a:rPr>
              <a:t>)</a:t>
            </a:r>
            <a:r>
              <a:rPr lang="en-US" b="0" i="0" dirty="0">
                <a:solidFill>
                  <a:srgbClr val="3B3B3B"/>
                </a:solidFill>
                <a:effectLst/>
                <a:latin typeface="Calendas Plus"/>
              </a:rPr>
              <a:t> approximates the true posterior </a:t>
            </a:r>
            <a:r>
              <a:rPr lang="en-US" b="0" i="1" dirty="0">
                <a:solidFill>
                  <a:srgbClr val="3B3B3B"/>
                </a:solidFill>
                <a:effectLst/>
                <a:latin typeface="KaTeX_Math"/>
              </a:rPr>
              <a:t>p</a:t>
            </a:r>
            <a:r>
              <a:rPr lang="en-US" b="0" i="0" dirty="0">
                <a:solidFill>
                  <a:srgbClr val="3B3B3B"/>
                </a:solidFill>
                <a:effectLst/>
                <a:latin typeface="KaTeX_Main"/>
              </a:rPr>
              <a:t>(</a:t>
            </a:r>
            <a:r>
              <a:rPr lang="en-US" b="0" i="1" dirty="0" err="1">
                <a:solidFill>
                  <a:srgbClr val="3B3B3B"/>
                </a:solidFill>
                <a:effectLst/>
                <a:latin typeface="KaTeX_Math"/>
              </a:rPr>
              <a:t>z</a:t>
            </a:r>
            <a:r>
              <a:rPr lang="en-US" b="0" i="0" dirty="0" err="1">
                <a:solidFill>
                  <a:srgbClr val="3B3B3B"/>
                </a:solidFill>
                <a:effectLst/>
                <a:latin typeface="KaTeX_Main"/>
              </a:rPr>
              <a:t>∣</a:t>
            </a:r>
            <a:r>
              <a:rPr lang="en-US" b="0" i="1" dirty="0" err="1">
                <a:solidFill>
                  <a:srgbClr val="3B3B3B"/>
                </a:solidFill>
                <a:effectLst/>
                <a:latin typeface="KaTeX_Math"/>
              </a:rPr>
              <a:t>x</a:t>
            </a:r>
            <a:r>
              <a:rPr lang="en-US" b="0" i="0" dirty="0">
                <a:solidFill>
                  <a:srgbClr val="3B3B3B"/>
                </a:solidFill>
                <a:effectLst/>
                <a:latin typeface="KaTeX_Main"/>
              </a:rPr>
              <a:t>)</a:t>
            </a:r>
            <a:r>
              <a:rPr lang="en-US" b="0" i="0" dirty="0">
                <a:solidFill>
                  <a:srgbClr val="3B3B3B"/>
                </a:solidFill>
                <a:effectLst/>
                <a:latin typeface="Calendas Plus"/>
              </a:rPr>
              <a:t>? </a:t>
            </a:r>
          </a:p>
          <a:p>
            <a:r>
              <a:rPr lang="en-US" b="0" i="0" dirty="0">
                <a:solidFill>
                  <a:srgbClr val="3B3B3B"/>
                </a:solidFill>
                <a:effectLst/>
                <a:latin typeface="Calendas Plus"/>
              </a:rPr>
              <a:t>We can use the </a:t>
            </a:r>
            <a:r>
              <a:rPr lang="en-US" b="1" i="0" dirty="0" err="1">
                <a:solidFill>
                  <a:srgbClr val="3B3B3B"/>
                </a:solidFill>
                <a:effectLst/>
                <a:latin typeface="Calendas Plus"/>
              </a:rPr>
              <a:t>Kullback-Leibler</a:t>
            </a:r>
            <a:r>
              <a:rPr lang="en-US" b="1" i="0" dirty="0">
                <a:solidFill>
                  <a:srgbClr val="3B3B3B"/>
                </a:solidFill>
                <a:effectLst/>
                <a:latin typeface="Calendas Plus"/>
              </a:rPr>
              <a:t> divergence</a:t>
            </a:r>
            <a:r>
              <a:rPr lang="en-US" b="0" i="0" dirty="0">
                <a:solidFill>
                  <a:srgbClr val="3B3B3B"/>
                </a:solidFill>
                <a:effectLst/>
                <a:latin typeface="Calendas Plus"/>
              </a:rPr>
              <a:t>, which measures the information lost when using </a:t>
            </a:r>
            <a:r>
              <a:rPr lang="en-US" b="0" i="1" dirty="0">
                <a:solidFill>
                  <a:srgbClr val="3B3B3B"/>
                </a:solidFill>
                <a:effectLst/>
                <a:latin typeface="KaTeX_Math"/>
              </a:rPr>
              <a:t>q</a:t>
            </a:r>
            <a:r>
              <a:rPr lang="en-US" b="0" i="0" dirty="0">
                <a:solidFill>
                  <a:srgbClr val="3B3B3B"/>
                </a:solidFill>
                <a:effectLst/>
                <a:latin typeface="Calendas Plus"/>
              </a:rPr>
              <a:t> to approximate </a:t>
            </a:r>
            <a:r>
              <a:rPr lang="en-US" b="0" i="1" dirty="0">
                <a:solidFill>
                  <a:srgbClr val="3B3B3B"/>
                </a:solidFill>
                <a:effectLst/>
                <a:latin typeface="KaTeX_Math"/>
              </a:rPr>
              <a:t>p</a:t>
            </a:r>
            <a:r>
              <a:rPr lang="en-US" b="0" i="0" dirty="0">
                <a:solidFill>
                  <a:srgbClr val="3B3B3B"/>
                </a:solidFill>
                <a:effectLst/>
                <a:latin typeface="Calendas Plus"/>
              </a:rPr>
              <a:t> :</a:t>
            </a:r>
            <a:endParaRPr lang="en-CA" dirty="0"/>
          </a:p>
        </p:txBody>
      </p:sp>
      <p:pic>
        <p:nvPicPr>
          <p:cNvPr id="7" name="Picture 6">
            <a:extLst>
              <a:ext uri="{FF2B5EF4-FFF2-40B4-BE49-F238E27FC236}">
                <a16:creationId xmlns:a16="http://schemas.microsoft.com/office/drawing/2014/main" id="{27088937-F5CE-5DE8-990E-109FDF756E38}"/>
              </a:ext>
            </a:extLst>
          </p:cNvPr>
          <p:cNvPicPr>
            <a:picLocks noChangeAspect="1"/>
          </p:cNvPicPr>
          <p:nvPr/>
        </p:nvPicPr>
        <p:blipFill>
          <a:blip r:embed="rId3"/>
          <a:stretch>
            <a:fillRect/>
          </a:stretch>
        </p:blipFill>
        <p:spPr>
          <a:xfrm>
            <a:off x="2674843" y="3429000"/>
            <a:ext cx="8146901" cy="2801844"/>
          </a:xfrm>
          <a:prstGeom prst="rect">
            <a:avLst/>
          </a:prstGeom>
        </p:spPr>
      </p:pic>
    </p:spTree>
    <p:extLst>
      <p:ext uri="{BB962C8B-B14F-4D97-AF65-F5344CB8AC3E}">
        <p14:creationId xmlns:p14="http://schemas.microsoft.com/office/powerpoint/2010/main" val="34576218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5C1F9-1172-620C-AF64-6DC420380B78}"/>
              </a:ext>
            </a:extLst>
          </p:cNvPr>
          <p:cNvSpPr>
            <a:spLocks noGrp="1"/>
          </p:cNvSpPr>
          <p:nvPr>
            <p:ph type="title"/>
          </p:nvPr>
        </p:nvSpPr>
        <p:spPr/>
        <p:txBody>
          <a:bodyPr/>
          <a:lstStyle/>
          <a:p>
            <a:r>
              <a:rPr lang="en-US" b="1" i="0" dirty="0" err="1">
                <a:solidFill>
                  <a:srgbClr val="3B3B3B"/>
                </a:solidFill>
                <a:effectLst/>
                <a:latin typeface="Calendas Plus"/>
              </a:rPr>
              <a:t>Kullback-Leibler</a:t>
            </a:r>
            <a:r>
              <a:rPr lang="en-US" b="1" i="0" dirty="0">
                <a:solidFill>
                  <a:srgbClr val="3B3B3B"/>
                </a:solidFill>
                <a:effectLst/>
                <a:latin typeface="Calendas Plus"/>
              </a:rPr>
              <a:t> divergence</a:t>
            </a:r>
            <a:endParaRPr lang="en-CA" dirty="0"/>
          </a:p>
        </p:txBody>
      </p:sp>
      <p:sp>
        <p:nvSpPr>
          <p:cNvPr id="3" name="Content Placeholder 2">
            <a:extLst>
              <a:ext uri="{FF2B5EF4-FFF2-40B4-BE49-F238E27FC236}">
                <a16:creationId xmlns:a16="http://schemas.microsoft.com/office/drawing/2014/main" id="{E3F93CAF-E3CC-3C7C-010D-FB88C1F97379}"/>
              </a:ext>
            </a:extLst>
          </p:cNvPr>
          <p:cNvSpPr>
            <a:spLocks noGrp="1"/>
          </p:cNvSpPr>
          <p:nvPr>
            <p:ph idx="1"/>
          </p:nvPr>
        </p:nvSpPr>
        <p:spPr/>
        <p:txBody>
          <a:bodyPr/>
          <a:lstStyle/>
          <a:p>
            <a:endParaRPr lang="en-CA"/>
          </a:p>
        </p:txBody>
      </p:sp>
      <p:pic>
        <p:nvPicPr>
          <p:cNvPr id="5" name="Picture 4">
            <a:extLst>
              <a:ext uri="{FF2B5EF4-FFF2-40B4-BE49-F238E27FC236}">
                <a16:creationId xmlns:a16="http://schemas.microsoft.com/office/drawing/2014/main" id="{DA5A3CD8-7AA1-7F85-EAA9-90887B333C65}"/>
              </a:ext>
            </a:extLst>
          </p:cNvPr>
          <p:cNvPicPr>
            <a:picLocks noChangeAspect="1"/>
          </p:cNvPicPr>
          <p:nvPr/>
        </p:nvPicPr>
        <p:blipFill>
          <a:blip r:embed="rId2"/>
          <a:stretch>
            <a:fillRect/>
          </a:stretch>
        </p:blipFill>
        <p:spPr>
          <a:xfrm>
            <a:off x="1395693" y="1616961"/>
            <a:ext cx="8151719" cy="4768666"/>
          </a:xfrm>
          <a:prstGeom prst="rect">
            <a:avLst/>
          </a:prstGeom>
        </p:spPr>
      </p:pic>
    </p:spTree>
    <p:extLst>
      <p:ext uri="{BB962C8B-B14F-4D97-AF65-F5344CB8AC3E}">
        <p14:creationId xmlns:p14="http://schemas.microsoft.com/office/powerpoint/2010/main" val="4737515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04252" y="588808"/>
            <a:ext cx="9543570" cy="688165"/>
          </a:xfrm>
          <a:prstGeom prst="rect">
            <a:avLst/>
          </a:prstGeom>
        </p:spPr>
        <p:txBody>
          <a:bodyPr vert="horz" wrap="square" lIns="0" tIns="10950" rIns="0" bIns="0" rtlCol="0" anchor="ctr">
            <a:spAutoFit/>
          </a:bodyPr>
          <a:lstStyle/>
          <a:p>
            <a:pPr marL="11527">
              <a:lnSpc>
                <a:spcPct val="100000"/>
              </a:lnSpc>
              <a:spcBef>
                <a:spcPts val="86"/>
              </a:spcBef>
            </a:pPr>
            <a:r>
              <a:rPr spc="-9" dirty="0"/>
              <a:t>Variational</a:t>
            </a:r>
            <a:r>
              <a:rPr spc="-73" dirty="0"/>
              <a:t> </a:t>
            </a:r>
            <a:r>
              <a:rPr spc="-9" dirty="0"/>
              <a:t>Autoencoder</a:t>
            </a:r>
          </a:p>
        </p:txBody>
      </p:sp>
      <p:sp>
        <p:nvSpPr>
          <p:cNvPr id="4" name="object 4"/>
          <p:cNvSpPr txBox="1">
            <a:spLocks noGrp="1"/>
          </p:cNvSpPr>
          <p:nvPr>
            <p:ph type="sldNum" sz="quarter" idx="7"/>
          </p:nvPr>
        </p:nvSpPr>
        <p:spPr>
          <a:xfrm>
            <a:off x="9577123" y="6334774"/>
            <a:ext cx="221615" cy="180975"/>
          </a:xfrm>
          <a:prstGeom prst="rect">
            <a:avLst/>
          </a:prstGeom>
        </p:spPr>
        <p:txBody>
          <a:bodyPr vert="horz" wrap="square" lIns="0" tIns="0" rIns="0" bIns="0" rtlCol="0">
            <a:spAutoFit/>
          </a:bodyPr>
          <a:lstStyle>
            <a:defPPr>
              <a:defRPr kern="0"/>
            </a:defPPr>
            <a:lvl1pPr>
              <a:defRPr sz="1000" b="0" i="0">
                <a:solidFill>
                  <a:srgbClr val="898989"/>
                </a:solidFill>
                <a:latin typeface="Calibri"/>
                <a:cs typeface="Calibri"/>
              </a:defRPr>
            </a:lvl1pPr>
          </a:lstStyle>
          <a:p>
            <a:pPr marL="104139">
              <a:spcBef>
                <a:spcPts val="50"/>
              </a:spcBef>
            </a:pPr>
            <a:fld id="{81D60167-4931-47E6-BA6A-407CBD079E47}" type="slidenum">
              <a:rPr lang="en-CA" spc="-50" smtClean="0"/>
              <a:pPr marL="104139">
                <a:spcBef>
                  <a:spcPts val="50"/>
                </a:spcBef>
              </a:pPr>
              <a:t>29</a:t>
            </a:fld>
            <a:endParaRPr spc="-23" dirty="0"/>
          </a:p>
        </p:txBody>
      </p:sp>
      <p:sp>
        <p:nvSpPr>
          <p:cNvPr id="5" name="object 5"/>
          <p:cNvSpPr txBox="1"/>
          <p:nvPr/>
        </p:nvSpPr>
        <p:spPr>
          <a:xfrm>
            <a:off x="1436696" y="5829895"/>
            <a:ext cx="5523860" cy="212326"/>
          </a:xfrm>
          <a:prstGeom prst="rect">
            <a:avLst/>
          </a:prstGeom>
        </p:spPr>
        <p:txBody>
          <a:bodyPr vert="horz" wrap="square" lIns="0" tIns="2882" rIns="0" bIns="0" rtlCol="0">
            <a:spAutoFit/>
          </a:bodyPr>
          <a:lstStyle/>
          <a:p>
            <a:pPr marL="11527">
              <a:spcBef>
                <a:spcPts val="23"/>
              </a:spcBef>
            </a:pPr>
            <a:r>
              <a:rPr sz="1361" dirty="0">
                <a:latin typeface="Calibri"/>
                <a:cs typeface="Calibri"/>
              </a:rPr>
              <a:t>Auto-Encoding</a:t>
            </a:r>
            <a:r>
              <a:rPr sz="1361" spc="54" dirty="0">
                <a:latin typeface="Calibri"/>
                <a:cs typeface="Calibri"/>
              </a:rPr>
              <a:t> </a:t>
            </a:r>
            <a:r>
              <a:rPr sz="1361" dirty="0">
                <a:latin typeface="Calibri"/>
                <a:cs typeface="Calibri"/>
              </a:rPr>
              <a:t>Variational</a:t>
            </a:r>
            <a:r>
              <a:rPr sz="1361" spc="41" dirty="0">
                <a:latin typeface="Calibri"/>
                <a:cs typeface="Calibri"/>
              </a:rPr>
              <a:t> </a:t>
            </a:r>
            <a:r>
              <a:rPr sz="1361" dirty="0">
                <a:latin typeface="Calibri"/>
                <a:cs typeface="Calibri"/>
              </a:rPr>
              <a:t>Bayes.</a:t>
            </a:r>
            <a:r>
              <a:rPr sz="1361" spc="41" dirty="0">
                <a:latin typeface="Calibri"/>
                <a:cs typeface="Calibri"/>
              </a:rPr>
              <a:t> </a:t>
            </a:r>
            <a:r>
              <a:rPr sz="1361" dirty="0">
                <a:latin typeface="Calibri"/>
                <a:cs typeface="Calibri"/>
              </a:rPr>
              <a:t>Diederik</a:t>
            </a:r>
            <a:r>
              <a:rPr sz="1361" spc="45" dirty="0">
                <a:latin typeface="Calibri"/>
                <a:cs typeface="Calibri"/>
              </a:rPr>
              <a:t> </a:t>
            </a:r>
            <a:r>
              <a:rPr sz="1361" spc="-82" dirty="0">
                <a:latin typeface="Calibri"/>
                <a:cs typeface="Calibri"/>
              </a:rPr>
              <a:t>P.</a:t>
            </a:r>
            <a:r>
              <a:rPr sz="1361" spc="41" dirty="0">
                <a:latin typeface="Calibri"/>
                <a:cs typeface="Calibri"/>
              </a:rPr>
              <a:t> </a:t>
            </a:r>
            <a:r>
              <a:rPr sz="1361" dirty="0">
                <a:latin typeface="Calibri"/>
                <a:cs typeface="Calibri"/>
              </a:rPr>
              <a:t>Kingma,</a:t>
            </a:r>
            <a:r>
              <a:rPr sz="1361" spc="45" dirty="0">
                <a:latin typeface="Calibri"/>
                <a:cs typeface="Calibri"/>
              </a:rPr>
              <a:t> </a:t>
            </a:r>
            <a:r>
              <a:rPr sz="1361" dirty="0">
                <a:latin typeface="Calibri"/>
                <a:cs typeface="Calibri"/>
              </a:rPr>
              <a:t>Max</a:t>
            </a:r>
            <a:r>
              <a:rPr sz="1361" spc="45" dirty="0">
                <a:latin typeface="Calibri"/>
                <a:cs typeface="Calibri"/>
              </a:rPr>
              <a:t> </a:t>
            </a:r>
            <a:r>
              <a:rPr sz="1361" dirty="0">
                <a:latin typeface="Calibri"/>
                <a:cs typeface="Calibri"/>
              </a:rPr>
              <a:t>Welling.</a:t>
            </a:r>
            <a:r>
              <a:rPr sz="1361" spc="41" dirty="0">
                <a:latin typeface="Calibri"/>
                <a:cs typeface="Calibri"/>
              </a:rPr>
              <a:t> </a:t>
            </a:r>
            <a:r>
              <a:rPr sz="1361" dirty="0">
                <a:latin typeface="Calibri"/>
                <a:cs typeface="Calibri"/>
              </a:rPr>
              <a:t>ICLR</a:t>
            </a:r>
            <a:r>
              <a:rPr sz="1361" spc="50" dirty="0">
                <a:latin typeface="Calibri"/>
                <a:cs typeface="Calibri"/>
              </a:rPr>
              <a:t> </a:t>
            </a:r>
            <a:r>
              <a:rPr sz="1361" spc="-18" dirty="0">
                <a:latin typeface="Calibri"/>
                <a:cs typeface="Calibri"/>
              </a:rPr>
              <a:t>2013</a:t>
            </a:r>
            <a:endParaRPr sz="1361">
              <a:latin typeface="Calibri"/>
              <a:cs typeface="Calibri"/>
            </a:endParaRPr>
          </a:p>
        </p:txBody>
      </p:sp>
      <p:sp>
        <p:nvSpPr>
          <p:cNvPr id="3" name="object 3"/>
          <p:cNvSpPr txBox="1"/>
          <p:nvPr/>
        </p:nvSpPr>
        <p:spPr>
          <a:xfrm>
            <a:off x="1803699" y="1667191"/>
            <a:ext cx="5971070" cy="1408175"/>
          </a:xfrm>
          <a:prstGeom prst="rect">
            <a:avLst/>
          </a:prstGeom>
        </p:spPr>
        <p:txBody>
          <a:bodyPr vert="horz" wrap="square" lIns="0" tIns="11526" rIns="0" bIns="0" rtlCol="0">
            <a:spAutoFit/>
          </a:bodyPr>
          <a:lstStyle/>
          <a:p>
            <a:pPr marL="276636" indent="-265110">
              <a:spcBef>
                <a:spcPts val="91"/>
              </a:spcBef>
              <a:buFont typeface="Arial"/>
              <a:buChar char="•"/>
              <a:tabLst>
                <a:tab pos="276636" algn="l"/>
              </a:tabLst>
            </a:pPr>
            <a:r>
              <a:rPr sz="1815" b="1" dirty="0">
                <a:latin typeface="Calibri"/>
                <a:cs typeface="Calibri"/>
              </a:rPr>
              <a:t>VAE</a:t>
            </a:r>
            <a:r>
              <a:rPr sz="1815" b="1" spc="-9" dirty="0">
                <a:latin typeface="Calibri"/>
                <a:cs typeface="Calibri"/>
              </a:rPr>
              <a:t> </a:t>
            </a:r>
            <a:r>
              <a:rPr sz="1815" b="1" dirty="0">
                <a:latin typeface="Calibri"/>
                <a:cs typeface="Calibri"/>
              </a:rPr>
              <a:t>vs.</a:t>
            </a:r>
            <a:r>
              <a:rPr sz="1815" b="1" spc="-23" dirty="0">
                <a:latin typeface="Calibri"/>
                <a:cs typeface="Calibri"/>
              </a:rPr>
              <a:t> </a:t>
            </a:r>
            <a:r>
              <a:rPr sz="1815" b="1" spc="-9" dirty="0">
                <a:latin typeface="Calibri"/>
                <a:cs typeface="Calibri"/>
              </a:rPr>
              <a:t>Autoencoder</a:t>
            </a:r>
            <a:endParaRPr sz="1815">
              <a:latin typeface="Calibri"/>
              <a:cs typeface="Calibri"/>
            </a:endParaRPr>
          </a:p>
          <a:p>
            <a:pPr>
              <a:spcBef>
                <a:spcPts val="45"/>
              </a:spcBef>
              <a:buFont typeface="Arial"/>
              <a:buChar char="•"/>
            </a:pPr>
            <a:endParaRPr sz="1815">
              <a:latin typeface="Calibri"/>
              <a:cs typeface="Calibri"/>
            </a:endParaRPr>
          </a:p>
          <a:p>
            <a:pPr marL="629924" lvl="1" indent="-265110">
              <a:spcBef>
                <a:spcPts val="5"/>
              </a:spcBef>
              <a:buFont typeface="Arial"/>
              <a:buChar char="•"/>
              <a:tabLst>
                <a:tab pos="629924" algn="l"/>
              </a:tabLst>
            </a:pPr>
            <a:r>
              <a:rPr sz="1815" dirty="0">
                <a:latin typeface="Calibri"/>
                <a:cs typeface="Calibri"/>
              </a:rPr>
              <a:t>VAE</a:t>
            </a:r>
            <a:r>
              <a:rPr sz="1815" spc="32" dirty="0">
                <a:latin typeface="Calibri"/>
                <a:cs typeface="Calibri"/>
              </a:rPr>
              <a:t> </a:t>
            </a:r>
            <a:r>
              <a:rPr sz="1815" dirty="0">
                <a:latin typeface="Calibri"/>
                <a:cs typeface="Calibri"/>
              </a:rPr>
              <a:t>:</a:t>
            </a:r>
            <a:r>
              <a:rPr sz="1815" spc="23" dirty="0">
                <a:latin typeface="Calibri"/>
                <a:cs typeface="Calibri"/>
              </a:rPr>
              <a:t> </a:t>
            </a:r>
            <a:r>
              <a:rPr sz="1815" dirty="0">
                <a:latin typeface="Calibri"/>
                <a:cs typeface="Calibri"/>
              </a:rPr>
              <a:t>distribution</a:t>
            </a:r>
            <a:r>
              <a:rPr sz="1815" spc="36" dirty="0">
                <a:latin typeface="Calibri"/>
                <a:cs typeface="Calibri"/>
              </a:rPr>
              <a:t> </a:t>
            </a:r>
            <a:r>
              <a:rPr sz="1815" dirty="0">
                <a:latin typeface="Calibri"/>
                <a:cs typeface="Calibri"/>
              </a:rPr>
              <a:t>representation,</a:t>
            </a:r>
            <a:r>
              <a:rPr sz="1815" spc="23" dirty="0">
                <a:latin typeface="Calibri"/>
                <a:cs typeface="Calibri"/>
              </a:rPr>
              <a:t> </a:t>
            </a:r>
            <a:r>
              <a:rPr sz="1815" dirty="0">
                <a:latin typeface="Calibri"/>
                <a:cs typeface="Calibri"/>
              </a:rPr>
              <a:t>p(z|x)</a:t>
            </a:r>
            <a:r>
              <a:rPr sz="1815" spc="27" dirty="0">
                <a:latin typeface="Calibri"/>
                <a:cs typeface="Calibri"/>
              </a:rPr>
              <a:t> </a:t>
            </a:r>
            <a:r>
              <a:rPr sz="1815" dirty="0">
                <a:latin typeface="Calibri"/>
                <a:cs typeface="Calibri"/>
              </a:rPr>
              <a:t>is</a:t>
            </a:r>
            <a:r>
              <a:rPr sz="1815" spc="27" dirty="0">
                <a:latin typeface="Calibri"/>
                <a:cs typeface="Calibri"/>
              </a:rPr>
              <a:t> </a:t>
            </a:r>
            <a:r>
              <a:rPr sz="1815" dirty="0">
                <a:latin typeface="Calibri"/>
                <a:cs typeface="Calibri"/>
              </a:rPr>
              <a:t>a</a:t>
            </a:r>
            <a:r>
              <a:rPr sz="1815" spc="36" dirty="0">
                <a:latin typeface="Calibri"/>
                <a:cs typeface="Calibri"/>
              </a:rPr>
              <a:t> </a:t>
            </a:r>
            <a:r>
              <a:rPr sz="1815" spc="-9" dirty="0">
                <a:latin typeface="Calibri"/>
                <a:cs typeface="Calibri"/>
              </a:rPr>
              <a:t>distribution</a:t>
            </a:r>
            <a:endParaRPr sz="1815">
              <a:latin typeface="Calibri"/>
              <a:cs typeface="Calibri"/>
            </a:endParaRPr>
          </a:p>
          <a:p>
            <a:pPr lvl="1">
              <a:spcBef>
                <a:spcPts val="45"/>
              </a:spcBef>
              <a:buFont typeface="Arial"/>
              <a:buChar char="•"/>
            </a:pPr>
            <a:endParaRPr sz="1815">
              <a:latin typeface="Calibri"/>
              <a:cs typeface="Calibri"/>
            </a:endParaRPr>
          </a:p>
          <a:p>
            <a:pPr marL="629924" lvl="1" indent="-265110">
              <a:buFont typeface="Arial"/>
              <a:buChar char="•"/>
              <a:tabLst>
                <a:tab pos="629924" algn="l"/>
              </a:tabLst>
            </a:pPr>
            <a:r>
              <a:rPr sz="1815" dirty="0">
                <a:latin typeface="Calibri"/>
                <a:cs typeface="Calibri"/>
              </a:rPr>
              <a:t>AE:</a:t>
            </a:r>
            <a:r>
              <a:rPr sz="1815" spc="14" dirty="0">
                <a:latin typeface="Calibri"/>
                <a:cs typeface="Calibri"/>
              </a:rPr>
              <a:t> </a:t>
            </a:r>
            <a:r>
              <a:rPr sz="1815" dirty="0">
                <a:latin typeface="Calibri"/>
                <a:cs typeface="Calibri"/>
              </a:rPr>
              <a:t>feature</a:t>
            </a:r>
            <a:r>
              <a:rPr sz="1815" spc="32" dirty="0">
                <a:latin typeface="Calibri"/>
                <a:cs typeface="Calibri"/>
              </a:rPr>
              <a:t> </a:t>
            </a:r>
            <a:r>
              <a:rPr sz="1815" dirty="0">
                <a:latin typeface="Calibri"/>
                <a:cs typeface="Calibri"/>
              </a:rPr>
              <a:t>representation,</a:t>
            </a:r>
            <a:r>
              <a:rPr sz="1815" spc="23" dirty="0">
                <a:latin typeface="Calibri"/>
                <a:cs typeface="Calibri"/>
              </a:rPr>
              <a:t> </a:t>
            </a:r>
            <a:r>
              <a:rPr sz="1815" dirty="0">
                <a:latin typeface="Calibri"/>
                <a:cs typeface="Calibri"/>
              </a:rPr>
              <a:t>h</a:t>
            </a:r>
            <a:r>
              <a:rPr sz="1815" spc="32" dirty="0">
                <a:latin typeface="Calibri"/>
                <a:cs typeface="Calibri"/>
              </a:rPr>
              <a:t> </a:t>
            </a:r>
            <a:r>
              <a:rPr sz="1815" dirty="0">
                <a:latin typeface="Calibri"/>
                <a:cs typeface="Calibri"/>
              </a:rPr>
              <a:t>=</a:t>
            </a:r>
            <a:r>
              <a:rPr sz="1815" spc="36" dirty="0">
                <a:latin typeface="Calibri"/>
                <a:cs typeface="Calibri"/>
              </a:rPr>
              <a:t> </a:t>
            </a:r>
            <a:r>
              <a:rPr sz="1815" dirty="0">
                <a:latin typeface="Calibri"/>
                <a:cs typeface="Calibri"/>
              </a:rPr>
              <a:t>E(x)</a:t>
            </a:r>
            <a:r>
              <a:rPr sz="1815" spc="18" dirty="0">
                <a:latin typeface="Calibri"/>
                <a:cs typeface="Calibri"/>
              </a:rPr>
              <a:t> </a:t>
            </a:r>
            <a:r>
              <a:rPr sz="1815" dirty="0">
                <a:latin typeface="Calibri"/>
                <a:cs typeface="Calibri"/>
              </a:rPr>
              <a:t>is</a:t>
            </a:r>
            <a:r>
              <a:rPr sz="1815" spc="23" dirty="0">
                <a:latin typeface="Calibri"/>
                <a:cs typeface="Calibri"/>
              </a:rPr>
              <a:t> </a:t>
            </a:r>
            <a:r>
              <a:rPr sz="1815" spc="-9" dirty="0">
                <a:latin typeface="Calibri"/>
                <a:cs typeface="Calibri"/>
              </a:rPr>
              <a:t>deterministic</a:t>
            </a:r>
            <a:endParaRPr sz="1815">
              <a:latin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1812</TotalTime>
  <Words>1602</Words>
  <Application>Microsoft Office PowerPoint</Application>
  <PresentationFormat>Widescreen</PresentationFormat>
  <Paragraphs>128</Paragraphs>
  <Slides>29</Slides>
  <Notes>6</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29</vt:i4>
      </vt:variant>
    </vt:vector>
  </HeadingPairs>
  <TitlesOfParts>
    <vt:vector size="45" baseType="lpstr">
      <vt:lpstr>Calendas Plus</vt:lpstr>
      <vt:lpstr>KaTeX_Caligraphic</vt:lpstr>
      <vt:lpstr>KaTeX_Main</vt:lpstr>
      <vt:lpstr>KaTeX_Math</vt:lpstr>
      <vt:lpstr>sohne</vt:lpstr>
      <vt:lpstr>Söhne</vt:lpstr>
      <vt:lpstr>source-serif-pro</vt:lpstr>
      <vt:lpstr>Arial</vt:lpstr>
      <vt:lpstr>Calibri</vt:lpstr>
      <vt:lpstr>Calibri Light</vt:lpstr>
      <vt:lpstr>Cambria Math</vt:lpstr>
      <vt:lpstr>Poppins</vt:lpstr>
      <vt:lpstr>Roboto</vt:lpstr>
      <vt:lpstr>Times New Roman</vt:lpstr>
      <vt:lpstr>Wingdings</vt:lpstr>
      <vt:lpstr>Office Theme</vt:lpstr>
      <vt:lpstr>Autoencoder and  Variational Autoencoder </vt:lpstr>
      <vt:lpstr>Vanilla Autoencoder</vt:lpstr>
      <vt:lpstr>Vanilla Autoencoder</vt:lpstr>
      <vt:lpstr>Vanilla Autoencoder</vt:lpstr>
      <vt:lpstr>Vanilla Autoencoder</vt:lpstr>
      <vt:lpstr>Vanilla Autoencoder</vt:lpstr>
      <vt:lpstr>Stacked Autoencoder</vt:lpstr>
      <vt:lpstr>Stacked Autoencoder</vt:lpstr>
      <vt:lpstr>Stacked Autoencoder</vt:lpstr>
      <vt:lpstr>Stacked Autoencoder</vt:lpstr>
      <vt:lpstr>Stacked Autoencoder</vt:lpstr>
      <vt:lpstr>Stacked Autoencoder</vt:lpstr>
      <vt:lpstr>What is an Autoencoder?</vt:lpstr>
      <vt:lpstr>What is generative models?</vt:lpstr>
      <vt:lpstr>Autoencoders: Generative model or Not?</vt:lpstr>
      <vt:lpstr>The standard autoencoder</vt:lpstr>
      <vt:lpstr>The standard autoencoder</vt:lpstr>
      <vt:lpstr>The problem with standard autoencoders</vt:lpstr>
      <vt:lpstr>Variational Autoencoder</vt:lpstr>
      <vt:lpstr>Variational Autoencoder</vt:lpstr>
      <vt:lpstr>Variational Autoencoder</vt:lpstr>
      <vt:lpstr>Variational Autoencoder</vt:lpstr>
      <vt:lpstr>Variational Autoencoder</vt:lpstr>
      <vt:lpstr>Variational Autoencoder</vt:lpstr>
      <vt:lpstr>Variational Autoencoders (VAEs)</vt:lpstr>
      <vt:lpstr>Variational Autoencoder</vt:lpstr>
      <vt:lpstr>Variational Autoencoder</vt:lpstr>
      <vt:lpstr>Kullback-Leibler divergence</vt:lpstr>
      <vt:lpstr>Variational Autoencoder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Autoencoder to Variational Autoencoder </dc:title>
  <dc:creator>Guo, Hongyu</dc:creator>
  <cp:lastModifiedBy>Guo, Hongyu</cp:lastModifiedBy>
  <cp:revision>6</cp:revision>
  <dcterms:created xsi:type="dcterms:W3CDTF">2023-11-22T17:39:40Z</dcterms:created>
  <dcterms:modified xsi:type="dcterms:W3CDTF">2024-04-03T22:56:11Z</dcterms:modified>
</cp:coreProperties>
</file>