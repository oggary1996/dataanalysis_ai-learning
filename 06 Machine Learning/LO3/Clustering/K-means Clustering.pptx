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5" r:id="rId2"/>
    <p:sldId id="258" r:id="rId3"/>
    <p:sldId id="276" r:id="rId4"/>
    <p:sldId id="277" r:id="rId5"/>
    <p:sldId id="281" r:id="rId6"/>
    <p:sldId id="282" r:id="rId7"/>
    <p:sldId id="270" r:id="rId8"/>
    <p:sldId id="271" r:id="rId9"/>
    <p:sldId id="283" r:id="rId10"/>
    <p:sldId id="278" r:id="rId11"/>
    <p:sldId id="279" r:id="rId12"/>
    <p:sldId id="280" r:id="rId13"/>
    <p:sldId id="284" r:id="rId14"/>
    <p:sldId id="285" r:id="rId15"/>
    <p:sldId id="286" r:id="rId16"/>
    <p:sldId id="287" r:id="rId17"/>
    <p:sldId id="288" r:id="rId18"/>
    <p:sldId id="289" r:id="rId19"/>
    <p:sldId id="290" r:id="rId20"/>
    <p:sldId id="256" r:id="rId21"/>
    <p:sldId id="274" r:id="rId22"/>
    <p:sldId id="257" r:id="rId23"/>
    <p:sldId id="259" r:id="rId24"/>
    <p:sldId id="260" r:id="rId25"/>
    <p:sldId id="261" r:id="rId26"/>
    <p:sldId id="262" r:id="rId27"/>
    <p:sldId id="263" r:id="rId28"/>
    <p:sldId id="264" r:id="rId29"/>
    <p:sldId id="265" r:id="rId30"/>
    <p:sldId id="266" r:id="rId31"/>
    <p:sldId id="309" r:id="rId32"/>
    <p:sldId id="310" r:id="rId33"/>
    <p:sldId id="311" r:id="rId34"/>
    <p:sldId id="312" r:id="rId35"/>
    <p:sldId id="313" r:id="rId36"/>
    <p:sldId id="314" r:id="rId37"/>
    <p:sldId id="26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11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53" autoAdjust="0"/>
    <p:restoredTop sz="84412" autoAdjust="0"/>
  </p:normalViewPr>
  <p:slideViewPr>
    <p:cSldViewPr>
      <p:cViewPr>
        <p:scale>
          <a:sx n="30" d="100"/>
          <a:sy n="30" d="100"/>
        </p:scale>
        <p:origin x="1432"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E60D4-9322-4B78-86D3-70E02B51A339}" type="datetimeFigureOut">
              <a:rPr lang="en-CA" smtClean="0"/>
              <a:t>2024-03-21</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B14F20-8DFF-4843-83D6-E957BDB5261E}" type="slidenum">
              <a:rPr lang="en-CA" smtClean="0"/>
              <a:t>‹#›</a:t>
            </a:fld>
            <a:endParaRPr lang="en-CA"/>
          </a:p>
        </p:txBody>
      </p:sp>
    </p:spTree>
    <p:extLst>
      <p:ext uri="{BB962C8B-B14F-4D97-AF65-F5344CB8AC3E}">
        <p14:creationId xmlns:p14="http://schemas.microsoft.com/office/powerpoint/2010/main" val="3008756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43000" y="685800"/>
            <a:ext cx="4573588" cy="3429000"/>
          </a:xfrm>
          <a:ln/>
        </p:spPr>
      </p:sp>
      <p:sp>
        <p:nvSpPr>
          <p:cNvPr id="80899" name="Rectangle 3"/>
          <p:cNvSpPr txBox="1">
            <a:spLocks noGrp="1" noChangeArrowheads="1"/>
          </p:cNvSpPr>
          <p:nvPr>
            <p:ph type="body" idx="1"/>
          </p:nvPr>
        </p:nvSpPr>
        <p:spPr>
          <a:xfrm>
            <a:off x="912906" y="4343144"/>
            <a:ext cx="5032190" cy="4115019"/>
          </a:xfrm>
          <a:solidFill>
            <a:srgbClr val="FFFFFF"/>
          </a:solidFill>
          <a:ln>
            <a:solidFill>
              <a:srgbClr val="000000"/>
            </a:solidFill>
            <a:miter lim="800000"/>
            <a:headEnd/>
            <a:tailEnd/>
          </a:ln>
        </p:spPr>
        <p:txBody>
          <a:bodyPr/>
          <a:lstStyle/>
          <a:p>
            <a:pPr marL="228600" indent="-228600" defTabSz="914400"/>
            <a:r>
              <a:rPr lang="en-US" altLang="en-US" dirty="0">
                <a:latin typeface="Times New Roman" pitchFamily="18" charset="0"/>
                <a:ea typeface="ＭＳ Ｐゴシック" pitchFamily="34" charset="-128"/>
              </a:rPr>
              <a:t>When we don’t have labels (I.e., f) we have an unsupervised learning problem.</a:t>
            </a:r>
          </a:p>
          <a:p>
            <a:pPr marL="228600" indent="-228600" defTabSz="914400"/>
            <a:endParaRPr lang="en-US" altLang="en-US" dirty="0">
              <a:latin typeface="Times New Roman" pitchFamily="18" charset="0"/>
              <a:ea typeface="ＭＳ Ｐゴシック" pitchFamily="34" charset="-128"/>
            </a:endParaRPr>
          </a:p>
          <a:p>
            <a:pPr marL="228600" indent="-228600" defTabSz="914400"/>
            <a:r>
              <a:rPr lang="en-US" altLang="en-US" dirty="0">
                <a:latin typeface="Times New Roman" pitchFamily="18" charset="0"/>
                <a:ea typeface="ＭＳ Ｐゴシック" pitchFamily="34" charset="-128"/>
              </a:rPr>
              <a:t>We can apply clustering to</a:t>
            </a:r>
          </a:p>
          <a:p>
            <a:pPr marL="228600" indent="-228600" defTabSz="914400"/>
            <a:endParaRPr lang="en-US" altLang="en-US" dirty="0">
              <a:latin typeface="Times New Roman" pitchFamily="18" charset="0"/>
              <a:ea typeface="ＭＳ Ｐゴシック" pitchFamily="34" charset="-128"/>
            </a:endParaRPr>
          </a:p>
          <a:p>
            <a:pPr marL="228600" indent="-228600" defTabSz="914400">
              <a:buFontTx/>
              <a:buAutoNum type="arabicParenR"/>
            </a:pPr>
            <a:r>
              <a:rPr lang="en-US" altLang="en-US" dirty="0">
                <a:latin typeface="Times New Roman" pitchFamily="18" charset="0"/>
                <a:ea typeface="ＭＳ Ｐゴシック" pitchFamily="34" charset="-128"/>
              </a:rPr>
              <a:t>Find the prototypes  in our data – for example to find similar customers</a:t>
            </a:r>
          </a:p>
          <a:p>
            <a:pPr marL="228600" indent="-228600" defTabSz="914400">
              <a:buFontTx/>
              <a:buAutoNum type="arabicParenR"/>
            </a:pPr>
            <a:r>
              <a:rPr lang="en-US" altLang="en-US" dirty="0">
                <a:latin typeface="Times New Roman" pitchFamily="18" charset="0"/>
                <a:ea typeface="ＭＳ Ｐゴシック" pitchFamily="34" charset="-128"/>
              </a:rPr>
              <a:t>Find the large groups of similar observations to identify deviations/anomalies/outliers.</a:t>
            </a:r>
          </a:p>
          <a:p>
            <a:pPr marL="228600" indent="-228600" defTabSz="914400">
              <a:buFontTx/>
              <a:buAutoNum type="arabicParenR"/>
            </a:pPr>
            <a:endParaRPr lang="en-US" altLang="en-US" dirty="0">
              <a:latin typeface="Times New Roman" pitchFamily="18" charset="0"/>
              <a:ea typeface="ＭＳ Ｐゴシック"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itchFamily="18" charset="0"/>
                <a:ea typeface="ＭＳ Ｐゴシック" pitchFamily="34" charset="-128"/>
              </a:rPr>
              <a:t>Until now we have assumed that the training data is labeled.</a:t>
            </a:r>
          </a:p>
          <a:p>
            <a:r>
              <a:rPr lang="en-US" altLang="en-US">
                <a:latin typeface="Times New Roman" pitchFamily="18" charset="0"/>
                <a:ea typeface="ＭＳ Ｐゴシック" pitchFamily="34" charset="-128"/>
              </a:rPr>
              <a:t>Now we look at what can we do with data when we have not labels.</a:t>
            </a:r>
          </a:p>
          <a:p>
            <a:r>
              <a:rPr lang="en-US" altLang="en-US">
                <a:latin typeface="Times New Roman" pitchFamily="18" charset="0"/>
                <a:ea typeface="ＭＳ Ｐゴシック" pitchFamily="34" charset="-128"/>
              </a:rPr>
              <a:t>\item Example: group customer behavior, find similar buying patterns.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27125" y="701675"/>
            <a:ext cx="4587875" cy="3440113"/>
          </a:xfrm>
          <a:noFill/>
          <a:ln/>
          <a:extLst>
            <a:ext uri="{909E8E84-426E-40DD-AFC4-6F175D3DCCD1}">
              <a14:hiddenFill xmlns:a14="http://schemas.microsoft.com/office/drawing/2010/main">
                <a:solidFill>
                  <a:srgbClr val="FFFFFF"/>
                </a:solidFill>
              </a14:hiddenFill>
            </a:ext>
          </a:extLst>
        </p:spPr>
      </p:sp>
      <p:sp>
        <p:nvSpPr>
          <p:cNvPr id="82947" name="Text Box 3"/>
          <p:cNvSpPr txBox="1">
            <a:spLocks noGrp="1" noChangeArrowheads="1"/>
          </p:cNvSpPr>
          <p:nvPr>
            <p:ph type="body" idx="1"/>
          </p:nvPr>
        </p:nvSpPr>
        <p:spPr>
          <a:solidFill>
            <a:srgbClr val="FFFFFF"/>
          </a:solidFill>
          <a:ln>
            <a:solidFill>
              <a:srgbClr val="000000"/>
            </a:solidFill>
            <a:miter lim="800000"/>
            <a:headEnd/>
            <a:tailEnd/>
          </a:ln>
        </p:spPr>
        <p:txBody>
          <a:bodyPr/>
          <a:lstStyle/>
          <a:p>
            <a:r>
              <a:rPr lang="en-US" altLang="en-US">
                <a:latin typeface="Times New Roman" pitchFamily="18" charset="0"/>
                <a:ea typeface="ＭＳ Ｐゴシック" pitchFamily="34" charset="-128"/>
              </a:rPr>
              <a:t>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itchFamily="18" charset="0"/>
                <a:ea typeface="ＭＳ Ｐゴシック" pitchFamily="34" charset="-128"/>
              </a:rPr>
              <a:t>Have class break into groups and invent clustering algorithms.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B444F"/>
                </a:solidFill>
                <a:effectLst/>
                <a:latin typeface="open-sans"/>
              </a:rPr>
              <a:t>Step 1</a:t>
            </a:r>
            <a:r>
              <a:rPr lang="en-US" b="0" i="0" dirty="0">
                <a:solidFill>
                  <a:srgbClr val="3B444F"/>
                </a:solidFill>
                <a:effectLst/>
                <a:latin typeface="open-sans"/>
              </a:rPr>
              <a:t>: Partition the items into </a:t>
            </a:r>
            <a:r>
              <a:rPr lang="en-US" b="0" i="1" dirty="0">
                <a:solidFill>
                  <a:srgbClr val="3B444F"/>
                </a:solidFill>
                <a:effectLst/>
                <a:latin typeface="open-sans"/>
              </a:rPr>
              <a:t>K</a:t>
            </a:r>
            <a:r>
              <a:rPr lang="en-US" b="0" i="0" dirty="0">
                <a:solidFill>
                  <a:srgbClr val="3B444F"/>
                </a:solidFill>
                <a:effectLst/>
                <a:latin typeface="open-sans"/>
              </a:rPr>
              <a:t> initial clusters.</a:t>
            </a:r>
          </a:p>
          <a:p>
            <a:pPr algn="l">
              <a:buFont typeface="Arial" panose="020B0604020202020204" pitchFamily="34" charset="0"/>
              <a:buChar char="•"/>
            </a:pPr>
            <a:r>
              <a:rPr lang="en-US" b="1" i="0" dirty="0">
                <a:solidFill>
                  <a:srgbClr val="3B444F"/>
                </a:solidFill>
                <a:effectLst/>
                <a:latin typeface="open-sans"/>
              </a:rPr>
              <a:t>Step 2</a:t>
            </a:r>
            <a:r>
              <a:rPr lang="en-US" b="0" i="0" dirty="0">
                <a:solidFill>
                  <a:srgbClr val="3B444F"/>
                </a:solidFill>
                <a:effectLst/>
                <a:latin typeface="open-sans"/>
              </a:rPr>
              <a:t>: Scan through the list of </a:t>
            </a:r>
            <a:r>
              <a:rPr lang="en-US" b="0" i="1" dirty="0">
                <a:solidFill>
                  <a:srgbClr val="3B444F"/>
                </a:solidFill>
                <a:effectLst/>
                <a:latin typeface="open-sans"/>
              </a:rPr>
              <a:t>n</a:t>
            </a:r>
            <a:r>
              <a:rPr lang="en-US" b="0" i="0" dirty="0">
                <a:solidFill>
                  <a:srgbClr val="3B444F"/>
                </a:solidFill>
                <a:effectLst/>
                <a:latin typeface="open-sans"/>
              </a:rPr>
              <a:t> items, assigning each item to the cluster whose centroid (mean) is closest. Each time an item is reassigned, we recalculate the cluster mean or centroid for the cluster receiving that item and the cluster losing that item.</a:t>
            </a:r>
          </a:p>
          <a:p>
            <a:pPr algn="l">
              <a:buFont typeface="Arial" panose="020B0604020202020204" pitchFamily="34" charset="0"/>
              <a:buChar char="•"/>
            </a:pPr>
            <a:r>
              <a:rPr lang="en-US" b="1" i="0" dirty="0">
                <a:solidFill>
                  <a:srgbClr val="3B444F"/>
                </a:solidFill>
                <a:effectLst/>
                <a:latin typeface="open-sans"/>
              </a:rPr>
              <a:t>Step 3</a:t>
            </a:r>
            <a:r>
              <a:rPr lang="en-US" b="0" i="0" dirty="0">
                <a:solidFill>
                  <a:srgbClr val="3B444F"/>
                </a:solidFill>
                <a:effectLst/>
                <a:latin typeface="open-sans"/>
              </a:rPr>
              <a:t>: Repeat Step 2 over and over again until no more reassignments are made.</a:t>
            </a:r>
          </a:p>
          <a:p>
            <a:endParaRPr lang="en-CA" dirty="0"/>
          </a:p>
        </p:txBody>
      </p:sp>
      <p:sp>
        <p:nvSpPr>
          <p:cNvPr id="4" name="Slide Number Placeholder 3"/>
          <p:cNvSpPr>
            <a:spLocks noGrp="1"/>
          </p:cNvSpPr>
          <p:nvPr>
            <p:ph type="sldNum" sz="quarter" idx="5"/>
          </p:nvPr>
        </p:nvSpPr>
        <p:spPr/>
        <p:txBody>
          <a:bodyPr/>
          <a:lstStyle/>
          <a:p>
            <a:fld id="{8EB14F20-8DFF-4843-83D6-E957BDB5261E}" type="slidenum">
              <a:rPr lang="en-CA" smtClean="0"/>
              <a:t>28</a:t>
            </a:fld>
            <a:endParaRPr lang="en-CA"/>
          </a:p>
        </p:txBody>
      </p:sp>
    </p:spTree>
    <p:extLst>
      <p:ext uri="{BB962C8B-B14F-4D97-AF65-F5344CB8AC3E}">
        <p14:creationId xmlns:p14="http://schemas.microsoft.com/office/powerpoint/2010/main" val="3248415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a typeface="ＭＳ Ｐゴシック"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txBox="1">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a typeface="ＭＳ Ｐゴシック"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CCF35B-D249-42FB-9EDC-DC939374698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235745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3261656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CCF35B-D249-42FB-9EDC-DC939374698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344745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CCF35B-D249-42FB-9EDC-DC939374698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533335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CCF35B-D249-42FB-9EDC-DC939374698D}" type="datetimeFigureOut">
              <a:rPr lang="en-US" smtClean="0"/>
              <a:t>3/21/2024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513727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CCF35B-D249-42FB-9EDC-DC939374698D}" type="datetimeFigureOut">
              <a:rPr lang="en-US" smtClean="0"/>
              <a:t>3/21/2024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243657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CCF35B-D249-42FB-9EDC-DC939374698D}" type="datetimeFigureOut">
              <a:rPr lang="en-US" smtClean="0"/>
              <a:t>3/21/2024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73918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CCF35B-D249-42FB-9EDC-DC939374698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182798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CCF35B-D249-42FB-9EDC-DC939374698D}" type="datetimeFigureOut">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00868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79872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CCF35B-D249-42FB-9EDC-DC939374698D}" type="datetimeFigureOut">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7F7FE-C4A6-4328-A3FB-5EE701EC2924}" type="slidenum">
              <a:rPr lang="en-US" smtClean="0"/>
              <a:t>‹#›</a:t>
            </a:fld>
            <a:endParaRPr lang="en-US"/>
          </a:p>
        </p:txBody>
      </p:sp>
    </p:spTree>
    <p:extLst>
      <p:ext uri="{BB962C8B-B14F-4D97-AF65-F5344CB8AC3E}">
        <p14:creationId xmlns:p14="http://schemas.microsoft.com/office/powerpoint/2010/main" val="1751822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CCF35B-D249-42FB-9EDC-DC939374698D}" type="datetimeFigureOut">
              <a:rPr lang="en-US" smtClean="0"/>
              <a:t>3/21/2024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7F7FE-C4A6-4328-A3FB-5EE701EC2924}" type="slidenum">
              <a:rPr lang="en-US" smtClean="0"/>
              <a:t>‹#›</a:t>
            </a:fld>
            <a:endParaRPr lang="en-US"/>
          </a:p>
        </p:txBody>
      </p:sp>
    </p:spTree>
    <p:extLst>
      <p:ext uri="{BB962C8B-B14F-4D97-AF65-F5344CB8AC3E}">
        <p14:creationId xmlns:p14="http://schemas.microsoft.com/office/powerpoint/2010/main" val="67749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wmf"/><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22.png"/><Relationship Id="rId12"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www.ncbi.nlm.nih.gov/pmc/articles/PMC509673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2130425"/>
            <a:ext cx="7772400" cy="841375"/>
          </a:xfrm>
        </p:spPr>
        <p:txBody>
          <a:bodyPr/>
          <a:lstStyle/>
          <a:p>
            <a:pPr algn="ctr"/>
            <a:r>
              <a:rPr lang="en-US" altLang="en-US" sz="4000"/>
              <a:t>Introduction to Clustering</a:t>
            </a:r>
          </a:p>
        </p:txBody>
      </p:sp>
      <p:sp>
        <p:nvSpPr>
          <p:cNvPr id="2051" name="Subtitle 2"/>
          <p:cNvSpPr>
            <a:spLocks noGrp="1"/>
          </p:cNvSpPr>
          <p:nvPr>
            <p:ph type="subTitle" idx="1"/>
          </p:nvPr>
        </p:nvSpPr>
        <p:spPr>
          <a:xfrm>
            <a:off x="1371600" y="3657600"/>
            <a:ext cx="6400800" cy="1371600"/>
          </a:xfrm>
        </p:spPr>
        <p:txBody>
          <a:bodyPr/>
          <a:lstStyle/>
          <a:p>
            <a:r>
              <a:rPr lang="en-US" altLang="en-US" dirty="0"/>
              <a:t>Hongyu Guo</a:t>
            </a:r>
          </a:p>
          <a:p>
            <a:r>
              <a:rPr lang="en-US" altLang="en-US" dirty="0"/>
              <a:t>2023</a:t>
            </a:r>
          </a:p>
        </p:txBody>
      </p:sp>
    </p:spTree>
    <p:extLst>
      <p:ext uri="{BB962C8B-B14F-4D97-AF65-F5344CB8AC3E}">
        <p14:creationId xmlns:p14="http://schemas.microsoft.com/office/powerpoint/2010/main" val="3252615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914" name="Rectangle 2"/>
          <p:cNvSpPr>
            <a:spLocks noGrp="1" noChangeArrowheads="1"/>
          </p:cNvSpPr>
          <p:nvPr>
            <p:ph type="title"/>
          </p:nvPr>
        </p:nvSpPr>
        <p:spPr>
          <a:xfrm>
            <a:off x="304800" y="304800"/>
            <a:ext cx="8458200" cy="838200"/>
          </a:xfrm>
        </p:spPr>
        <p:txBody>
          <a:bodyPr>
            <a:normAutofit fontScale="90000"/>
          </a:bodyPr>
          <a:lstStyle/>
          <a:p>
            <a:pPr eaLnBrk="1" hangingPunct="1">
              <a:buFont typeface="Futura Bk" charset="0"/>
              <a:buNone/>
              <a:defRPr/>
            </a:pPr>
            <a:r>
              <a:rPr lang="en-US" dirty="0">
                <a:cs typeface="+mj-cs"/>
              </a:rPr>
              <a:t>Clustering</a:t>
            </a:r>
            <a:br>
              <a:rPr lang="en-US" dirty="0">
                <a:cs typeface="+mj-cs"/>
              </a:rPr>
            </a:br>
            <a:r>
              <a:rPr lang="en-US" dirty="0">
                <a:cs typeface="+mj-cs"/>
              </a:rPr>
              <a:t>(Unsupervised Learning)</a:t>
            </a:r>
          </a:p>
        </p:txBody>
      </p:sp>
      <p:sp>
        <p:nvSpPr>
          <p:cNvPr id="3075" name="Rectangle 3"/>
          <p:cNvSpPr>
            <a:spLocks noGrp="1" noChangeArrowheads="1"/>
          </p:cNvSpPr>
          <p:nvPr>
            <p:ph type="body" idx="1"/>
          </p:nvPr>
        </p:nvSpPr>
        <p:spPr>
          <a:xfrm>
            <a:off x="419100" y="1600200"/>
            <a:ext cx="8153400" cy="4114800"/>
          </a:xfrm>
        </p:spPr>
        <p:txBody>
          <a:bodyPr/>
          <a:lstStyle/>
          <a:p>
            <a:pPr marL="342900" indent="-342900" defTabSz="914400" eaLnBrk="1" hangingPunct="1">
              <a:buFont typeface="Wingdings" pitchFamily="2" charset="2"/>
              <a:buNone/>
            </a:pPr>
            <a:r>
              <a:rPr lang="en-US" altLang="en-US" sz="2400" b="1"/>
              <a:t>Given:</a:t>
            </a:r>
            <a:r>
              <a:rPr lang="en-US" altLang="en-US" sz="2400"/>
              <a:t> Examples:</a:t>
            </a:r>
          </a:p>
          <a:p>
            <a:pPr marL="342900" indent="-342900" defTabSz="914400" eaLnBrk="1" hangingPunct="1">
              <a:buFont typeface="Wingdings" pitchFamily="2" charset="2"/>
              <a:buNone/>
            </a:pPr>
            <a:r>
              <a:rPr lang="en-US" altLang="en-US" sz="2400" b="1"/>
              <a:t>Find:</a:t>
            </a:r>
            <a:r>
              <a:rPr lang="en-US" altLang="en-US" sz="2400"/>
              <a:t> A natural clustering (grouping) of the data</a:t>
            </a:r>
          </a:p>
          <a:p>
            <a:pPr marL="342900" indent="-342900" defTabSz="914400" eaLnBrk="1" hangingPunct="1"/>
            <a:endParaRPr lang="en-US" altLang="en-US" sz="2400"/>
          </a:p>
          <a:p>
            <a:pPr marL="342900" indent="-342900" defTabSz="914400" eaLnBrk="1" hangingPunct="1">
              <a:buFont typeface="Wingdings" pitchFamily="2" charset="2"/>
              <a:buNone/>
            </a:pPr>
            <a:r>
              <a:rPr lang="en-US" altLang="en-US" sz="2400" b="1"/>
              <a:t>Example Applications:</a:t>
            </a:r>
          </a:p>
          <a:p>
            <a:pPr marL="342900" indent="-342900" defTabSz="914400" eaLnBrk="1" hangingPunct="1">
              <a:buFont typeface="Wingdings" pitchFamily="2" charset="2"/>
              <a:buNone/>
            </a:pPr>
            <a:r>
              <a:rPr lang="en-US" altLang="en-US" sz="2400"/>
              <a:t>  Identify similar energy use customer profiles</a:t>
            </a:r>
          </a:p>
          <a:p>
            <a:pPr marL="342900" indent="-342900" defTabSz="914400" eaLnBrk="1" hangingPunct="1">
              <a:buFont typeface="Wingdings" pitchFamily="2" charset="2"/>
              <a:buNone/>
            </a:pPr>
            <a:r>
              <a:rPr lang="en-US" altLang="en-US" sz="2400"/>
              <a:t>  &lt;</a:t>
            </a:r>
            <a:r>
              <a:rPr lang="en-US" altLang="en-US" sz="2400" b="1"/>
              <a:t>x</a:t>
            </a:r>
            <a:r>
              <a:rPr lang="en-US" altLang="en-US" sz="2400"/>
              <a:t>&gt; = time series of energy usage</a:t>
            </a:r>
          </a:p>
          <a:p>
            <a:pPr marL="342900" indent="-342900" defTabSz="914400" eaLnBrk="1" hangingPunct="1">
              <a:buFont typeface="Wingdings" pitchFamily="2" charset="2"/>
              <a:buNone/>
            </a:pPr>
            <a:endParaRPr lang="en-US" altLang="en-US" sz="2400"/>
          </a:p>
          <a:p>
            <a:pPr marL="342900" indent="-342900" defTabSz="914400" eaLnBrk="1" hangingPunct="1">
              <a:buFont typeface="Wingdings" pitchFamily="2" charset="2"/>
              <a:buNone/>
            </a:pPr>
            <a:r>
              <a:rPr lang="en-US" altLang="en-US" sz="2400"/>
              <a:t>  Identify anomalies in user behavior for computer security</a:t>
            </a:r>
          </a:p>
          <a:p>
            <a:pPr marL="342900" indent="-342900" defTabSz="914400" eaLnBrk="1" hangingPunct="1">
              <a:buFont typeface="Wingdings" pitchFamily="2" charset="2"/>
              <a:buNone/>
            </a:pPr>
            <a:r>
              <a:rPr lang="en-US" altLang="en-US" sz="2400"/>
              <a:t>  &lt;</a:t>
            </a:r>
            <a:r>
              <a:rPr lang="en-US" altLang="en-US" sz="2400" b="1"/>
              <a:t>x</a:t>
            </a:r>
            <a:r>
              <a:rPr lang="en-US" altLang="en-US" sz="2400"/>
              <a:t>&gt; = sequences of user commands</a:t>
            </a:r>
            <a:endParaRPr lang="en-US" altLang="en-US" sz="2400">
              <a:latin typeface="Microsoft Sans Serif" pitchFamily="34" charset="0"/>
            </a:endParaRPr>
          </a:p>
        </p:txBody>
      </p:sp>
      <p:sp>
        <p:nvSpPr>
          <p:cNvPr id="3076" name="Text Box 4"/>
          <p:cNvSpPr txBox="1">
            <a:spLocks noChangeArrowheads="1"/>
          </p:cNvSpPr>
          <p:nvPr/>
        </p:nvSpPr>
        <p:spPr bwMode="auto">
          <a:xfrm>
            <a:off x="3200400" y="1589088"/>
            <a:ext cx="28717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r>
              <a:rPr lang="en-US" altLang="en-US" sz="2800"/>
              <a:t>&lt; x  , x  , … x    &gt;</a:t>
            </a:r>
          </a:p>
        </p:txBody>
      </p:sp>
      <p:sp>
        <p:nvSpPr>
          <p:cNvPr id="3077" name="Text Box 5"/>
          <p:cNvSpPr txBox="1">
            <a:spLocks noChangeArrowheads="1"/>
          </p:cNvSpPr>
          <p:nvPr/>
        </p:nvSpPr>
        <p:spPr bwMode="auto">
          <a:xfrm>
            <a:off x="3681413" y="17907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r>
              <a:rPr lang="en-US" altLang="en-US" sz="1600">
                <a:latin typeface="Arial Unicode MS" pitchFamily="34" charset="-128"/>
              </a:rPr>
              <a:t>1</a:t>
            </a:r>
          </a:p>
        </p:txBody>
      </p:sp>
      <p:sp>
        <p:nvSpPr>
          <p:cNvPr id="3078" name="Text Box 6"/>
          <p:cNvSpPr txBox="1">
            <a:spLocks noChangeArrowheads="1"/>
          </p:cNvSpPr>
          <p:nvPr/>
        </p:nvSpPr>
        <p:spPr bwMode="auto">
          <a:xfrm>
            <a:off x="5372100" y="179070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r>
              <a:rPr lang="en-US" altLang="en-US" sz="1600">
                <a:latin typeface="Arial Unicode MS" pitchFamily="34" charset="-128"/>
              </a:rPr>
              <a:t>n</a:t>
            </a:r>
          </a:p>
        </p:txBody>
      </p:sp>
      <p:sp>
        <p:nvSpPr>
          <p:cNvPr id="3079" name="Text Box 7"/>
          <p:cNvSpPr txBox="1">
            <a:spLocks noChangeArrowheads="1"/>
          </p:cNvSpPr>
          <p:nvPr/>
        </p:nvSpPr>
        <p:spPr bwMode="auto">
          <a:xfrm>
            <a:off x="9067800" y="218440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r>
              <a:rPr lang="en-US" altLang="en-US" sz="1600">
                <a:latin typeface="Arial Unicode MS" pitchFamily="34" charset="-128"/>
              </a:rPr>
              <a:t>n</a:t>
            </a:r>
          </a:p>
        </p:txBody>
      </p:sp>
      <p:sp>
        <p:nvSpPr>
          <p:cNvPr id="3080" name="Text Box 8"/>
          <p:cNvSpPr txBox="1">
            <a:spLocks noChangeArrowheads="1"/>
          </p:cNvSpPr>
          <p:nvPr/>
        </p:nvSpPr>
        <p:spPr bwMode="auto">
          <a:xfrm>
            <a:off x="4265613" y="178435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r>
              <a:rPr lang="en-US" altLang="en-US" sz="1600">
                <a:latin typeface="Arial Unicode MS" pitchFamily="34" charset="-128"/>
              </a:rPr>
              <a:t>2</a:t>
            </a:r>
          </a:p>
        </p:txBody>
      </p:sp>
    </p:spTree>
    <p:extLst>
      <p:ext uri="{BB962C8B-B14F-4D97-AF65-F5344CB8AC3E}">
        <p14:creationId xmlns:p14="http://schemas.microsoft.com/office/powerpoint/2010/main" val="1829832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buFont typeface="Futura Bk" charset="0"/>
              <a:buNone/>
              <a:defRPr/>
            </a:pPr>
            <a:r>
              <a:rPr lang="en-US" dirty="0">
                <a:cs typeface="+mj-cs"/>
              </a:rPr>
              <a:t>Why cluster?</a:t>
            </a:r>
          </a:p>
        </p:txBody>
      </p:sp>
      <p:sp>
        <p:nvSpPr>
          <p:cNvPr id="6147" name="Content Placeholder 2"/>
          <p:cNvSpPr>
            <a:spLocks noGrp="1"/>
          </p:cNvSpPr>
          <p:nvPr>
            <p:ph idx="1"/>
          </p:nvPr>
        </p:nvSpPr>
        <p:spPr/>
        <p:txBody>
          <a:bodyPr/>
          <a:lstStyle/>
          <a:p>
            <a:pPr eaLnBrk="1" hangingPunct="1"/>
            <a:r>
              <a:rPr lang="en-US" altLang="en-US"/>
              <a:t>Labeling is expensive</a:t>
            </a:r>
          </a:p>
          <a:p>
            <a:pPr eaLnBrk="1" hangingPunct="1"/>
            <a:r>
              <a:rPr lang="en-US" altLang="en-US"/>
              <a:t>Gain insight into the structure of the data</a:t>
            </a:r>
          </a:p>
          <a:p>
            <a:pPr eaLnBrk="1" hangingPunct="1"/>
            <a:r>
              <a:rPr lang="en-US" altLang="en-US"/>
              <a:t>Find prototypes in the data</a:t>
            </a:r>
          </a:p>
        </p:txBody>
      </p:sp>
    </p:spTree>
    <p:extLst>
      <p:ext uri="{BB962C8B-B14F-4D97-AF65-F5344CB8AC3E}">
        <p14:creationId xmlns:p14="http://schemas.microsoft.com/office/powerpoint/2010/main" val="2980329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eaLnBrk="1" hangingPunct="1"/>
            <a:r>
              <a:rPr lang="en-US" altLang="en-US" dirty="0"/>
              <a:t>Goal of Clustering</a:t>
            </a:r>
          </a:p>
        </p:txBody>
      </p:sp>
      <p:sp>
        <p:nvSpPr>
          <p:cNvPr id="7171" name="Rectangle 3"/>
          <p:cNvSpPr>
            <a:spLocks noGrp="1" noChangeArrowheads="1"/>
          </p:cNvSpPr>
          <p:nvPr>
            <p:ph type="body" idx="1"/>
          </p:nvPr>
        </p:nvSpPr>
        <p:spPr>
          <a:xfrm>
            <a:off x="428625" y="1323975"/>
            <a:ext cx="8262938" cy="5018088"/>
          </a:xfrm>
        </p:spPr>
        <p:txBody>
          <a:bodyPr>
            <a:normAutofit lnSpcReduction="10000"/>
          </a:bodyPr>
          <a:lstStyle/>
          <a:p>
            <a:pPr eaLnBrk="1" hangingPunct="1"/>
            <a:r>
              <a:rPr lang="en-US" altLang="en-US" dirty="0"/>
              <a:t>Given a set of data points, each described by a set of attributes, find clusters such that:</a:t>
            </a:r>
          </a:p>
          <a:p>
            <a:pPr eaLnBrk="1" hangingPunct="1"/>
            <a:endParaRPr lang="en-US" altLang="en-US" dirty="0"/>
          </a:p>
          <a:p>
            <a:pPr lvl="1" eaLnBrk="1" hangingPunct="1"/>
            <a:r>
              <a:rPr lang="en-US" altLang="en-US" dirty="0"/>
              <a:t>Inter-cluster similarity is </a:t>
            </a:r>
          </a:p>
          <a:p>
            <a:pPr lvl="1" eaLnBrk="1" hangingPunct="1">
              <a:buFont typeface="Times" pitchFamily="-111" charset="0"/>
              <a:buNone/>
            </a:pPr>
            <a:r>
              <a:rPr lang="en-US" altLang="en-US" dirty="0"/>
              <a:t>   maximized</a:t>
            </a:r>
          </a:p>
          <a:p>
            <a:pPr lvl="1" eaLnBrk="1" hangingPunct="1"/>
            <a:endParaRPr lang="en-US" altLang="en-US" dirty="0"/>
          </a:p>
          <a:p>
            <a:pPr lvl="1" eaLnBrk="1" hangingPunct="1"/>
            <a:r>
              <a:rPr lang="en-US" altLang="en-US" dirty="0"/>
              <a:t>Intra-cluster similarity is </a:t>
            </a:r>
          </a:p>
          <a:p>
            <a:pPr lvl="1" eaLnBrk="1" hangingPunct="1">
              <a:buFont typeface="Times" pitchFamily="-111" charset="0"/>
              <a:buNone/>
            </a:pPr>
            <a:r>
              <a:rPr lang="en-US" altLang="en-US" dirty="0"/>
              <a:t>   minimized </a:t>
            </a:r>
          </a:p>
          <a:p>
            <a:pPr lvl="1" eaLnBrk="1" hangingPunct="1"/>
            <a:endParaRPr lang="en-US" altLang="en-US" dirty="0"/>
          </a:p>
          <a:p>
            <a:pPr eaLnBrk="1" hangingPunct="1"/>
            <a:r>
              <a:rPr lang="en-US" altLang="en-US" dirty="0"/>
              <a:t>Requires the definition of a similarity measure</a:t>
            </a:r>
          </a:p>
        </p:txBody>
      </p:sp>
      <p:sp>
        <p:nvSpPr>
          <p:cNvPr id="7172" name="Line 4"/>
          <p:cNvSpPr>
            <a:spLocks noChangeShapeType="1"/>
          </p:cNvSpPr>
          <p:nvPr/>
        </p:nvSpPr>
        <p:spPr bwMode="auto">
          <a:xfrm>
            <a:off x="5876925" y="2435225"/>
            <a:ext cx="1588" cy="2138363"/>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3" name="Line 5"/>
          <p:cNvSpPr>
            <a:spLocks noChangeShapeType="1"/>
          </p:cNvSpPr>
          <p:nvPr/>
        </p:nvSpPr>
        <p:spPr bwMode="auto">
          <a:xfrm>
            <a:off x="5876925" y="4573588"/>
            <a:ext cx="2438400" cy="158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4" name="Text Box 6"/>
          <p:cNvSpPr txBox="1">
            <a:spLocks noChangeArrowheads="1"/>
          </p:cNvSpPr>
          <p:nvPr/>
        </p:nvSpPr>
        <p:spPr bwMode="auto">
          <a:xfrm>
            <a:off x="5133975" y="25654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F1</a:t>
            </a:r>
          </a:p>
        </p:txBody>
      </p:sp>
      <p:sp>
        <p:nvSpPr>
          <p:cNvPr id="7175" name="Text Box 7"/>
          <p:cNvSpPr txBox="1">
            <a:spLocks noChangeArrowheads="1"/>
          </p:cNvSpPr>
          <p:nvPr/>
        </p:nvSpPr>
        <p:spPr bwMode="auto">
          <a:xfrm>
            <a:off x="7553325" y="476726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F2</a:t>
            </a:r>
          </a:p>
        </p:txBody>
      </p:sp>
      <p:sp>
        <p:nvSpPr>
          <p:cNvPr id="7176" name="Text Box 8"/>
          <p:cNvSpPr txBox="1">
            <a:spLocks noChangeArrowheads="1"/>
          </p:cNvSpPr>
          <p:nvPr/>
        </p:nvSpPr>
        <p:spPr bwMode="auto">
          <a:xfrm>
            <a:off x="6242050" y="28844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77" name="Text Box 9"/>
          <p:cNvSpPr txBox="1">
            <a:spLocks noChangeArrowheads="1"/>
          </p:cNvSpPr>
          <p:nvPr/>
        </p:nvSpPr>
        <p:spPr bwMode="auto">
          <a:xfrm>
            <a:off x="6149975" y="2962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78" name="Text Box 10"/>
          <p:cNvSpPr txBox="1">
            <a:spLocks noChangeArrowheads="1"/>
          </p:cNvSpPr>
          <p:nvPr/>
        </p:nvSpPr>
        <p:spPr bwMode="auto">
          <a:xfrm>
            <a:off x="6486525" y="29368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79" name="Text Box 11"/>
          <p:cNvSpPr txBox="1">
            <a:spLocks noChangeArrowheads="1"/>
          </p:cNvSpPr>
          <p:nvPr/>
        </p:nvSpPr>
        <p:spPr bwMode="auto">
          <a:xfrm>
            <a:off x="6394450" y="30416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0" name="Text Box 12"/>
          <p:cNvSpPr txBox="1">
            <a:spLocks noChangeArrowheads="1"/>
          </p:cNvSpPr>
          <p:nvPr/>
        </p:nvSpPr>
        <p:spPr bwMode="auto">
          <a:xfrm>
            <a:off x="6302375" y="31654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xx</a:t>
            </a:r>
          </a:p>
        </p:txBody>
      </p:sp>
      <p:sp>
        <p:nvSpPr>
          <p:cNvPr id="7181" name="Text Box 13"/>
          <p:cNvSpPr txBox="1">
            <a:spLocks noChangeArrowheads="1"/>
          </p:cNvSpPr>
          <p:nvPr/>
        </p:nvSpPr>
        <p:spPr bwMode="auto">
          <a:xfrm>
            <a:off x="6638925" y="2708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2" name="Text Box 14"/>
          <p:cNvSpPr txBox="1">
            <a:spLocks noChangeArrowheads="1"/>
          </p:cNvSpPr>
          <p:nvPr/>
        </p:nvSpPr>
        <p:spPr bwMode="auto">
          <a:xfrm>
            <a:off x="6791325" y="2860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3" name="Text Box 15"/>
          <p:cNvSpPr txBox="1">
            <a:spLocks noChangeArrowheads="1"/>
          </p:cNvSpPr>
          <p:nvPr/>
        </p:nvSpPr>
        <p:spPr bwMode="auto">
          <a:xfrm>
            <a:off x="6731000" y="3089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4" name="Text Box 16"/>
          <p:cNvSpPr txBox="1">
            <a:spLocks noChangeArrowheads="1"/>
          </p:cNvSpPr>
          <p:nvPr/>
        </p:nvSpPr>
        <p:spPr bwMode="auto">
          <a:xfrm>
            <a:off x="6394450" y="28336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5" name="Text Box 17"/>
          <p:cNvSpPr txBox="1">
            <a:spLocks noChangeArrowheads="1"/>
          </p:cNvSpPr>
          <p:nvPr/>
        </p:nvSpPr>
        <p:spPr bwMode="auto">
          <a:xfrm>
            <a:off x="7312025" y="3521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6" name="Text Box 18"/>
          <p:cNvSpPr txBox="1">
            <a:spLocks noChangeArrowheads="1"/>
          </p:cNvSpPr>
          <p:nvPr/>
        </p:nvSpPr>
        <p:spPr bwMode="auto">
          <a:xfrm>
            <a:off x="7219950" y="35988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7" name="Text Box 19"/>
          <p:cNvSpPr txBox="1">
            <a:spLocks noChangeArrowheads="1"/>
          </p:cNvSpPr>
          <p:nvPr/>
        </p:nvSpPr>
        <p:spPr bwMode="auto">
          <a:xfrm>
            <a:off x="7556500" y="35734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8" name="Text Box 20"/>
          <p:cNvSpPr txBox="1">
            <a:spLocks noChangeArrowheads="1"/>
          </p:cNvSpPr>
          <p:nvPr/>
        </p:nvSpPr>
        <p:spPr bwMode="auto">
          <a:xfrm>
            <a:off x="7464425" y="36782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89" name="Text Box 21"/>
          <p:cNvSpPr txBox="1">
            <a:spLocks noChangeArrowheads="1"/>
          </p:cNvSpPr>
          <p:nvPr/>
        </p:nvSpPr>
        <p:spPr bwMode="auto">
          <a:xfrm>
            <a:off x="7372350" y="38020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xx</a:t>
            </a:r>
          </a:p>
        </p:txBody>
      </p:sp>
      <p:sp>
        <p:nvSpPr>
          <p:cNvPr id="7190" name="Text Box 22"/>
          <p:cNvSpPr txBox="1">
            <a:spLocks noChangeArrowheads="1"/>
          </p:cNvSpPr>
          <p:nvPr/>
        </p:nvSpPr>
        <p:spPr bwMode="auto">
          <a:xfrm>
            <a:off x="7632700" y="38957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91" name="Text Box 23"/>
          <p:cNvSpPr txBox="1">
            <a:spLocks noChangeArrowheads="1"/>
          </p:cNvSpPr>
          <p:nvPr/>
        </p:nvSpPr>
        <p:spPr bwMode="auto">
          <a:xfrm>
            <a:off x="7204075" y="37480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
        <p:nvSpPr>
          <p:cNvPr id="7192" name="Text Box 24"/>
          <p:cNvSpPr txBox="1">
            <a:spLocks noChangeArrowheads="1"/>
          </p:cNvSpPr>
          <p:nvPr/>
        </p:nvSpPr>
        <p:spPr bwMode="auto">
          <a:xfrm>
            <a:off x="7464425" y="3470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x</a:t>
            </a:r>
          </a:p>
        </p:txBody>
      </p:sp>
    </p:spTree>
    <p:extLst>
      <p:ext uri="{BB962C8B-B14F-4D97-AF65-F5344CB8AC3E}">
        <p14:creationId xmlns:p14="http://schemas.microsoft.com/office/powerpoint/2010/main" val="155753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9144000" cy="25717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61795" name="Rectangle 3"/>
          <p:cNvSpPr>
            <a:spLocks noChangeArrowheads="1"/>
          </p:cNvSpPr>
          <p:nvPr/>
        </p:nvSpPr>
        <p:spPr bwMode="auto">
          <a:xfrm>
            <a:off x="165100" y="0"/>
            <a:ext cx="8291513" cy="990600"/>
          </a:xfrm>
          <a:prstGeom prst="rect">
            <a:avLst/>
          </a:prstGeom>
          <a:noFill/>
          <a:ln w="9525">
            <a:noFill/>
            <a:miter lim="800000"/>
            <a:headEnd/>
            <a:tailEnd/>
          </a:ln>
          <a:effectLst/>
        </p:spPr>
        <p:txBody>
          <a:bodyPr anchor="ctr"/>
          <a:lstStyle/>
          <a:p>
            <a:pPr>
              <a:defRPr/>
            </a:pPr>
            <a:r>
              <a:rPr lang="en-US" sz="4400" dirty="0">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Defining Distance Measures</a:t>
            </a:r>
          </a:p>
        </p:txBody>
      </p:sp>
      <p:sp>
        <p:nvSpPr>
          <p:cNvPr id="11268" name="Text Box 4"/>
          <p:cNvSpPr txBox="1">
            <a:spLocks noChangeArrowheads="1"/>
          </p:cNvSpPr>
          <p:nvPr/>
        </p:nvSpPr>
        <p:spPr bwMode="auto">
          <a:xfrm>
            <a:off x="323850" y="1143000"/>
            <a:ext cx="86106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nSpc>
                <a:spcPct val="110000"/>
              </a:lnSpc>
            </a:pPr>
            <a:r>
              <a:rPr lang="en-US" altLang="en-US" b="1"/>
              <a:t>Definition</a:t>
            </a:r>
            <a:r>
              <a:rPr lang="en-US" altLang="en-US"/>
              <a:t>: Let </a:t>
            </a:r>
            <a:r>
              <a:rPr lang="en-US" altLang="en-US" i="1"/>
              <a:t>O</a:t>
            </a:r>
            <a:r>
              <a:rPr lang="en-US" altLang="en-US" baseline="-25000"/>
              <a:t>1</a:t>
            </a:r>
            <a:r>
              <a:rPr lang="en-US" altLang="en-US"/>
              <a:t> and </a:t>
            </a:r>
            <a:r>
              <a:rPr lang="en-US" altLang="en-US" i="1"/>
              <a:t>O</a:t>
            </a:r>
            <a:r>
              <a:rPr lang="en-US" altLang="en-US" baseline="-25000"/>
              <a:t>2</a:t>
            </a:r>
            <a:r>
              <a:rPr lang="en-US" altLang="en-US"/>
              <a:t> be two objects from the universe of possible objects. The distance (dissimilarity) between </a:t>
            </a:r>
            <a:r>
              <a:rPr lang="en-US" altLang="en-US" i="1"/>
              <a:t>O</a:t>
            </a:r>
            <a:r>
              <a:rPr lang="en-US" altLang="en-US" baseline="-25000"/>
              <a:t>1</a:t>
            </a:r>
            <a:r>
              <a:rPr lang="en-US" altLang="en-US"/>
              <a:t> and </a:t>
            </a:r>
            <a:r>
              <a:rPr lang="en-US" altLang="en-US" i="1"/>
              <a:t>O</a:t>
            </a:r>
            <a:r>
              <a:rPr lang="en-US" altLang="en-US" baseline="-25000"/>
              <a:t>2</a:t>
            </a:r>
            <a:r>
              <a:rPr lang="en-US" altLang="en-US"/>
              <a:t> is a real number denoted by </a:t>
            </a:r>
            <a:r>
              <a:rPr lang="en-US" altLang="en-US" i="1"/>
              <a:t>D</a:t>
            </a:r>
            <a:r>
              <a:rPr lang="en-US" altLang="en-US"/>
              <a:t>(</a:t>
            </a:r>
            <a:r>
              <a:rPr lang="en-US" altLang="en-US" i="1"/>
              <a:t>O</a:t>
            </a:r>
            <a:r>
              <a:rPr lang="en-US" altLang="en-US" baseline="-25000"/>
              <a:t>1</a:t>
            </a:r>
            <a:r>
              <a:rPr lang="en-US" altLang="en-US"/>
              <a:t>,</a:t>
            </a:r>
            <a:r>
              <a:rPr lang="en-US" altLang="en-US" i="1"/>
              <a:t>O</a:t>
            </a:r>
            <a:r>
              <a:rPr lang="en-US" altLang="en-US" baseline="-25000"/>
              <a:t>2</a:t>
            </a:r>
            <a:r>
              <a:rPr lang="en-US" altLang="en-US"/>
              <a:t>)</a:t>
            </a:r>
            <a:endParaRPr lang="en-US" altLang="en-US">
              <a:sym typeface="Symbol" pitchFamily="18" charset="2"/>
            </a:endParaRPr>
          </a:p>
        </p:txBody>
      </p:sp>
      <p:pic>
        <p:nvPicPr>
          <p:cNvPr id="11269" name="Picture 5" descr="C:\WINNT\Profiles\eamonn.000\Desktop\gorilla.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100" y="2684463"/>
            <a:ext cx="1484313"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6" descr="C:\WINNT\Profiles\eamonn.000\Desktop\chimp.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0" y="2798763"/>
            <a:ext cx="101917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Rectangle 7"/>
          <p:cNvSpPr>
            <a:spLocks noChangeArrowheads="1"/>
          </p:cNvSpPr>
          <p:nvPr/>
        </p:nvSpPr>
        <p:spPr bwMode="auto">
          <a:xfrm>
            <a:off x="762000" y="4543425"/>
            <a:ext cx="1390650" cy="1390650"/>
          </a:xfrm>
          <a:prstGeom prst="rect">
            <a:avLst/>
          </a:prstGeom>
          <a:solidFill>
            <a:srgbClr val="969696"/>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969696"/>
            </a:extrusionClr>
          </a:sp3d>
        </p:spPr>
        <p:txBody>
          <a:bodyPr wrap="none" anchor="ctr">
            <a:flatTx/>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1272" name="Rectangle 8"/>
          <p:cNvSpPr>
            <a:spLocks noChangeArrowheads="1"/>
          </p:cNvSpPr>
          <p:nvPr/>
        </p:nvSpPr>
        <p:spPr bwMode="auto">
          <a:xfrm>
            <a:off x="6981825" y="4543425"/>
            <a:ext cx="1390650" cy="1390650"/>
          </a:xfrm>
          <a:prstGeom prst="rect">
            <a:avLst/>
          </a:prstGeom>
          <a:solidFill>
            <a:srgbClr val="969696"/>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969696"/>
            </a:extrusionClr>
          </a:sp3d>
        </p:spPr>
        <p:txBody>
          <a:bodyPr wrap="none" anchor="ctr">
            <a:flatTx/>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1273" name="Rectangle 9"/>
          <p:cNvSpPr>
            <a:spLocks noChangeArrowheads="1"/>
          </p:cNvSpPr>
          <p:nvPr/>
        </p:nvSpPr>
        <p:spPr bwMode="auto">
          <a:xfrm>
            <a:off x="3962400" y="4543425"/>
            <a:ext cx="1390650" cy="1390650"/>
          </a:xfrm>
          <a:prstGeom prst="rect">
            <a:avLst/>
          </a:prstGeom>
          <a:solidFill>
            <a:srgbClr val="969696"/>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969696"/>
            </a:extrusionClr>
          </a:sp3d>
        </p:spPr>
        <p:txBody>
          <a:bodyPr wrap="none" anchor="ctr">
            <a:flatTx/>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61802" name="AutoShape 10"/>
          <p:cNvSpPr>
            <a:spLocks noChangeArrowheads="1"/>
          </p:cNvSpPr>
          <p:nvPr/>
        </p:nvSpPr>
        <p:spPr bwMode="auto">
          <a:xfrm rot="-992687">
            <a:off x="9144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61803" name="AutoShape 11"/>
          <p:cNvSpPr>
            <a:spLocks noChangeArrowheads="1"/>
          </p:cNvSpPr>
          <p:nvPr/>
        </p:nvSpPr>
        <p:spPr bwMode="auto">
          <a:xfrm rot="-992687">
            <a:off x="40386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61804" name="AutoShape 12"/>
          <p:cNvSpPr>
            <a:spLocks noChangeArrowheads="1"/>
          </p:cNvSpPr>
          <p:nvPr/>
        </p:nvSpPr>
        <p:spPr bwMode="auto">
          <a:xfrm rot="-992687">
            <a:off x="7134225"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61805" name="AutoShape 13"/>
          <p:cNvSpPr>
            <a:spLocks noChangeArrowheads="1"/>
          </p:cNvSpPr>
          <p:nvPr/>
        </p:nvSpPr>
        <p:spPr bwMode="auto">
          <a:xfrm rot="992687" flipH="1">
            <a:off x="19050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61806" name="AutoShape 14"/>
          <p:cNvSpPr>
            <a:spLocks noChangeArrowheads="1"/>
          </p:cNvSpPr>
          <p:nvPr/>
        </p:nvSpPr>
        <p:spPr bwMode="auto">
          <a:xfrm rot="992687" flipH="1">
            <a:off x="5138738"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61807" name="AutoShape 15"/>
          <p:cNvSpPr>
            <a:spLocks noChangeArrowheads="1"/>
          </p:cNvSpPr>
          <p:nvPr/>
        </p:nvSpPr>
        <p:spPr bwMode="auto">
          <a:xfrm rot="992687" flipH="1">
            <a:off x="8124825"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1280" name="Text Box 16"/>
          <p:cNvSpPr txBox="1">
            <a:spLocks noChangeArrowheads="1"/>
          </p:cNvSpPr>
          <p:nvPr/>
        </p:nvSpPr>
        <p:spPr bwMode="auto">
          <a:xfrm>
            <a:off x="1057275" y="64008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0.23</a:t>
            </a:r>
          </a:p>
        </p:txBody>
      </p:sp>
      <p:sp>
        <p:nvSpPr>
          <p:cNvPr id="161809" name="AutoShape 17"/>
          <p:cNvSpPr>
            <a:spLocks noChangeArrowheads="1"/>
          </p:cNvSpPr>
          <p:nvPr/>
        </p:nvSpPr>
        <p:spPr bwMode="auto">
          <a:xfrm rot="21550572" flipH="1">
            <a:off x="1200150"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1282" name="Text Box 18"/>
          <p:cNvSpPr txBox="1">
            <a:spLocks noChangeArrowheads="1"/>
          </p:cNvSpPr>
          <p:nvPr/>
        </p:nvSpPr>
        <p:spPr bwMode="auto">
          <a:xfrm>
            <a:off x="4360863"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3</a:t>
            </a:r>
          </a:p>
        </p:txBody>
      </p:sp>
      <p:sp>
        <p:nvSpPr>
          <p:cNvPr id="161811" name="AutoShape 19"/>
          <p:cNvSpPr>
            <a:spLocks noChangeArrowheads="1"/>
          </p:cNvSpPr>
          <p:nvPr/>
        </p:nvSpPr>
        <p:spPr bwMode="auto">
          <a:xfrm rot="21550572" flipH="1">
            <a:off x="4400550"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1284" name="Text Box 20"/>
          <p:cNvSpPr txBox="1">
            <a:spLocks noChangeArrowheads="1"/>
          </p:cNvSpPr>
          <p:nvPr/>
        </p:nvSpPr>
        <p:spPr bwMode="auto">
          <a:xfrm>
            <a:off x="7229475" y="6400800"/>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342.7</a:t>
            </a:r>
          </a:p>
        </p:txBody>
      </p:sp>
      <p:sp>
        <p:nvSpPr>
          <p:cNvPr id="161813" name="AutoShape 21"/>
          <p:cNvSpPr>
            <a:spLocks noChangeArrowheads="1"/>
          </p:cNvSpPr>
          <p:nvPr/>
        </p:nvSpPr>
        <p:spPr bwMode="auto">
          <a:xfrm rot="21550572" flipH="1">
            <a:off x="7496175"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blurRad="63500" dist="107763" dir="8100000" algn="ctr" rotWithShape="0">
              <a:schemeClr val="bg2">
                <a:alpha val="74998"/>
              </a:scheme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11286" name="Text Box 22"/>
          <p:cNvSpPr txBox="1">
            <a:spLocks noChangeArrowheads="1"/>
          </p:cNvSpPr>
          <p:nvPr/>
        </p:nvSpPr>
        <p:spPr bwMode="auto">
          <a:xfrm>
            <a:off x="3429000" y="3430588"/>
            <a:ext cx="1247775" cy="51911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800" b="1">
                <a:latin typeface="Courier New" pitchFamily="49" charset="0"/>
              </a:rPr>
              <a:t>Peter</a:t>
            </a:r>
          </a:p>
        </p:txBody>
      </p:sp>
      <p:sp>
        <p:nvSpPr>
          <p:cNvPr id="11287" name="Text Box 23"/>
          <p:cNvSpPr txBox="1">
            <a:spLocks noChangeArrowheads="1"/>
          </p:cNvSpPr>
          <p:nvPr/>
        </p:nvSpPr>
        <p:spPr bwMode="auto">
          <a:xfrm>
            <a:off x="4795838" y="3430588"/>
            <a:ext cx="1247775" cy="51911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800" b="1">
                <a:latin typeface="Courier New" pitchFamily="49" charset="0"/>
              </a:rPr>
              <a:t>Piotr</a:t>
            </a:r>
          </a:p>
        </p:txBody>
      </p:sp>
      <p:pic>
        <p:nvPicPr>
          <p:cNvPr id="11288"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850" y="2743200"/>
            <a:ext cx="126682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9"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743200"/>
            <a:ext cx="126682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0" name="TextBox 25"/>
          <p:cNvSpPr txBox="1">
            <a:spLocks noChangeArrowheads="1"/>
          </p:cNvSpPr>
          <p:nvPr/>
        </p:nvSpPr>
        <p:spPr bwMode="auto">
          <a:xfrm>
            <a:off x="323850" y="773113"/>
            <a:ext cx="287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from Eamonn Keogh</a:t>
            </a:r>
          </a:p>
        </p:txBody>
      </p:sp>
    </p:spTree>
    <p:extLst>
      <p:ext uri="{BB962C8B-B14F-4D97-AF65-F5344CB8AC3E}">
        <p14:creationId xmlns:p14="http://schemas.microsoft.com/office/powerpoint/2010/main" val="250238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Text Box 3"/>
          <p:cNvSpPr txBox="1">
            <a:spLocks noChangeArrowheads="1"/>
          </p:cNvSpPr>
          <p:nvPr/>
        </p:nvSpPr>
        <p:spPr bwMode="auto">
          <a:xfrm>
            <a:off x="247650" y="685800"/>
            <a:ext cx="8610600" cy="4351338"/>
          </a:xfrm>
          <a:prstGeom prst="rect">
            <a:avLst/>
          </a:prstGeom>
          <a:noFill/>
          <a:ln w="9525">
            <a:noFill/>
            <a:miter lim="800000"/>
            <a:headEnd/>
            <a:tailEnd/>
          </a:ln>
          <a:effectLst/>
        </p:spPr>
        <p:txBody>
          <a:bodyPr>
            <a:spAutoFit/>
          </a:bodyPr>
          <a:lstStyle>
            <a:lvl1pPr>
              <a:defRPr sz="2400">
                <a:solidFill>
                  <a:schemeClr val="tx1"/>
                </a:solidFill>
                <a:latin typeface="Arial" charset="0"/>
                <a:ea typeface="ＭＳ Ｐゴシック" pitchFamily="-111" charset="-128"/>
              </a:defRPr>
            </a:lvl1pPr>
            <a:lvl2pPr marL="37931725" indent="-37474525">
              <a:defRPr sz="2400">
                <a:solidFill>
                  <a:schemeClr val="tx1"/>
                </a:solidFill>
                <a:latin typeface="Arial" charset="0"/>
                <a:ea typeface="ＭＳ Ｐゴシック" pitchFamily="-111" charset="-128"/>
              </a:defRPr>
            </a:lvl2pPr>
            <a:lvl3pPr>
              <a:defRPr sz="2400">
                <a:solidFill>
                  <a:schemeClr val="tx1"/>
                </a:solidFill>
                <a:latin typeface="Arial" charset="0"/>
                <a:ea typeface="ＭＳ Ｐゴシック" pitchFamily="-111" charset="-128"/>
              </a:defRPr>
            </a:lvl3pPr>
            <a:lvl4pPr>
              <a:defRPr sz="2400">
                <a:solidFill>
                  <a:schemeClr val="tx1"/>
                </a:solidFill>
                <a:latin typeface="Arial" charset="0"/>
                <a:ea typeface="ＭＳ Ｐゴシック" pitchFamily="-111" charset="-128"/>
              </a:defRPr>
            </a:lvl4pPr>
            <a:lvl5pPr>
              <a:defRPr sz="2400">
                <a:solidFill>
                  <a:schemeClr val="tx1"/>
                </a:solidFill>
                <a:latin typeface="Arial" charset="0"/>
                <a:ea typeface="ＭＳ Ｐゴシック" pitchFamily="-111" charset="-128"/>
              </a:defRPr>
            </a:lvl5pPr>
            <a:lvl6pPr marL="457200" eaLnBrk="0" fontAlgn="base" hangingPunct="0">
              <a:spcBef>
                <a:spcPct val="0"/>
              </a:spcBef>
              <a:spcAft>
                <a:spcPct val="0"/>
              </a:spcAft>
              <a:defRPr sz="2400">
                <a:solidFill>
                  <a:schemeClr val="tx1"/>
                </a:solidFill>
                <a:latin typeface="Arial" charset="0"/>
                <a:ea typeface="ＭＳ Ｐゴシック" pitchFamily="-111" charset="-128"/>
              </a:defRPr>
            </a:lvl6pPr>
            <a:lvl7pPr marL="914400" eaLnBrk="0" fontAlgn="base" hangingPunct="0">
              <a:spcBef>
                <a:spcPct val="0"/>
              </a:spcBef>
              <a:spcAft>
                <a:spcPct val="0"/>
              </a:spcAft>
              <a:defRPr sz="2400">
                <a:solidFill>
                  <a:schemeClr val="tx1"/>
                </a:solidFill>
                <a:latin typeface="Arial" charset="0"/>
                <a:ea typeface="ＭＳ Ｐゴシック" pitchFamily="-111" charset="-128"/>
              </a:defRPr>
            </a:lvl7pPr>
            <a:lvl8pPr marL="1371600" eaLnBrk="0" fontAlgn="base" hangingPunct="0">
              <a:spcBef>
                <a:spcPct val="0"/>
              </a:spcBef>
              <a:spcAft>
                <a:spcPct val="0"/>
              </a:spcAft>
              <a:defRPr sz="2400">
                <a:solidFill>
                  <a:schemeClr val="tx1"/>
                </a:solidFill>
                <a:latin typeface="Arial" charset="0"/>
                <a:ea typeface="ＭＳ Ｐゴシック" pitchFamily="-111" charset="-128"/>
              </a:defRPr>
            </a:lvl8pPr>
            <a:lvl9pPr marL="1828800" eaLnBrk="0" fontAlgn="base" hangingPunct="0">
              <a:spcBef>
                <a:spcPct val="0"/>
              </a:spcBef>
              <a:spcAft>
                <a:spcPct val="0"/>
              </a:spcAft>
              <a:defRPr sz="2400">
                <a:solidFill>
                  <a:schemeClr val="tx1"/>
                </a:solidFill>
                <a:latin typeface="Arial" charset="0"/>
                <a:ea typeface="ＭＳ Ｐゴシック" pitchFamily="-111" charset="-128"/>
              </a:defRPr>
            </a:lvl9pPr>
          </a:lstStyle>
          <a:p>
            <a:pPr>
              <a:lnSpc>
                <a:spcPct val="110000"/>
              </a:lnSpc>
              <a:defRPr/>
            </a:pPr>
            <a:endParaRPr lang="en-US" altLang="en-US"/>
          </a:p>
          <a:p>
            <a:pPr>
              <a:lnSpc>
                <a:spcPct val="110000"/>
              </a:lnSpc>
              <a:defRPr/>
            </a:pPr>
            <a:r>
              <a:rPr lang="en-US" altLang="en-US" sz="3200">
                <a:effectLst>
                  <a:outerShdw blurRad="38100" dist="38100" dir="2700000" algn="tl">
                    <a:srgbClr val="C0C0C0"/>
                  </a:outerShdw>
                </a:effectLst>
              </a:rPr>
              <a:t>What properties should a distance measure have?</a:t>
            </a:r>
          </a:p>
          <a:p>
            <a:pPr>
              <a:lnSpc>
                <a:spcPct val="110000"/>
              </a:lnSpc>
              <a:defRPr/>
            </a:pPr>
            <a:endParaRPr lang="en-US" altLang="en-US" sz="2800">
              <a:effectLst>
                <a:outerShdw blurRad="38100" dist="38100" dir="2700000" algn="tl">
                  <a:srgbClr val="C0C0C0"/>
                </a:outerShdw>
              </a:effectLst>
            </a:endParaRPr>
          </a:p>
          <a:p>
            <a:pPr>
              <a:lnSpc>
                <a:spcPct val="110000"/>
              </a:lnSpc>
              <a:buFontTx/>
              <a:buChar char="•"/>
              <a:defRPr/>
            </a:pPr>
            <a:r>
              <a:rPr lang="en-US" altLang="en-US" sz="2800"/>
              <a:t> </a:t>
            </a:r>
            <a:r>
              <a:rPr lang="en-US" altLang="en-US" sz="2800" i="1"/>
              <a:t>D</a:t>
            </a:r>
            <a:r>
              <a:rPr lang="en-US" altLang="en-US" sz="2800"/>
              <a:t>(A,B) = </a:t>
            </a:r>
            <a:r>
              <a:rPr lang="en-US" altLang="en-US" sz="2800" i="1"/>
              <a:t>D</a:t>
            </a:r>
            <a:r>
              <a:rPr lang="en-US" altLang="en-US" sz="2800"/>
              <a:t>(B,A)		</a:t>
            </a:r>
            <a:r>
              <a:rPr lang="en-US" altLang="en-US" i="1"/>
              <a:t>Symmetry </a:t>
            </a:r>
            <a:endParaRPr lang="en-US" altLang="en-US" sz="2800"/>
          </a:p>
          <a:p>
            <a:pPr>
              <a:lnSpc>
                <a:spcPct val="110000"/>
              </a:lnSpc>
              <a:buFontTx/>
              <a:buChar char="•"/>
              <a:defRPr/>
            </a:pPr>
            <a:r>
              <a:rPr lang="en-US" altLang="en-US" sz="2800"/>
              <a:t> </a:t>
            </a:r>
            <a:r>
              <a:rPr lang="en-US" altLang="en-US" sz="2800" i="1"/>
              <a:t>D</a:t>
            </a:r>
            <a:r>
              <a:rPr lang="en-US" altLang="en-US" sz="2800"/>
              <a:t>(A,A) = 0			</a:t>
            </a:r>
            <a:r>
              <a:rPr lang="en-US" altLang="en-US" i="1"/>
              <a:t>Constancy of Self-Similarity</a:t>
            </a:r>
            <a:endParaRPr lang="en-US" altLang="en-US" sz="2800"/>
          </a:p>
          <a:p>
            <a:pPr>
              <a:lnSpc>
                <a:spcPct val="110000"/>
              </a:lnSpc>
              <a:buFontTx/>
              <a:buChar char="•"/>
              <a:defRPr/>
            </a:pPr>
            <a:r>
              <a:rPr lang="en-US" altLang="en-US" sz="2800"/>
              <a:t> </a:t>
            </a:r>
            <a:r>
              <a:rPr lang="en-US" altLang="en-US" sz="2800" i="1"/>
              <a:t>D</a:t>
            </a:r>
            <a:r>
              <a:rPr lang="en-US" altLang="en-US" sz="2800"/>
              <a:t>(A,B) = 0 iif A= B 		</a:t>
            </a:r>
            <a:r>
              <a:rPr lang="en-US" altLang="en-US" i="1"/>
              <a:t>Positivity (Separation)</a:t>
            </a:r>
          </a:p>
          <a:p>
            <a:pPr>
              <a:lnSpc>
                <a:spcPct val="110000"/>
              </a:lnSpc>
              <a:buFontTx/>
              <a:buChar char="•"/>
              <a:defRPr/>
            </a:pPr>
            <a:r>
              <a:rPr lang="en-US" altLang="en-US" sz="2800"/>
              <a:t> </a:t>
            </a:r>
            <a:r>
              <a:rPr lang="en-US" altLang="en-US" sz="2800" i="1"/>
              <a:t>D</a:t>
            </a:r>
            <a:r>
              <a:rPr lang="en-US" altLang="en-US" sz="2800"/>
              <a:t>(A,B) </a:t>
            </a:r>
            <a:r>
              <a:rPr lang="en-US" altLang="en-US" sz="2800">
                <a:sym typeface="Symbol" pitchFamily="-111" charset="2"/>
              </a:rPr>
              <a:t> </a:t>
            </a:r>
            <a:r>
              <a:rPr lang="en-US" altLang="en-US" sz="2800" i="1">
                <a:sym typeface="Symbol" pitchFamily="-111" charset="2"/>
              </a:rPr>
              <a:t>D</a:t>
            </a:r>
            <a:r>
              <a:rPr lang="en-US" altLang="en-US" sz="2800">
                <a:sym typeface="Symbol" pitchFamily="-111" charset="2"/>
              </a:rPr>
              <a:t>(A,C) + </a:t>
            </a:r>
            <a:r>
              <a:rPr lang="en-US" altLang="en-US" sz="2800" i="1">
                <a:sym typeface="Symbol" pitchFamily="-111" charset="2"/>
              </a:rPr>
              <a:t>D</a:t>
            </a:r>
            <a:r>
              <a:rPr lang="en-US" altLang="en-US" sz="2800">
                <a:sym typeface="Symbol" pitchFamily="-111" charset="2"/>
              </a:rPr>
              <a:t>(B,C)	</a:t>
            </a:r>
            <a:r>
              <a:rPr lang="en-US" altLang="en-US" i="1"/>
              <a:t>Triangular Inequality</a:t>
            </a:r>
            <a:r>
              <a:rPr lang="en-US" altLang="en-US" sz="2800"/>
              <a:t> </a:t>
            </a:r>
          </a:p>
          <a:p>
            <a:pPr lvl="3">
              <a:lnSpc>
                <a:spcPct val="110000"/>
              </a:lnSpc>
              <a:defRPr/>
            </a:pPr>
            <a:endParaRPr lang="en-US" altLang="en-US">
              <a:sym typeface="Symbol" pitchFamily="-111" charset="2"/>
            </a:endParaRPr>
          </a:p>
        </p:txBody>
      </p:sp>
      <p:sp>
        <p:nvSpPr>
          <p:cNvPr id="12291" name="TextBox 21"/>
          <p:cNvSpPr txBox="1">
            <a:spLocks noChangeArrowheads="1"/>
          </p:cNvSpPr>
          <p:nvPr/>
        </p:nvSpPr>
        <p:spPr bwMode="auto">
          <a:xfrm>
            <a:off x="460533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159372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230188" y="304800"/>
            <a:ext cx="8150225" cy="1033463"/>
          </a:xfrm>
        </p:spPr>
        <p:txBody>
          <a:bodyPr/>
          <a:lstStyle/>
          <a:p>
            <a:pPr>
              <a:defRPr/>
            </a:pPr>
            <a:r>
              <a:rPr lang="en-US" dirty="0">
                <a:effectLst>
                  <a:outerShdw blurRad="38100" dist="38100" dir="2700000" algn="tl">
                    <a:srgbClr val="DDDDDD"/>
                  </a:outerShdw>
                </a:effectLst>
              </a:rPr>
              <a:t>Two Types of Clustering</a:t>
            </a:r>
          </a:p>
        </p:txBody>
      </p:sp>
      <p:sp>
        <p:nvSpPr>
          <p:cNvPr id="164867" name="Rectangle 3"/>
          <p:cNvSpPr>
            <a:spLocks noChangeArrowheads="1"/>
          </p:cNvSpPr>
          <p:nvPr/>
        </p:nvSpPr>
        <p:spPr bwMode="auto">
          <a:xfrm>
            <a:off x="1066800" y="3276600"/>
            <a:ext cx="2571750" cy="519113"/>
          </a:xfrm>
          <a:prstGeom prst="rect">
            <a:avLst/>
          </a:prstGeom>
          <a:noFill/>
          <a:ln w="9525">
            <a:noFill/>
            <a:miter lim="800000"/>
            <a:headEnd/>
            <a:tailEnd/>
          </a:ln>
          <a:effectLst/>
        </p:spPr>
        <p:txBody>
          <a:bodyPr>
            <a:spAutoFit/>
          </a:bodyPr>
          <a:lstStyle/>
          <a:p>
            <a:pPr>
              <a:defRPr/>
            </a:pPr>
            <a:r>
              <a:rPr lang="en-US" sz="2800" b="1" dirty="0">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Hierarchical</a:t>
            </a:r>
          </a:p>
        </p:txBody>
      </p:sp>
      <p:sp>
        <p:nvSpPr>
          <p:cNvPr id="15364" name="Text Box 4"/>
          <p:cNvSpPr txBox="1">
            <a:spLocks noChangeArrowheads="1"/>
          </p:cNvSpPr>
          <p:nvPr/>
        </p:nvSpPr>
        <p:spPr bwMode="auto">
          <a:xfrm>
            <a:off x="230188" y="1600200"/>
            <a:ext cx="84439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buFontTx/>
              <a:buChar char="•"/>
            </a:pPr>
            <a:r>
              <a:rPr lang="en-US" altLang="en-US" b="1"/>
              <a:t> Partitional algorithms:</a:t>
            </a:r>
            <a:r>
              <a:rPr lang="en-US" altLang="en-US"/>
              <a:t> Construct various partitions and then evaluate them by some criterion</a:t>
            </a:r>
            <a:endParaRPr lang="en-US" altLang="en-US" sz="2000"/>
          </a:p>
          <a:p>
            <a:pPr>
              <a:buFontTx/>
              <a:buChar char="•"/>
            </a:pPr>
            <a:r>
              <a:rPr lang="en-US" altLang="en-US" b="1"/>
              <a:t> Hierarchical algorithms:</a:t>
            </a:r>
            <a:r>
              <a:rPr lang="en-US" altLang="en-US"/>
              <a:t> Create a hierarchical decomposition of the set of objects using some criterion</a:t>
            </a:r>
          </a:p>
          <a:p>
            <a:endParaRPr lang="en-US" altLang="en-US"/>
          </a:p>
        </p:txBody>
      </p:sp>
      <p:sp>
        <p:nvSpPr>
          <p:cNvPr id="164869" name="Rectangle 5"/>
          <p:cNvSpPr>
            <a:spLocks noChangeArrowheads="1"/>
          </p:cNvSpPr>
          <p:nvPr/>
        </p:nvSpPr>
        <p:spPr bwMode="auto">
          <a:xfrm>
            <a:off x="5919788" y="3225800"/>
            <a:ext cx="2098675" cy="519113"/>
          </a:xfrm>
          <a:prstGeom prst="rect">
            <a:avLst/>
          </a:prstGeom>
          <a:noFill/>
          <a:ln w="9525">
            <a:noFill/>
            <a:miter lim="800000"/>
            <a:headEnd/>
            <a:tailEnd/>
          </a:ln>
          <a:effectLst/>
        </p:spPr>
        <p:txBody>
          <a:bodyPr>
            <a:spAutoFit/>
          </a:bodyPr>
          <a:lstStyle/>
          <a:p>
            <a:pPr>
              <a:defRPr/>
            </a:pPr>
            <a:r>
              <a:rPr lang="en-US" sz="2800" b="1">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Partitional</a:t>
            </a:r>
          </a:p>
        </p:txBody>
      </p:sp>
      <p:sp>
        <p:nvSpPr>
          <p:cNvPr id="15366" name="Rectangle 6"/>
          <p:cNvSpPr>
            <a:spLocks noChangeArrowheads="1"/>
          </p:cNvSpPr>
          <p:nvPr/>
        </p:nvSpPr>
        <p:spPr bwMode="auto">
          <a:xfrm>
            <a:off x="152400" y="3671888"/>
            <a:ext cx="54102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grpSp>
        <p:nvGrpSpPr>
          <p:cNvPr id="15367" name="Group 7"/>
          <p:cNvGrpSpPr>
            <a:grpSpLocks/>
          </p:cNvGrpSpPr>
          <p:nvPr/>
        </p:nvGrpSpPr>
        <p:grpSpPr bwMode="auto">
          <a:xfrm>
            <a:off x="5257800" y="4419600"/>
            <a:ext cx="3629025" cy="2133600"/>
            <a:chOff x="120" y="2532"/>
            <a:chExt cx="2286" cy="1344"/>
          </a:xfrm>
        </p:grpSpPr>
        <p:grpSp>
          <p:nvGrpSpPr>
            <p:cNvPr id="15390" name="Group 8"/>
            <p:cNvGrpSpPr>
              <a:grpSpLocks/>
            </p:cNvGrpSpPr>
            <p:nvPr/>
          </p:nvGrpSpPr>
          <p:grpSpPr bwMode="auto">
            <a:xfrm>
              <a:off x="120" y="2532"/>
              <a:ext cx="2286" cy="1344"/>
              <a:chOff x="156" y="2634"/>
              <a:chExt cx="2286" cy="1344"/>
            </a:xfrm>
          </p:grpSpPr>
          <p:sp>
            <p:nvSpPr>
              <p:cNvPr id="15400" name="Rectangle 9"/>
              <p:cNvSpPr>
                <a:spLocks noChangeArrowheads="1"/>
              </p:cNvSpPr>
              <p:nvPr/>
            </p:nvSpPr>
            <p:spPr bwMode="auto">
              <a:xfrm>
                <a:off x="156" y="2634"/>
                <a:ext cx="1080" cy="1344"/>
              </a:xfrm>
              <a:prstGeom prst="rect">
                <a:avLst/>
              </a:prstGeom>
              <a:solidFill>
                <a:srgbClr val="FFFFFF"/>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5401" name="Rectangle 10"/>
              <p:cNvSpPr>
                <a:spLocks noChangeArrowheads="1"/>
              </p:cNvSpPr>
              <p:nvPr/>
            </p:nvSpPr>
            <p:spPr bwMode="auto">
              <a:xfrm>
                <a:off x="1362" y="2634"/>
                <a:ext cx="1080" cy="1344"/>
              </a:xfrm>
              <a:prstGeom prst="rect">
                <a:avLst/>
              </a:prstGeom>
              <a:solidFill>
                <a:srgbClr val="FFFFFF"/>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grpSp>
        <p:pic>
          <p:nvPicPr>
            <p:cNvPr id="15391" name="Picture 11" descr="Edna Krabapp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 y="3190"/>
              <a:ext cx="303" cy="6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2" name="Picture 12" descr="Principal Seymour  Skin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 y="2571"/>
              <a:ext cx="304"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3" name="Picture 13" descr="Groundskeeper Willi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2" y="2589"/>
              <a:ext cx="336" cy="5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4"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0" y="3253"/>
              <a:ext cx="375" cy="5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5"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8" y="2551"/>
              <a:ext cx="343" cy="61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6"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2" y="2763"/>
              <a:ext cx="375" cy="6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7"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6" y="3338"/>
              <a:ext cx="269" cy="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8" name="Picture 1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59" y="3432"/>
              <a:ext cx="181" cy="4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399" name="Picture 19" descr="C:\Documents and Settings\eamonn\Desktop\bios_family_marge.gi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5" y="2617"/>
              <a:ext cx="272" cy="8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5368" name="Group 20"/>
          <p:cNvGrpSpPr>
            <a:grpSpLocks/>
          </p:cNvGrpSpPr>
          <p:nvPr/>
        </p:nvGrpSpPr>
        <p:grpSpPr bwMode="auto">
          <a:xfrm>
            <a:off x="488950" y="3990975"/>
            <a:ext cx="3587750" cy="2549525"/>
            <a:chOff x="98" y="300"/>
            <a:chExt cx="3214" cy="2284"/>
          </a:xfrm>
        </p:grpSpPr>
        <p:pic>
          <p:nvPicPr>
            <p:cNvPr id="15370" name="Picture 21" descr="Edna Krabapp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2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23" descr="C:\Documents and Settings\eamonn\Desktop\bios_family_marge.gif"/>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73" name="Group 24"/>
            <p:cNvGrpSpPr>
              <a:grpSpLocks/>
            </p:cNvGrpSpPr>
            <p:nvPr/>
          </p:nvGrpSpPr>
          <p:grpSpPr bwMode="auto">
            <a:xfrm>
              <a:off x="1865" y="1505"/>
              <a:ext cx="1447" cy="1031"/>
              <a:chOff x="252" y="2364"/>
              <a:chExt cx="2258" cy="1608"/>
            </a:xfrm>
          </p:grpSpPr>
          <p:pic>
            <p:nvPicPr>
              <p:cNvPr id="15388" name="Picture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9" name="Picture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374" name="Line 27"/>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75" name="Line 28"/>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76" name="Line 29"/>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77" name="Line 30"/>
            <p:cNvSpPr>
              <a:spLocks noChangeShapeType="1"/>
            </p:cNvSpPr>
            <p:nvPr/>
          </p:nvSpPr>
          <p:spPr bwMode="auto">
            <a:xfrm flipH="1">
              <a:off x="2221" y="1167"/>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8" name="Line 31"/>
            <p:cNvSpPr>
              <a:spLocks noChangeShapeType="1"/>
            </p:cNvSpPr>
            <p:nvPr/>
          </p:nvSpPr>
          <p:spPr bwMode="auto">
            <a:xfrm flipH="1">
              <a:off x="1193" y="710"/>
              <a:ext cx="138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9" name="Line 32"/>
            <p:cNvSpPr>
              <a:spLocks noChangeShapeType="1"/>
            </p:cNvSpPr>
            <p:nvPr/>
          </p:nvSpPr>
          <p:spPr bwMode="auto">
            <a:xfrm rot="5400000" flipH="1">
              <a:off x="2343" y="943"/>
              <a:ext cx="4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0" name="Line 33"/>
            <p:cNvSpPr>
              <a:spLocks noChangeShapeType="1"/>
            </p:cNvSpPr>
            <p:nvPr/>
          </p:nvSpPr>
          <p:spPr bwMode="auto">
            <a:xfrm rot="5400000" flipH="1">
              <a:off x="1712" y="574"/>
              <a:ext cx="26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381" name="Group 34"/>
            <p:cNvGrpSpPr>
              <a:grpSpLocks/>
            </p:cNvGrpSpPr>
            <p:nvPr/>
          </p:nvGrpSpPr>
          <p:grpSpPr bwMode="auto">
            <a:xfrm>
              <a:off x="859" y="969"/>
              <a:ext cx="703" cy="377"/>
              <a:chOff x="2112" y="2976"/>
              <a:chExt cx="703" cy="377"/>
            </a:xfrm>
          </p:grpSpPr>
          <p:sp>
            <p:nvSpPr>
              <p:cNvPr id="15385" name="Line 35"/>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86" name="Line 36"/>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87" name="Line 37"/>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82" name="Line 38"/>
            <p:cNvSpPr>
              <a:spLocks noChangeShapeType="1"/>
            </p:cNvSpPr>
            <p:nvPr/>
          </p:nvSpPr>
          <p:spPr bwMode="auto">
            <a:xfrm rot="5400000" flipH="1">
              <a:off x="1065" y="844"/>
              <a:ext cx="25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3" name="Line 39"/>
            <p:cNvSpPr>
              <a:spLocks noChangeShapeType="1"/>
            </p:cNvSpPr>
            <p:nvPr/>
          </p:nvSpPr>
          <p:spPr bwMode="auto">
            <a:xfrm flipH="1">
              <a:off x="253" y="446"/>
              <a:ext cx="158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4" name="Line 40"/>
            <p:cNvSpPr>
              <a:spLocks noChangeShapeType="1"/>
            </p:cNvSpPr>
            <p:nvPr/>
          </p:nvSpPr>
          <p:spPr bwMode="auto">
            <a:xfrm rot="5400000" flipH="1">
              <a:off x="989" y="370"/>
              <a:ext cx="13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9" name="TextBox 40"/>
          <p:cNvSpPr txBox="1">
            <a:spLocks noChangeArrowheads="1"/>
          </p:cNvSpPr>
          <p:nvPr/>
        </p:nvSpPr>
        <p:spPr bwMode="auto">
          <a:xfrm>
            <a:off x="4711700" y="131763"/>
            <a:ext cx="425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215291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0"/>
            <a:ext cx="9144000" cy="36607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165891" name="Rectangle 3"/>
          <p:cNvSpPr>
            <a:spLocks noGrp="1" noChangeArrowheads="1"/>
          </p:cNvSpPr>
          <p:nvPr>
            <p:ph type="title"/>
          </p:nvPr>
        </p:nvSpPr>
        <p:spPr>
          <a:xfrm>
            <a:off x="203200" y="1025525"/>
            <a:ext cx="8628063" cy="831850"/>
          </a:xfrm>
        </p:spPr>
        <p:txBody>
          <a:bodyPr>
            <a:normAutofit fontScale="90000"/>
          </a:bodyPr>
          <a:lstStyle/>
          <a:p>
            <a:pPr>
              <a:defRPr/>
            </a:pPr>
            <a:r>
              <a:rPr lang="en-US" altLang="en-US" sz="3200">
                <a:effectLst>
                  <a:outerShdw blurRad="38100" dist="38100" dir="2700000" algn="tl">
                    <a:srgbClr val="C0C0C0"/>
                  </a:outerShdw>
                </a:effectLst>
              </a:rPr>
              <a:t>Dendogram: A Useful Tool for Summarizing Similarity Measurements</a:t>
            </a:r>
            <a:r>
              <a:rPr lang="en-US" altLang="en-US" sz="3200"/>
              <a:t> </a:t>
            </a:r>
          </a:p>
        </p:txBody>
      </p:sp>
      <p:grpSp>
        <p:nvGrpSpPr>
          <p:cNvPr id="16388" name="Group 5"/>
          <p:cNvGrpSpPr>
            <a:grpSpLocks/>
          </p:cNvGrpSpPr>
          <p:nvPr/>
        </p:nvGrpSpPr>
        <p:grpSpPr bwMode="auto">
          <a:xfrm>
            <a:off x="203200" y="3859213"/>
            <a:ext cx="2903538" cy="2760662"/>
            <a:chOff x="114" y="1088"/>
            <a:chExt cx="3296" cy="3133"/>
          </a:xfrm>
        </p:grpSpPr>
        <p:pic>
          <p:nvPicPr>
            <p:cNvPr id="16403" name="Picture 6" descr="C:\Documents and Settings\eamonn\Desktop\bios_family_mar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 y="2184"/>
              <a:ext cx="662" cy="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04" name="Group 7"/>
            <p:cNvGrpSpPr>
              <a:grpSpLocks/>
            </p:cNvGrpSpPr>
            <p:nvPr/>
          </p:nvGrpSpPr>
          <p:grpSpPr bwMode="auto">
            <a:xfrm>
              <a:off x="1152" y="2538"/>
              <a:ext cx="2258" cy="1608"/>
              <a:chOff x="252" y="2364"/>
              <a:chExt cx="2258" cy="1608"/>
            </a:xfrm>
          </p:grpSpPr>
          <p:pic>
            <p:nvPicPr>
              <p:cNvPr id="1641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405" name="Line 10"/>
            <p:cNvSpPr>
              <a:spLocks noChangeShapeType="1"/>
            </p:cNvSpPr>
            <p:nvPr/>
          </p:nvSpPr>
          <p:spPr bwMode="auto">
            <a:xfrm flipH="1" flipV="1">
              <a:off x="636" y="1290"/>
              <a:ext cx="0" cy="1008"/>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406" name="Line 11"/>
            <p:cNvSpPr>
              <a:spLocks noChangeShapeType="1"/>
            </p:cNvSpPr>
            <p:nvPr/>
          </p:nvSpPr>
          <p:spPr bwMode="auto">
            <a:xfrm flipH="1" flipV="1">
              <a:off x="2796" y="2010"/>
              <a:ext cx="0" cy="288"/>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407" name="Line 12"/>
            <p:cNvSpPr>
              <a:spLocks noChangeShapeType="1"/>
            </p:cNvSpPr>
            <p:nvPr/>
          </p:nvSpPr>
          <p:spPr bwMode="auto">
            <a:xfrm flipH="1" flipV="1">
              <a:off x="1716" y="2010"/>
              <a:ext cx="0" cy="288"/>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408" name="Line 13"/>
            <p:cNvSpPr>
              <a:spLocks noChangeShapeType="1"/>
            </p:cNvSpPr>
            <p:nvPr/>
          </p:nvSpPr>
          <p:spPr bwMode="auto">
            <a:xfrm flipH="1">
              <a:off x="1707" y="2010"/>
              <a:ext cx="109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9" name="Line 14"/>
            <p:cNvSpPr>
              <a:spLocks noChangeShapeType="1"/>
            </p:cNvSpPr>
            <p:nvPr/>
          </p:nvSpPr>
          <p:spPr bwMode="auto">
            <a:xfrm flipH="1">
              <a:off x="627" y="1297"/>
              <a:ext cx="163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15"/>
            <p:cNvSpPr>
              <a:spLocks noChangeShapeType="1"/>
            </p:cNvSpPr>
            <p:nvPr/>
          </p:nvSpPr>
          <p:spPr bwMode="auto">
            <a:xfrm rot="5400000" flipH="1">
              <a:off x="1898" y="1661"/>
              <a:ext cx="71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16"/>
            <p:cNvSpPr>
              <a:spLocks noChangeShapeType="1"/>
            </p:cNvSpPr>
            <p:nvPr/>
          </p:nvSpPr>
          <p:spPr bwMode="auto">
            <a:xfrm rot="5400000" flipH="1">
              <a:off x="1361" y="1190"/>
              <a:ext cx="2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389" name="Group 17"/>
          <p:cNvGrpSpPr>
            <a:grpSpLocks/>
          </p:cNvGrpSpPr>
          <p:nvPr/>
        </p:nvGrpSpPr>
        <p:grpSpPr bwMode="auto">
          <a:xfrm>
            <a:off x="6103938" y="3859213"/>
            <a:ext cx="2843212" cy="2760662"/>
            <a:chOff x="3845" y="2286"/>
            <a:chExt cx="1791" cy="1739"/>
          </a:xfrm>
        </p:grpSpPr>
        <p:pic>
          <p:nvPicPr>
            <p:cNvPr id="16393" name="Picture 18" descr="C:\Documents and Settings\eamonn\Desktop\bios_family_mar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5" y="2894"/>
              <a:ext cx="367" cy="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 y="3091"/>
              <a:ext cx="499"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 y="3118"/>
              <a:ext cx="640" cy="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Line 21"/>
            <p:cNvSpPr>
              <a:spLocks noChangeShapeType="1"/>
            </p:cNvSpPr>
            <p:nvPr/>
          </p:nvSpPr>
          <p:spPr bwMode="auto">
            <a:xfrm flipH="1" flipV="1">
              <a:off x="4135" y="2398"/>
              <a:ext cx="0" cy="56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397" name="Line 22"/>
            <p:cNvSpPr>
              <a:spLocks noChangeShapeType="1"/>
            </p:cNvSpPr>
            <p:nvPr/>
          </p:nvSpPr>
          <p:spPr bwMode="auto">
            <a:xfrm flipH="1" flipV="1">
              <a:off x="5333" y="2798"/>
              <a:ext cx="0" cy="16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398" name="Line 23"/>
            <p:cNvSpPr>
              <a:spLocks noChangeShapeType="1"/>
            </p:cNvSpPr>
            <p:nvPr/>
          </p:nvSpPr>
          <p:spPr bwMode="auto">
            <a:xfrm flipH="1" flipV="1">
              <a:off x="4734" y="2798"/>
              <a:ext cx="0" cy="16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6399" name="Line 24"/>
            <p:cNvSpPr>
              <a:spLocks noChangeShapeType="1"/>
            </p:cNvSpPr>
            <p:nvPr/>
          </p:nvSpPr>
          <p:spPr bwMode="auto">
            <a:xfrm flipH="1">
              <a:off x="4729" y="2798"/>
              <a:ext cx="60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25"/>
            <p:cNvSpPr>
              <a:spLocks noChangeShapeType="1"/>
            </p:cNvSpPr>
            <p:nvPr/>
          </p:nvSpPr>
          <p:spPr bwMode="auto">
            <a:xfrm flipH="1">
              <a:off x="4130" y="2402"/>
              <a:ext cx="90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26"/>
            <p:cNvSpPr>
              <a:spLocks noChangeShapeType="1"/>
            </p:cNvSpPr>
            <p:nvPr/>
          </p:nvSpPr>
          <p:spPr bwMode="auto">
            <a:xfrm rot="5400000" flipH="1">
              <a:off x="4835" y="2604"/>
              <a:ext cx="39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2" name="Line 27"/>
            <p:cNvSpPr>
              <a:spLocks noChangeShapeType="1"/>
            </p:cNvSpPr>
            <p:nvPr/>
          </p:nvSpPr>
          <p:spPr bwMode="auto">
            <a:xfrm rot="5400000" flipH="1">
              <a:off x="4537" y="2343"/>
              <a:ext cx="11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6390" name="Picture 2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9563" y="2230438"/>
            <a:ext cx="331152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Text Box 29"/>
          <p:cNvSpPr txBox="1">
            <a:spLocks noChangeArrowheads="1"/>
          </p:cNvSpPr>
          <p:nvPr/>
        </p:nvSpPr>
        <p:spPr bwMode="auto">
          <a:xfrm>
            <a:off x="4194175" y="2238375"/>
            <a:ext cx="46370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The similarity between two objects in a dendrogram is represented as the height of the lowest internal node they share.</a:t>
            </a:r>
          </a:p>
        </p:txBody>
      </p:sp>
      <p:sp>
        <p:nvSpPr>
          <p:cNvPr id="16392" name="TextBox 29"/>
          <p:cNvSpPr txBox="1">
            <a:spLocks noChangeArrowheads="1"/>
          </p:cNvSpPr>
          <p:nvPr/>
        </p:nvSpPr>
        <p:spPr bwMode="auto">
          <a:xfrm>
            <a:off x="4578350" y="315913"/>
            <a:ext cx="425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128461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a:xfrm>
            <a:off x="76200" y="0"/>
            <a:ext cx="8915400" cy="1143000"/>
          </a:xfrm>
        </p:spPr>
        <p:txBody>
          <a:bodyPr/>
          <a:lstStyle/>
          <a:p>
            <a:r>
              <a:rPr lang="en-US" altLang="en-US" dirty="0"/>
              <a:t>Hierarchical Clustering</a:t>
            </a:r>
          </a:p>
        </p:txBody>
      </p:sp>
      <p:grpSp>
        <p:nvGrpSpPr>
          <p:cNvPr id="22531" name="Group 1027"/>
          <p:cNvGrpSpPr>
            <a:grpSpLocks/>
          </p:cNvGrpSpPr>
          <p:nvPr/>
        </p:nvGrpSpPr>
        <p:grpSpPr bwMode="auto">
          <a:xfrm>
            <a:off x="565150" y="4041775"/>
            <a:ext cx="3587750" cy="2549525"/>
            <a:chOff x="98" y="300"/>
            <a:chExt cx="3214" cy="2284"/>
          </a:xfrm>
        </p:grpSpPr>
        <p:pic>
          <p:nvPicPr>
            <p:cNvPr id="22535" name="Picture 1028" descr="Edna Krabapp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02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1030" descr="C:\Documents and Settings\eamonn\Desktop\bios_family_marg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538" name="Group 1031"/>
            <p:cNvGrpSpPr>
              <a:grpSpLocks/>
            </p:cNvGrpSpPr>
            <p:nvPr/>
          </p:nvGrpSpPr>
          <p:grpSpPr bwMode="auto">
            <a:xfrm>
              <a:off x="1865" y="1505"/>
              <a:ext cx="1447" cy="1031"/>
              <a:chOff x="252" y="2364"/>
              <a:chExt cx="2258" cy="1608"/>
            </a:xfrm>
          </p:grpSpPr>
          <p:pic>
            <p:nvPicPr>
              <p:cNvPr id="22553" name="Picture 10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4" name="Picture 10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39" name="Line 1034"/>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40" name="Line 1035"/>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41" name="Line 1036"/>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42" name="Line 1037"/>
            <p:cNvSpPr>
              <a:spLocks noChangeShapeType="1"/>
            </p:cNvSpPr>
            <p:nvPr/>
          </p:nvSpPr>
          <p:spPr bwMode="auto">
            <a:xfrm flipH="1">
              <a:off x="2221" y="1167"/>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3" name="Line 1038"/>
            <p:cNvSpPr>
              <a:spLocks noChangeShapeType="1"/>
            </p:cNvSpPr>
            <p:nvPr/>
          </p:nvSpPr>
          <p:spPr bwMode="auto">
            <a:xfrm flipH="1">
              <a:off x="1193" y="710"/>
              <a:ext cx="138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4" name="Line 1039"/>
            <p:cNvSpPr>
              <a:spLocks noChangeShapeType="1"/>
            </p:cNvSpPr>
            <p:nvPr/>
          </p:nvSpPr>
          <p:spPr bwMode="auto">
            <a:xfrm rot="5400000" flipH="1">
              <a:off x="2343" y="943"/>
              <a:ext cx="4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5" name="Line 1040"/>
            <p:cNvSpPr>
              <a:spLocks noChangeShapeType="1"/>
            </p:cNvSpPr>
            <p:nvPr/>
          </p:nvSpPr>
          <p:spPr bwMode="auto">
            <a:xfrm rot="5400000" flipH="1">
              <a:off x="1712" y="574"/>
              <a:ext cx="26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46" name="Group 1041"/>
            <p:cNvGrpSpPr>
              <a:grpSpLocks/>
            </p:cNvGrpSpPr>
            <p:nvPr/>
          </p:nvGrpSpPr>
          <p:grpSpPr bwMode="auto">
            <a:xfrm>
              <a:off x="859" y="969"/>
              <a:ext cx="703" cy="377"/>
              <a:chOff x="2112" y="2976"/>
              <a:chExt cx="703" cy="377"/>
            </a:xfrm>
          </p:grpSpPr>
          <p:sp>
            <p:nvSpPr>
              <p:cNvPr id="22550" name="Line 1042"/>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51" name="Line 1043"/>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52" name="Line 1044"/>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547" name="Line 1045"/>
            <p:cNvSpPr>
              <a:spLocks noChangeShapeType="1"/>
            </p:cNvSpPr>
            <p:nvPr/>
          </p:nvSpPr>
          <p:spPr bwMode="auto">
            <a:xfrm rot="5400000" flipH="1">
              <a:off x="1065" y="844"/>
              <a:ext cx="25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8" name="Line 1046"/>
            <p:cNvSpPr>
              <a:spLocks noChangeShapeType="1"/>
            </p:cNvSpPr>
            <p:nvPr/>
          </p:nvSpPr>
          <p:spPr bwMode="auto">
            <a:xfrm flipH="1">
              <a:off x="253" y="446"/>
              <a:ext cx="158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9" name="Line 1047"/>
            <p:cNvSpPr>
              <a:spLocks noChangeShapeType="1"/>
            </p:cNvSpPr>
            <p:nvPr/>
          </p:nvSpPr>
          <p:spPr bwMode="auto">
            <a:xfrm rot="5400000" flipH="1">
              <a:off x="989" y="370"/>
              <a:ext cx="13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532" name="Text Box 1048"/>
          <p:cNvSpPr txBox="1">
            <a:spLocks noChangeArrowheads="1"/>
          </p:cNvSpPr>
          <p:nvPr/>
        </p:nvSpPr>
        <p:spPr bwMode="auto">
          <a:xfrm>
            <a:off x="201613" y="1303338"/>
            <a:ext cx="3851275" cy="283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latin typeface="Times" pitchFamily="-111" charset="0"/>
              </a:rPr>
              <a:t>The number of dendrograms with </a:t>
            </a:r>
            <a:r>
              <a:rPr lang="en-US" altLang="en-US" sz="1800" i="1">
                <a:latin typeface="Times" pitchFamily="-111" charset="0"/>
              </a:rPr>
              <a:t>n</a:t>
            </a:r>
            <a:r>
              <a:rPr lang="en-US" altLang="en-US" sz="1800">
                <a:latin typeface="Times" pitchFamily="-111" charset="0"/>
              </a:rPr>
              <a:t> leafs  = (2</a:t>
            </a:r>
            <a:r>
              <a:rPr lang="en-US" altLang="en-US" sz="1800" i="1">
                <a:latin typeface="Times" pitchFamily="-111" charset="0"/>
              </a:rPr>
              <a:t>n</a:t>
            </a:r>
            <a:r>
              <a:rPr lang="en-US" altLang="en-US" sz="1800">
                <a:latin typeface="Times" pitchFamily="-111" charset="0"/>
              </a:rPr>
              <a:t> -3)!/[(2</a:t>
            </a:r>
            <a:r>
              <a:rPr lang="en-US" altLang="en-US" sz="1800" baseline="30000">
                <a:latin typeface="Times" pitchFamily="-111" charset="0"/>
              </a:rPr>
              <a:t>(</a:t>
            </a:r>
            <a:r>
              <a:rPr lang="en-US" altLang="en-US" sz="1800" i="1" baseline="30000">
                <a:latin typeface="Times" pitchFamily="-111" charset="0"/>
              </a:rPr>
              <a:t>n </a:t>
            </a:r>
            <a:r>
              <a:rPr lang="en-US" altLang="en-US" sz="1800" baseline="30000">
                <a:latin typeface="Times" pitchFamily="-111" charset="0"/>
              </a:rPr>
              <a:t>-2)</a:t>
            </a:r>
            <a:r>
              <a:rPr lang="en-US" altLang="en-US" sz="1800">
                <a:latin typeface="Times" pitchFamily="-111" charset="0"/>
              </a:rPr>
              <a:t>) (</a:t>
            </a:r>
            <a:r>
              <a:rPr lang="en-US" altLang="en-US" sz="1800" i="1">
                <a:latin typeface="Times" pitchFamily="-111" charset="0"/>
              </a:rPr>
              <a:t>n </a:t>
            </a:r>
            <a:r>
              <a:rPr lang="en-US" altLang="en-US" sz="1800">
                <a:latin typeface="Times" pitchFamily="-111" charset="0"/>
              </a:rPr>
              <a:t>-2)!]</a:t>
            </a:r>
          </a:p>
          <a:p>
            <a:endParaRPr lang="en-US" altLang="en-US" sz="1800">
              <a:latin typeface="Times" pitchFamily="-111" charset="0"/>
            </a:endParaRPr>
          </a:p>
          <a:p>
            <a:r>
              <a:rPr lang="en-US" altLang="en-US" sz="1400">
                <a:latin typeface="Times" pitchFamily="-111" charset="0"/>
              </a:rPr>
              <a:t>Number 	Number of Possible</a:t>
            </a:r>
          </a:p>
          <a:p>
            <a:r>
              <a:rPr lang="en-US" altLang="en-US" sz="1400">
                <a:latin typeface="Times" pitchFamily="-111" charset="0"/>
              </a:rPr>
              <a:t>of Leafs	Dendrograms </a:t>
            </a:r>
          </a:p>
          <a:p>
            <a:r>
              <a:rPr lang="en-US" altLang="en-US" sz="1400">
                <a:latin typeface="Times" pitchFamily="-111" charset="0"/>
              </a:rPr>
              <a:t>2		1</a:t>
            </a:r>
          </a:p>
          <a:p>
            <a:r>
              <a:rPr lang="en-US" altLang="en-US" sz="1400">
                <a:latin typeface="Times" pitchFamily="-111" charset="0"/>
              </a:rPr>
              <a:t>3		3</a:t>
            </a:r>
          </a:p>
          <a:p>
            <a:r>
              <a:rPr lang="en-US" altLang="en-US" sz="1400">
                <a:latin typeface="Times" pitchFamily="-111" charset="0"/>
              </a:rPr>
              <a:t>4		15</a:t>
            </a:r>
          </a:p>
          <a:p>
            <a:r>
              <a:rPr lang="en-US" altLang="en-US" sz="1400">
                <a:latin typeface="Times" pitchFamily="-111" charset="0"/>
              </a:rPr>
              <a:t>5		105</a:t>
            </a:r>
          </a:p>
          <a:p>
            <a:r>
              <a:rPr lang="en-US" altLang="en-US" sz="1400">
                <a:latin typeface="Times" pitchFamily="-111" charset="0"/>
              </a:rPr>
              <a:t>...		…</a:t>
            </a:r>
          </a:p>
          <a:p>
            <a:pPr>
              <a:buFontTx/>
              <a:buAutoNum type="arabicPlain" startAt="10"/>
            </a:pPr>
            <a:r>
              <a:rPr lang="en-US" altLang="en-US" sz="1400">
                <a:latin typeface="Times" pitchFamily="-111" charset="0"/>
              </a:rPr>
              <a:t> 	34,459,425</a:t>
            </a:r>
          </a:p>
          <a:p>
            <a:endParaRPr lang="en-US" altLang="en-US" sz="1400">
              <a:latin typeface="Times" pitchFamily="-111" charset="0"/>
            </a:endParaRPr>
          </a:p>
        </p:txBody>
      </p:sp>
      <p:sp>
        <p:nvSpPr>
          <p:cNvPr id="22533" name="Text Box 1049"/>
          <p:cNvSpPr txBox="1">
            <a:spLocks noChangeArrowheads="1"/>
          </p:cNvSpPr>
          <p:nvPr/>
        </p:nvSpPr>
        <p:spPr bwMode="auto">
          <a:xfrm>
            <a:off x="4422775" y="1289050"/>
            <a:ext cx="424180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Since we cannot test all possible trees we will have to heuristic search of all possible trees. We could do this..</a:t>
            </a:r>
          </a:p>
          <a:p>
            <a:endParaRPr lang="en-US" altLang="en-US" sz="2000"/>
          </a:p>
          <a:p>
            <a:r>
              <a:rPr lang="en-US" altLang="en-US" sz="2000" b="1"/>
              <a:t>Bottom-Up (</a:t>
            </a:r>
            <a:r>
              <a:rPr lang="en-US" altLang="zh-CN" sz="2000" b="1">
                <a:ea typeface="SimSun" pitchFamily="2" charset="-122"/>
              </a:rPr>
              <a:t>agglomerative</a:t>
            </a:r>
            <a:r>
              <a:rPr lang="en-US" altLang="en-US" sz="2000" b="1"/>
              <a:t>):</a:t>
            </a:r>
            <a:r>
              <a:rPr lang="en-US" altLang="en-US" sz="2000"/>
              <a:t> Starting with each item in its own cluster, find the best pair to merge into a new cluster. Repeat until all clusters are fused together. </a:t>
            </a:r>
          </a:p>
          <a:p>
            <a:endParaRPr lang="en-US" altLang="en-US" sz="2000" b="1"/>
          </a:p>
          <a:p>
            <a:r>
              <a:rPr lang="en-US" altLang="en-US" sz="2000" b="1"/>
              <a:t>Top-Down (</a:t>
            </a:r>
            <a:r>
              <a:rPr lang="en-US" altLang="zh-CN" sz="2000" b="1">
                <a:ea typeface="SimSun" pitchFamily="2" charset="-122"/>
              </a:rPr>
              <a:t>divisive</a:t>
            </a:r>
            <a:r>
              <a:rPr lang="en-US" altLang="en-US" sz="2000" b="1"/>
              <a:t>):</a:t>
            </a:r>
            <a:r>
              <a:rPr lang="en-US" altLang="en-US" sz="2000"/>
              <a:t> Starting with all the data in a single cluster, consider every possible way to divide the cluster into two. Choose the best division and recursively operate on both sides.</a:t>
            </a:r>
          </a:p>
          <a:p>
            <a:endParaRPr lang="en-US" altLang="en-US" sz="2000"/>
          </a:p>
          <a:p>
            <a:endParaRPr lang="en-US" altLang="en-US" sz="2000"/>
          </a:p>
        </p:txBody>
      </p:sp>
      <p:sp>
        <p:nvSpPr>
          <p:cNvPr id="22534" name="TextBox 25"/>
          <p:cNvSpPr txBox="1">
            <a:spLocks noChangeArrowheads="1"/>
          </p:cNvSpPr>
          <p:nvPr/>
        </p:nvSpPr>
        <p:spPr bwMode="auto">
          <a:xfrm>
            <a:off x="4814888" y="110331"/>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dirty="0"/>
              <a:t>Slide based on one by Eamonn Keogh</a:t>
            </a:r>
          </a:p>
        </p:txBody>
      </p:sp>
    </p:spTree>
    <p:extLst>
      <p:ext uri="{BB962C8B-B14F-4D97-AF65-F5344CB8AC3E}">
        <p14:creationId xmlns:p14="http://schemas.microsoft.com/office/powerpoint/2010/main" val="104836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791200"/>
            <a:ext cx="4095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791200"/>
            <a:ext cx="4667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6" name="Group 1028"/>
          <p:cNvGrpSpPr>
            <a:grpSpLocks/>
          </p:cNvGrpSpPr>
          <p:nvPr/>
        </p:nvGrpSpPr>
        <p:grpSpPr bwMode="auto">
          <a:xfrm>
            <a:off x="4343400" y="1979613"/>
            <a:ext cx="4343400" cy="4754562"/>
            <a:chOff x="2736" y="1247"/>
            <a:chExt cx="2736" cy="2995"/>
          </a:xfrm>
        </p:grpSpPr>
        <p:grpSp>
          <p:nvGrpSpPr>
            <p:cNvPr id="23562" name="Group 1029"/>
            <p:cNvGrpSpPr>
              <a:grpSpLocks/>
            </p:cNvGrpSpPr>
            <p:nvPr/>
          </p:nvGrpSpPr>
          <p:grpSpPr bwMode="auto">
            <a:xfrm>
              <a:off x="3312" y="2016"/>
              <a:ext cx="2160" cy="2160"/>
              <a:chOff x="1632" y="1248"/>
              <a:chExt cx="2160" cy="2160"/>
            </a:xfrm>
          </p:grpSpPr>
          <p:grpSp>
            <p:nvGrpSpPr>
              <p:cNvPr id="23573" name="Group 1030"/>
              <p:cNvGrpSpPr>
                <a:grpSpLocks/>
              </p:cNvGrpSpPr>
              <p:nvPr/>
            </p:nvGrpSpPr>
            <p:grpSpPr bwMode="auto">
              <a:xfrm>
                <a:off x="1632" y="1248"/>
                <a:ext cx="432" cy="432"/>
                <a:chOff x="1776" y="1920"/>
                <a:chExt cx="432" cy="432"/>
              </a:xfrm>
            </p:grpSpPr>
            <p:sp>
              <p:nvSpPr>
                <p:cNvPr id="23646" name="Rectangle 103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47" name="Text Box 1032"/>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0</a:t>
                  </a:r>
                </a:p>
              </p:txBody>
            </p:sp>
          </p:grpSp>
          <p:grpSp>
            <p:nvGrpSpPr>
              <p:cNvPr id="23574" name="Group 1033"/>
              <p:cNvGrpSpPr>
                <a:grpSpLocks/>
              </p:cNvGrpSpPr>
              <p:nvPr/>
            </p:nvGrpSpPr>
            <p:grpSpPr bwMode="auto">
              <a:xfrm>
                <a:off x="2064" y="1248"/>
                <a:ext cx="432" cy="432"/>
                <a:chOff x="1776" y="1920"/>
                <a:chExt cx="432" cy="432"/>
              </a:xfrm>
            </p:grpSpPr>
            <p:sp>
              <p:nvSpPr>
                <p:cNvPr id="23644" name="Rectangle 103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45" name="Text Box 1035"/>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8</a:t>
                  </a:r>
                </a:p>
              </p:txBody>
            </p:sp>
          </p:grpSp>
          <p:grpSp>
            <p:nvGrpSpPr>
              <p:cNvPr id="23575" name="Group 1036"/>
              <p:cNvGrpSpPr>
                <a:grpSpLocks/>
              </p:cNvGrpSpPr>
              <p:nvPr/>
            </p:nvGrpSpPr>
            <p:grpSpPr bwMode="auto">
              <a:xfrm>
                <a:off x="2496" y="1248"/>
                <a:ext cx="432" cy="432"/>
                <a:chOff x="1776" y="1920"/>
                <a:chExt cx="432" cy="432"/>
              </a:xfrm>
            </p:grpSpPr>
            <p:sp>
              <p:nvSpPr>
                <p:cNvPr id="23642" name="Rectangle 103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43" name="Text Box 1038"/>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8</a:t>
                  </a:r>
                </a:p>
              </p:txBody>
            </p:sp>
          </p:grpSp>
          <p:grpSp>
            <p:nvGrpSpPr>
              <p:cNvPr id="23576" name="Group 1039"/>
              <p:cNvGrpSpPr>
                <a:grpSpLocks/>
              </p:cNvGrpSpPr>
              <p:nvPr/>
            </p:nvGrpSpPr>
            <p:grpSpPr bwMode="auto">
              <a:xfrm>
                <a:off x="2928" y="1248"/>
                <a:ext cx="432" cy="432"/>
                <a:chOff x="1776" y="1920"/>
                <a:chExt cx="432" cy="432"/>
              </a:xfrm>
            </p:grpSpPr>
            <p:sp>
              <p:nvSpPr>
                <p:cNvPr id="23640" name="Rectangle 104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41" name="Text Box 1041"/>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7</a:t>
                  </a:r>
                </a:p>
              </p:txBody>
            </p:sp>
          </p:grpSp>
          <p:grpSp>
            <p:nvGrpSpPr>
              <p:cNvPr id="23577" name="Group 1042"/>
              <p:cNvGrpSpPr>
                <a:grpSpLocks/>
              </p:cNvGrpSpPr>
              <p:nvPr/>
            </p:nvGrpSpPr>
            <p:grpSpPr bwMode="auto">
              <a:xfrm>
                <a:off x="3360" y="1248"/>
                <a:ext cx="432" cy="432"/>
                <a:chOff x="1776" y="1920"/>
                <a:chExt cx="432" cy="432"/>
              </a:xfrm>
            </p:grpSpPr>
            <p:sp>
              <p:nvSpPr>
                <p:cNvPr id="23638" name="Rectangle 104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39" name="Text Box 1044"/>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7</a:t>
                  </a:r>
                </a:p>
              </p:txBody>
            </p:sp>
          </p:grpSp>
          <p:grpSp>
            <p:nvGrpSpPr>
              <p:cNvPr id="23578" name="Group 1045"/>
              <p:cNvGrpSpPr>
                <a:grpSpLocks/>
              </p:cNvGrpSpPr>
              <p:nvPr/>
            </p:nvGrpSpPr>
            <p:grpSpPr bwMode="auto">
              <a:xfrm>
                <a:off x="1632" y="1680"/>
                <a:ext cx="432" cy="432"/>
                <a:chOff x="1776" y="1920"/>
                <a:chExt cx="432" cy="432"/>
              </a:xfrm>
            </p:grpSpPr>
            <p:sp>
              <p:nvSpPr>
                <p:cNvPr id="23636" name="Rectangle 104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37" name="Text Box 1047"/>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79" name="Group 1048"/>
              <p:cNvGrpSpPr>
                <a:grpSpLocks/>
              </p:cNvGrpSpPr>
              <p:nvPr/>
            </p:nvGrpSpPr>
            <p:grpSpPr bwMode="auto">
              <a:xfrm>
                <a:off x="2064" y="1680"/>
                <a:ext cx="432" cy="432"/>
                <a:chOff x="1776" y="1920"/>
                <a:chExt cx="432" cy="432"/>
              </a:xfrm>
            </p:grpSpPr>
            <p:sp>
              <p:nvSpPr>
                <p:cNvPr id="23634" name="Rectangle 104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35" name="Text Box 1050"/>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0</a:t>
                  </a:r>
                </a:p>
              </p:txBody>
            </p:sp>
          </p:grpSp>
          <p:grpSp>
            <p:nvGrpSpPr>
              <p:cNvPr id="23580" name="Group 1051"/>
              <p:cNvGrpSpPr>
                <a:grpSpLocks/>
              </p:cNvGrpSpPr>
              <p:nvPr/>
            </p:nvGrpSpPr>
            <p:grpSpPr bwMode="auto">
              <a:xfrm>
                <a:off x="2496" y="1680"/>
                <a:ext cx="432" cy="432"/>
                <a:chOff x="1776" y="1920"/>
                <a:chExt cx="432" cy="432"/>
              </a:xfrm>
            </p:grpSpPr>
            <p:sp>
              <p:nvSpPr>
                <p:cNvPr id="23632" name="Rectangle 105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33" name="Text Box 1053"/>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2</a:t>
                  </a:r>
                </a:p>
              </p:txBody>
            </p:sp>
          </p:grpSp>
          <p:grpSp>
            <p:nvGrpSpPr>
              <p:cNvPr id="23581" name="Group 1054"/>
              <p:cNvGrpSpPr>
                <a:grpSpLocks/>
              </p:cNvGrpSpPr>
              <p:nvPr/>
            </p:nvGrpSpPr>
            <p:grpSpPr bwMode="auto">
              <a:xfrm>
                <a:off x="2928" y="1680"/>
                <a:ext cx="432" cy="432"/>
                <a:chOff x="1776" y="1920"/>
                <a:chExt cx="432" cy="432"/>
              </a:xfrm>
            </p:grpSpPr>
            <p:sp>
              <p:nvSpPr>
                <p:cNvPr id="23630" name="Rectangle 105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31" name="Text Box 1056"/>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4</a:t>
                  </a:r>
                </a:p>
              </p:txBody>
            </p:sp>
          </p:grpSp>
          <p:grpSp>
            <p:nvGrpSpPr>
              <p:cNvPr id="23582" name="Group 1057"/>
              <p:cNvGrpSpPr>
                <a:grpSpLocks/>
              </p:cNvGrpSpPr>
              <p:nvPr/>
            </p:nvGrpSpPr>
            <p:grpSpPr bwMode="auto">
              <a:xfrm>
                <a:off x="3360" y="1680"/>
                <a:ext cx="432" cy="432"/>
                <a:chOff x="1776" y="1920"/>
                <a:chExt cx="432" cy="432"/>
              </a:xfrm>
            </p:grpSpPr>
            <p:sp>
              <p:nvSpPr>
                <p:cNvPr id="23628" name="Rectangle 105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29" name="Text Box 1059"/>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4</a:t>
                  </a:r>
                </a:p>
              </p:txBody>
            </p:sp>
          </p:grpSp>
          <p:grpSp>
            <p:nvGrpSpPr>
              <p:cNvPr id="23583" name="Group 1060"/>
              <p:cNvGrpSpPr>
                <a:grpSpLocks/>
              </p:cNvGrpSpPr>
              <p:nvPr/>
            </p:nvGrpSpPr>
            <p:grpSpPr bwMode="auto">
              <a:xfrm>
                <a:off x="1632" y="2112"/>
                <a:ext cx="432" cy="432"/>
                <a:chOff x="1776" y="1920"/>
                <a:chExt cx="432" cy="432"/>
              </a:xfrm>
            </p:grpSpPr>
            <p:sp>
              <p:nvSpPr>
                <p:cNvPr id="23626" name="Rectangle 106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27" name="Text Box 1062"/>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84" name="Group 1063"/>
              <p:cNvGrpSpPr>
                <a:grpSpLocks/>
              </p:cNvGrpSpPr>
              <p:nvPr/>
            </p:nvGrpSpPr>
            <p:grpSpPr bwMode="auto">
              <a:xfrm>
                <a:off x="2064" y="2112"/>
                <a:ext cx="432" cy="432"/>
                <a:chOff x="1776" y="1920"/>
                <a:chExt cx="432" cy="432"/>
              </a:xfrm>
            </p:grpSpPr>
            <p:sp>
              <p:nvSpPr>
                <p:cNvPr id="23624" name="Rectangle 106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25" name="Text Box 1065"/>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85" name="Group 1066"/>
              <p:cNvGrpSpPr>
                <a:grpSpLocks/>
              </p:cNvGrpSpPr>
              <p:nvPr/>
            </p:nvGrpSpPr>
            <p:grpSpPr bwMode="auto">
              <a:xfrm>
                <a:off x="2496" y="2112"/>
                <a:ext cx="432" cy="432"/>
                <a:chOff x="1776" y="1920"/>
                <a:chExt cx="432" cy="432"/>
              </a:xfrm>
            </p:grpSpPr>
            <p:sp>
              <p:nvSpPr>
                <p:cNvPr id="23622" name="Rectangle 106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23" name="Text Box 1068"/>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0</a:t>
                  </a:r>
                </a:p>
              </p:txBody>
            </p:sp>
          </p:grpSp>
          <p:grpSp>
            <p:nvGrpSpPr>
              <p:cNvPr id="23586" name="Group 1069"/>
              <p:cNvGrpSpPr>
                <a:grpSpLocks/>
              </p:cNvGrpSpPr>
              <p:nvPr/>
            </p:nvGrpSpPr>
            <p:grpSpPr bwMode="auto">
              <a:xfrm>
                <a:off x="2928" y="2112"/>
                <a:ext cx="432" cy="432"/>
                <a:chOff x="1776" y="1920"/>
                <a:chExt cx="432" cy="432"/>
              </a:xfrm>
            </p:grpSpPr>
            <p:sp>
              <p:nvSpPr>
                <p:cNvPr id="23620" name="Rectangle 107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21" name="Text Box 1071"/>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3</a:t>
                  </a:r>
                </a:p>
              </p:txBody>
            </p:sp>
          </p:grpSp>
          <p:grpSp>
            <p:nvGrpSpPr>
              <p:cNvPr id="23587" name="Group 1072"/>
              <p:cNvGrpSpPr>
                <a:grpSpLocks/>
              </p:cNvGrpSpPr>
              <p:nvPr/>
            </p:nvGrpSpPr>
            <p:grpSpPr bwMode="auto">
              <a:xfrm>
                <a:off x="3360" y="2112"/>
                <a:ext cx="432" cy="432"/>
                <a:chOff x="1776" y="1920"/>
                <a:chExt cx="432" cy="432"/>
              </a:xfrm>
            </p:grpSpPr>
            <p:sp>
              <p:nvSpPr>
                <p:cNvPr id="23618" name="Rectangle 107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19" name="Text Box 1074"/>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3</a:t>
                  </a:r>
                </a:p>
              </p:txBody>
            </p:sp>
          </p:grpSp>
          <p:grpSp>
            <p:nvGrpSpPr>
              <p:cNvPr id="23588" name="Group 1075"/>
              <p:cNvGrpSpPr>
                <a:grpSpLocks/>
              </p:cNvGrpSpPr>
              <p:nvPr/>
            </p:nvGrpSpPr>
            <p:grpSpPr bwMode="auto">
              <a:xfrm>
                <a:off x="1632" y="2544"/>
                <a:ext cx="432" cy="432"/>
                <a:chOff x="1776" y="1920"/>
                <a:chExt cx="432" cy="432"/>
              </a:xfrm>
            </p:grpSpPr>
            <p:sp>
              <p:nvSpPr>
                <p:cNvPr id="23616" name="Rectangle 1076"/>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17" name="Text Box 1077"/>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89" name="Group 1078"/>
              <p:cNvGrpSpPr>
                <a:grpSpLocks/>
              </p:cNvGrpSpPr>
              <p:nvPr/>
            </p:nvGrpSpPr>
            <p:grpSpPr bwMode="auto">
              <a:xfrm>
                <a:off x="2064" y="2544"/>
                <a:ext cx="432" cy="432"/>
                <a:chOff x="1776" y="1920"/>
                <a:chExt cx="432" cy="432"/>
              </a:xfrm>
            </p:grpSpPr>
            <p:sp>
              <p:nvSpPr>
                <p:cNvPr id="23614" name="Rectangle 1079"/>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15" name="Text Box 1080"/>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0" name="Group 1081"/>
              <p:cNvGrpSpPr>
                <a:grpSpLocks/>
              </p:cNvGrpSpPr>
              <p:nvPr/>
            </p:nvGrpSpPr>
            <p:grpSpPr bwMode="auto">
              <a:xfrm>
                <a:off x="2496" y="2544"/>
                <a:ext cx="432" cy="432"/>
                <a:chOff x="1776" y="1920"/>
                <a:chExt cx="432" cy="432"/>
              </a:xfrm>
            </p:grpSpPr>
            <p:sp>
              <p:nvSpPr>
                <p:cNvPr id="23612" name="Rectangle 1082"/>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13" name="Text Box 1083"/>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1" name="Group 1084"/>
              <p:cNvGrpSpPr>
                <a:grpSpLocks/>
              </p:cNvGrpSpPr>
              <p:nvPr/>
            </p:nvGrpSpPr>
            <p:grpSpPr bwMode="auto">
              <a:xfrm>
                <a:off x="2928" y="2544"/>
                <a:ext cx="432" cy="432"/>
                <a:chOff x="1776" y="1920"/>
                <a:chExt cx="432" cy="432"/>
              </a:xfrm>
            </p:grpSpPr>
            <p:sp>
              <p:nvSpPr>
                <p:cNvPr id="23610" name="Rectangle 1085"/>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11" name="Text Box 1086"/>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0</a:t>
                  </a:r>
                </a:p>
              </p:txBody>
            </p:sp>
          </p:grpSp>
          <p:grpSp>
            <p:nvGrpSpPr>
              <p:cNvPr id="23592" name="Group 1087"/>
              <p:cNvGrpSpPr>
                <a:grpSpLocks/>
              </p:cNvGrpSpPr>
              <p:nvPr/>
            </p:nvGrpSpPr>
            <p:grpSpPr bwMode="auto">
              <a:xfrm>
                <a:off x="3360" y="2544"/>
                <a:ext cx="432" cy="432"/>
                <a:chOff x="1776" y="1920"/>
                <a:chExt cx="432" cy="432"/>
              </a:xfrm>
            </p:grpSpPr>
            <p:sp>
              <p:nvSpPr>
                <p:cNvPr id="23608" name="Rectangle 1088"/>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09" name="Text Box 1089"/>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1</a:t>
                  </a:r>
                </a:p>
              </p:txBody>
            </p:sp>
          </p:grpSp>
          <p:grpSp>
            <p:nvGrpSpPr>
              <p:cNvPr id="23593" name="Group 1090"/>
              <p:cNvGrpSpPr>
                <a:grpSpLocks/>
              </p:cNvGrpSpPr>
              <p:nvPr/>
            </p:nvGrpSpPr>
            <p:grpSpPr bwMode="auto">
              <a:xfrm>
                <a:off x="1632" y="2976"/>
                <a:ext cx="432" cy="432"/>
                <a:chOff x="1776" y="1920"/>
                <a:chExt cx="432" cy="432"/>
              </a:xfrm>
            </p:grpSpPr>
            <p:sp>
              <p:nvSpPr>
                <p:cNvPr id="23606" name="Rectangle 1091"/>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07" name="Text Box 1092"/>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4" name="Group 1093"/>
              <p:cNvGrpSpPr>
                <a:grpSpLocks/>
              </p:cNvGrpSpPr>
              <p:nvPr/>
            </p:nvGrpSpPr>
            <p:grpSpPr bwMode="auto">
              <a:xfrm>
                <a:off x="2064" y="2976"/>
                <a:ext cx="432" cy="432"/>
                <a:chOff x="1776" y="1920"/>
                <a:chExt cx="432" cy="432"/>
              </a:xfrm>
            </p:grpSpPr>
            <p:sp>
              <p:nvSpPr>
                <p:cNvPr id="23604" name="Rectangle 1094"/>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05" name="Text Box 1095"/>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5" name="Group 1096"/>
              <p:cNvGrpSpPr>
                <a:grpSpLocks/>
              </p:cNvGrpSpPr>
              <p:nvPr/>
            </p:nvGrpSpPr>
            <p:grpSpPr bwMode="auto">
              <a:xfrm>
                <a:off x="2496" y="2976"/>
                <a:ext cx="432" cy="432"/>
                <a:chOff x="1776" y="1920"/>
                <a:chExt cx="432" cy="432"/>
              </a:xfrm>
            </p:grpSpPr>
            <p:sp>
              <p:nvSpPr>
                <p:cNvPr id="23602" name="Rectangle 1097"/>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03" name="Text Box 1098"/>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6" name="Group 1099"/>
              <p:cNvGrpSpPr>
                <a:grpSpLocks/>
              </p:cNvGrpSpPr>
              <p:nvPr/>
            </p:nvGrpSpPr>
            <p:grpSpPr bwMode="auto">
              <a:xfrm>
                <a:off x="2928" y="2976"/>
                <a:ext cx="432" cy="432"/>
                <a:chOff x="1776" y="1920"/>
                <a:chExt cx="432" cy="432"/>
              </a:xfrm>
            </p:grpSpPr>
            <p:sp>
              <p:nvSpPr>
                <p:cNvPr id="23600" name="Rectangle 1100"/>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601" name="Text Box 1101"/>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endParaRPr lang="en-US" altLang="en-US"/>
                </a:p>
              </p:txBody>
            </p:sp>
          </p:grpSp>
          <p:grpSp>
            <p:nvGrpSpPr>
              <p:cNvPr id="23597" name="Group 1102"/>
              <p:cNvGrpSpPr>
                <a:grpSpLocks/>
              </p:cNvGrpSpPr>
              <p:nvPr/>
            </p:nvGrpSpPr>
            <p:grpSpPr bwMode="auto">
              <a:xfrm>
                <a:off x="3360" y="2976"/>
                <a:ext cx="432" cy="432"/>
                <a:chOff x="1776" y="1920"/>
                <a:chExt cx="432" cy="432"/>
              </a:xfrm>
            </p:grpSpPr>
            <p:sp>
              <p:nvSpPr>
                <p:cNvPr id="23598" name="Rectangle 1103"/>
                <p:cNvSpPr>
                  <a:spLocks noChangeArrowheads="1"/>
                </p:cNvSpPr>
                <p:nvPr/>
              </p:nvSpPr>
              <p:spPr bwMode="auto">
                <a:xfrm>
                  <a:off x="1776" y="1920"/>
                  <a:ext cx="432"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3599" name="Text Box 1104"/>
                <p:cNvSpPr txBox="1">
                  <a:spLocks noChangeArrowheads="1"/>
                </p:cNvSpPr>
                <p:nvPr/>
              </p:nvSpPr>
              <p:spPr bwMode="auto">
                <a:xfrm>
                  <a:off x="1776"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a:t>0</a:t>
                  </a:r>
                </a:p>
              </p:txBody>
            </p:sp>
          </p:grpSp>
        </p:grpSp>
        <p:pic>
          <p:nvPicPr>
            <p:cNvPr id="23563" name="Picture 1105" descr="Edna Krabapp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360"/>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Picture 110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40" y="1592"/>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107"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6" y="1247"/>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110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43" y="1425"/>
              <a:ext cx="32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1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0" y="1440"/>
              <a:ext cx="411"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8" name="Picture 1110" descr="Edna Krabapp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 y="1968"/>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9" name="Picture 11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72" y="2496"/>
              <a:ext cx="17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0" name="Picture 1112" descr="C:\Documents and Settings\eamonn\Desktop\bios_family_marge.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84" y="2736"/>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1" name="Picture 11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3696"/>
              <a:ext cx="294"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2" name="Picture 11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264"/>
              <a:ext cx="258"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57" name="Text Box 1115"/>
          <p:cNvSpPr txBox="1">
            <a:spLocks noChangeArrowheads="1"/>
          </p:cNvSpPr>
          <p:nvPr/>
        </p:nvSpPr>
        <p:spPr bwMode="auto">
          <a:xfrm>
            <a:off x="304800" y="4648200"/>
            <a:ext cx="30670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5400"/>
              <a:t>D(  ,  ) = 8</a:t>
            </a:r>
          </a:p>
          <a:p>
            <a:pPr>
              <a:spcBef>
                <a:spcPct val="25000"/>
              </a:spcBef>
            </a:pPr>
            <a:r>
              <a:rPr lang="en-US" altLang="en-US" sz="5400"/>
              <a:t>D(  ,  ) = 1</a:t>
            </a:r>
          </a:p>
        </p:txBody>
      </p:sp>
      <p:pic>
        <p:nvPicPr>
          <p:cNvPr id="23558" name="Picture 1116" descr="Edna Krabapp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648200"/>
            <a:ext cx="4445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1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76400" y="4876800"/>
            <a:ext cx="2714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 Box 1118"/>
          <p:cNvSpPr txBox="1">
            <a:spLocks noChangeArrowheads="1"/>
          </p:cNvSpPr>
          <p:nvPr/>
        </p:nvSpPr>
        <p:spPr bwMode="auto">
          <a:xfrm>
            <a:off x="304800" y="1419225"/>
            <a:ext cx="39782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We begin with a distance matrix which contains the distances between every pair of objects in our database.</a:t>
            </a:r>
          </a:p>
        </p:txBody>
      </p:sp>
      <p:sp>
        <p:nvSpPr>
          <p:cNvPr id="23561" name="TextBox 94"/>
          <p:cNvSpPr txBox="1">
            <a:spLocks noChangeArrowheads="1"/>
          </p:cNvSpPr>
          <p:nvPr/>
        </p:nvSpPr>
        <p:spPr bwMode="auto">
          <a:xfrm>
            <a:off x="477678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1768103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1026"/>
          <p:cNvSpPr txBox="1">
            <a:spLocks noChangeArrowheads="1"/>
          </p:cNvSpPr>
          <p:nvPr/>
        </p:nvSpPr>
        <p:spPr bwMode="auto">
          <a:xfrm>
            <a:off x="133350" y="133350"/>
            <a:ext cx="4241800" cy="1676400"/>
          </a:xfrm>
          <a:prstGeom prst="rect">
            <a:avLst/>
          </a:prstGeom>
          <a:noFill/>
          <a:ln w="9525">
            <a:noFill/>
            <a:miter lim="800000"/>
            <a:headEnd/>
            <a:tailEnd/>
          </a:ln>
          <a:effectLst/>
        </p:spPr>
        <p:txBody>
          <a:bodyPr>
            <a:spAutoFit/>
          </a:bodyPr>
          <a:lstStyle/>
          <a:p>
            <a:pPr>
              <a:defRPr/>
            </a:pP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20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4579" name="Group 1027"/>
          <p:cNvGrpSpPr>
            <a:grpSpLocks/>
          </p:cNvGrpSpPr>
          <p:nvPr/>
        </p:nvGrpSpPr>
        <p:grpSpPr bwMode="auto">
          <a:xfrm>
            <a:off x="8116888" y="5689600"/>
            <a:ext cx="1027112" cy="973138"/>
            <a:chOff x="1267" y="3584"/>
            <a:chExt cx="647" cy="613"/>
          </a:xfrm>
        </p:grpSpPr>
        <p:grpSp>
          <p:nvGrpSpPr>
            <p:cNvPr id="24614" name="Group 1028"/>
            <p:cNvGrpSpPr>
              <a:grpSpLocks/>
            </p:cNvGrpSpPr>
            <p:nvPr/>
          </p:nvGrpSpPr>
          <p:grpSpPr bwMode="auto">
            <a:xfrm>
              <a:off x="1267" y="3735"/>
              <a:ext cx="647" cy="462"/>
              <a:chOff x="252" y="2364"/>
              <a:chExt cx="2258" cy="1608"/>
            </a:xfrm>
          </p:grpSpPr>
          <p:pic>
            <p:nvPicPr>
              <p:cNvPr id="24618"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9"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615"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16"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17"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580" name="Group 1034"/>
          <p:cNvGrpSpPr>
            <a:grpSpLocks/>
          </p:cNvGrpSpPr>
          <p:nvPr/>
        </p:nvGrpSpPr>
        <p:grpSpPr bwMode="auto">
          <a:xfrm>
            <a:off x="2182813" y="5770563"/>
            <a:ext cx="1027112" cy="973137"/>
            <a:chOff x="1165" y="3566"/>
            <a:chExt cx="647" cy="613"/>
          </a:xfrm>
        </p:grpSpPr>
        <p:grpSp>
          <p:nvGrpSpPr>
            <p:cNvPr id="24607" name="Group 1035"/>
            <p:cNvGrpSpPr>
              <a:grpSpLocks/>
            </p:cNvGrpSpPr>
            <p:nvPr/>
          </p:nvGrpSpPr>
          <p:grpSpPr bwMode="auto">
            <a:xfrm>
              <a:off x="1165" y="3717"/>
              <a:ext cx="647" cy="462"/>
              <a:chOff x="252" y="2364"/>
              <a:chExt cx="2258" cy="1608"/>
            </a:xfrm>
          </p:grpSpPr>
          <p:pic>
            <p:nvPicPr>
              <p:cNvPr id="24612" name="Picture 103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3" name="Picture 10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608" name="Group 1038"/>
            <p:cNvGrpSpPr>
              <a:grpSpLocks/>
            </p:cNvGrpSpPr>
            <p:nvPr/>
          </p:nvGrpSpPr>
          <p:grpSpPr bwMode="auto">
            <a:xfrm>
              <a:off x="1324" y="3566"/>
              <a:ext cx="314" cy="83"/>
              <a:chOff x="1324" y="3566"/>
              <a:chExt cx="314" cy="83"/>
            </a:xfrm>
          </p:grpSpPr>
          <p:sp>
            <p:nvSpPr>
              <p:cNvPr id="24609" name="Line 1039"/>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10" name="Line 1040"/>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11" name="Line 1041"/>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581" name="Group 1042"/>
          <p:cNvGrpSpPr>
            <a:grpSpLocks/>
          </p:cNvGrpSpPr>
          <p:nvPr/>
        </p:nvGrpSpPr>
        <p:grpSpPr bwMode="auto">
          <a:xfrm>
            <a:off x="3294063" y="5527675"/>
            <a:ext cx="760412" cy="1216025"/>
            <a:chOff x="2072" y="3380"/>
            <a:chExt cx="479" cy="802"/>
          </a:xfrm>
        </p:grpSpPr>
        <p:pic>
          <p:nvPicPr>
            <p:cNvPr id="24601" name="Picture 1043" descr="Edna Krabapp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2" name="Picture 104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03" name="Group 1045"/>
            <p:cNvGrpSpPr>
              <a:grpSpLocks/>
            </p:cNvGrpSpPr>
            <p:nvPr/>
          </p:nvGrpSpPr>
          <p:grpSpPr bwMode="auto">
            <a:xfrm>
              <a:off x="2170" y="3380"/>
              <a:ext cx="314" cy="185"/>
              <a:chOff x="2170" y="3380"/>
              <a:chExt cx="314" cy="185"/>
            </a:xfrm>
          </p:grpSpPr>
          <p:sp>
            <p:nvSpPr>
              <p:cNvPr id="24604" name="Line 104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05" name="Line 104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06" name="Line 104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582" name="Group 1049"/>
          <p:cNvGrpSpPr>
            <a:grpSpLocks/>
          </p:cNvGrpSpPr>
          <p:nvPr/>
        </p:nvGrpSpPr>
        <p:grpSpPr bwMode="auto">
          <a:xfrm>
            <a:off x="1293813" y="5491163"/>
            <a:ext cx="776287" cy="1252537"/>
            <a:chOff x="2663" y="3356"/>
            <a:chExt cx="489" cy="789"/>
          </a:xfrm>
        </p:grpSpPr>
        <p:pic>
          <p:nvPicPr>
            <p:cNvPr id="24595" name="Picture 105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Picture 10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7" name="Group 1052"/>
            <p:cNvGrpSpPr>
              <a:grpSpLocks/>
            </p:cNvGrpSpPr>
            <p:nvPr/>
          </p:nvGrpSpPr>
          <p:grpSpPr bwMode="auto">
            <a:xfrm>
              <a:off x="2758" y="3356"/>
              <a:ext cx="314" cy="209"/>
              <a:chOff x="2170" y="3380"/>
              <a:chExt cx="314" cy="185"/>
            </a:xfrm>
          </p:grpSpPr>
          <p:sp>
            <p:nvSpPr>
              <p:cNvPr id="24598" name="Line 105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599" name="Line 105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600" name="Line 105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583" name="Group 1056"/>
          <p:cNvGrpSpPr>
            <a:grpSpLocks/>
          </p:cNvGrpSpPr>
          <p:nvPr/>
        </p:nvGrpSpPr>
        <p:grpSpPr bwMode="auto">
          <a:xfrm>
            <a:off x="4586288" y="5518150"/>
            <a:ext cx="815975" cy="1206500"/>
            <a:chOff x="2889" y="3476"/>
            <a:chExt cx="514" cy="760"/>
          </a:xfrm>
        </p:grpSpPr>
        <p:pic>
          <p:nvPicPr>
            <p:cNvPr id="24589" name="Picture 1057"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0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1" name="Group 1059"/>
            <p:cNvGrpSpPr>
              <a:grpSpLocks/>
            </p:cNvGrpSpPr>
            <p:nvPr/>
          </p:nvGrpSpPr>
          <p:grpSpPr bwMode="auto">
            <a:xfrm>
              <a:off x="3010" y="3476"/>
              <a:ext cx="314" cy="195"/>
              <a:chOff x="2170" y="3380"/>
              <a:chExt cx="314" cy="185"/>
            </a:xfrm>
          </p:grpSpPr>
          <p:sp>
            <p:nvSpPr>
              <p:cNvPr id="24592" name="Line 106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593" name="Line 106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4594" name="Line 106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4584" name="Text Box 1063"/>
          <p:cNvSpPr txBox="1">
            <a:spLocks noChangeArrowheads="1"/>
          </p:cNvSpPr>
          <p:nvPr/>
        </p:nvSpPr>
        <p:spPr bwMode="auto">
          <a:xfrm>
            <a:off x="4117975" y="5946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4585" name="Text Box 1064"/>
          <p:cNvSpPr txBox="1">
            <a:spLocks noChangeArrowheads="1"/>
          </p:cNvSpPr>
          <p:nvPr/>
        </p:nvSpPr>
        <p:spPr bwMode="auto">
          <a:xfrm>
            <a:off x="0" y="5661025"/>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sp>
        <p:nvSpPr>
          <p:cNvPr id="24586" name="Text Box 1065"/>
          <p:cNvSpPr txBox="1">
            <a:spLocks noChangeArrowheads="1"/>
          </p:cNvSpPr>
          <p:nvPr/>
        </p:nvSpPr>
        <p:spPr bwMode="auto">
          <a:xfrm>
            <a:off x="5686425" y="56991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4587" name="Rectangle 1066"/>
          <p:cNvSpPr>
            <a:spLocks noChangeArrowheads="1"/>
          </p:cNvSpPr>
          <p:nvPr/>
        </p:nvSpPr>
        <p:spPr bwMode="auto">
          <a:xfrm>
            <a:off x="0" y="525780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4588" name="TextBox 42"/>
          <p:cNvSpPr txBox="1">
            <a:spLocks noChangeArrowheads="1"/>
          </p:cNvSpPr>
          <p:nvPr/>
        </p:nvSpPr>
        <p:spPr bwMode="auto">
          <a:xfrm>
            <a:off x="5402263" y="133350"/>
            <a:ext cx="35925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This slide and next 4 based on slides by Eamonn Keogh</a:t>
            </a:r>
          </a:p>
        </p:txBody>
      </p:sp>
    </p:spTree>
    <p:extLst>
      <p:ext uri="{BB962C8B-B14F-4D97-AF65-F5344CB8AC3E}">
        <p14:creationId xmlns:p14="http://schemas.microsoft.com/office/powerpoint/2010/main" val="785891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1026"/>
          <p:cNvSpPr txBox="1">
            <a:spLocks noChangeArrowheads="1"/>
          </p:cNvSpPr>
          <p:nvPr/>
        </p:nvSpPr>
        <p:spPr bwMode="auto">
          <a:xfrm>
            <a:off x="133350" y="133350"/>
            <a:ext cx="4241800" cy="1676400"/>
          </a:xfrm>
          <a:prstGeom prst="rect">
            <a:avLst/>
          </a:prstGeom>
          <a:noFill/>
          <a:ln w="9525">
            <a:noFill/>
            <a:miter lim="800000"/>
            <a:headEnd/>
            <a:tailEnd/>
          </a:ln>
          <a:effectLst/>
        </p:spPr>
        <p:txBody>
          <a:bodyPr>
            <a:spAutoFit/>
          </a:bodyPr>
          <a:lstStyle/>
          <a:p>
            <a:pPr>
              <a:defRPr/>
            </a:pP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20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5603" name="Group 1027"/>
          <p:cNvGrpSpPr>
            <a:grpSpLocks/>
          </p:cNvGrpSpPr>
          <p:nvPr/>
        </p:nvGrpSpPr>
        <p:grpSpPr bwMode="auto">
          <a:xfrm>
            <a:off x="8116888" y="5689600"/>
            <a:ext cx="1027112" cy="973138"/>
            <a:chOff x="1267" y="3584"/>
            <a:chExt cx="647" cy="613"/>
          </a:xfrm>
        </p:grpSpPr>
        <p:grpSp>
          <p:nvGrpSpPr>
            <p:cNvPr id="25678" name="Group 1028"/>
            <p:cNvGrpSpPr>
              <a:grpSpLocks/>
            </p:cNvGrpSpPr>
            <p:nvPr/>
          </p:nvGrpSpPr>
          <p:grpSpPr bwMode="auto">
            <a:xfrm>
              <a:off x="1267" y="3735"/>
              <a:ext cx="647" cy="462"/>
              <a:chOff x="252" y="2364"/>
              <a:chExt cx="2258" cy="1608"/>
            </a:xfrm>
          </p:grpSpPr>
          <p:pic>
            <p:nvPicPr>
              <p:cNvPr id="25682"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83"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79"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80"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81"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604" name="Group 1034"/>
          <p:cNvGrpSpPr>
            <a:grpSpLocks/>
          </p:cNvGrpSpPr>
          <p:nvPr/>
        </p:nvGrpSpPr>
        <p:grpSpPr bwMode="auto">
          <a:xfrm>
            <a:off x="8078788" y="4465638"/>
            <a:ext cx="1027112" cy="733425"/>
            <a:chOff x="252" y="2364"/>
            <a:chExt cx="2258" cy="1608"/>
          </a:xfrm>
        </p:grpSpPr>
        <p:pic>
          <p:nvPicPr>
            <p:cNvPr id="25676" name="Picture 1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77" name="Picture 10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05" name="Line 1037"/>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06" name="Line 1038"/>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07" name="Line 1039"/>
          <p:cNvSpPr>
            <a:spLocks noChangeShapeType="1"/>
          </p:cNvSpPr>
          <p:nvPr/>
        </p:nvSpPr>
        <p:spPr bwMode="auto">
          <a:xfrm flipH="1">
            <a:off x="8331200" y="4225925"/>
            <a:ext cx="498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08" name="Group 1040"/>
          <p:cNvGrpSpPr>
            <a:grpSpLocks/>
          </p:cNvGrpSpPr>
          <p:nvPr/>
        </p:nvGrpSpPr>
        <p:grpSpPr bwMode="auto">
          <a:xfrm>
            <a:off x="7299325" y="4084638"/>
            <a:ext cx="608013" cy="1147762"/>
            <a:chOff x="4598" y="2573"/>
            <a:chExt cx="383" cy="723"/>
          </a:xfrm>
        </p:grpSpPr>
        <p:pic>
          <p:nvPicPr>
            <p:cNvPr id="25670" name="Picture 10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71" name="Picture 1042"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72" name="Group 1043"/>
            <p:cNvGrpSpPr>
              <a:grpSpLocks/>
            </p:cNvGrpSpPr>
            <p:nvPr/>
          </p:nvGrpSpPr>
          <p:grpSpPr bwMode="auto">
            <a:xfrm>
              <a:off x="4638" y="2573"/>
              <a:ext cx="315" cy="169"/>
              <a:chOff x="2112" y="2976"/>
              <a:chExt cx="703" cy="377"/>
            </a:xfrm>
          </p:grpSpPr>
          <p:sp>
            <p:nvSpPr>
              <p:cNvPr id="25673" name="Line 1044"/>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74" name="Line 1045"/>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75" name="Line 1046"/>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09" name="Group 1047"/>
          <p:cNvGrpSpPr>
            <a:grpSpLocks/>
          </p:cNvGrpSpPr>
          <p:nvPr/>
        </p:nvGrpSpPr>
        <p:grpSpPr bwMode="auto">
          <a:xfrm>
            <a:off x="2182813" y="5770563"/>
            <a:ext cx="1027112" cy="973137"/>
            <a:chOff x="1165" y="3566"/>
            <a:chExt cx="647" cy="613"/>
          </a:xfrm>
        </p:grpSpPr>
        <p:grpSp>
          <p:nvGrpSpPr>
            <p:cNvPr id="25663" name="Group 1048"/>
            <p:cNvGrpSpPr>
              <a:grpSpLocks/>
            </p:cNvGrpSpPr>
            <p:nvPr/>
          </p:nvGrpSpPr>
          <p:grpSpPr bwMode="auto">
            <a:xfrm>
              <a:off x="1165" y="3717"/>
              <a:ext cx="647" cy="462"/>
              <a:chOff x="252" y="2364"/>
              <a:chExt cx="2258" cy="1608"/>
            </a:xfrm>
          </p:grpSpPr>
          <p:pic>
            <p:nvPicPr>
              <p:cNvPr id="25668" name="Picture 10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9" name="Picture 10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64" name="Group 1051"/>
            <p:cNvGrpSpPr>
              <a:grpSpLocks/>
            </p:cNvGrpSpPr>
            <p:nvPr/>
          </p:nvGrpSpPr>
          <p:grpSpPr bwMode="auto">
            <a:xfrm>
              <a:off x="1324" y="3566"/>
              <a:ext cx="314" cy="83"/>
              <a:chOff x="1324" y="3566"/>
              <a:chExt cx="314" cy="83"/>
            </a:xfrm>
          </p:grpSpPr>
          <p:sp>
            <p:nvSpPr>
              <p:cNvPr id="25665" name="Line 1052"/>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66" name="Line 1053"/>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67" name="Line 1054"/>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pic>
        <p:nvPicPr>
          <p:cNvPr id="25610" name="Picture 105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Line 1056"/>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12" name="Line 1057"/>
          <p:cNvSpPr>
            <a:spLocks noChangeShapeType="1"/>
          </p:cNvSpPr>
          <p:nvPr/>
        </p:nvSpPr>
        <p:spPr bwMode="auto">
          <a:xfrm flipH="1">
            <a:off x="1836738" y="4100513"/>
            <a:ext cx="752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1058"/>
          <p:cNvSpPr>
            <a:spLocks noChangeShapeType="1"/>
          </p:cNvSpPr>
          <p:nvPr/>
        </p:nvSpPr>
        <p:spPr bwMode="auto">
          <a:xfrm rot="5400000" flipH="1">
            <a:off x="2541587" y="4132263"/>
            <a:ext cx="984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4" name="Group 1059"/>
          <p:cNvGrpSpPr>
            <a:grpSpLocks/>
          </p:cNvGrpSpPr>
          <p:nvPr/>
        </p:nvGrpSpPr>
        <p:grpSpPr bwMode="auto">
          <a:xfrm>
            <a:off x="3294063" y="5527675"/>
            <a:ext cx="760412" cy="1216025"/>
            <a:chOff x="2072" y="3380"/>
            <a:chExt cx="479" cy="802"/>
          </a:xfrm>
        </p:grpSpPr>
        <p:pic>
          <p:nvPicPr>
            <p:cNvPr id="25657" name="Picture 1060"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8" name="Picture 106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59" name="Group 1062"/>
            <p:cNvGrpSpPr>
              <a:grpSpLocks/>
            </p:cNvGrpSpPr>
            <p:nvPr/>
          </p:nvGrpSpPr>
          <p:grpSpPr bwMode="auto">
            <a:xfrm>
              <a:off x="2170" y="3380"/>
              <a:ext cx="314" cy="185"/>
              <a:chOff x="2170" y="3380"/>
              <a:chExt cx="314" cy="185"/>
            </a:xfrm>
          </p:grpSpPr>
          <p:sp>
            <p:nvSpPr>
              <p:cNvPr id="25660" name="Line 106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61" name="Line 106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62" name="Line 106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15" name="Group 1066"/>
          <p:cNvGrpSpPr>
            <a:grpSpLocks/>
          </p:cNvGrpSpPr>
          <p:nvPr/>
        </p:nvGrpSpPr>
        <p:grpSpPr bwMode="auto">
          <a:xfrm>
            <a:off x="1293813" y="5491163"/>
            <a:ext cx="776287" cy="1252537"/>
            <a:chOff x="2663" y="3356"/>
            <a:chExt cx="489" cy="789"/>
          </a:xfrm>
        </p:grpSpPr>
        <p:pic>
          <p:nvPicPr>
            <p:cNvPr id="25651" name="Picture 106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2" name="Picture 10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53" name="Group 1069"/>
            <p:cNvGrpSpPr>
              <a:grpSpLocks/>
            </p:cNvGrpSpPr>
            <p:nvPr/>
          </p:nvGrpSpPr>
          <p:grpSpPr bwMode="auto">
            <a:xfrm>
              <a:off x="2758" y="3356"/>
              <a:ext cx="314" cy="209"/>
              <a:chOff x="2170" y="3380"/>
              <a:chExt cx="314" cy="185"/>
            </a:xfrm>
          </p:grpSpPr>
          <p:sp>
            <p:nvSpPr>
              <p:cNvPr id="25654" name="Line 107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55" name="Line 107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56" name="Line 107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16" name="Group 1073"/>
          <p:cNvGrpSpPr>
            <a:grpSpLocks/>
          </p:cNvGrpSpPr>
          <p:nvPr/>
        </p:nvGrpSpPr>
        <p:grpSpPr bwMode="auto">
          <a:xfrm>
            <a:off x="4586288" y="5518150"/>
            <a:ext cx="815975" cy="1206500"/>
            <a:chOff x="2889" y="3476"/>
            <a:chExt cx="514" cy="760"/>
          </a:xfrm>
        </p:grpSpPr>
        <p:pic>
          <p:nvPicPr>
            <p:cNvPr id="25645" name="Picture 107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6" name="Picture 107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47" name="Group 1076"/>
            <p:cNvGrpSpPr>
              <a:grpSpLocks/>
            </p:cNvGrpSpPr>
            <p:nvPr/>
          </p:nvGrpSpPr>
          <p:grpSpPr bwMode="auto">
            <a:xfrm>
              <a:off x="3010" y="3476"/>
              <a:ext cx="314" cy="195"/>
              <a:chOff x="2170" y="3380"/>
              <a:chExt cx="314" cy="185"/>
            </a:xfrm>
          </p:grpSpPr>
          <p:sp>
            <p:nvSpPr>
              <p:cNvPr id="25648" name="Line 1077"/>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49" name="Line 1078"/>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50" name="Line 1079"/>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5617" name="Text Box 1080"/>
          <p:cNvSpPr txBox="1">
            <a:spLocks noChangeArrowheads="1"/>
          </p:cNvSpPr>
          <p:nvPr/>
        </p:nvSpPr>
        <p:spPr bwMode="auto">
          <a:xfrm>
            <a:off x="4117975" y="5946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5618" name="Text Box 1081"/>
          <p:cNvSpPr txBox="1">
            <a:spLocks noChangeArrowheads="1"/>
          </p:cNvSpPr>
          <p:nvPr/>
        </p:nvSpPr>
        <p:spPr bwMode="auto">
          <a:xfrm>
            <a:off x="0" y="5661025"/>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sp>
        <p:nvSpPr>
          <p:cNvPr id="25619" name="Text Box 1082"/>
          <p:cNvSpPr txBox="1">
            <a:spLocks noChangeArrowheads="1"/>
          </p:cNvSpPr>
          <p:nvPr/>
        </p:nvSpPr>
        <p:spPr bwMode="auto">
          <a:xfrm>
            <a:off x="5686425" y="56991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5620" name="Rectangle 1083"/>
          <p:cNvSpPr>
            <a:spLocks noChangeArrowheads="1"/>
          </p:cNvSpPr>
          <p:nvPr/>
        </p:nvSpPr>
        <p:spPr bwMode="auto">
          <a:xfrm>
            <a:off x="0" y="525780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5621" name="Rectangle 1084"/>
          <p:cNvSpPr>
            <a:spLocks noChangeArrowheads="1"/>
          </p:cNvSpPr>
          <p:nvPr/>
        </p:nvSpPr>
        <p:spPr bwMode="auto">
          <a:xfrm>
            <a:off x="0" y="379095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5622" name="Text Box 1085"/>
          <p:cNvSpPr txBox="1">
            <a:spLocks noChangeArrowheads="1"/>
          </p:cNvSpPr>
          <p:nvPr/>
        </p:nvSpPr>
        <p:spPr bwMode="auto">
          <a:xfrm>
            <a:off x="0" y="4089400"/>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grpSp>
        <p:nvGrpSpPr>
          <p:cNvPr id="25623" name="Group 1086"/>
          <p:cNvGrpSpPr>
            <a:grpSpLocks/>
          </p:cNvGrpSpPr>
          <p:nvPr/>
        </p:nvGrpSpPr>
        <p:grpSpPr bwMode="auto">
          <a:xfrm>
            <a:off x="2116138" y="4184650"/>
            <a:ext cx="1027112" cy="973138"/>
            <a:chOff x="1267" y="3584"/>
            <a:chExt cx="647" cy="613"/>
          </a:xfrm>
        </p:grpSpPr>
        <p:grpSp>
          <p:nvGrpSpPr>
            <p:cNvPr id="25639" name="Group 1087"/>
            <p:cNvGrpSpPr>
              <a:grpSpLocks/>
            </p:cNvGrpSpPr>
            <p:nvPr/>
          </p:nvGrpSpPr>
          <p:grpSpPr bwMode="auto">
            <a:xfrm>
              <a:off x="1267" y="3735"/>
              <a:ext cx="647" cy="462"/>
              <a:chOff x="252" y="2364"/>
              <a:chExt cx="2258" cy="1608"/>
            </a:xfrm>
          </p:grpSpPr>
          <p:pic>
            <p:nvPicPr>
              <p:cNvPr id="25643" name="Picture 108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4" name="Picture 108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40" name="Line 1090"/>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41" name="Line 1091"/>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42" name="Line 1092"/>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5624" name="Picture 10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5" name="Picture 1094"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26" name="Group 1095"/>
          <p:cNvGrpSpPr>
            <a:grpSpLocks/>
          </p:cNvGrpSpPr>
          <p:nvPr/>
        </p:nvGrpSpPr>
        <p:grpSpPr bwMode="auto">
          <a:xfrm>
            <a:off x="3390900" y="3998913"/>
            <a:ext cx="500063" cy="268287"/>
            <a:chOff x="2112" y="2976"/>
            <a:chExt cx="703" cy="377"/>
          </a:xfrm>
        </p:grpSpPr>
        <p:sp>
          <p:nvSpPr>
            <p:cNvPr id="25636" name="Line 1096"/>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7" name="Line 1097"/>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8" name="Line 1098"/>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5627" name="Group 1099"/>
          <p:cNvGrpSpPr>
            <a:grpSpLocks/>
          </p:cNvGrpSpPr>
          <p:nvPr/>
        </p:nvGrpSpPr>
        <p:grpSpPr bwMode="auto">
          <a:xfrm>
            <a:off x="4608513" y="3994150"/>
            <a:ext cx="760412" cy="1216025"/>
            <a:chOff x="2072" y="3380"/>
            <a:chExt cx="479" cy="802"/>
          </a:xfrm>
        </p:grpSpPr>
        <p:pic>
          <p:nvPicPr>
            <p:cNvPr id="25630" name="Picture 1100"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110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32" name="Group 1102"/>
            <p:cNvGrpSpPr>
              <a:grpSpLocks/>
            </p:cNvGrpSpPr>
            <p:nvPr/>
          </p:nvGrpSpPr>
          <p:grpSpPr bwMode="auto">
            <a:xfrm>
              <a:off x="2170" y="3380"/>
              <a:ext cx="314" cy="185"/>
              <a:chOff x="2170" y="3380"/>
              <a:chExt cx="314" cy="185"/>
            </a:xfrm>
          </p:grpSpPr>
          <p:sp>
            <p:nvSpPr>
              <p:cNvPr id="25633" name="Line 110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4" name="Line 110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5" name="Line 110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5628" name="Text Box 1106"/>
          <p:cNvSpPr txBox="1">
            <a:spLocks noChangeArrowheads="1"/>
          </p:cNvSpPr>
          <p:nvPr/>
        </p:nvSpPr>
        <p:spPr bwMode="auto">
          <a:xfrm>
            <a:off x="4051300" y="4518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5629" name="Text Box 1107"/>
          <p:cNvSpPr txBox="1">
            <a:spLocks noChangeArrowheads="1"/>
          </p:cNvSpPr>
          <p:nvPr/>
        </p:nvSpPr>
        <p:spPr bwMode="auto">
          <a:xfrm>
            <a:off x="5686425" y="42132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Tree>
    <p:extLst>
      <p:ext uri="{BB962C8B-B14F-4D97-AF65-F5344CB8AC3E}">
        <p14:creationId xmlns:p14="http://schemas.microsoft.com/office/powerpoint/2010/main" val="2414185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1026"/>
          <p:cNvSpPr txBox="1">
            <a:spLocks noChangeArrowheads="1"/>
          </p:cNvSpPr>
          <p:nvPr/>
        </p:nvSpPr>
        <p:spPr bwMode="auto">
          <a:xfrm>
            <a:off x="133350" y="133350"/>
            <a:ext cx="4241800" cy="1676400"/>
          </a:xfrm>
          <a:prstGeom prst="rect">
            <a:avLst/>
          </a:prstGeom>
          <a:noFill/>
          <a:ln w="9525">
            <a:noFill/>
            <a:miter lim="800000"/>
            <a:headEnd/>
            <a:tailEnd/>
          </a:ln>
          <a:effectLst/>
        </p:spPr>
        <p:txBody>
          <a:bodyPr>
            <a:spAutoFit/>
          </a:bodyPr>
          <a:lstStyle/>
          <a:p>
            <a:pPr>
              <a:defRPr/>
            </a:pP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20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6627" name="Group 1027"/>
          <p:cNvGrpSpPr>
            <a:grpSpLocks/>
          </p:cNvGrpSpPr>
          <p:nvPr/>
        </p:nvGrpSpPr>
        <p:grpSpPr bwMode="auto">
          <a:xfrm>
            <a:off x="8116888" y="5689600"/>
            <a:ext cx="1027112" cy="973138"/>
            <a:chOff x="1267" y="3584"/>
            <a:chExt cx="647" cy="613"/>
          </a:xfrm>
        </p:grpSpPr>
        <p:grpSp>
          <p:nvGrpSpPr>
            <p:cNvPr id="26750" name="Group 1028"/>
            <p:cNvGrpSpPr>
              <a:grpSpLocks/>
            </p:cNvGrpSpPr>
            <p:nvPr/>
          </p:nvGrpSpPr>
          <p:grpSpPr bwMode="auto">
            <a:xfrm>
              <a:off x="1267" y="3735"/>
              <a:ext cx="647" cy="462"/>
              <a:chOff x="252" y="2364"/>
              <a:chExt cx="2258" cy="1608"/>
            </a:xfrm>
          </p:grpSpPr>
          <p:pic>
            <p:nvPicPr>
              <p:cNvPr id="26754" name="Picture 10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55"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51" name="Line 1031"/>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52" name="Line 1032"/>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53" name="Line 1033"/>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28" name="Group 1034"/>
          <p:cNvGrpSpPr>
            <a:grpSpLocks/>
          </p:cNvGrpSpPr>
          <p:nvPr/>
        </p:nvGrpSpPr>
        <p:grpSpPr bwMode="auto">
          <a:xfrm>
            <a:off x="8078788" y="4465638"/>
            <a:ext cx="1027112" cy="733425"/>
            <a:chOff x="252" y="2364"/>
            <a:chExt cx="2258" cy="1608"/>
          </a:xfrm>
        </p:grpSpPr>
        <p:pic>
          <p:nvPicPr>
            <p:cNvPr id="26748" name="Picture 1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9" name="Picture 10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29" name="Line 1037"/>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30" name="Line 1038"/>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31" name="Line 1039"/>
          <p:cNvSpPr>
            <a:spLocks noChangeShapeType="1"/>
          </p:cNvSpPr>
          <p:nvPr/>
        </p:nvSpPr>
        <p:spPr bwMode="auto">
          <a:xfrm flipH="1">
            <a:off x="8331200" y="4225925"/>
            <a:ext cx="498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32" name="Group 1040"/>
          <p:cNvGrpSpPr>
            <a:grpSpLocks/>
          </p:cNvGrpSpPr>
          <p:nvPr/>
        </p:nvGrpSpPr>
        <p:grpSpPr bwMode="auto">
          <a:xfrm>
            <a:off x="7299325" y="4084638"/>
            <a:ext cx="608013" cy="1147762"/>
            <a:chOff x="4598" y="2573"/>
            <a:chExt cx="383" cy="723"/>
          </a:xfrm>
        </p:grpSpPr>
        <p:pic>
          <p:nvPicPr>
            <p:cNvPr id="26742" name="Picture 10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3" name="Picture 1042"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44" name="Group 1043"/>
            <p:cNvGrpSpPr>
              <a:grpSpLocks/>
            </p:cNvGrpSpPr>
            <p:nvPr/>
          </p:nvGrpSpPr>
          <p:grpSpPr bwMode="auto">
            <a:xfrm>
              <a:off x="4638" y="2573"/>
              <a:ext cx="315" cy="169"/>
              <a:chOff x="2112" y="2976"/>
              <a:chExt cx="703" cy="377"/>
            </a:xfrm>
          </p:grpSpPr>
          <p:sp>
            <p:nvSpPr>
              <p:cNvPr id="26745" name="Line 1044"/>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46" name="Line 1045"/>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47" name="Line 1046"/>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33" name="Group 1047"/>
          <p:cNvGrpSpPr>
            <a:grpSpLocks/>
          </p:cNvGrpSpPr>
          <p:nvPr/>
        </p:nvGrpSpPr>
        <p:grpSpPr bwMode="auto">
          <a:xfrm>
            <a:off x="7289800" y="2295525"/>
            <a:ext cx="1806575" cy="1331913"/>
            <a:chOff x="746" y="1753"/>
            <a:chExt cx="1138" cy="839"/>
          </a:xfrm>
        </p:grpSpPr>
        <p:pic>
          <p:nvPicPr>
            <p:cNvPr id="26727" name="Picture 104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28" name="Picture 1049"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29" name="Group 1050"/>
            <p:cNvGrpSpPr>
              <a:grpSpLocks/>
            </p:cNvGrpSpPr>
            <p:nvPr/>
          </p:nvGrpSpPr>
          <p:grpSpPr bwMode="auto">
            <a:xfrm>
              <a:off x="1237" y="2109"/>
              <a:ext cx="647" cy="462"/>
              <a:chOff x="252" y="2364"/>
              <a:chExt cx="2258" cy="1608"/>
            </a:xfrm>
          </p:grpSpPr>
          <p:pic>
            <p:nvPicPr>
              <p:cNvPr id="26740" name="Picture 10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41" name="Picture 10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30" name="Line 1053"/>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31" name="Line 1054"/>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32" name="Line 1055"/>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33" name="Line 1056"/>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34" name="Line 1057"/>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735" name="Group 1058"/>
            <p:cNvGrpSpPr>
              <a:grpSpLocks/>
            </p:cNvGrpSpPr>
            <p:nvPr/>
          </p:nvGrpSpPr>
          <p:grpSpPr bwMode="auto">
            <a:xfrm>
              <a:off x="786" y="1869"/>
              <a:ext cx="315" cy="169"/>
              <a:chOff x="2112" y="2976"/>
              <a:chExt cx="703" cy="377"/>
            </a:xfrm>
          </p:grpSpPr>
          <p:sp>
            <p:nvSpPr>
              <p:cNvPr id="26737" name="Line 1059"/>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38" name="Line 1060"/>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39" name="Line 1061"/>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736" name="Line 1062"/>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34" name="Group 1063"/>
          <p:cNvGrpSpPr>
            <a:grpSpLocks/>
          </p:cNvGrpSpPr>
          <p:nvPr/>
        </p:nvGrpSpPr>
        <p:grpSpPr bwMode="auto">
          <a:xfrm>
            <a:off x="2182813" y="5770563"/>
            <a:ext cx="1027112" cy="973137"/>
            <a:chOff x="1165" y="3566"/>
            <a:chExt cx="647" cy="613"/>
          </a:xfrm>
        </p:grpSpPr>
        <p:grpSp>
          <p:nvGrpSpPr>
            <p:cNvPr id="26720" name="Group 1064"/>
            <p:cNvGrpSpPr>
              <a:grpSpLocks/>
            </p:cNvGrpSpPr>
            <p:nvPr/>
          </p:nvGrpSpPr>
          <p:grpSpPr bwMode="auto">
            <a:xfrm>
              <a:off x="1165" y="3717"/>
              <a:ext cx="647" cy="462"/>
              <a:chOff x="252" y="2364"/>
              <a:chExt cx="2258" cy="1608"/>
            </a:xfrm>
          </p:grpSpPr>
          <p:pic>
            <p:nvPicPr>
              <p:cNvPr id="26725" name="Picture 10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26" name="Picture 10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721" name="Group 1067"/>
            <p:cNvGrpSpPr>
              <a:grpSpLocks/>
            </p:cNvGrpSpPr>
            <p:nvPr/>
          </p:nvGrpSpPr>
          <p:grpSpPr bwMode="auto">
            <a:xfrm>
              <a:off x="1324" y="3566"/>
              <a:ext cx="314" cy="83"/>
              <a:chOff x="1324" y="3566"/>
              <a:chExt cx="314" cy="83"/>
            </a:xfrm>
          </p:grpSpPr>
          <p:sp>
            <p:nvSpPr>
              <p:cNvPr id="26722" name="Line 1068"/>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23" name="Line 1069"/>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24" name="Line 1070"/>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pic>
        <p:nvPicPr>
          <p:cNvPr id="26635" name="Picture 10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Line 1072"/>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37" name="Line 1073"/>
          <p:cNvSpPr>
            <a:spLocks noChangeShapeType="1"/>
          </p:cNvSpPr>
          <p:nvPr/>
        </p:nvSpPr>
        <p:spPr bwMode="auto">
          <a:xfrm flipH="1">
            <a:off x="1836738" y="4100513"/>
            <a:ext cx="752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1074"/>
          <p:cNvSpPr>
            <a:spLocks noChangeShapeType="1"/>
          </p:cNvSpPr>
          <p:nvPr/>
        </p:nvSpPr>
        <p:spPr bwMode="auto">
          <a:xfrm rot="5400000" flipH="1">
            <a:off x="2541587" y="4132263"/>
            <a:ext cx="984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39" name="Group 1075"/>
          <p:cNvGrpSpPr>
            <a:grpSpLocks/>
          </p:cNvGrpSpPr>
          <p:nvPr/>
        </p:nvGrpSpPr>
        <p:grpSpPr bwMode="auto">
          <a:xfrm>
            <a:off x="3294063" y="5527675"/>
            <a:ext cx="760412" cy="1216025"/>
            <a:chOff x="2072" y="3380"/>
            <a:chExt cx="479" cy="802"/>
          </a:xfrm>
        </p:grpSpPr>
        <p:pic>
          <p:nvPicPr>
            <p:cNvPr id="26714" name="Picture 1076"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15" name="Picture 1077"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16" name="Group 1078"/>
            <p:cNvGrpSpPr>
              <a:grpSpLocks/>
            </p:cNvGrpSpPr>
            <p:nvPr/>
          </p:nvGrpSpPr>
          <p:grpSpPr bwMode="auto">
            <a:xfrm>
              <a:off x="2170" y="3380"/>
              <a:ext cx="314" cy="185"/>
              <a:chOff x="2170" y="3380"/>
              <a:chExt cx="314" cy="185"/>
            </a:xfrm>
          </p:grpSpPr>
          <p:sp>
            <p:nvSpPr>
              <p:cNvPr id="26717" name="Line 1079"/>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18" name="Line 1080"/>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19" name="Line 1081"/>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40" name="Group 1082"/>
          <p:cNvGrpSpPr>
            <a:grpSpLocks/>
          </p:cNvGrpSpPr>
          <p:nvPr/>
        </p:nvGrpSpPr>
        <p:grpSpPr bwMode="auto">
          <a:xfrm>
            <a:off x="1293813" y="5491163"/>
            <a:ext cx="776287" cy="1252537"/>
            <a:chOff x="2663" y="3356"/>
            <a:chExt cx="489" cy="789"/>
          </a:xfrm>
        </p:grpSpPr>
        <p:pic>
          <p:nvPicPr>
            <p:cNvPr id="26708" name="Picture 10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9" name="Picture 10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10" name="Group 1085"/>
            <p:cNvGrpSpPr>
              <a:grpSpLocks/>
            </p:cNvGrpSpPr>
            <p:nvPr/>
          </p:nvGrpSpPr>
          <p:grpSpPr bwMode="auto">
            <a:xfrm>
              <a:off x="2758" y="3356"/>
              <a:ext cx="314" cy="209"/>
              <a:chOff x="2170" y="3380"/>
              <a:chExt cx="314" cy="185"/>
            </a:xfrm>
          </p:grpSpPr>
          <p:sp>
            <p:nvSpPr>
              <p:cNvPr id="26711" name="Line 108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12" name="Line 108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13" name="Line 108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41" name="Group 1089"/>
          <p:cNvGrpSpPr>
            <a:grpSpLocks/>
          </p:cNvGrpSpPr>
          <p:nvPr/>
        </p:nvGrpSpPr>
        <p:grpSpPr bwMode="auto">
          <a:xfrm>
            <a:off x="4586288" y="5518150"/>
            <a:ext cx="815975" cy="1206500"/>
            <a:chOff x="2889" y="3476"/>
            <a:chExt cx="514" cy="760"/>
          </a:xfrm>
        </p:grpSpPr>
        <p:pic>
          <p:nvPicPr>
            <p:cNvPr id="26702" name="Picture 1090"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3" name="Picture 109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04" name="Group 1092"/>
            <p:cNvGrpSpPr>
              <a:grpSpLocks/>
            </p:cNvGrpSpPr>
            <p:nvPr/>
          </p:nvGrpSpPr>
          <p:grpSpPr bwMode="auto">
            <a:xfrm>
              <a:off x="3010" y="3476"/>
              <a:ext cx="314" cy="195"/>
              <a:chOff x="2170" y="3380"/>
              <a:chExt cx="314" cy="185"/>
            </a:xfrm>
          </p:grpSpPr>
          <p:sp>
            <p:nvSpPr>
              <p:cNvPr id="26705" name="Line 109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06" name="Line 109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707" name="Line 109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6642" name="Text Box 1096"/>
          <p:cNvSpPr txBox="1">
            <a:spLocks noChangeArrowheads="1"/>
          </p:cNvSpPr>
          <p:nvPr/>
        </p:nvSpPr>
        <p:spPr bwMode="auto">
          <a:xfrm>
            <a:off x="4117975" y="5946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6643" name="Text Box 1097"/>
          <p:cNvSpPr txBox="1">
            <a:spLocks noChangeArrowheads="1"/>
          </p:cNvSpPr>
          <p:nvPr/>
        </p:nvSpPr>
        <p:spPr bwMode="auto">
          <a:xfrm>
            <a:off x="0" y="5661025"/>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sp>
        <p:nvSpPr>
          <p:cNvPr id="26644" name="Text Box 1098"/>
          <p:cNvSpPr txBox="1">
            <a:spLocks noChangeArrowheads="1"/>
          </p:cNvSpPr>
          <p:nvPr/>
        </p:nvSpPr>
        <p:spPr bwMode="auto">
          <a:xfrm>
            <a:off x="5686425" y="56991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6645" name="Rectangle 1099"/>
          <p:cNvSpPr>
            <a:spLocks noChangeArrowheads="1"/>
          </p:cNvSpPr>
          <p:nvPr/>
        </p:nvSpPr>
        <p:spPr bwMode="auto">
          <a:xfrm>
            <a:off x="0" y="525780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6646" name="Rectangle 1100"/>
          <p:cNvSpPr>
            <a:spLocks noChangeArrowheads="1"/>
          </p:cNvSpPr>
          <p:nvPr/>
        </p:nvSpPr>
        <p:spPr bwMode="auto">
          <a:xfrm>
            <a:off x="0" y="379095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6647" name="Rectangle 1101"/>
          <p:cNvSpPr>
            <a:spLocks noChangeArrowheads="1"/>
          </p:cNvSpPr>
          <p:nvPr/>
        </p:nvSpPr>
        <p:spPr bwMode="auto">
          <a:xfrm>
            <a:off x="0" y="200025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6648" name="Text Box 1102"/>
          <p:cNvSpPr txBox="1">
            <a:spLocks noChangeArrowheads="1"/>
          </p:cNvSpPr>
          <p:nvPr/>
        </p:nvSpPr>
        <p:spPr bwMode="auto">
          <a:xfrm>
            <a:off x="0" y="4089400"/>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grpSp>
        <p:nvGrpSpPr>
          <p:cNvPr id="26649" name="Group 1103"/>
          <p:cNvGrpSpPr>
            <a:grpSpLocks/>
          </p:cNvGrpSpPr>
          <p:nvPr/>
        </p:nvGrpSpPr>
        <p:grpSpPr bwMode="auto">
          <a:xfrm>
            <a:off x="2116138" y="4184650"/>
            <a:ext cx="1027112" cy="973138"/>
            <a:chOff x="1267" y="3584"/>
            <a:chExt cx="647" cy="613"/>
          </a:xfrm>
        </p:grpSpPr>
        <p:grpSp>
          <p:nvGrpSpPr>
            <p:cNvPr id="26696" name="Group 1104"/>
            <p:cNvGrpSpPr>
              <a:grpSpLocks/>
            </p:cNvGrpSpPr>
            <p:nvPr/>
          </p:nvGrpSpPr>
          <p:grpSpPr bwMode="auto">
            <a:xfrm>
              <a:off x="1267" y="3735"/>
              <a:ext cx="647" cy="462"/>
              <a:chOff x="252" y="2364"/>
              <a:chExt cx="2258" cy="1608"/>
            </a:xfrm>
          </p:grpSpPr>
          <p:pic>
            <p:nvPicPr>
              <p:cNvPr id="26700" name="Picture 11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1" name="Picture 110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97" name="Line 1107"/>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8" name="Line 1108"/>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9" name="Line 1109"/>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6650" name="Picture 11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51" name="Picture 1111"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52" name="Group 1112"/>
          <p:cNvGrpSpPr>
            <a:grpSpLocks/>
          </p:cNvGrpSpPr>
          <p:nvPr/>
        </p:nvGrpSpPr>
        <p:grpSpPr bwMode="auto">
          <a:xfrm>
            <a:off x="3390900" y="3998913"/>
            <a:ext cx="500063" cy="268287"/>
            <a:chOff x="2112" y="2976"/>
            <a:chExt cx="703" cy="377"/>
          </a:xfrm>
        </p:grpSpPr>
        <p:sp>
          <p:nvSpPr>
            <p:cNvPr id="26693" name="Line 1113"/>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4" name="Line 1114"/>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5" name="Line 1115"/>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53" name="Group 1116"/>
          <p:cNvGrpSpPr>
            <a:grpSpLocks/>
          </p:cNvGrpSpPr>
          <p:nvPr/>
        </p:nvGrpSpPr>
        <p:grpSpPr bwMode="auto">
          <a:xfrm>
            <a:off x="4608513" y="3994150"/>
            <a:ext cx="760412" cy="1216025"/>
            <a:chOff x="2072" y="3380"/>
            <a:chExt cx="479" cy="802"/>
          </a:xfrm>
        </p:grpSpPr>
        <p:pic>
          <p:nvPicPr>
            <p:cNvPr id="26687" name="Picture 1117"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8" name="Picture 1118"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89" name="Group 1119"/>
            <p:cNvGrpSpPr>
              <a:grpSpLocks/>
            </p:cNvGrpSpPr>
            <p:nvPr/>
          </p:nvGrpSpPr>
          <p:grpSpPr bwMode="auto">
            <a:xfrm>
              <a:off x="2170" y="3380"/>
              <a:ext cx="314" cy="185"/>
              <a:chOff x="2170" y="3380"/>
              <a:chExt cx="314" cy="185"/>
            </a:xfrm>
          </p:grpSpPr>
          <p:sp>
            <p:nvSpPr>
              <p:cNvPr id="26690" name="Line 112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1" name="Line 112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92" name="Line 112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6654" name="Text Box 1123"/>
          <p:cNvSpPr txBox="1">
            <a:spLocks noChangeArrowheads="1"/>
          </p:cNvSpPr>
          <p:nvPr/>
        </p:nvSpPr>
        <p:spPr bwMode="auto">
          <a:xfrm>
            <a:off x="4051300" y="4518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6655" name="Text Box 1124"/>
          <p:cNvSpPr txBox="1">
            <a:spLocks noChangeArrowheads="1"/>
          </p:cNvSpPr>
          <p:nvPr/>
        </p:nvSpPr>
        <p:spPr bwMode="auto">
          <a:xfrm>
            <a:off x="5686425" y="42132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6656" name="Text Box 1125"/>
          <p:cNvSpPr txBox="1">
            <a:spLocks noChangeArrowheads="1"/>
          </p:cNvSpPr>
          <p:nvPr/>
        </p:nvSpPr>
        <p:spPr bwMode="auto">
          <a:xfrm>
            <a:off x="0" y="2546350"/>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grpSp>
        <p:nvGrpSpPr>
          <p:cNvPr id="26657" name="Group 1126"/>
          <p:cNvGrpSpPr>
            <a:grpSpLocks/>
          </p:cNvGrpSpPr>
          <p:nvPr/>
        </p:nvGrpSpPr>
        <p:grpSpPr bwMode="auto">
          <a:xfrm>
            <a:off x="1765300" y="2400300"/>
            <a:ext cx="1806575" cy="1331913"/>
            <a:chOff x="746" y="1753"/>
            <a:chExt cx="1138" cy="839"/>
          </a:xfrm>
        </p:grpSpPr>
        <p:pic>
          <p:nvPicPr>
            <p:cNvPr id="26672" name="Picture 112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3" name="Picture 1128" descr="C:\Documents and Settings\eamonn\Desktop\bios_family_marge.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74" name="Group 1129"/>
            <p:cNvGrpSpPr>
              <a:grpSpLocks/>
            </p:cNvGrpSpPr>
            <p:nvPr/>
          </p:nvGrpSpPr>
          <p:grpSpPr bwMode="auto">
            <a:xfrm>
              <a:off x="1237" y="2109"/>
              <a:ext cx="647" cy="462"/>
              <a:chOff x="252" y="2364"/>
              <a:chExt cx="2258" cy="1608"/>
            </a:xfrm>
          </p:grpSpPr>
          <p:pic>
            <p:nvPicPr>
              <p:cNvPr id="26685" name="Picture 11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6" name="Picture 11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75" name="Line 1132"/>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76" name="Line 1133"/>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77" name="Line 1134"/>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8" name="Line 1135"/>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9" name="Line 1136"/>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80" name="Group 1137"/>
            <p:cNvGrpSpPr>
              <a:grpSpLocks/>
            </p:cNvGrpSpPr>
            <p:nvPr/>
          </p:nvGrpSpPr>
          <p:grpSpPr bwMode="auto">
            <a:xfrm>
              <a:off x="786" y="1869"/>
              <a:ext cx="315" cy="169"/>
              <a:chOff x="2112" y="2976"/>
              <a:chExt cx="703" cy="377"/>
            </a:xfrm>
          </p:grpSpPr>
          <p:sp>
            <p:nvSpPr>
              <p:cNvPr id="26682" name="Line 1138"/>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83" name="Line 1139"/>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84" name="Line 1140"/>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681" name="Line 1141"/>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58" name="Group 1142"/>
          <p:cNvGrpSpPr>
            <a:grpSpLocks/>
          </p:cNvGrpSpPr>
          <p:nvPr/>
        </p:nvGrpSpPr>
        <p:grpSpPr bwMode="auto">
          <a:xfrm>
            <a:off x="4184650" y="2511425"/>
            <a:ext cx="1416050" cy="1127125"/>
            <a:chOff x="2342" y="1528"/>
            <a:chExt cx="892" cy="710"/>
          </a:xfrm>
        </p:grpSpPr>
        <p:sp>
          <p:nvSpPr>
            <p:cNvPr id="26661" name="Line 1143"/>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62" name="Line 1144"/>
            <p:cNvSpPr>
              <a:spLocks noChangeShapeType="1"/>
            </p:cNvSpPr>
            <p:nvPr/>
          </p:nvSpPr>
          <p:spPr bwMode="auto">
            <a:xfrm flipH="1">
              <a:off x="2411" y="1539"/>
              <a:ext cx="47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3" name="Line 1145"/>
            <p:cNvSpPr>
              <a:spLocks noChangeShapeType="1"/>
            </p:cNvSpPr>
            <p:nvPr/>
          </p:nvSpPr>
          <p:spPr bwMode="auto">
            <a:xfrm rot="5400000" flipH="1">
              <a:off x="2855" y="1559"/>
              <a:ext cx="6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4" name="Group 1146"/>
            <p:cNvGrpSpPr>
              <a:grpSpLocks/>
            </p:cNvGrpSpPr>
            <p:nvPr/>
          </p:nvGrpSpPr>
          <p:grpSpPr bwMode="auto">
            <a:xfrm>
              <a:off x="2587" y="1592"/>
              <a:ext cx="647" cy="613"/>
              <a:chOff x="1267" y="3584"/>
              <a:chExt cx="647" cy="613"/>
            </a:xfrm>
          </p:grpSpPr>
          <p:grpSp>
            <p:nvGrpSpPr>
              <p:cNvPr id="26666" name="Group 1147"/>
              <p:cNvGrpSpPr>
                <a:grpSpLocks/>
              </p:cNvGrpSpPr>
              <p:nvPr/>
            </p:nvGrpSpPr>
            <p:grpSpPr bwMode="auto">
              <a:xfrm>
                <a:off x="1267" y="3735"/>
                <a:ext cx="647" cy="462"/>
                <a:chOff x="252" y="2364"/>
                <a:chExt cx="2258" cy="1608"/>
              </a:xfrm>
            </p:grpSpPr>
            <p:pic>
              <p:nvPicPr>
                <p:cNvPr id="26670" name="Picture 114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1" name="Picture 114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67" name="Line 1150"/>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68" name="Line 1151"/>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69" name="Line 1152"/>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6665" name="Picture 1153" descr="Edna Krabapp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59" name="Text Box 1154"/>
          <p:cNvSpPr txBox="1">
            <a:spLocks noChangeArrowheads="1"/>
          </p:cNvSpPr>
          <p:nvPr/>
        </p:nvSpPr>
        <p:spPr bwMode="auto">
          <a:xfrm>
            <a:off x="5686425" y="26892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6660" name="Text Box 1155"/>
          <p:cNvSpPr txBox="1">
            <a:spLocks noChangeArrowheads="1"/>
          </p:cNvSpPr>
          <p:nvPr/>
        </p:nvSpPr>
        <p:spPr bwMode="auto">
          <a:xfrm>
            <a:off x="3632200" y="29559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Tree>
    <p:extLst>
      <p:ext uri="{BB962C8B-B14F-4D97-AF65-F5344CB8AC3E}">
        <p14:creationId xmlns:p14="http://schemas.microsoft.com/office/powerpoint/2010/main" val="4124962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6670675" y="215900"/>
            <a:ext cx="2282825" cy="1622425"/>
            <a:chOff x="98" y="300"/>
            <a:chExt cx="3214" cy="2284"/>
          </a:xfrm>
        </p:grpSpPr>
        <p:pic>
          <p:nvPicPr>
            <p:cNvPr id="27781" name="Picture 3"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3" name="Picture 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84" name="Group 6"/>
            <p:cNvGrpSpPr>
              <a:grpSpLocks/>
            </p:cNvGrpSpPr>
            <p:nvPr/>
          </p:nvGrpSpPr>
          <p:grpSpPr bwMode="auto">
            <a:xfrm>
              <a:off x="1865" y="1505"/>
              <a:ext cx="1447" cy="1031"/>
              <a:chOff x="252" y="2364"/>
              <a:chExt cx="2258" cy="1608"/>
            </a:xfrm>
          </p:grpSpPr>
          <p:pic>
            <p:nvPicPr>
              <p:cNvPr id="27799"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00"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85" name="Line 9"/>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86" name="Line 10"/>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87" name="Line 11"/>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88" name="Line 12"/>
            <p:cNvSpPr>
              <a:spLocks noChangeShapeType="1"/>
            </p:cNvSpPr>
            <p:nvPr/>
          </p:nvSpPr>
          <p:spPr bwMode="auto">
            <a:xfrm flipH="1">
              <a:off x="2221" y="1167"/>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9" name="Line 13"/>
            <p:cNvSpPr>
              <a:spLocks noChangeShapeType="1"/>
            </p:cNvSpPr>
            <p:nvPr/>
          </p:nvSpPr>
          <p:spPr bwMode="auto">
            <a:xfrm flipH="1">
              <a:off x="1193" y="710"/>
              <a:ext cx="138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0" name="Line 14"/>
            <p:cNvSpPr>
              <a:spLocks noChangeShapeType="1"/>
            </p:cNvSpPr>
            <p:nvPr/>
          </p:nvSpPr>
          <p:spPr bwMode="auto">
            <a:xfrm rot="5400000" flipH="1">
              <a:off x="2343" y="943"/>
              <a:ext cx="4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1" name="Line 15"/>
            <p:cNvSpPr>
              <a:spLocks noChangeShapeType="1"/>
            </p:cNvSpPr>
            <p:nvPr/>
          </p:nvSpPr>
          <p:spPr bwMode="auto">
            <a:xfrm rot="5400000" flipH="1">
              <a:off x="1712" y="574"/>
              <a:ext cx="26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92" name="Group 16"/>
            <p:cNvGrpSpPr>
              <a:grpSpLocks/>
            </p:cNvGrpSpPr>
            <p:nvPr/>
          </p:nvGrpSpPr>
          <p:grpSpPr bwMode="auto">
            <a:xfrm>
              <a:off x="859" y="969"/>
              <a:ext cx="703" cy="377"/>
              <a:chOff x="2112" y="2976"/>
              <a:chExt cx="703" cy="377"/>
            </a:xfrm>
          </p:grpSpPr>
          <p:sp>
            <p:nvSpPr>
              <p:cNvPr id="27796" name="Line 17"/>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97" name="Line 18"/>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98" name="Line 19"/>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793" name="Line 20"/>
            <p:cNvSpPr>
              <a:spLocks noChangeShapeType="1"/>
            </p:cNvSpPr>
            <p:nvPr/>
          </p:nvSpPr>
          <p:spPr bwMode="auto">
            <a:xfrm rot="5400000" flipH="1">
              <a:off x="1065" y="844"/>
              <a:ext cx="25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4" name="Line 21"/>
            <p:cNvSpPr>
              <a:spLocks noChangeShapeType="1"/>
            </p:cNvSpPr>
            <p:nvPr/>
          </p:nvSpPr>
          <p:spPr bwMode="auto">
            <a:xfrm flipH="1">
              <a:off x="253" y="446"/>
              <a:ext cx="158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5" name="Line 22"/>
            <p:cNvSpPr>
              <a:spLocks noChangeShapeType="1"/>
            </p:cNvSpPr>
            <p:nvPr/>
          </p:nvSpPr>
          <p:spPr bwMode="auto">
            <a:xfrm rot="5400000" flipH="1">
              <a:off x="989" y="370"/>
              <a:ext cx="13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8135" name="Text Box 23"/>
          <p:cNvSpPr txBox="1">
            <a:spLocks noChangeArrowheads="1"/>
          </p:cNvSpPr>
          <p:nvPr/>
        </p:nvSpPr>
        <p:spPr bwMode="auto">
          <a:xfrm>
            <a:off x="133350" y="133350"/>
            <a:ext cx="4241800" cy="1676400"/>
          </a:xfrm>
          <a:prstGeom prst="rect">
            <a:avLst/>
          </a:prstGeom>
          <a:noFill/>
          <a:ln w="9525">
            <a:noFill/>
            <a:miter lim="800000"/>
            <a:headEnd/>
            <a:tailEnd/>
          </a:ln>
          <a:effectLst/>
        </p:spPr>
        <p:txBody>
          <a:bodyPr>
            <a:spAutoFit/>
          </a:bodyPr>
          <a:lstStyle/>
          <a:p>
            <a:pPr>
              <a:defRPr/>
            </a:pP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Bottom-Up (</a:t>
            </a:r>
            <a:r>
              <a:rPr kumimoji="1" lang="en-US" altLang="zh-CN" b="1">
                <a:solidFill>
                  <a:schemeClr val="tx2"/>
                </a:solidFill>
                <a:effectLst>
                  <a:outerShdw blurRad="38100" dist="38100" dir="2700000" algn="tl">
                    <a:srgbClr val="DDDDDD"/>
                  </a:outerShdw>
                </a:effectLst>
                <a:latin typeface="Helvetica" pitchFamily="-111" charset="0"/>
                <a:ea typeface="SimSun" pitchFamily="2" charset="-122"/>
                <a:cs typeface="SimSun" pitchFamily="2" charset="-122"/>
              </a:rPr>
              <a:t>agglomerative</a:t>
            </a:r>
            <a:r>
              <a:rPr kumimoji="1" lang="en-US" b="1">
                <a:solidFill>
                  <a:schemeClr val="tx2"/>
                </a:solidFill>
                <a:effectLst>
                  <a:outerShdw blurRad="38100" dist="38100" dir="2700000" algn="tl">
                    <a:srgbClr val="DDDDDD"/>
                  </a:outerShdw>
                </a:effectLst>
                <a:latin typeface="Helvetica" pitchFamily="-111" charset="0"/>
                <a:ea typeface="ＭＳ Ｐゴシック" pitchFamily="-111" charset="-128"/>
                <a:cs typeface="ＭＳ Ｐゴシック" pitchFamily="-111" charset="-128"/>
              </a:rPr>
              <a:t>):</a:t>
            </a:r>
            <a:r>
              <a:rPr lang="en-US" sz="2000">
                <a:latin typeface="Arial" pitchFamily="-111" charset="0"/>
                <a:ea typeface="ＭＳ Ｐゴシック" pitchFamily="-111" charset="-128"/>
                <a:cs typeface="ＭＳ Ｐゴシック" pitchFamily="-111" charset="-128"/>
              </a:rPr>
              <a:t> Starting with each item in its own cluster, find the best pair to merge into a new cluster. Repeat until all clusters are fused together. </a:t>
            </a:r>
          </a:p>
        </p:txBody>
      </p:sp>
      <p:grpSp>
        <p:nvGrpSpPr>
          <p:cNvPr id="27652" name="Group 24"/>
          <p:cNvGrpSpPr>
            <a:grpSpLocks/>
          </p:cNvGrpSpPr>
          <p:nvPr/>
        </p:nvGrpSpPr>
        <p:grpSpPr bwMode="auto">
          <a:xfrm>
            <a:off x="8116888" y="5689600"/>
            <a:ext cx="1027112" cy="973138"/>
            <a:chOff x="1267" y="3584"/>
            <a:chExt cx="647" cy="613"/>
          </a:xfrm>
        </p:grpSpPr>
        <p:grpSp>
          <p:nvGrpSpPr>
            <p:cNvPr id="27775" name="Group 25"/>
            <p:cNvGrpSpPr>
              <a:grpSpLocks/>
            </p:cNvGrpSpPr>
            <p:nvPr/>
          </p:nvGrpSpPr>
          <p:grpSpPr bwMode="auto">
            <a:xfrm>
              <a:off x="1267" y="3735"/>
              <a:ext cx="647" cy="462"/>
              <a:chOff x="252" y="2364"/>
              <a:chExt cx="2258" cy="1608"/>
            </a:xfrm>
          </p:grpSpPr>
          <p:pic>
            <p:nvPicPr>
              <p:cNvPr id="27779" name="Picture 2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80" name="Picture 2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76" name="Line 28"/>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77" name="Line 29"/>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78" name="Line 30"/>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53" name="Group 31"/>
          <p:cNvGrpSpPr>
            <a:grpSpLocks/>
          </p:cNvGrpSpPr>
          <p:nvPr/>
        </p:nvGrpSpPr>
        <p:grpSpPr bwMode="auto">
          <a:xfrm>
            <a:off x="8078788" y="4465638"/>
            <a:ext cx="1027112" cy="733425"/>
            <a:chOff x="252" y="2364"/>
            <a:chExt cx="2258" cy="1608"/>
          </a:xfrm>
        </p:grpSpPr>
        <p:pic>
          <p:nvPicPr>
            <p:cNvPr id="27773" name="Picture 3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74" name="Picture 3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54" name="Line 34"/>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55" name="Line 35"/>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56" name="Line 36"/>
          <p:cNvSpPr>
            <a:spLocks noChangeShapeType="1"/>
          </p:cNvSpPr>
          <p:nvPr/>
        </p:nvSpPr>
        <p:spPr bwMode="auto">
          <a:xfrm flipH="1">
            <a:off x="8331200" y="4225925"/>
            <a:ext cx="498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57" name="Group 37"/>
          <p:cNvGrpSpPr>
            <a:grpSpLocks/>
          </p:cNvGrpSpPr>
          <p:nvPr/>
        </p:nvGrpSpPr>
        <p:grpSpPr bwMode="auto">
          <a:xfrm>
            <a:off x="7299325" y="4084638"/>
            <a:ext cx="608013" cy="1147762"/>
            <a:chOff x="4598" y="2573"/>
            <a:chExt cx="383" cy="723"/>
          </a:xfrm>
        </p:grpSpPr>
        <p:pic>
          <p:nvPicPr>
            <p:cNvPr id="27767"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68" name="Picture 39"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69" name="Group 40"/>
            <p:cNvGrpSpPr>
              <a:grpSpLocks/>
            </p:cNvGrpSpPr>
            <p:nvPr/>
          </p:nvGrpSpPr>
          <p:grpSpPr bwMode="auto">
            <a:xfrm>
              <a:off x="4638" y="2573"/>
              <a:ext cx="315" cy="169"/>
              <a:chOff x="2112" y="2976"/>
              <a:chExt cx="703" cy="377"/>
            </a:xfrm>
          </p:grpSpPr>
          <p:sp>
            <p:nvSpPr>
              <p:cNvPr id="27770" name="Line 41"/>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71" name="Line 42"/>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72" name="Line 43"/>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58" name="Group 44"/>
          <p:cNvGrpSpPr>
            <a:grpSpLocks/>
          </p:cNvGrpSpPr>
          <p:nvPr/>
        </p:nvGrpSpPr>
        <p:grpSpPr bwMode="auto">
          <a:xfrm>
            <a:off x="7289800" y="2295525"/>
            <a:ext cx="1806575" cy="1331913"/>
            <a:chOff x="746" y="1753"/>
            <a:chExt cx="1138" cy="839"/>
          </a:xfrm>
        </p:grpSpPr>
        <p:pic>
          <p:nvPicPr>
            <p:cNvPr id="27752" name="Picture 4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3" name="Picture 46"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54" name="Group 47"/>
            <p:cNvGrpSpPr>
              <a:grpSpLocks/>
            </p:cNvGrpSpPr>
            <p:nvPr/>
          </p:nvGrpSpPr>
          <p:grpSpPr bwMode="auto">
            <a:xfrm>
              <a:off x="1237" y="2109"/>
              <a:ext cx="647" cy="462"/>
              <a:chOff x="252" y="2364"/>
              <a:chExt cx="2258" cy="1608"/>
            </a:xfrm>
          </p:grpSpPr>
          <p:pic>
            <p:nvPicPr>
              <p:cNvPr id="27765" name="Picture 4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66" name="Picture 4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55" name="Line 50"/>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56" name="Line 51"/>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57" name="Line 52"/>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8" name="Line 53"/>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9" name="Line 54"/>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60" name="Group 55"/>
            <p:cNvGrpSpPr>
              <a:grpSpLocks/>
            </p:cNvGrpSpPr>
            <p:nvPr/>
          </p:nvGrpSpPr>
          <p:grpSpPr bwMode="auto">
            <a:xfrm>
              <a:off x="786" y="1869"/>
              <a:ext cx="315" cy="169"/>
              <a:chOff x="2112" y="2976"/>
              <a:chExt cx="703" cy="377"/>
            </a:xfrm>
          </p:grpSpPr>
          <p:sp>
            <p:nvSpPr>
              <p:cNvPr id="27762" name="Line 56"/>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63" name="Line 57"/>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64" name="Line 58"/>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761" name="Line 59"/>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59" name="Group 60"/>
          <p:cNvGrpSpPr>
            <a:grpSpLocks/>
          </p:cNvGrpSpPr>
          <p:nvPr/>
        </p:nvGrpSpPr>
        <p:grpSpPr bwMode="auto">
          <a:xfrm>
            <a:off x="2182813" y="5770563"/>
            <a:ext cx="1027112" cy="973137"/>
            <a:chOff x="1165" y="3566"/>
            <a:chExt cx="647" cy="613"/>
          </a:xfrm>
        </p:grpSpPr>
        <p:grpSp>
          <p:nvGrpSpPr>
            <p:cNvPr id="27745" name="Group 61"/>
            <p:cNvGrpSpPr>
              <a:grpSpLocks/>
            </p:cNvGrpSpPr>
            <p:nvPr/>
          </p:nvGrpSpPr>
          <p:grpSpPr bwMode="auto">
            <a:xfrm>
              <a:off x="1165" y="3717"/>
              <a:ext cx="647" cy="462"/>
              <a:chOff x="252" y="2364"/>
              <a:chExt cx="2258" cy="1608"/>
            </a:xfrm>
          </p:grpSpPr>
          <p:pic>
            <p:nvPicPr>
              <p:cNvPr id="27750" name="Picture 6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1" name="Picture 6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746" name="Group 64"/>
            <p:cNvGrpSpPr>
              <a:grpSpLocks/>
            </p:cNvGrpSpPr>
            <p:nvPr/>
          </p:nvGrpSpPr>
          <p:grpSpPr bwMode="auto">
            <a:xfrm>
              <a:off x="1324" y="3566"/>
              <a:ext cx="314" cy="83"/>
              <a:chOff x="1324" y="3566"/>
              <a:chExt cx="314" cy="83"/>
            </a:xfrm>
          </p:grpSpPr>
          <p:sp>
            <p:nvSpPr>
              <p:cNvPr id="27747" name="Line 65"/>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48" name="Line 66"/>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49" name="Line 67"/>
              <p:cNvSpPr>
                <a:spLocks noChangeShapeType="1"/>
              </p:cNvSpPr>
              <p:nvPr/>
            </p:nvSpPr>
            <p:spPr bwMode="auto">
              <a:xfrm flipH="1">
                <a:off x="1324" y="3566"/>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pic>
        <p:nvPicPr>
          <p:cNvPr id="2766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1" name="Line 69"/>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62" name="Line 70"/>
          <p:cNvSpPr>
            <a:spLocks noChangeShapeType="1"/>
          </p:cNvSpPr>
          <p:nvPr/>
        </p:nvSpPr>
        <p:spPr bwMode="auto">
          <a:xfrm flipH="1">
            <a:off x="1836738" y="4100513"/>
            <a:ext cx="7524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Line 71"/>
          <p:cNvSpPr>
            <a:spLocks noChangeShapeType="1"/>
          </p:cNvSpPr>
          <p:nvPr/>
        </p:nvSpPr>
        <p:spPr bwMode="auto">
          <a:xfrm rot="5400000" flipH="1">
            <a:off x="2541587" y="4132263"/>
            <a:ext cx="984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64" name="Group 72"/>
          <p:cNvGrpSpPr>
            <a:grpSpLocks/>
          </p:cNvGrpSpPr>
          <p:nvPr/>
        </p:nvGrpSpPr>
        <p:grpSpPr bwMode="auto">
          <a:xfrm>
            <a:off x="3294063" y="5527675"/>
            <a:ext cx="760412" cy="1216025"/>
            <a:chOff x="2072" y="3380"/>
            <a:chExt cx="479" cy="802"/>
          </a:xfrm>
        </p:grpSpPr>
        <p:pic>
          <p:nvPicPr>
            <p:cNvPr id="27739" name="Picture 73"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40" name="Picture 74"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41" name="Group 75"/>
            <p:cNvGrpSpPr>
              <a:grpSpLocks/>
            </p:cNvGrpSpPr>
            <p:nvPr/>
          </p:nvGrpSpPr>
          <p:grpSpPr bwMode="auto">
            <a:xfrm>
              <a:off x="2170" y="3380"/>
              <a:ext cx="314" cy="185"/>
              <a:chOff x="2170" y="3380"/>
              <a:chExt cx="314" cy="185"/>
            </a:xfrm>
          </p:grpSpPr>
          <p:sp>
            <p:nvSpPr>
              <p:cNvPr id="27742" name="Line 76"/>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43" name="Line 77"/>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44" name="Line 78"/>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65" name="Group 79"/>
          <p:cNvGrpSpPr>
            <a:grpSpLocks/>
          </p:cNvGrpSpPr>
          <p:nvPr/>
        </p:nvGrpSpPr>
        <p:grpSpPr bwMode="auto">
          <a:xfrm>
            <a:off x="1293813" y="5491163"/>
            <a:ext cx="776287" cy="1252537"/>
            <a:chOff x="2663" y="3356"/>
            <a:chExt cx="489" cy="789"/>
          </a:xfrm>
        </p:grpSpPr>
        <p:pic>
          <p:nvPicPr>
            <p:cNvPr id="27733" name="Picture 8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34" name="Picture 8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35" name="Group 82"/>
            <p:cNvGrpSpPr>
              <a:grpSpLocks/>
            </p:cNvGrpSpPr>
            <p:nvPr/>
          </p:nvGrpSpPr>
          <p:grpSpPr bwMode="auto">
            <a:xfrm>
              <a:off x="2758" y="3356"/>
              <a:ext cx="314" cy="209"/>
              <a:chOff x="2170" y="3380"/>
              <a:chExt cx="314" cy="185"/>
            </a:xfrm>
          </p:grpSpPr>
          <p:sp>
            <p:nvSpPr>
              <p:cNvPr id="27736" name="Line 83"/>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37" name="Line 84"/>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38" name="Line 85"/>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66" name="Group 86"/>
          <p:cNvGrpSpPr>
            <a:grpSpLocks/>
          </p:cNvGrpSpPr>
          <p:nvPr/>
        </p:nvGrpSpPr>
        <p:grpSpPr bwMode="auto">
          <a:xfrm>
            <a:off x="4586288" y="5518150"/>
            <a:ext cx="815975" cy="1206500"/>
            <a:chOff x="2889" y="3476"/>
            <a:chExt cx="514" cy="760"/>
          </a:xfrm>
        </p:grpSpPr>
        <p:pic>
          <p:nvPicPr>
            <p:cNvPr id="27727" name="Picture 87"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8" name="Picture 8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29" name="Group 89"/>
            <p:cNvGrpSpPr>
              <a:grpSpLocks/>
            </p:cNvGrpSpPr>
            <p:nvPr/>
          </p:nvGrpSpPr>
          <p:grpSpPr bwMode="auto">
            <a:xfrm>
              <a:off x="3010" y="3476"/>
              <a:ext cx="314" cy="195"/>
              <a:chOff x="2170" y="3380"/>
              <a:chExt cx="314" cy="185"/>
            </a:xfrm>
          </p:grpSpPr>
          <p:sp>
            <p:nvSpPr>
              <p:cNvPr id="27730" name="Line 90"/>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31" name="Line 91"/>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32" name="Line 92"/>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7667" name="Text Box 93"/>
          <p:cNvSpPr txBox="1">
            <a:spLocks noChangeArrowheads="1"/>
          </p:cNvSpPr>
          <p:nvPr/>
        </p:nvSpPr>
        <p:spPr bwMode="auto">
          <a:xfrm>
            <a:off x="4117975" y="5946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7668" name="Text Box 94"/>
          <p:cNvSpPr txBox="1">
            <a:spLocks noChangeArrowheads="1"/>
          </p:cNvSpPr>
          <p:nvPr/>
        </p:nvSpPr>
        <p:spPr bwMode="auto">
          <a:xfrm>
            <a:off x="0" y="5661025"/>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sp>
        <p:nvSpPr>
          <p:cNvPr id="27669" name="Text Box 95"/>
          <p:cNvSpPr txBox="1">
            <a:spLocks noChangeArrowheads="1"/>
          </p:cNvSpPr>
          <p:nvPr/>
        </p:nvSpPr>
        <p:spPr bwMode="auto">
          <a:xfrm>
            <a:off x="5686425" y="56991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7670" name="Rectangle 96"/>
          <p:cNvSpPr>
            <a:spLocks noChangeArrowheads="1"/>
          </p:cNvSpPr>
          <p:nvPr/>
        </p:nvSpPr>
        <p:spPr bwMode="auto">
          <a:xfrm>
            <a:off x="0" y="525780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7671" name="Rectangle 97"/>
          <p:cNvSpPr>
            <a:spLocks noChangeArrowheads="1"/>
          </p:cNvSpPr>
          <p:nvPr/>
        </p:nvSpPr>
        <p:spPr bwMode="auto">
          <a:xfrm>
            <a:off x="0" y="379095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7672" name="Rectangle 98"/>
          <p:cNvSpPr>
            <a:spLocks noChangeArrowheads="1"/>
          </p:cNvSpPr>
          <p:nvPr/>
        </p:nvSpPr>
        <p:spPr bwMode="auto">
          <a:xfrm>
            <a:off x="0" y="2000250"/>
            <a:ext cx="9144000" cy="142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7673" name="Text Box 99"/>
          <p:cNvSpPr txBox="1">
            <a:spLocks noChangeArrowheads="1"/>
          </p:cNvSpPr>
          <p:nvPr/>
        </p:nvSpPr>
        <p:spPr bwMode="auto">
          <a:xfrm>
            <a:off x="0" y="4089400"/>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grpSp>
        <p:nvGrpSpPr>
          <p:cNvPr id="27674" name="Group 100"/>
          <p:cNvGrpSpPr>
            <a:grpSpLocks/>
          </p:cNvGrpSpPr>
          <p:nvPr/>
        </p:nvGrpSpPr>
        <p:grpSpPr bwMode="auto">
          <a:xfrm>
            <a:off x="2116138" y="4184650"/>
            <a:ext cx="1027112" cy="973138"/>
            <a:chOff x="1267" y="3584"/>
            <a:chExt cx="647" cy="613"/>
          </a:xfrm>
        </p:grpSpPr>
        <p:grpSp>
          <p:nvGrpSpPr>
            <p:cNvPr id="27721" name="Group 101"/>
            <p:cNvGrpSpPr>
              <a:grpSpLocks/>
            </p:cNvGrpSpPr>
            <p:nvPr/>
          </p:nvGrpSpPr>
          <p:grpSpPr bwMode="auto">
            <a:xfrm>
              <a:off x="1267" y="3735"/>
              <a:ext cx="647" cy="462"/>
              <a:chOff x="252" y="2364"/>
              <a:chExt cx="2258" cy="1608"/>
            </a:xfrm>
          </p:grpSpPr>
          <p:pic>
            <p:nvPicPr>
              <p:cNvPr id="27725" name="Picture 10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6" name="Picture 10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22" name="Line 104"/>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23" name="Line 105"/>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24" name="Line 106"/>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7675" name="Picture 1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6" name="Picture 108"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77" name="Group 109"/>
          <p:cNvGrpSpPr>
            <a:grpSpLocks/>
          </p:cNvGrpSpPr>
          <p:nvPr/>
        </p:nvGrpSpPr>
        <p:grpSpPr bwMode="auto">
          <a:xfrm>
            <a:off x="3390900" y="3998913"/>
            <a:ext cx="500063" cy="268287"/>
            <a:chOff x="2112" y="2976"/>
            <a:chExt cx="703" cy="377"/>
          </a:xfrm>
        </p:grpSpPr>
        <p:sp>
          <p:nvSpPr>
            <p:cNvPr id="27718" name="Line 110"/>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19" name="Line 111"/>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20" name="Line 112"/>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78" name="Group 113"/>
          <p:cNvGrpSpPr>
            <a:grpSpLocks/>
          </p:cNvGrpSpPr>
          <p:nvPr/>
        </p:nvGrpSpPr>
        <p:grpSpPr bwMode="auto">
          <a:xfrm>
            <a:off x="4608513" y="3994150"/>
            <a:ext cx="760412" cy="1216025"/>
            <a:chOff x="2072" y="3380"/>
            <a:chExt cx="479" cy="802"/>
          </a:xfrm>
        </p:grpSpPr>
        <p:pic>
          <p:nvPicPr>
            <p:cNvPr id="27712" name="Picture 114"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3" name="Picture 11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14" name="Group 116"/>
            <p:cNvGrpSpPr>
              <a:grpSpLocks/>
            </p:cNvGrpSpPr>
            <p:nvPr/>
          </p:nvGrpSpPr>
          <p:grpSpPr bwMode="auto">
            <a:xfrm>
              <a:off x="2170" y="3380"/>
              <a:ext cx="314" cy="185"/>
              <a:chOff x="2170" y="3380"/>
              <a:chExt cx="314" cy="185"/>
            </a:xfrm>
          </p:grpSpPr>
          <p:sp>
            <p:nvSpPr>
              <p:cNvPr id="27715" name="Line 117"/>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16" name="Line 118"/>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17" name="Line 119"/>
              <p:cNvSpPr>
                <a:spLocks noChangeShapeType="1"/>
              </p:cNvSpPr>
              <p:nvPr/>
            </p:nvSpPr>
            <p:spPr bwMode="auto">
              <a:xfrm flipH="1">
                <a:off x="2170" y="3380"/>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7679" name="Text Box 120"/>
          <p:cNvSpPr txBox="1">
            <a:spLocks noChangeArrowheads="1"/>
          </p:cNvSpPr>
          <p:nvPr/>
        </p:nvSpPr>
        <p:spPr bwMode="auto">
          <a:xfrm>
            <a:off x="4051300" y="45180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
        <p:nvSpPr>
          <p:cNvPr id="27680" name="Text Box 121"/>
          <p:cNvSpPr txBox="1">
            <a:spLocks noChangeArrowheads="1"/>
          </p:cNvSpPr>
          <p:nvPr/>
        </p:nvSpPr>
        <p:spPr bwMode="auto">
          <a:xfrm>
            <a:off x="5686425" y="42132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7681" name="Text Box 122"/>
          <p:cNvSpPr txBox="1">
            <a:spLocks noChangeArrowheads="1"/>
          </p:cNvSpPr>
          <p:nvPr/>
        </p:nvSpPr>
        <p:spPr bwMode="auto">
          <a:xfrm>
            <a:off x="0" y="2546350"/>
            <a:ext cx="149066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Consider all possible merges…</a:t>
            </a:r>
          </a:p>
        </p:txBody>
      </p:sp>
      <p:grpSp>
        <p:nvGrpSpPr>
          <p:cNvPr id="27682" name="Group 123"/>
          <p:cNvGrpSpPr>
            <a:grpSpLocks/>
          </p:cNvGrpSpPr>
          <p:nvPr/>
        </p:nvGrpSpPr>
        <p:grpSpPr bwMode="auto">
          <a:xfrm>
            <a:off x="1765300" y="2400300"/>
            <a:ext cx="1806575" cy="1331913"/>
            <a:chOff x="746" y="1753"/>
            <a:chExt cx="1138" cy="839"/>
          </a:xfrm>
        </p:grpSpPr>
        <p:pic>
          <p:nvPicPr>
            <p:cNvPr id="27697" name="Picture 1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8" name="Picture 125" descr="C:\Documents and Settings\eamonn\Desktop\bios_family_marge.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99" name="Group 126"/>
            <p:cNvGrpSpPr>
              <a:grpSpLocks/>
            </p:cNvGrpSpPr>
            <p:nvPr/>
          </p:nvGrpSpPr>
          <p:grpSpPr bwMode="auto">
            <a:xfrm>
              <a:off x="1237" y="2109"/>
              <a:ext cx="647" cy="462"/>
              <a:chOff x="252" y="2364"/>
              <a:chExt cx="2258" cy="1608"/>
            </a:xfrm>
          </p:grpSpPr>
          <p:pic>
            <p:nvPicPr>
              <p:cNvPr id="27710" name="Picture 1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1" name="Picture 12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700" name="Line 129"/>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01" name="Line 130"/>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02" name="Line 131"/>
            <p:cNvSpPr>
              <a:spLocks noChangeShapeType="1"/>
            </p:cNvSpPr>
            <p:nvPr/>
          </p:nvSpPr>
          <p:spPr bwMode="auto">
            <a:xfrm flipH="1">
              <a:off x="1396" y="1958"/>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3" name="Line 132"/>
            <p:cNvSpPr>
              <a:spLocks noChangeShapeType="1"/>
            </p:cNvSpPr>
            <p:nvPr/>
          </p:nvSpPr>
          <p:spPr bwMode="auto">
            <a:xfrm flipH="1">
              <a:off x="936" y="1753"/>
              <a:ext cx="61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4" name="Line 133"/>
            <p:cNvSpPr>
              <a:spLocks noChangeShapeType="1"/>
            </p:cNvSpPr>
            <p:nvPr/>
          </p:nvSpPr>
          <p:spPr bwMode="auto">
            <a:xfrm rot="5400000" flipH="1">
              <a:off x="1450" y="1858"/>
              <a:ext cx="20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05" name="Group 134"/>
            <p:cNvGrpSpPr>
              <a:grpSpLocks/>
            </p:cNvGrpSpPr>
            <p:nvPr/>
          </p:nvGrpSpPr>
          <p:grpSpPr bwMode="auto">
            <a:xfrm>
              <a:off x="786" y="1869"/>
              <a:ext cx="315" cy="169"/>
              <a:chOff x="2112" y="2976"/>
              <a:chExt cx="703" cy="377"/>
            </a:xfrm>
          </p:grpSpPr>
          <p:sp>
            <p:nvSpPr>
              <p:cNvPr id="27707" name="Line 135"/>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08" name="Line 136"/>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09" name="Line 137"/>
              <p:cNvSpPr>
                <a:spLocks noChangeShapeType="1"/>
              </p:cNvSpPr>
              <p:nvPr/>
            </p:nvSpPr>
            <p:spPr bwMode="auto">
              <a:xfrm flipH="1">
                <a:off x="2112" y="2976"/>
                <a:ext cx="70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706" name="Line 138"/>
            <p:cNvSpPr>
              <a:spLocks noChangeShapeType="1"/>
            </p:cNvSpPr>
            <p:nvPr/>
          </p:nvSpPr>
          <p:spPr bwMode="auto">
            <a:xfrm rot="5400000" flipH="1">
              <a:off x="878" y="1814"/>
              <a:ext cx="1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83" name="Group 139"/>
          <p:cNvGrpSpPr>
            <a:grpSpLocks/>
          </p:cNvGrpSpPr>
          <p:nvPr/>
        </p:nvGrpSpPr>
        <p:grpSpPr bwMode="auto">
          <a:xfrm>
            <a:off x="4184650" y="2511425"/>
            <a:ext cx="1416050" cy="1127125"/>
            <a:chOff x="2342" y="1528"/>
            <a:chExt cx="892" cy="710"/>
          </a:xfrm>
        </p:grpSpPr>
        <p:sp>
          <p:nvSpPr>
            <p:cNvPr id="27686" name="Line 140"/>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87" name="Line 141"/>
            <p:cNvSpPr>
              <a:spLocks noChangeShapeType="1"/>
            </p:cNvSpPr>
            <p:nvPr/>
          </p:nvSpPr>
          <p:spPr bwMode="auto">
            <a:xfrm flipH="1">
              <a:off x="2411" y="1539"/>
              <a:ext cx="47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8" name="Line 142"/>
            <p:cNvSpPr>
              <a:spLocks noChangeShapeType="1"/>
            </p:cNvSpPr>
            <p:nvPr/>
          </p:nvSpPr>
          <p:spPr bwMode="auto">
            <a:xfrm rot="5400000" flipH="1">
              <a:off x="2855" y="1559"/>
              <a:ext cx="6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89" name="Group 143"/>
            <p:cNvGrpSpPr>
              <a:grpSpLocks/>
            </p:cNvGrpSpPr>
            <p:nvPr/>
          </p:nvGrpSpPr>
          <p:grpSpPr bwMode="auto">
            <a:xfrm>
              <a:off x="2587" y="1592"/>
              <a:ext cx="647" cy="613"/>
              <a:chOff x="1267" y="3584"/>
              <a:chExt cx="647" cy="613"/>
            </a:xfrm>
          </p:grpSpPr>
          <p:grpSp>
            <p:nvGrpSpPr>
              <p:cNvPr id="27691" name="Group 144"/>
              <p:cNvGrpSpPr>
                <a:grpSpLocks/>
              </p:cNvGrpSpPr>
              <p:nvPr/>
            </p:nvGrpSpPr>
            <p:grpSpPr bwMode="auto">
              <a:xfrm>
                <a:off x="1267" y="3735"/>
                <a:ext cx="647" cy="462"/>
                <a:chOff x="252" y="2364"/>
                <a:chExt cx="2258" cy="1608"/>
              </a:xfrm>
            </p:grpSpPr>
            <p:pic>
              <p:nvPicPr>
                <p:cNvPr id="27695" name="Picture 14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96" name="Picture 14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92" name="Line 147"/>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93" name="Line 148"/>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694" name="Line 149"/>
              <p:cNvSpPr>
                <a:spLocks noChangeShapeType="1"/>
              </p:cNvSpPr>
              <p:nvPr/>
            </p:nvSpPr>
            <p:spPr bwMode="auto">
              <a:xfrm flipH="1">
                <a:off x="1426" y="3584"/>
                <a:ext cx="31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7690" name="Picture 150"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84" name="Text Box 151"/>
          <p:cNvSpPr txBox="1">
            <a:spLocks noChangeArrowheads="1"/>
          </p:cNvSpPr>
          <p:nvPr/>
        </p:nvSpPr>
        <p:spPr bwMode="auto">
          <a:xfrm>
            <a:off x="5686425" y="2689225"/>
            <a:ext cx="11096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Choose the best</a:t>
            </a:r>
          </a:p>
        </p:txBody>
      </p:sp>
      <p:sp>
        <p:nvSpPr>
          <p:cNvPr id="27685" name="Text Box 152"/>
          <p:cNvSpPr txBox="1">
            <a:spLocks noChangeArrowheads="1"/>
          </p:cNvSpPr>
          <p:nvPr/>
        </p:nvSpPr>
        <p:spPr bwMode="auto">
          <a:xfrm>
            <a:off x="3632200" y="29559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b="1"/>
              <a:t>…</a:t>
            </a:r>
          </a:p>
        </p:txBody>
      </p:sp>
    </p:spTree>
    <p:extLst>
      <p:ext uri="{BB962C8B-B14F-4D97-AF65-F5344CB8AC3E}">
        <p14:creationId xmlns:p14="http://schemas.microsoft.com/office/powerpoint/2010/main" val="3909646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457200" y="762000"/>
            <a:ext cx="7940675" cy="1800225"/>
          </a:xfrm>
          <a:prstGeom prst="rect">
            <a:avLst/>
          </a:prstGeom>
          <a:noFill/>
          <a:ln w="9525">
            <a:noFill/>
            <a:miter lim="800000"/>
            <a:headEnd/>
            <a:tailEnd/>
          </a:ln>
          <a:effectLst/>
        </p:spPr>
        <p:txBody>
          <a:bodyPr>
            <a:spAutoFit/>
          </a:bodyPr>
          <a:lstStyle/>
          <a:p>
            <a:pPr>
              <a:defRPr/>
            </a:pPr>
            <a:r>
              <a:rPr lang="en-US" sz="2800" dirty="0">
                <a:effectLst>
                  <a:outerShdw blurRad="38100" dist="38100" dir="2700000" algn="tl">
                    <a:srgbClr val="DDDDDD"/>
                  </a:outerShdw>
                </a:effectLst>
                <a:latin typeface="Arial" pitchFamily="-111" charset="0"/>
                <a:ea typeface="ＭＳ Ｐゴシック" pitchFamily="-111" charset="-128"/>
                <a:cs typeface="ＭＳ Ｐゴシック" pitchFamily="-111" charset="-128"/>
              </a:rPr>
              <a:t>We know how to measure the distance between two objects, but defining the distance between an object and a cluster, or defining the distance between two clusters is non obvious.  </a:t>
            </a:r>
          </a:p>
        </p:txBody>
      </p:sp>
      <p:sp>
        <p:nvSpPr>
          <p:cNvPr id="219139" name="Text Box 3"/>
          <p:cNvSpPr txBox="1">
            <a:spLocks noChangeArrowheads="1"/>
          </p:cNvSpPr>
          <p:nvPr/>
        </p:nvSpPr>
        <p:spPr bwMode="auto">
          <a:xfrm>
            <a:off x="228600" y="2743200"/>
            <a:ext cx="8321675" cy="3786188"/>
          </a:xfrm>
          <a:prstGeom prst="rect">
            <a:avLst/>
          </a:prstGeom>
          <a:noFill/>
          <a:ln w="9525">
            <a:noFill/>
            <a:miter lim="800000"/>
            <a:headEnd/>
            <a:tailEnd/>
          </a:ln>
          <a:effectLst/>
        </p:spPr>
        <p:txBody>
          <a:bodyPr>
            <a:spAutoFit/>
          </a:bodyPr>
          <a:lstStyle>
            <a:lvl1pPr>
              <a:defRPr sz="2400">
                <a:solidFill>
                  <a:schemeClr val="tx1"/>
                </a:solidFill>
                <a:latin typeface="Arial" charset="0"/>
                <a:ea typeface="ＭＳ Ｐゴシック" pitchFamily="-111" charset="-128"/>
              </a:defRPr>
            </a:lvl1pPr>
            <a:lvl2pPr marL="37931725" indent="-37474525">
              <a:defRPr sz="2400">
                <a:solidFill>
                  <a:schemeClr val="tx1"/>
                </a:solidFill>
                <a:latin typeface="Arial" charset="0"/>
                <a:ea typeface="ＭＳ Ｐゴシック" pitchFamily="-111" charset="-128"/>
              </a:defRPr>
            </a:lvl2pPr>
            <a:lvl3pPr>
              <a:defRPr sz="2400">
                <a:solidFill>
                  <a:schemeClr val="tx1"/>
                </a:solidFill>
                <a:latin typeface="Arial" charset="0"/>
                <a:ea typeface="ＭＳ Ｐゴシック" pitchFamily="-111" charset="-128"/>
              </a:defRPr>
            </a:lvl3pPr>
            <a:lvl4pPr>
              <a:defRPr sz="2400">
                <a:solidFill>
                  <a:schemeClr val="tx1"/>
                </a:solidFill>
                <a:latin typeface="Arial" charset="0"/>
                <a:ea typeface="ＭＳ Ｐゴシック" pitchFamily="-111" charset="-128"/>
              </a:defRPr>
            </a:lvl4pPr>
            <a:lvl5pPr>
              <a:defRPr sz="2400">
                <a:solidFill>
                  <a:schemeClr val="tx1"/>
                </a:solidFill>
                <a:latin typeface="Arial" charset="0"/>
                <a:ea typeface="ＭＳ Ｐゴシック" pitchFamily="-111" charset="-128"/>
              </a:defRPr>
            </a:lvl5pPr>
            <a:lvl6pPr marL="457200" eaLnBrk="0" fontAlgn="base" hangingPunct="0">
              <a:spcBef>
                <a:spcPct val="0"/>
              </a:spcBef>
              <a:spcAft>
                <a:spcPct val="0"/>
              </a:spcAft>
              <a:defRPr sz="2400">
                <a:solidFill>
                  <a:schemeClr val="tx1"/>
                </a:solidFill>
                <a:latin typeface="Arial" charset="0"/>
                <a:ea typeface="ＭＳ Ｐゴシック" pitchFamily="-111" charset="-128"/>
              </a:defRPr>
            </a:lvl6pPr>
            <a:lvl7pPr marL="914400" eaLnBrk="0" fontAlgn="base" hangingPunct="0">
              <a:spcBef>
                <a:spcPct val="0"/>
              </a:spcBef>
              <a:spcAft>
                <a:spcPct val="0"/>
              </a:spcAft>
              <a:defRPr sz="2400">
                <a:solidFill>
                  <a:schemeClr val="tx1"/>
                </a:solidFill>
                <a:latin typeface="Arial" charset="0"/>
                <a:ea typeface="ＭＳ Ｐゴシック" pitchFamily="-111" charset="-128"/>
              </a:defRPr>
            </a:lvl7pPr>
            <a:lvl8pPr marL="1371600" eaLnBrk="0" fontAlgn="base" hangingPunct="0">
              <a:spcBef>
                <a:spcPct val="0"/>
              </a:spcBef>
              <a:spcAft>
                <a:spcPct val="0"/>
              </a:spcAft>
              <a:defRPr sz="2400">
                <a:solidFill>
                  <a:schemeClr val="tx1"/>
                </a:solidFill>
                <a:latin typeface="Arial" charset="0"/>
                <a:ea typeface="ＭＳ Ｐゴシック" pitchFamily="-111" charset="-128"/>
              </a:defRPr>
            </a:lvl8pPr>
            <a:lvl9pPr marL="1828800" eaLnBrk="0" fontAlgn="base" hangingPunct="0">
              <a:spcBef>
                <a:spcPct val="0"/>
              </a:spcBef>
              <a:spcAft>
                <a:spcPct val="0"/>
              </a:spcAft>
              <a:defRPr sz="2400">
                <a:solidFill>
                  <a:schemeClr val="tx1"/>
                </a:solidFill>
                <a:latin typeface="Arial" charset="0"/>
                <a:ea typeface="ＭＳ Ｐゴシック" pitchFamily="-111" charset="-128"/>
              </a:defRPr>
            </a:lvl9pPr>
          </a:lstStyle>
          <a:p>
            <a:pPr>
              <a:buFontTx/>
              <a:buChar char="•"/>
              <a:defRPr/>
            </a:pPr>
            <a:r>
              <a:rPr lang="en-US" altLang="en-US" b="1"/>
              <a:t> </a:t>
            </a:r>
            <a:r>
              <a:rPr kumimoji="1" lang="en-US" altLang="en-US" b="1">
                <a:solidFill>
                  <a:schemeClr val="tx2"/>
                </a:solidFill>
                <a:effectLst>
                  <a:outerShdw blurRad="38100" dist="38100" dir="2700000" algn="tl">
                    <a:srgbClr val="C0C0C0"/>
                  </a:outerShdw>
                </a:effectLst>
                <a:latin typeface="Helvetica" pitchFamily="-111" charset="0"/>
              </a:rPr>
              <a:t>Single linkage (nearest neighbor):</a:t>
            </a:r>
            <a:r>
              <a:rPr lang="en-US" altLang="en-US"/>
              <a:t> </a:t>
            </a:r>
            <a:r>
              <a:rPr lang="en-US" altLang="en-US" sz="2000"/>
              <a:t>In this method the distance between two clusters is determined by the distance of the two closest objects (nearest neighbors) in the different clusters.</a:t>
            </a:r>
          </a:p>
          <a:p>
            <a:pPr>
              <a:buFontTx/>
              <a:buChar char="•"/>
              <a:defRPr/>
            </a:pPr>
            <a:r>
              <a:rPr lang="en-US" altLang="en-US"/>
              <a:t> </a:t>
            </a:r>
            <a:r>
              <a:rPr kumimoji="1" lang="en-US" altLang="en-US" b="1">
                <a:solidFill>
                  <a:schemeClr val="tx2"/>
                </a:solidFill>
                <a:effectLst>
                  <a:outerShdw blurRad="38100" dist="38100" dir="2700000" algn="tl">
                    <a:srgbClr val="C0C0C0"/>
                  </a:outerShdw>
                </a:effectLst>
                <a:latin typeface="Helvetica" pitchFamily="-111" charset="0"/>
              </a:rPr>
              <a:t>Complete linkage (furthest neighbor):</a:t>
            </a:r>
            <a:r>
              <a:rPr lang="en-US" altLang="en-US" b="1"/>
              <a:t> </a:t>
            </a:r>
            <a:r>
              <a:rPr lang="en-US" altLang="en-US" sz="2000"/>
              <a:t>In this method, the distances between clusters are determined by the greatest distance between any two objects in the different clusters (i.e., by the "furthest neighbors").</a:t>
            </a:r>
            <a:r>
              <a:rPr lang="en-US" altLang="en-US"/>
              <a:t> </a:t>
            </a:r>
          </a:p>
          <a:p>
            <a:pPr>
              <a:buFontTx/>
              <a:buChar char="•"/>
              <a:defRPr/>
            </a:pPr>
            <a:r>
              <a:rPr lang="en-US" altLang="en-US" b="1"/>
              <a:t> </a:t>
            </a:r>
            <a:r>
              <a:rPr kumimoji="1" lang="en-US" altLang="en-US" b="1">
                <a:solidFill>
                  <a:schemeClr val="tx2"/>
                </a:solidFill>
                <a:effectLst>
                  <a:outerShdw blurRad="38100" dist="38100" dir="2700000" algn="tl">
                    <a:srgbClr val="C0C0C0"/>
                  </a:outerShdw>
                </a:effectLst>
                <a:latin typeface="Helvetica" pitchFamily="-111" charset="0"/>
              </a:rPr>
              <a:t>Group average linkage</a:t>
            </a:r>
            <a:r>
              <a:rPr lang="en-US" altLang="en-US" b="1"/>
              <a:t>:</a:t>
            </a:r>
            <a:r>
              <a:rPr lang="en-US" altLang="en-US"/>
              <a:t> </a:t>
            </a:r>
            <a:r>
              <a:rPr lang="en-US" altLang="en-US" sz="2000"/>
              <a:t>In this method, the distance between two clusters is calculated as the average distance between all pairs of objects in the two different clusters</a:t>
            </a:r>
            <a:r>
              <a:rPr lang="en-US" altLang="en-US"/>
              <a:t>.</a:t>
            </a:r>
          </a:p>
          <a:p>
            <a:pPr>
              <a:buFontTx/>
              <a:buChar char="•"/>
              <a:defRPr/>
            </a:pPr>
            <a:endParaRPr lang="en-US" altLang="en-US" sz="2000"/>
          </a:p>
        </p:txBody>
      </p:sp>
      <p:sp>
        <p:nvSpPr>
          <p:cNvPr id="28676" name="TextBox 3"/>
          <p:cNvSpPr txBox="1">
            <a:spLocks noChangeArrowheads="1"/>
          </p:cNvSpPr>
          <p:nvPr/>
        </p:nvSpPr>
        <p:spPr bwMode="auto">
          <a:xfrm>
            <a:off x="4776788" y="3921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251733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63500" y="3565525"/>
            <a:ext cx="4156075" cy="2565400"/>
            <a:chOff x="674" y="1081"/>
            <a:chExt cx="4632" cy="2859"/>
          </a:xfrm>
        </p:grpSpPr>
        <p:sp>
          <p:nvSpPr>
            <p:cNvPr id="29704" name="Rectangle 3"/>
            <p:cNvSpPr>
              <a:spLocks noChangeArrowheads="1"/>
            </p:cNvSpPr>
            <p:nvPr/>
          </p:nvSpPr>
          <p:spPr bwMode="auto">
            <a:xfrm>
              <a:off x="674" y="1081"/>
              <a:ext cx="4632" cy="2852"/>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05" name="Rectangle 4"/>
            <p:cNvSpPr>
              <a:spLocks noChangeArrowheads="1"/>
            </p:cNvSpPr>
            <p:nvPr/>
          </p:nvSpPr>
          <p:spPr bwMode="auto">
            <a:xfrm>
              <a:off x="823" y="3800"/>
              <a:ext cx="149" cy="14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06" name="Freeform 5"/>
            <p:cNvSpPr>
              <a:spLocks/>
            </p:cNvSpPr>
            <p:nvPr/>
          </p:nvSpPr>
          <p:spPr bwMode="auto">
            <a:xfrm>
              <a:off x="898" y="3800"/>
              <a:ext cx="224" cy="140"/>
            </a:xfrm>
            <a:custGeom>
              <a:avLst/>
              <a:gdLst>
                <a:gd name="T0" fmla="*/ 0 w 170"/>
                <a:gd name="T1" fmla="*/ 0 h 106"/>
                <a:gd name="T2" fmla="*/ 224 w 170"/>
                <a:gd name="T3" fmla="*/ 0 h 106"/>
                <a:gd name="T4" fmla="*/ 224 w 170"/>
                <a:gd name="T5" fmla="*/ 140 h 106"/>
                <a:gd name="T6" fmla="*/ 0 60000 65536"/>
                <a:gd name="T7" fmla="*/ 0 60000 65536"/>
                <a:gd name="T8" fmla="*/ 0 60000 65536"/>
                <a:gd name="T9" fmla="*/ 0 w 170"/>
                <a:gd name="T10" fmla="*/ 0 h 106"/>
                <a:gd name="T11" fmla="*/ 170 w 170"/>
                <a:gd name="T12" fmla="*/ 106 h 106"/>
              </a:gdLst>
              <a:ahLst/>
              <a:cxnLst>
                <a:cxn ang="T6">
                  <a:pos x="T0" y="T1"/>
                </a:cxn>
                <a:cxn ang="T7">
                  <a:pos x="T2" y="T3"/>
                </a:cxn>
                <a:cxn ang="T8">
                  <a:pos x="T4" y="T5"/>
                </a:cxn>
              </a:cxnLst>
              <a:rect l="T9" t="T10" r="T11" b="T12"/>
              <a:pathLst>
                <a:path w="170" h="106">
                  <a:moveTo>
                    <a:pt x="0" y="0"/>
                  </a:moveTo>
                  <a:lnTo>
                    <a:pt x="170" y="0"/>
                  </a:lnTo>
                  <a:lnTo>
                    <a:pt x="170" y="10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07" name="Rectangle 6"/>
            <p:cNvSpPr>
              <a:spLocks noChangeArrowheads="1"/>
            </p:cNvSpPr>
            <p:nvPr/>
          </p:nvSpPr>
          <p:spPr bwMode="auto">
            <a:xfrm>
              <a:off x="3214" y="3792"/>
              <a:ext cx="149" cy="148"/>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08" name="Rectangle 7"/>
            <p:cNvSpPr>
              <a:spLocks noChangeArrowheads="1"/>
            </p:cNvSpPr>
            <p:nvPr/>
          </p:nvSpPr>
          <p:spPr bwMode="auto">
            <a:xfrm>
              <a:off x="1719" y="3779"/>
              <a:ext cx="151" cy="161"/>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09" name="Freeform 8"/>
            <p:cNvSpPr>
              <a:spLocks/>
            </p:cNvSpPr>
            <p:nvPr/>
          </p:nvSpPr>
          <p:spPr bwMode="auto">
            <a:xfrm>
              <a:off x="1010" y="3779"/>
              <a:ext cx="261" cy="161"/>
            </a:xfrm>
            <a:custGeom>
              <a:avLst/>
              <a:gdLst>
                <a:gd name="T0" fmla="*/ 0 w 198"/>
                <a:gd name="T1" fmla="*/ 21 h 122"/>
                <a:gd name="T2" fmla="*/ 0 w 198"/>
                <a:gd name="T3" fmla="*/ 0 h 122"/>
                <a:gd name="T4" fmla="*/ 261 w 198"/>
                <a:gd name="T5" fmla="*/ 0 h 122"/>
                <a:gd name="T6" fmla="*/ 261 w 198"/>
                <a:gd name="T7" fmla="*/ 161 h 122"/>
                <a:gd name="T8" fmla="*/ 0 60000 65536"/>
                <a:gd name="T9" fmla="*/ 0 60000 65536"/>
                <a:gd name="T10" fmla="*/ 0 60000 65536"/>
                <a:gd name="T11" fmla="*/ 0 60000 65536"/>
                <a:gd name="T12" fmla="*/ 0 w 198"/>
                <a:gd name="T13" fmla="*/ 0 h 122"/>
                <a:gd name="T14" fmla="*/ 198 w 198"/>
                <a:gd name="T15" fmla="*/ 122 h 122"/>
              </a:gdLst>
              <a:ahLst/>
              <a:cxnLst>
                <a:cxn ang="T8">
                  <a:pos x="T0" y="T1"/>
                </a:cxn>
                <a:cxn ang="T9">
                  <a:pos x="T2" y="T3"/>
                </a:cxn>
                <a:cxn ang="T10">
                  <a:pos x="T4" y="T5"/>
                </a:cxn>
                <a:cxn ang="T11">
                  <a:pos x="T6" y="T7"/>
                </a:cxn>
              </a:cxnLst>
              <a:rect l="T12" t="T13" r="T14" b="T15"/>
              <a:pathLst>
                <a:path w="198" h="122">
                  <a:moveTo>
                    <a:pt x="0" y="16"/>
                  </a:moveTo>
                  <a:lnTo>
                    <a:pt x="0" y="0"/>
                  </a:lnTo>
                  <a:lnTo>
                    <a:pt x="198" y="0"/>
                  </a:lnTo>
                  <a:lnTo>
                    <a:pt x="198" y="12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0" name="Freeform 9"/>
            <p:cNvSpPr>
              <a:spLocks/>
            </p:cNvSpPr>
            <p:nvPr/>
          </p:nvSpPr>
          <p:spPr bwMode="auto">
            <a:xfrm>
              <a:off x="1794" y="3779"/>
              <a:ext cx="225" cy="161"/>
            </a:xfrm>
            <a:custGeom>
              <a:avLst/>
              <a:gdLst>
                <a:gd name="T0" fmla="*/ 0 w 170"/>
                <a:gd name="T1" fmla="*/ 0 h 122"/>
                <a:gd name="T2" fmla="*/ 225 w 170"/>
                <a:gd name="T3" fmla="*/ 0 h 122"/>
                <a:gd name="T4" fmla="*/ 225 w 170"/>
                <a:gd name="T5" fmla="*/ 161 h 122"/>
                <a:gd name="T6" fmla="*/ 0 60000 65536"/>
                <a:gd name="T7" fmla="*/ 0 60000 65536"/>
                <a:gd name="T8" fmla="*/ 0 60000 65536"/>
                <a:gd name="T9" fmla="*/ 0 w 170"/>
                <a:gd name="T10" fmla="*/ 0 h 122"/>
                <a:gd name="T11" fmla="*/ 170 w 170"/>
                <a:gd name="T12" fmla="*/ 122 h 122"/>
              </a:gdLst>
              <a:ahLst/>
              <a:cxnLst>
                <a:cxn ang="T6">
                  <a:pos x="T0" y="T1"/>
                </a:cxn>
                <a:cxn ang="T7">
                  <a:pos x="T2" y="T3"/>
                </a:cxn>
                <a:cxn ang="T8">
                  <a:pos x="T4" y="T5"/>
                </a:cxn>
              </a:cxnLst>
              <a:rect l="T9" t="T10" r="T11" b="T12"/>
              <a:pathLst>
                <a:path w="170" h="122">
                  <a:moveTo>
                    <a:pt x="0" y="0"/>
                  </a:moveTo>
                  <a:lnTo>
                    <a:pt x="170" y="0"/>
                  </a:lnTo>
                  <a:lnTo>
                    <a:pt x="170" y="12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1" name="Freeform 10"/>
            <p:cNvSpPr>
              <a:spLocks/>
            </p:cNvSpPr>
            <p:nvPr/>
          </p:nvSpPr>
          <p:spPr bwMode="auto">
            <a:xfrm>
              <a:off x="1137" y="3771"/>
              <a:ext cx="283" cy="169"/>
            </a:xfrm>
            <a:custGeom>
              <a:avLst/>
              <a:gdLst>
                <a:gd name="T0" fmla="*/ 0 w 215"/>
                <a:gd name="T1" fmla="*/ 8 h 128"/>
                <a:gd name="T2" fmla="*/ 0 w 215"/>
                <a:gd name="T3" fmla="*/ 0 h 128"/>
                <a:gd name="T4" fmla="*/ 283 w 215"/>
                <a:gd name="T5" fmla="*/ 0 h 128"/>
                <a:gd name="T6" fmla="*/ 283 w 215"/>
                <a:gd name="T7" fmla="*/ 169 h 128"/>
                <a:gd name="T8" fmla="*/ 0 60000 65536"/>
                <a:gd name="T9" fmla="*/ 0 60000 65536"/>
                <a:gd name="T10" fmla="*/ 0 60000 65536"/>
                <a:gd name="T11" fmla="*/ 0 60000 65536"/>
                <a:gd name="T12" fmla="*/ 0 w 215"/>
                <a:gd name="T13" fmla="*/ 0 h 128"/>
                <a:gd name="T14" fmla="*/ 215 w 215"/>
                <a:gd name="T15" fmla="*/ 128 h 128"/>
              </a:gdLst>
              <a:ahLst/>
              <a:cxnLst>
                <a:cxn ang="T8">
                  <a:pos x="T0" y="T1"/>
                </a:cxn>
                <a:cxn ang="T9">
                  <a:pos x="T2" y="T3"/>
                </a:cxn>
                <a:cxn ang="T10">
                  <a:pos x="T4" y="T5"/>
                </a:cxn>
                <a:cxn ang="T11">
                  <a:pos x="T6" y="T7"/>
                </a:cxn>
              </a:cxnLst>
              <a:rect l="T12" t="T13" r="T14" b="T15"/>
              <a:pathLst>
                <a:path w="215" h="128">
                  <a:moveTo>
                    <a:pt x="0" y="6"/>
                  </a:moveTo>
                  <a:lnTo>
                    <a:pt x="0" y="0"/>
                  </a:lnTo>
                  <a:lnTo>
                    <a:pt x="215" y="0"/>
                  </a:lnTo>
                  <a:lnTo>
                    <a:pt x="215" y="128"/>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2" name="Rectangle 11"/>
            <p:cNvSpPr>
              <a:spLocks noChangeArrowheads="1"/>
            </p:cNvSpPr>
            <p:nvPr/>
          </p:nvSpPr>
          <p:spPr bwMode="auto">
            <a:xfrm>
              <a:off x="3662" y="3771"/>
              <a:ext cx="149" cy="16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13" name="Rectangle 12"/>
            <p:cNvSpPr>
              <a:spLocks noChangeArrowheads="1"/>
            </p:cNvSpPr>
            <p:nvPr/>
          </p:nvSpPr>
          <p:spPr bwMode="auto">
            <a:xfrm>
              <a:off x="2467" y="3758"/>
              <a:ext cx="149" cy="1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14" name="Rectangle 13"/>
            <p:cNvSpPr>
              <a:spLocks noChangeArrowheads="1"/>
            </p:cNvSpPr>
            <p:nvPr/>
          </p:nvSpPr>
          <p:spPr bwMode="auto">
            <a:xfrm>
              <a:off x="4110" y="3750"/>
              <a:ext cx="151" cy="19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15" name="Freeform 14"/>
            <p:cNvSpPr>
              <a:spLocks/>
            </p:cNvSpPr>
            <p:nvPr/>
          </p:nvSpPr>
          <p:spPr bwMode="auto">
            <a:xfrm>
              <a:off x="4186" y="3750"/>
              <a:ext cx="224" cy="190"/>
            </a:xfrm>
            <a:custGeom>
              <a:avLst/>
              <a:gdLst>
                <a:gd name="T0" fmla="*/ 0 w 170"/>
                <a:gd name="T1" fmla="*/ 0 h 144"/>
                <a:gd name="T2" fmla="*/ 224 w 170"/>
                <a:gd name="T3" fmla="*/ 0 h 144"/>
                <a:gd name="T4" fmla="*/ 224 w 170"/>
                <a:gd name="T5" fmla="*/ 190 h 144"/>
                <a:gd name="T6" fmla="*/ 0 60000 65536"/>
                <a:gd name="T7" fmla="*/ 0 60000 65536"/>
                <a:gd name="T8" fmla="*/ 0 60000 65536"/>
                <a:gd name="T9" fmla="*/ 0 w 170"/>
                <a:gd name="T10" fmla="*/ 0 h 144"/>
                <a:gd name="T11" fmla="*/ 170 w 170"/>
                <a:gd name="T12" fmla="*/ 144 h 144"/>
              </a:gdLst>
              <a:ahLst/>
              <a:cxnLst>
                <a:cxn ang="T6">
                  <a:pos x="T0" y="T1"/>
                </a:cxn>
                <a:cxn ang="T7">
                  <a:pos x="T2" y="T3"/>
                </a:cxn>
                <a:cxn ang="T8">
                  <a:pos x="T4" y="T5"/>
                </a:cxn>
              </a:cxnLst>
              <a:rect l="T9" t="T10" r="T11" b="T12"/>
              <a:pathLst>
                <a:path w="170" h="144">
                  <a:moveTo>
                    <a:pt x="0" y="0"/>
                  </a:moveTo>
                  <a:lnTo>
                    <a:pt x="170" y="0"/>
                  </a:lnTo>
                  <a:lnTo>
                    <a:pt x="170"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6" name="Freeform 15"/>
            <p:cNvSpPr>
              <a:spLocks/>
            </p:cNvSpPr>
            <p:nvPr/>
          </p:nvSpPr>
          <p:spPr bwMode="auto">
            <a:xfrm>
              <a:off x="3513" y="3744"/>
              <a:ext cx="224" cy="196"/>
            </a:xfrm>
            <a:custGeom>
              <a:avLst/>
              <a:gdLst>
                <a:gd name="T0" fmla="*/ 0 w 170"/>
                <a:gd name="T1" fmla="*/ 196 h 149"/>
                <a:gd name="T2" fmla="*/ 0 w 170"/>
                <a:gd name="T3" fmla="*/ 0 h 149"/>
                <a:gd name="T4" fmla="*/ 224 w 170"/>
                <a:gd name="T5" fmla="*/ 0 h 149"/>
                <a:gd name="T6" fmla="*/ 224 w 170"/>
                <a:gd name="T7" fmla="*/ 28 h 149"/>
                <a:gd name="T8" fmla="*/ 0 60000 65536"/>
                <a:gd name="T9" fmla="*/ 0 60000 65536"/>
                <a:gd name="T10" fmla="*/ 0 60000 65536"/>
                <a:gd name="T11" fmla="*/ 0 60000 65536"/>
                <a:gd name="T12" fmla="*/ 0 w 170"/>
                <a:gd name="T13" fmla="*/ 0 h 149"/>
                <a:gd name="T14" fmla="*/ 170 w 170"/>
                <a:gd name="T15" fmla="*/ 149 h 149"/>
              </a:gdLst>
              <a:ahLst/>
              <a:cxnLst>
                <a:cxn ang="T8">
                  <a:pos x="T0" y="T1"/>
                </a:cxn>
                <a:cxn ang="T9">
                  <a:pos x="T2" y="T3"/>
                </a:cxn>
                <a:cxn ang="T10">
                  <a:pos x="T4" y="T5"/>
                </a:cxn>
                <a:cxn ang="T11">
                  <a:pos x="T6" y="T7"/>
                </a:cxn>
              </a:cxnLst>
              <a:rect l="T12" t="T13" r="T14" b="T15"/>
              <a:pathLst>
                <a:path w="170" h="149">
                  <a:moveTo>
                    <a:pt x="0" y="149"/>
                  </a:moveTo>
                  <a:lnTo>
                    <a:pt x="0" y="0"/>
                  </a:lnTo>
                  <a:lnTo>
                    <a:pt x="170" y="0"/>
                  </a:lnTo>
                  <a:lnTo>
                    <a:pt x="170" y="21"/>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7" name="Freeform 16"/>
            <p:cNvSpPr>
              <a:spLocks/>
            </p:cNvSpPr>
            <p:nvPr/>
          </p:nvSpPr>
          <p:spPr bwMode="auto">
            <a:xfrm>
              <a:off x="1279" y="3744"/>
              <a:ext cx="291" cy="196"/>
            </a:xfrm>
            <a:custGeom>
              <a:avLst/>
              <a:gdLst>
                <a:gd name="T0" fmla="*/ 0 w 221"/>
                <a:gd name="T1" fmla="*/ 28 h 149"/>
                <a:gd name="T2" fmla="*/ 0 w 221"/>
                <a:gd name="T3" fmla="*/ 0 h 149"/>
                <a:gd name="T4" fmla="*/ 291 w 221"/>
                <a:gd name="T5" fmla="*/ 0 h 149"/>
                <a:gd name="T6" fmla="*/ 291 w 221"/>
                <a:gd name="T7" fmla="*/ 196 h 149"/>
                <a:gd name="T8" fmla="*/ 0 60000 65536"/>
                <a:gd name="T9" fmla="*/ 0 60000 65536"/>
                <a:gd name="T10" fmla="*/ 0 60000 65536"/>
                <a:gd name="T11" fmla="*/ 0 60000 65536"/>
                <a:gd name="T12" fmla="*/ 0 w 221"/>
                <a:gd name="T13" fmla="*/ 0 h 149"/>
                <a:gd name="T14" fmla="*/ 221 w 221"/>
                <a:gd name="T15" fmla="*/ 149 h 149"/>
              </a:gdLst>
              <a:ahLst/>
              <a:cxnLst>
                <a:cxn ang="T8">
                  <a:pos x="T0" y="T1"/>
                </a:cxn>
                <a:cxn ang="T9">
                  <a:pos x="T2" y="T3"/>
                </a:cxn>
                <a:cxn ang="T10">
                  <a:pos x="T4" y="T5"/>
                </a:cxn>
                <a:cxn ang="T11">
                  <a:pos x="T6" y="T7"/>
                </a:cxn>
              </a:cxnLst>
              <a:rect l="T12" t="T13" r="T14" b="T15"/>
              <a:pathLst>
                <a:path w="221" h="149">
                  <a:moveTo>
                    <a:pt x="0" y="21"/>
                  </a:moveTo>
                  <a:lnTo>
                    <a:pt x="0" y="0"/>
                  </a:lnTo>
                  <a:lnTo>
                    <a:pt x="221" y="0"/>
                  </a:lnTo>
                  <a:lnTo>
                    <a:pt x="221" y="149"/>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8" name="Freeform 17"/>
            <p:cNvSpPr>
              <a:spLocks/>
            </p:cNvSpPr>
            <p:nvPr/>
          </p:nvSpPr>
          <p:spPr bwMode="auto">
            <a:xfrm>
              <a:off x="3289" y="3723"/>
              <a:ext cx="336" cy="69"/>
            </a:xfrm>
            <a:custGeom>
              <a:avLst/>
              <a:gdLst>
                <a:gd name="T0" fmla="*/ 0 w 255"/>
                <a:gd name="T1" fmla="*/ 69 h 53"/>
                <a:gd name="T2" fmla="*/ 0 w 255"/>
                <a:gd name="T3" fmla="*/ 0 h 53"/>
                <a:gd name="T4" fmla="*/ 336 w 255"/>
                <a:gd name="T5" fmla="*/ 0 h 53"/>
                <a:gd name="T6" fmla="*/ 336 w 255"/>
                <a:gd name="T7" fmla="*/ 21 h 53"/>
                <a:gd name="T8" fmla="*/ 0 60000 65536"/>
                <a:gd name="T9" fmla="*/ 0 60000 65536"/>
                <a:gd name="T10" fmla="*/ 0 60000 65536"/>
                <a:gd name="T11" fmla="*/ 0 60000 65536"/>
                <a:gd name="T12" fmla="*/ 0 w 255"/>
                <a:gd name="T13" fmla="*/ 0 h 53"/>
                <a:gd name="T14" fmla="*/ 255 w 255"/>
                <a:gd name="T15" fmla="*/ 53 h 53"/>
              </a:gdLst>
              <a:ahLst/>
              <a:cxnLst>
                <a:cxn ang="T8">
                  <a:pos x="T0" y="T1"/>
                </a:cxn>
                <a:cxn ang="T9">
                  <a:pos x="T2" y="T3"/>
                </a:cxn>
                <a:cxn ang="T10">
                  <a:pos x="T4" y="T5"/>
                </a:cxn>
                <a:cxn ang="T11">
                  <a:pos x="T6" y="T7"/>
                </a:cxn>
              </a:cxnLst>
              <a:rect l="T12" t="T13" r="T14" b="T15"/>
              <a:pathLst>
                <a:path w="255" h="53">
                  <a:moveTo>
                    <a:pt x="0" y="53"/>
                  </a:moveTo>
                  <a:lnTo>
                    <a:pt x="0" y="0"/>
                  </a:lnTo>
                  <a:lnTo>
                    <a:pt x="255" y="0"/>
                  </a:lnTo>
                  <a:lnTo>
                    <a:pt x="255" y="1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19" name="Freeform 18"/>
            <p:cNvSpPr>
              <a:spLocks/>
            </p:cNvSpPr>
            <p:nvPr/>
          </p:nvSpPr>
          <p:spPr bwMode="auto">
            <a:xfrm>
              <a:off x="1906" y="3716"/>
              <a:ext cx="261" cy="224"/>
            </a:xfrm>
            <a:custGeom>
              <a:avLst/>
              <a:gdLst>
                <a:gd name="T0" fmla="*/ 0 w 198"/>
                <a:gd name="T1" fmla="*/ 63 h 170"/>
                <a:gd name="T2" fmla="*/ 0 w 198"/>
                <a:gd name="T3" fmla="*/ 0 h 170"/>
                <a:gd name="T4" fmla="*/ 261 w 198"/>
                <a:gd name="T5" fmla="*/ 0 h 170"/>
                <a:gd name="T6" fmla="*/ 261 w 198"/>
                <a:gd name="T7" fmla="*/ 224 h 170"/>
                <a:gd name="T8" fmla="*/ 0 60000 65536"/>
                <a:gd name="T9" fmla="*/ 0 60000 65536"/>
                <a:gd name="T10" fmla="*/ 0 60000 65536"/>
                <a:gd name="T11" fmla="*/ 0 60000 65536"/>
                <a:gd name="T12" fmla="*/ 0 w 198"/>
                <a:gd name="T13" fmla="*/ 0 h 170"/>
                <a:gd name="T14" fmla="*/ 198 w 198"/>
                <a:gd name="T15" fmla="*/ 170 h 170"/>
              </a:gdLst>
              <a:ahLst/>
              <a:cxnLst>
                <a:cxn ang="T8">
                  <a:pos x="T0" y="T1"/>
                </a:cxn>
                <a:cxn ang="T9">
                  <a:pos x="T2" y="T3"/>
                </a:cxn>
                <a:cxn ang="T10">
                  <a:pos x="T4" y="T5"/>
                </a:cxn>
                <a:cxn ang="T11">
                  <a:pos x="T6" y="T7"/>
                </a:cxn>
              </a:cxnLst>
              <a:rect l="T12" t="T13" r="T14" b="T15"/>
              <a:pathLst>
                <a:path w="198" h="170">
                  <a:moveTo>
                    <a:pt x="0" y="48"/>
                  </a:moveTo>
                  <a:lnTo>
                    <a:pt x="0" y="0"/>
                  </a:lnTo>
                  <a:lnTo>
                    <a:pt x="198" y="0"/>
                  </a:lnTo>
                  <a:lnTo>
                    <a:pt x="198" y="17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0" name="Freeform 19"/>
            <p:cNvSpPr>
              <a:spLocks/>
            </p:cNvSpPr>
            <p:nvPr/>
          </p:nvSpPr>
          <p:spPr bwMode="auto">
            <a:xfrm>
              <a:off x="4298" y="3709"/>
              <a:ext cx="261" cy="231"/>
            </a:xfrm>
            <a:custGeom>
              <a:avLst/>
              <a:gdLst>
                <a:gd name="T0" fmla="*/ 0 w 198"/>
                <a:gd name="T1" fmla="*/ 41 h 175"/>
                <a:gd name="T2" fmla="*/ 0 w 198"/>
                <a:gd name="T3" fmla="*/ 0 h 175"/>
                <a:gd name="T4" fmla="*/ 261 w 198"/>
                <a:gd name="T5" fmla="*/ 0 h 175"/>
                <a:gd name="T6" fmla="*/ 261 w 198"/>
                <a:gd name="T7" fmla="*/ 231 h 175"/>
                <a:gd name="T8" fmla="*/ 0 60000 65536"/>
                <a:gd name="T9" fmla="*/ 0 60000 65536"/>
                <a:gd name="T10" fmla="*/ 0 60000 65536"/>
                <a:gd name="T11" fmla="*/ 0 60000 65536"/>
                <a:gd name="T12" fmla="*/ 0 w 198"/>
                <a:gd name="T13" fmla="*/ 0 h 175"/>
                <a:gd name="T14" fmla="*/ 198 w 198"/>
                <a:gd name="T15" fmla="*/ 175 h 175"/>
              </a:gdLst>
              <a:ahLst/>
              <a:cxnLst>
                <a:cxn ang="T8">
                  <a:pos x="T0" y="T1"/>
                </a:cxn>
                <a:cxn ang="T9">
                  <a:pos x="T2" y="T3"/>
                </a:cxn>
                <a:cxn ang="T10">
                  <a:pos x="T4" y="T5"/>
                </a:cxn>
                <a:cxn ang="T11">
                  <a:pos x="T6" y="T7"/>
                </a:cxn>
              </a:cxnLst>
              <a:rect l="T12" t="T13" r="T14" b="T15"/>
              <a:pathLst>
                <a:path w="198" h="175">
                  <a:moveTo>
                    <a:pt x="0" y="31"/>
                  </a:moveTo>
                  <a:lnTo>
                    <a:pt x="0" y="0"/>
                  </a:lnTo>
                  <a:lnTo>
                    <a:pt x="198" y="0"/>
                  </a:lnTo>
                  <a:lnTo>
                    <a:pt x="198" y="175"/>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1" name="Freeform 20"/>
            <p:cNvSpPr>
              <a:spLocks/>
            </p:cNvSpPr>
            <p:nvPr/>
          </p:nvSpPr>
          <p:spPr bwMode="auto">
            <a:xfrm>
              <a:off x="3453" y="3701"/>
              <a:ext cx="508" cy="239"/>
            </a:xfrm>
            <a:custGeom>
              <a:avLst/>
              <a:gdLst>
                <a:gd name="T0" fmla="*/ 0 w 386"/>
                <a:gd name="T1" fmla="*/ 21 h 181"/>
                <a:gd name="T2" fmla="*/ 0 w 386"/>
                <a:gd name="T3" fmla="*/ 0 h 181"/>
                <a:gd name="T4" fmla="*/ 508 w 386"/>
                <a:gd name="T5" fmla="*/ 0 h 181"/>
                <a:gd name="T6" fmla="*/ 508 w 386"/>
                <a:gd name="T7" fmla="*/ 239 h 181"/>
                <a:gd name="T8" fmla="*/ 0 60000 65536"/>
                <a:gd name="T9" fmla="*/ 0 60000 65536"/>
                <a:gd name="T10" fmla="*/ 0 60000 65536"/>
                <a:gd name="T11" fmla="*/ 0 60000 65536"/>
                <a:gd name="T12" fmla="*/ 0 w 386"/>
                <a:gd name="T13" fmla="*/ 0 h 181"/>
                <a:gd name="T14" fmla="*/ 386 w 386"/>
                <a:gd name="T15" fmla="*/ 181 h 181"/>
              </a:gdLst>
              <a:ahLst/>
              <a:cxnLst>
                <a:cxn ang="T8">
                  <a:pos x="T0" y="T1"/>
                </a:cxn>
                <a:cxn ang="T9">
                  <a:pos x="T2" y="T3"/>
                </a:cxn>
                <a:cxn ang="T10">
                  <a:pos x="T4" y="T5"/>
                </a:cxn>
                <a:cxn ang="T11">
                  <a:pos x="T6" y="T7"/>
                </a:cxn>
              </a:cxnLst>
              <a:rect l="T12" t="T13" r="T14" b="T15"/>
              <a:pathLst>
                <a:path w="386" h="181">
                  <a:moveTo>
                    <a:pt x="0" y="16"/>
                  </a:moveTo>
                  <a:lnTo>
                    <a:pt x="0" y="0"/>
                  </a:lnTo>
                  <a:lnTo>
                    <a:pt x="386" y="0"/>
                  </a:lnTo>
                  <a:lnTo>
                    <a:pt x="386" y="181"/>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2" name="Freeform 21"/>
            <p:cNvSpPr>
              <a:spLocks/>
            </p:cNvSpPr>
            <p:nvPr/>
          </p:nvSpPr>
          <p:spPr bwMode="auto">
            <a:xfrm>
              <a:off x="3707" y="3688"/>
              <a:ext cx="717" cy="21"/>
            </a:xfrm>
            <a:custGeom>
              <a:avLst/>
              <a:gdLst>
                <a:gd name="T0" fmla="*/ 0 w 544"/>
                <a:gd name="T1" fmla="*/ 13 h 16"/>
                <a:gd name="T2" fmla="*/ 0 w 544"/>
                <a:gd name="T3" fmla="*/ 0 h 16"/>
                <a:gd name="T4" fmla="*/ 717 w 544"/>
                <a:gd name="T5" fmla="*/ 0 h 16"/>
                <a:gd name="T6" fmla="*/ 717 w 544"/>
                <a:gd name="T7" fmla="*/ 21 h 16"/>
                <a:gd name="T8" fmla="*/ 0 60000 65536"/>
                <a:gd name="T9" fmla="*/ 0 60000 65536"/>
                <a:gd name="T10" fmla="*/ 0 60000 65536"/>
                <a:gd name="T11" fmla="*/ 0 60000 65536"/>
                <a:gd name="T12" fmla="*/ 0 w 544"/>
                <a:gd name="T13" fmla="*/ 0 h 16"/>
                <a:gd name="T14" fmla="*/ 544 w 544"/>
                <a:gd name="T15" fmla="*/ 16 h 16"/>
              </a:gdLst>
              <a:ahLst/>
              <a:cxnLst>
                <a:cxn ang="T8">
                  <a:pos x="T0" y="T1"/>
                </a:cxn>
                <a:cxn ang="T9">
                  <a:pos x="T2" y="T3"/>
                </a:cxn>
                <a:cxn ang="T10">
                  <a:pos x="T4" y="T5"/>
                </a:cxn>
                <a:cxn ang="T11">
                  <a:pos x="T6" y="T7"/>
                </a:cxn>
              </a:cxnLst>
              <a:rect l="T12" t="T13" r="T14" b="T15"/>
              <a:pathLst>
                <a:path w="544" h="16">
                  <a:moveTo>
                    <a:pt x="0" y="10"/>
                  </a:moveTo>
                  <a:lnTo>
                    <a:pt x="0" y="0"/>
                  </a:lnTo>
                  <a:lnTo>
                    <a:pt x="544" y="0"/>
                  </a:lnTo>
                  <a:lnTo>
                    <a:pt x="544" y="16"/>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3" name="Rectangle 22"/>
            <p:cNvSpPr>
              <a:spLocks noChangeArrowheads="1"/>
            </p:cNvSpPr>
            <p:nvPr/>
          </p:nvSpPr>
          <p:spPr bwMode="auto">
            <a:xfrm>
              <a:off x="4709" y="3688"/>
              <a:ext cx="149" cy="25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24" name="Freeform 23"/>
            <p:cNvSpPr>
              <a:spLocks/>
            </p:cNvSpPr>
            <p:nvPr/>
          </p:nvSpPr>
          <p:spPr bwMode="auto">
            <a:xfrm>
              <a:off x="1420" y="3680"/>
              <a:ext cx="613" cy="64"/>
            </a:xfrm>
            <a:custGeom>
              <a:avLst/>
              <a:gdLst>
                <a:gd name="T0" fmla="*/ 0 w 465"/>
                <a:gd name="T1" fmla="*/ 64 h 48"/>
                <a:gd name="T2" fmla="*/ 0 w 465"/>
                <a:gd name="T3" fmla="*/ 0 h 48"/>
                <a:gd name="T4" fmla="*/ 613 w 465"/>
                <a:gd name="T5" fmla="*/ 0 h 48"/>
                <a:gd name="T6" fmla="*/ 613 w 465"/>
                <a:gd name="T7" fmla="*/ 36 h 48"/>
                <a:gd name="T8" fmla="*/ 0 60000 65536"/>
                <a:gd name="T9" fmla="*/ 0 60000 65536"/>
                <a:gd name="T10" fmla="*/ 0 60000 65536"/>
                <a:gd name="T11" fmla="*/ 0 60000 65536"/>
                <a:gd name="T12" fmla="*/ 0 w 465"/>
                <a:gd name="T13" fmla="*/ 0 h 48"/>
                <a:gd name="T14" fmla="*/ 465 w 465"/>
                <a:gd name="T15" fmla="*/ 48 h 48"/>
              </a:gdLst>
              <a:ahLst/>
              <a:cxnLst>
                <a:cxn ang="T8">
                  <a:pos x="T0" y="T1"/>
                </a:cxn>
                <a:cxn ang="T9">
                  <a:pos x="T2" y="T3"/>
                </a:cxn>
                <a:cxn ang="T10">
                  <a:pos x="T4" y="T5"/>
                </a:cxn>
                <a:cxn ang="T11">
                  <a:pos x="T6" y="T7"/>
                </a:cxn>
              </a:cxnLst>
              <a:rect l="T12" t="T13" r="T14" b="T15"/>
              <a:pathLst>
                <a:path w="465" h="48">
                  <a:moveTo>
                    <a:pt x="0" y="48"/>
                  </a:moveTo>
                  <a:lnTo>
                    <a:pt x="0" y="0"/>
                  </a:lnTo>
                  <a:lnTo>
                    <a:pt x="465" y="0"/>
                  </a:lnTo>
                  <a:lnTo>
                    <a:pt x="465" y="2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5" name="Rectangle 24"/>
            <p:cNvSpPr>
              <a:spLocks noChangeArrowheads="1"/>
            </p:cNvSpPr>
            <p:nvPr/>
          </p:nvSpPr>
          <p:spPr bwMode="auto">
            <a:xfrm>
              <a:off x="4066" y="3659"/>
              <a:ext cx="717" cy="2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29726" name="Freeform 25"/>
            <p:cNvSpPr>
              <a:spLocks/>
            </p:cNvSpPr>
            <p:nvPr/>
          </p:nvSpPr>
          <p:spPr bwMode="auto">
            <a:xfrm>
              <a:off x="2318" y="3604"/>
              <a:ext cx="224" cy="336"/>
            </a:xfrm>
            <a:custGeom>
              <a:avLst/>
              <a:gdLst>
                <a:gd name="T0" fmla="*/ 0 w 170"/>
                <a:gd name="T1" fmla="*/ 336 h 255"/>
                <a:gd name="T2" fmla="*/ 0 w 170"/>
                <a:gd name="T3" fmla="*/ 0 h 255"/>
                <a:gd name="T4" fmla="*/ 224 w 170"/>
                <a:gd name="T5" fmla="*/ 0 h 255"/>
                <a:gd name="T6" fmla="*/ 224 w 170"/>
                <a:gd name="T7" fmla="*/ 154 h 255"/>
                <a:gd name="T8" fmla="*/ 0 60000 65536"/>
                <a:gd name="T9" fmla="*/ 0 60000 65536"/>
                <a:gd name="T10" fmla="*/ 0 60000 65536"/>
                <a:gd name="T11" fmla="*/ 0 60000 65536"/>
                <a:gd name="T12" fmla="*/ 0 w 170"/>
                <a:gd name="T13" fmla="*/ 0 h 255"/>
                <a:gd name="T14" fmla="*/ 170 w 170"/>
                <a:gd name="T15" fmla="*/ 255 h 255"/>
              </a:gdLst>
              <a:ahLst/>
              <a:cxnLst>
                <a:cxn ang="T8">
                  <a:pos x="T0" y="T1"/>
                </a:cxn>
                <a:cxn ang="T9">
                  <a:pos x="T2" y="T3"/>
                </a:cxn>
                <a:cxn ang="T10">
                  <a:pos x="T4" y="T5"/>
                </a:cxn>
                <a:cxn ang="T11">
                  <a:pos x="T6" y="T7"/>
                </a:cxn>
              </a:cxnLst>
              <a:rect l="T12" t="T13" r="T14" b="T15"/>
              <a:pathLst>
                <a:path w="170" h="255">
                  <a:moveTo>
                    <a:pt x="0" y="255"/>
                  </a:moveTo>
                  <a:lnTo>
                    <a:pt x="0" y="0"/>
                  </a:lnTo>
                  <a:lnTo>
                    <a:pt x="170" y="0"/>
                  </a:lnTo>
                  <a:lnTo>
                    <a:pt x="170" y="11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7" name="Freeform 26"/>
            <p:cNvSpPr>
              <a:spLocks/>
            </p:cNvSpPr>
            <p:nvPr/>
          </p:nvSpPr>
          <p:spPr bwMode="auto">
            <a:xfrm>
              <a:off x="1727" y="3604"/>
              <a:ext cx="703" cy="76"/>
            </a:xfrm>
            <a:custGeom>
              <a:avLst/>
              <a:gdLst>
                <a:gd name="T0" fmla="*/ 0 w 533"/>
                <a:gd name="T1" fmla="*/ 76 h 58"/>
                <a:gd name="T2" fmla="*/ 0 w 533"/>
                <a:gd name="T3" fmla="*/ 0 h 58"/>
                <a:gd name="T4" fmla="*/ 703 w 533"/>
                <a:gd name="T5" fmla="*/ 0 h 58"/>
                <a:gd name="T6" fmla="*/ 0 60000 65536"/>
                <a:gd name="T7" fmla="*/ 0 60000 65536"/>
                <a:gd name="T8" fmla="*/ 0 60000 65536"/>
                <a:gd name="T9" fmla="*/ 0 w 533"/>
                <a:gd name="T10" fmla="*/ 0 h 58"/>
                <a:gd name="T11" fmla="*/ 533 w 533"/>
                <a:gd name="T12" fmla="*/ 58 h 58"/>
              </a:gdLst>
              <a:ahLst/>
              <a:cxnLst>
                <a:cxn ang="T6">
                  <a:pos x="T0" y="T1"/>
                </a:cxn>
                <a:cxn ang="T7">
                  <a:pos x="T2" y="T3"/>
                </a:cxn>
                <a:cxn ang="T8">
                  <a:pos x="T4" y="T5"/>
                </a:cxn>
              </a:cxnLst>
              <a:rect l="T9" t="T10" r="T11" b="T12"/>
              <a:pathLst>
                <a:path w="533" h="58">
                  <a:moveTo>
                    <a:pt x="0" y="58"/>
                  </a:moveTo>
                  <a:lnTo>
                    <a:pt x="0" y="0"/>
                  </a:lnTo>
                  <a:lnTo>
                    <a:pt x="533"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8" name="Freeform 27"/>
            <p:cNvSpPr>
              <a:spLocks/>
            </p:cNvSpPr>
            <p:nvPr/>
          </p:nvSpPr>
          <p:spPr bwMode="auto">
            <a:xfrm>
              <a:off x="2078" y="3547"/>
              <a:ext cx="688" cy="393"/>
            </a:xfrm>
            <a:custGeom>
              <a:avLst/>
              <a:gdLst>
                <a:gd name="T0" fmla="*/ 0 w 522"/>
                <a:gd name="T1" fmla="*/ 57 h 298"/>
                <a:gd name="T2" fmla="*/ 0 w 522"/>
                <a:gd name="T3" fmla="*/ 0 h 298"/>
                <a:gd name="T4" fmla="*/ 688 w 522"/>
                <a:gd name="T5" fmla="*/ 0 h 298"/>
                <a:gd name="T6" fmla="*/ 688 w 522"/>
                <a:gd name="T7" fmla="*/ 393 h 298"/>
                <a:gd name="T8" fmla="*/ 0 60000 65536"/>
                <a:gd name="T9" fmla="*/ 0 60000 65536"/>
                <a:gd name="T10" fmla="*/ 0 60000 65536"/>
                <a:gd name="T11" fmla="*/ 0 60000 65536"/>
                <a:gd name="T12" fmla="*/ 0 w 522"/>
                <a:gd name="T13" fmla="*/ 0 h 298"/>
                <a:gd name="T14" fmla="*/ 522 w 522"/>
                <a:gd name="T15" fmla="*/ 298 h 298"/>
              </a:gdLst>
              <a:ahLst/>
              <a:cxnLst>
                <a:cxn ang="T8">
                  <a:pos x="T0" y="T1"/>
                </a:cxn>
                <a:cxn ang="T9">
                  <a:pos x="T2" y="T3"/>
                </a:cxn>
                <a:cxn ang="T10">
                  <a:pos x="T4" y="T5"/>
                </a:cxn>
                <a:cxn ang="T11">
                  <a:pos x="T6" y="T7"/>
                </a:cxn>
              </a:cxnLst>
              <a:rect l="T12" t="T13" r="T14" b="T15"/>
              <a:pathLst>
                <a:path w="522" h="298">
                  <a:moveTo>
                    <a:pt x="0" y="43"/>
                  </a:moveTo>
                  <a:lnTo>
                    <a:pt x="0" y="0"/>
                  </a:lnTo>
                  <a:lnTo>
                    <a:pt x="522" y="0"/>
                  </a:lnTo>
                  <a:lnTo>
                    <a:pt x="522" y="298"/>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9" name="Freeform 28"/>
            <p:cNvSpPr>
              <a:spLocks/>
            </p:cNvSpPr>
            <p:nvPr/>
          </p:nvSpPr>
          <p:spPr bwMode="auto">
            <a:xfrm>
              <a:off x="4424" y="3450"/>
              <a:ext cx="583" cy="490"/>
            </a:xfrm>
            <a:custGeom>
              <a:avLst/>
              <a:gdLst>
                <a:gd name="T0" fmla="*/ 0 w 442"/>
                <a:gd name="T1" fmla="*/ 209 h 372"/>
                <a:gd name="T2" fmla="*/ 0 w 442"/>
                <a:gd name="T3" fmla="*/ 0 h 372"/>
                <a:gd name="T4" fmla="*/ 583 w 442"/>
                <a:gd name="T5" fmla="*/ 0 h 372"/>
                <a:gd name="T6" fmla="*/ 583 w 442"/>
                <a:gd name="T7" fmla="*/ 490 h 372"/>
                <a:gd name="T8" fmla="*/ 0 60000 65536"/>
                <a:gd name="T9" fmla="*/ 0 60000 65536"/>
                <a:gd name="T10" fmla="*/ 0 60000 65536"/>
                <a:gd name="T11" fmla="*/ 0 60000 65536"/>
                <a:gd name="T12" fmla="*/ 0 w 442"/>
                <a:gd name="T13" fmla="*/ 0 h 372"/>
                <a:gd name="T14" fmla="*/ 442 w 442"/>
                <a:gd name="T15" fmla="*/ 372 h 372"/>
              </a:gdLst>
              <a:ahLst/>
              <a:cxnLst>
                <a:cxn ang="T8">
                  <a:pos x="T0" y="T1"/>
                </a:cxn>
                <a:cxn ang="T9">
                  <a:pos x="T2" y="T3"/>
                </a:cxn>
                <a:cxn ang="T10">
                  <a:pos x="T4" y="T5"/>
                </a:cxn>
                <a:cxn ang="T11">
                  <a:pos x="T6" y="T7"/>
                </a:cxn>
              </a:cxnLst>
              <a:rect l="T12" t="T13" r="T14" b="T15"/>
              <a:pathLst>
                <a:path w="442" h="372">
                  <a:moveTo>
                    <a:pt x="0" y="159"/>
                  </a:moveTo>
                  <a:lnTo>
                    <a:pt x="0" y="0"/>
                  </a:lnTo>
                  <a:lnTo>
                    <a:pt x="442" y="0"/>
                  </a:lnTo>
                  <a:lnTo>
                    <a:pt x="442" y="372"/>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0" name="Freeform 29"/>
            <p:cNvSpPr>
              <a:spLocks/>
            </p:cNvSpPr>
            <p:nvPr/>
          </p:nvSpPr>
          <p:spPr bwMode="auto">
            <a:xfrm>
              <a:off x="2422" y="3351"/>
              <a:ext cx="493" cy="589"/>
            </a:xfrm>
            <a:custGeom>
              <a:avLst/>
              <a:gdLst>
                <a:gd name="T0" fmla="*/ 0 w 374"/>
                <a:gd name="T1" fmla="*/ 196 h 447"/>
                <a:gd name="T2" fmla="*/ 0 w 374"/>
                <a:gd name="T3" fmla="*/ 0 h 447"/>
                <a:gd name="T4" fmla="*/ 493 w 374"/>
                <a:gd name="T5" fmla="*/ 0 h 447"/>
                <a:gd name="T6" fmla="*/ 493 w 374"/>
                <a:gd name="T7" fmla="*/ 589 h 447"/>
                <a:gd name="T8" fmla="*/ 0 60000 65536"/>
                <a:gd name="T9" fmla="*/ 0 60000 65536"/>
                <a:gd name="T10" fmla="*/ 0 60000 65536"/>
                <a:gd name="T11" fmla="*/ 0 60000 65536"/>
                <a:gd name="T12" fmla="*/ 0 w 374"/>
                <a:gd name="T13" fmla="*/ 0 h 447"/>
                <a:gd name="T14" fmla="*/ 374 w 374"/>
                <a:gd name="T15" fmla="*/ 447 h 447"/>
              </a:gdLst>
              <a:ahLst/>
              <a:cxnLst>
                <a:cxn ang="T8">
                  <a:pos x="T0" y="T1"/>
                </a:cxn>
                <a:cxn ang="T9">
                  <a:pos x="T2" y="T3"/>
                </a:cxn>
                <a:cxn ang="T10">
                  <a:pos x="T4" y="T5"/>
                </a:cxn>
                <a:cxn ang="T11">
                  <a:pos x="T6" y="T7"/>
                </a:cxn>
              </a:cxnLst>
              <a:rect l="T12" t="T13" r="T14" b="T15"/>
              <a:pathLst>
                <a:path w="374" h="447">
                  <a:moveTo>
                    <a:pt x="0" y="149"/>
                  </a:moveTo>
                  <a:lnTo>
                    <a:pt x="0" y="0"/>
                  </a:lnTo>
                  <a:lnTo>
                    <a:pt x="374" y="0"/>
                  </a:lnTo>
                  <a:lnTo>
                    <a:pt x="374" y="447"/>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1" name="Freeform 30"/>
            <p:cNvSpPr>
              <a:spLocks/>
            </p:cNvSpPr>
            <p:nvPr/>
          </p:nvSpPr>
          <p:spPr bwMode="auto">
            <a:xfrm>
              <a:off x="2668" y="3190"/>
              <a:ext cx="397" cy="750"/>
            </a:xfrm>
            <a:custGeom>
              <a:avLst/>
              <a:gdLst>
                <a:gd name="T0" fmla="*/ 0 w 301"/>
                <a:gd name="T1" fmla="*/ 161 h 569"/>
                <a:gd name="T2" fmla="*/ 0 w 301"/>
                <a:gd name="T3" fmla="*/ 0 h 569"/>
                <a:gd name="T4" fmla="*/ 397 w 301"/>
                <a:gd name="T5" fmla="*/ 0 h 569"/>
                <a:gd name="T6" fmla="*/ 397 w 301"/>
                <a:gd name="T7" fmla="*/ 750 h 569"/>
                <a:gd name="T8" fmla="*/ 0 60000 65536"/>
                <a:gd name="T9" fmla="*/ 0 60000 65536"/>
                <a:gd name="T10" fmla="*/ 0 60000 65536"/>
                <a:gd name="T11" fmla="*/ 0 60000 65536"/>
                <a:gd name="T12" fmla="*/ 0 w 301"/>
                <a:gd name="T13" fmla="*/ 0 h 569"/>
                <a:gd name="T14" fmla="*/ 301 w 301"/>
                <a:gd name="T15" fmla="*/ 569 h 569"/>
              </a:gdLst>
              <a:ahLst/>
              <a:cxnLst>
                <a:cxn ang="T8">
                  <a:pos x="T0" y="T1"/>
                </a:cxn>
                <a:cxn ang="T9">
                  <a:pos x="T2" y="T3"/>
                </a:cxn>
                <a:cxn ang="T10">
                  <a:pos x="T4" y="T5"/>
                </a:cxn>
                <a:cxn ang="T11">
                  <a:pos x="T6" y="T7"/>
                </a:cxn>
              </a:cxnLst>
              <a:rect l="T12" t="T13" r="T14" b="T15"/>
              <a:pathLst>
                <a:path w="301" h="569">
                  <a:moveTo>
                    <a:pt x="0" y="122"/>
                  </a:moveTo>
                  <a:lnTo>
                    <a:pt x="0" y="0"/>
                  </a:lnTo>
                  <a:lnTo>
                    <a:pt x="301" y="0"/>
                  </a:lnTo>
                  <a:lnTo>
                    <a:pt x="301" y="569"/>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2" name="Freeform 31"/>
            <p:cNvSpPr>
              <a:spLocks/>
            </p:cNvSpPr>
            <p:nvPr/>
          </p:nvSpPr>
          <p:spPr bwMode="auto">
            <a:xfrm>
              <a:off x="4715" y="3106"/>
              <a:ext cx="442" cy="834"/>
            </a:xfrm>
            <a:custGeom>
              <a:avLst/>
              <a:gdLst>
                <a:gd name="T0" fmla="*/ 0 w 335"/>
                <a:gd name="T1" fmla="*/ 344 h 633"/>
                <a:gd name="T2" fmla="*/ 0 w 335"/>
                <a:gd name="T3" fmla="*/ 0 h 633"/>
                <a:gd name="T4" fmla="*/ 442 w 335"/>
                <a:gd name="T5" fmla="*/ 0 h 633"/>
                <a:gd name="T6" fmla="*/ 442 w 335"/>
                <a:gd name="T7" fmla="*/ 834 h 633"/>
                <a:gd name="T8" fmla="*/ 0 60000 65536"/>
                <a:gd name="T9" fmla="*/ 0 60000 65536"/>
                <a:gd name="T10" fmla="*/ 0 60000 65536"/>
                <a:gd name="T11" fmla="*/ 0 60000 65536"/>
                <a:gd name="T12" fmla="*/ 0 w 335"/>
                <a:gd name="T13" fmla="*/ 0 h 633"/>
                <a:gd name="T14" fmla="*/ 335 w 335"/>
                <a:gd name="T15" fmla="*/ 633 h 633"/>
              </a:gdLst>
              <a:ahLst/>
              <a:cxnLst>
                <a:cxn ang="T8">
                  <a:pos x="T0" y="T1"/>
                </a:cxn>
                <a:cxn ang="T9">
                  <a:pos x="T2" y="T3"/>
                </a:cxn>
                <a:cxn ang="T10">
                  <a:pos x="T4" y="T5"/>
                </a:cxn>
                <a:cxn ang="T11">
                  <a:pos x="T6" y="T7"/>
                </a:cxn>
              </a:cxnLst>
              <a:rect l="T12" t="T13" r="T14" b="T15"/>
              <a:pathLst>
                <a:path w="335" h="633">
                  <a:moveTo>
                    <a:pt x="0" y="261"/>
                  </a:moveTo>
                  <a:lnTo>
                    <a:pt x="0" y="0"/>
                  </a:lnTo>
                  <a:lnTo>
                    <a:pt x="335" y="0"/>
                  </a:lnTo>
                  <a:lnTo>
                    <a:pt x="335" y="633"/>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3" name="Freeform 32"/>
            <p:cNvSpPr>
              <a:spLocks/>
            </p:cNvSpPr>
            <p:nvPr/>
          </p:nvSpPr>
          <p:spPr bwMode="auto">
            <a:xfrm>
              <a:off x="2862" y="1208"/>
              <a:ext cx="2071" cy="1982"/>
            </a:xfrm>
            <a:custGeom>
              <a:avLst/>
              <a:gdLst>
                <a:gd name="T0" fmla="*/ 2071 w 1571"/>
                <a:gd name="T1" fmla="*/ 1898 h 1504"/>
                <a:gd name="T2" fmla="*/ 2071 w 1571"/>
                <a:gd name="T3" fmla="*/ 0 h 1504"/>
                <a:gd name="T4" fmla="*/ 0 w 1571"/>
                <a:gd name="T5" fmla="*/ 0 h 1504"/>
                <a:gd name="T6" fmla="*/ 0 w 1571"/>
                <a:gd name="T7" fmla="*/ 1982 h 1504"/>
                <a:gd name="T8" fmla="*/ 0 60000 65536"/>
                <a:gd name="T9" fmla="*/ 0 60000 65536"/>
                <a:gd name="T10" fmla="*/ 0 60000 65536"/>
                <a:gd name="T11" fmla="*/ 0 60000 65536"/>
                <a:gd name="T12" fmla="*/ 0 w 1571"/>
                <a:gd name="T13" fmla="*/ 0 h 1504"/>
                <a:gd name="T14" fmla="*/ 1571 w 1571"/>
                <a:gd name="T15" fmla="*/ 1504 h 1504"/>
              </a:gdLst>
              <a:ahLst/>
              <a:cxnLst>
                <a:cxn ang="T8">
                  <a:pos x="T0" y="T1"/>
                </a:cxn>
                <a:cxn ang="T9">
                  <a:pos x="T2" y="T3"/>
                </a:cxn>
                <a:cxn ang="T10">
                  <a:pos x="T4" y="T5"/>
                </a:cxn>
                <a:cxn ang="T11">
                  <a:pos x="T6" y="T7"/>
                </a:cxn>
              </a:cxnLst>
              <a:rect l="T12" t="T13" r="T14" b="T15"/>
              <a:pathLst>
                <a:path w="1571" h="1504">
                  <a:moveTo>
                    <a:pt x="1571" y="1440"/>
                  </a:moveTo>
                  <a:lnTo>
                    <a:pt x="1571" y="0"/>
                  </a:lnTo>
                  <a:lnTo>
                    <a:pt x="0" y="0"/>
                  </a:lnTo>
                  <a:lnTo>
                    <a:pt x="0" y="150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4" name="Line 33"/>
            <p:cNvSpPr>
              <a:spLocks noChangeShapeType="1"/>
            </p:cNvSpPr>
            <p:nvPr/>
          </p:nvSpPr>
          <p:spPr bwMode="auto">
            <a:xfrm>
              <a:off x="674" y="3933"/>
              <a:ext cx="4632" cy="2"/>
            </a:xfrm>
            <a:prstGeom prst="line">
              <a:avLst/>
            </a:prstGeom>
            <a:noFill/>
            <a:ln w="508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9699"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3451225"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2970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575" y="3833813"/>
            <a:ext cx="4741863" cy="27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29701" name="Text Box 36"/>
          <p:cNvSpPr txBox="1">
            <a:spLocks noChangeArrowheads="1"/>
          </p:cNvSpPr>
          <p:nvPr/>
        </p:nvSpPr>
        <p:spPr bwMode="auto">
          <a:xfrm>
            <a:off x="5362575" y="6400800"/>
            <a:ext cx="218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Average linkage</a:t>
            </a:r>
          </a:p>
        </p:txBody>
      </p:sp>
      <p:sp>
        <p:nvSpPr>
          <p:cNvPr id="29702" name="Text Box 39"/>
          <p:cNvSpPr txBox="1">
            <a:spLocks noChangeArrowheads="1"/>
          </p:cNvSpPr>
          <p:nvPr/>
        </p:nvSpPr>
        <p:spPr bwMode="auto">
          <a:xfrm>
            <a:off x="1130300" y="6156325"/>
            <a:ext cx="193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Single linkage</a:t>
            </a:r>
          </a:p>
        </p:txBody>
      </p:sp>
      <p:sp>
        <p:nvSpPr>
          <p:cNvPr id="29703" name="TextBox 39"/>
          <p:cNvSpPr txBox="1">
            <a:spLocks noChangeArrowheads="1"/>
          </p:cNvSpPr>
          <p:nvPr/>
        </p:nvSpPr>
        <p:spPr bwMode="auto">
          <a:xfrm>
            <a:off x="477678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4293974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1026"/>
          <p:cNvSpPr txBox="1">
            <a:spLocks noChangeArrowheads="1"/>
          </p:cNvSpPr>
          <p:nvPr/>
        </p:nvSpPr>
        <p:spPr bwMode="auto">
          <a:xfrm>
            <a:off x="152400" y="1295400"/>
            <a:ext cx="8839200" cy="5078413"/>
          </a:xfrm>
          <a:prstGeom prst="rect">
            <a:avLst/>
          </a:prstGeom>
          <a:noFill/>
          <a:ln w="9525">
            <a:noFill/>
            <a:miter lim="800000"/>
            <a:headEnd/>
            <a:tailEnd/>
          </a:ln>
          <a:effectLst/>
        </p:spPr>
        <p:txBody>
          <a:bodyPr>
            <a:spAutoFit/>
          </a:bodyPr>
          <a:lstStyle>
            <a:lvl1pPr marL="742950" indent="-742950">
              <a:defRPr sz="2400">
                <a:solidFill>
                  <a:schemeClr val="tx1"/>
                </a:solidFill>
                <a:latin typeface="Arial" charset="0"/>
                <a:ea typeface="ＭＳ Ｐゴシック" pitchFamily="-111" charset="-128"/>
              </a:defRPr>
            </a:lvl1pPr>
            <a:lvl2pPr marL="37931725" indent="-37474525">
              <a:defRPr sz="2400">
                <a:solidFill>
                  <a:schemeClr val="tx1"/>
                </a:solidFill>
                <a:latin typeface="Arial" charset="0"/>
                <a:ea typeface="ＭＳ Ｐゴシック" pitchFamily="-111" charset="-128"/>
              </a:defRPr>
            </a:lvl2pPr>
            <a:lvl3pPr>
              <a:defRPr sz="2400">
                <a:solidFill>
                  <a:schemeClr val="tx1"/>
                </a:solidFill>
                <a:latin typeface="Arial" charset="0"/>
                <a:ea typeface="ＭＳ Ｐゴシック" pitchFamily="-111" charset="-128"/>
              </a:defRPr>
            </a:lvl3pPr>
            <a:lvl4pPr>
              <a:defRPr sz="2400">
                <a:solidFill>
                  <a:schemeClr val="tx1"/>
                </a:solidFill>
                <a:latin typeface="Arial" charset="0"/>
                <a:ea typeface="ＭＳ Ｐゴシック" pitchFamily="-111" charset="-128"/>
              </a:defRPr>
            </a:lvl4pPr>
            <a:lvl5pPr>
              <a:defRPr sz="2400">
                <a:solidFill>
                  <a:schemeClr val="tx1"/>
                </a:solidFill>
                <a:latin typeface="Arial" charset="0"/>
                <a:ea typeface="ＭＳ Ｐゴシック" pitchFamily="-111" charset="-128"/>
              </a:defRPr>
            </a:lvl5pPr>
            <a:lvl6pPr marL="457200" eaLnBrk="0" fontAlgn="base" hangingPunct="0">
              <a:spcBef>
                <a:spcPct val="0"/>
              </a:spcBef>
              <a:spcAft>
                <a:spcPct val="0"/>
              </a:spcAft>
              <a:defRPr sz="2400">
                <a:solidFill>
                  <a:schemeClr val="tx1"/>
                </a:solidFill>
                <a:latin typeface="Arial" charset="0"/>
                <a:ea typeface="ＭＳ Ｐゴシック" pitchFamily="-111" charset="-128"/>
              </a:defRPr>
            </a:lvl6pPr>
            <a:lvl7pPr marL="914400" eaLnBrk="0" fontAlgn="base" hangingPunct="0">
              <a:spcBef>
                <a:spcPct val="0"/>
              </a:spcBef>
              <a:spcAft>
                <a:spcPct val="0"/>
              </a:spcAft>
              <a:defRPr sz="2400">
                <a:solidFill>
                  <a:schemeClr val="tx1"/>
                </a:solidFill>
                <a:latin typeface="Arial" charset="0"/>
                <a:ea typeface="ＭＳ Ｐゴシック" pitchFamily="-111" charset="-128"/>
              </a:defRPr>
            </a:lvl7pPr>
            <a:lvl8pPr marL="1371600" eaLnBrk="0" fontAlgn="base" hangingPunct="0">
              <a:spcBef>
                <a:spcPct val="0"/>
              </a:spcBef>
              <a:spcAft>
                <a:spcPct val="0"/>
              </a:spcAft>
              <a:defRPr sz="2400">
                <a:solidFill>
                  <a:schemeClr val="tx1"/>
                </a:solidFill>
                <a:latin typeface="Arial" charset="0"/>
                <a:ea typeface="ＭＳ Ｐゴシック" pitchFamily="-111" charset="-128"/>
              </a:defRPr>
            </a:lvl8pPr>
            <a:lvl9pPr marL="1828800" eaLnBrk="0" fontAlgn="base" hangingPunct="0">
              <a:spcBef>
                <a:spcPct val="0"/>
              </a:spcBef>
              <a:spcAft>
                <a:spcPct val="0"/>
              </a:spcAft>
              <a:defRPr sz="2400">
                <a:solidFill>
                  <a:schemeClr val="tx1"/>
                </a:solidFill>
                <a:latin typeface="Arial" charset="0"/>
                <a:ea typeface="ＭＳ Ｐゴシック" pitchFamily="-111" charset="-128"/>
              </a:defRPr>
            </a:lvl9pPr>
          </a:lstStyle>
          <a:p>
            <a:pPr>
              <a:defRPr/>
            </a:pPr>
            <a:r>
              <a:rPr lang="en-US" altLang="en-US" sz="3200" b="1">
                <a:solidFill>
                  <a:schemeClr val="tx2"/>
                </a:solidFill>
                <a:effectLst>
                  <a:outerShdw blurRad="38100" dist="38100" dir="2700000" algn="tl">
                    <a:srgbClr val="C0C0C0"/>
                  </a:outerShdw>
                </a:effectLst>
              </a:rPr>
              <a:t>Hierarchal Clustering Methods Summary</a:t>
            </a:r>
          </a:p>
          <a:p>
            <a:pPr>
              <a:buFont typeface="Wingdings" pitchFamily="-111" charset="2"/>
              <a:buChar char="§"/>
              <a:defRPr/>
            </a:pPr>
            <a:endParaRPr lang="en-US" altLang="en-US" sz="4000">
              <a:solidFill>
                <a:schemeClr val="tx2"/>
              </a:solidFill>
              <a:effectLst>
                <a:outerShdw blurRad="38100" dist="38100" dir="2700000" algn="tl">
                  <a:srgbClr val="C0C0C0"/>
                </a:outerShdw>
              </a:effectLst>
            </a:endParaRPr>
          </a:p>
          <a:p>
            <a:pPr>
              <a:buFont typeface="Wingdings" pitchFamily="-111" charset="2"/>
              <a:buChar char="§"/>
              <a:defRPr/>
            </a:pPr>
            <a:r>
              <a:rPr lang="en-US" altLang="en-US" sz="2800"/>
              <a:t>No need to specify the number of clusters in advance</a:t>
            </a:r>
          </a:p>
          <a:p>
            <a:pPr>
              <a:buFont typeface="Wingdings" pitchFamily="-111" charset="2"/>
              <a:buChar char="§"/>
              <a:defRPr/>
            </a:pPr>
            <a:r>
              <a:rPr lang="en-US" altLang="en-US" sz="2800"/>
              <a:t>Hierarchal nature maps nicely onto human intuition for some domains</a:t>
            </a:r>
          </a:p>
          <a:p>
            <a:pPr>
              <a:buFont typeface="Wingdings" pitchFamily="-111" charset="2"/>
              <a:buChar char="§"/>
              <a:defRPr/>
            </a:pPr>
            <a:r>
              <a:rPr lang="en-US" altLang="en-US" sz="2800"/>
              <a:t>They do not scale well: time complexity of at least O(</a:t>
            </a:r>
            <a:r>
              <a:rPr lang="en-US" altLang="en-US" sz="2800" i="1"/>
              <a:t>n</a:t>
            </a:r>
            <a:r>
              <a:rPr lang="en-US" altLang="en-US" sz="2800" baseline="30000"/>
              <a:t>2</a:t>
            </a:r>
            <a:r>
              <a:rPr lang="en-US" altLang="en-US" sz="2800"/>
              <a:t>), where </a:t>
            </a:r>
            <a:r>
              <a:rPr lang="en-US" altLang="en-US" sz="2800" i="1"/>
              <a:t>n</a:t>
            </a:r>
            <a:r>
              <a:rPr lang="en-US" altLang="en-US" sz="2800"/>
              <a:t> is the number of total objects</a:t>
            </a:r>
          </a:p>
          <a:p>
            <a:pPr>
              <a:buFont typeface="Wingdings" pitchFamily="-111" charset="2"/>
              <a:buChar char="§"/>
              <a:defRPr/>
            </a:pPr>
            <a:r>
              <a:rPr lang="en-US" altLang="en-US" sz="2800"/>
              <a:t>Like any heuristic search algorithms, local optima are a problem</a:t>
            </a:r>
          </a:p>
          <a:p>
            <a:pPr>
              <a:buFont typeface="Wingdings" pitchFamily="-111" charset="2"/>
              <a:buChar char="§"/>
              <a:defRPr/>
            </a:pPr>
            <a:r>
              <a:rPr lang="en-US" altLang="en-US" sz="2800"/>
              <a:t>Interpretation of results is (very) subjective </a:t>
            </a:r>
          </a:p>
        </p:txBody>
      </p:sp>
      <p:sp>
        <p:nvSpPr>
          <p:cNvPr id="30723" name="TextBox 2"/>
          <p:cNvSpPr txBox="1">
            <a:spLocks noChangeArrowheads="1"/>
          </p:cNvSpPr>
          <p:nvPr/>
        </p:nvSpPr>
        <p:spPr bwMode="auto">
          <a:xfrm>
            <a:off x="477678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354715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ChangeArrowheads="1"/>
          </p:cNvSpPr>
          <p:nvPr/>
        </p:nvSpPr>
        <p:spPr bwMode="auto">
          <a:xfrm>
            <a:off x="685800" y="914400"/>
            <a:ext cx="7772400" cy="1066800"/>
          </a:xfrm>
          <a:prstGeom prst="rect">
            <a:avLst/>
          </a:prstGeom>
          <a:noFill/>
          <a:ln w="9525">
            <a:noFill/>
            <a:miter lim="800000"/>
            <a:headEnd/>
            <a:tailEnd/>
          </a:ln>
          <a:effectLst/>
        </p:spPr>
        <p:txBody>
          <a:bodyPr lIns="92075" tIns="46038" rIns="92075" bIns="46038" anchor="ctr"/>
          <a:lstStyle/>
          <a:p>
            <a:pPr>
              <a:defRPr/>
            </a:pPr>
            <a:r>
              <a:rPr lang="en-US" sz="4400" dirty="0" err="1">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Partitional</a:t>
            </a:r>
            <a:r>
              <a:rPr lang="en-US" sz="4400" dirty="0">
                <a:solidFill>
                  <a:schemeClr val="tx2"/>
                </a:solidFill>
                <a:effectLst>
                  <a:outerShdw blurRad="38100" dist="38100" dir="2700000" algn="tl">
                    <a:srgbClr val="DDDDDD"/>
                  </a:outerShdw>
                </a:effectLst>
                <a:latin typeface="Arial" pitchFamily="-111" charset="0"/>
                <a:ea typeface="ＭＳ Ｐゴシック" pitchFamily="-111" charset="-128"/>
                <a:cs typeface="ＭＳ Ｐゴシック" pitchFamily="-111" charset="-128"/>
              </a:rPr>
              <a:t> Clustering</a:t>
            </a:r>
          </a:p>
        </p:txBody>
      </p:sp>
      <p:sp>
        <p:nvSpPr>
          <p:cNvPr id="31747" name="Rectangle 3"/>
          <p:cNvSpPr>
            <a:spLocks noChangeArrowheads="1"/>
          </p:cNvSpPr>
          <p:nvPr/>
        </p:nvSpPr>
        <p:spPr bwMode="auto">
          <a:xfrm>
            <a:off x="228600" y="1981200"/>
            <a:ext cx="84582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20000"/>
              </a:spcBef>
              <a:buFontTx/>
              <a:buChar char="•"/>
            </a:pPr>
            <a:r>
              <a:rPr lang="en-US" altLang="en-US" sz="3200"/>
              <a:t>Nonhierarchical, each instance is placed in exactly one of K non-overlapping clusters.</a:t>
            </a:r>
          </a:p>
          <a:p>
            <a:pPr>
              <a:spcBef>
                <a:spcPct val="20000"/>
              </a:spcBef>
              <a:buFontTx/>
              <a:buChar char="•"/>
            </a:pPr>
            <a:r>
              <a:rPr lang="en-US" altLang="en-US" sz="3200"/>
              <a:t>Since only one set of clusters is output, the user normally has to input the desired number of clusters K.</a:t>
            </a:r>
          </a:p>
        </p:txBody>
      </p:sp>
      <p:grpSp>
        <p:nvGrpSpPr>
          <p:cNvPr id="31748" name="Group 4"/>
          <p:cNvGrpSpPr>
            <a:grpSpLocks/>
          </p:cNvGrpSpPr>
          <p:nvPr/>
        </p:nvGrpSpPr>
        <p:grpSpPr bwMode="auto">
          <a:xfrm>
            <a:off x="152400" y="5334000"/>
            <a:ext cx="5029200" cy="1103313"/>
            <a:chOff x="36" y="642"/>
            <a:chExt cx="5760" cy="1413"/>
          </a:xfrm>
        </p:grpSpPr>
        <p:pic>
          <p:nvPicPr>
            <p:cNvPr id="31764" name="Picture 5" descr="Edna Krabapp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5" name="Picture 6" descr="Principal Seymour  Skin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6" name="Rectangle 7"/>
            <p:cNvSpPr>
              <a:spLocks noChangeArrowheads="1"/>
            </p:cNvSpPr>
            <p:nvPr/>
          </p:nvSpPr>
          <p:spPr bwMode="auto">
            <a:xfrm>
              <a:off x="36" y="1365"/>
              <a:ext cx="576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pic>
          <p:nvPicPr>
            <p:cNvPr id="31767" name="Picture 8" descr="Groundskeeper Willi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9"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0"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1" name="Picture 1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2" name="Picture 1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3" name="Picture 14" descr="C:\Documents and Settings\eamonn\Desktop\bios_family_marge.gi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49" name="Group 15"/>
          <p:cNvGrpSpPr>
            <a:grpSpLocks/>
          </p:cNvGrpSpPr>
          <p:nvPr/>
        </p:nvGrpSpPr>
        <p:grpSpPr bwMode="auto">
          <a:xfrm>
            <a:off x="6400800" y="5105400"/>
            <a:ext cx="2530475" cy="1487488"/>
            <a:chOff x="1880" y="2584"/>
            <a:chExt cx="1267" cy="745"/>
          </a:xfrm>
        </p:grpSpPr>
        <p:grpSp>
          <p:nvGrpSpPr>
            <p:cNvPr id="31752" name="Group 16"/>
            <p:cNvGrpSpPr>
              <a:grpSpLocks/>
            </p:cNvGrpSpPr>
            <p:nvPr/>
          </p:nvGrpSpPr>
          <p:grpSpPr bwMode="auto">
            <a:xfrm>
              <a:off x="1880" y="2584"/>
              <a:ext cx="1267" cy="745"/>
              <a:chOff x="156" y="2634"/>
              <a:chExt cx="2286" cy="1344"/>
            </a:xfrm>
          </p:grpSpPr>
          <p:sp>
            <p:nvSpPr>
              <p:cNvPr id="31762" name="Rectangle 17"/>
              <p:cNvSpPr>
                <a:spLocks noChangeArrowheads="1"/>
              </p:cNvSpPr>
              <p:nvPr/>
            </p:nvSpPr>
            <p:spPr bwMode="auto">
              <a:xfrm>
                <a:off x="156" y="2634"/>
                <a:ext cx="1080" cy="1344"/>
              </a:xfrm>
              <a:prstGeom prst="rect">
                <a:avLst/>
              </a:prstGeom>
              <a:solidFill>
                <a:schemeClr val="bg1"/>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31763" name="Rectangle 18"/>
              <p:cNvSpPr>
                <a:spLocks noChangeArrowheads="1"/>
              </p:cNvSpPr>
              <p:nvPr/>
            </p:nvSpPr>
            <p:spPr bwMode="auto">
              <a:xfrm>
                <a:off x="1362" y="2634"/>
                <a:ext cx="1080" cy="1344"/>
              </a:xfrm>
              <a:prstGeom prst="rect">
                <a:avLst/>
              </a:prstGeom>
              <a:solidFill>
                <a:schemeClr val="bg1"/>
              </a:solidFill>
              <a:ln w="1587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grpSp>
        <p:pic>
          <p:nvPicPr>
            <p:cNvPr id="31753" name="Picture 19" descr="Edna Krabapp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0" y="2626"/>
              <a:ext cx="16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20" descr="Principal Seymour  Skinn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1" y="2958"/>
              <a:ext cx="16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Picture 21" descr="Groundskeeper Willi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59" y="3005"/>
              <a:ext cx="18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2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09" y="2595"/>
              <a:ext cx="20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2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38" y="2602"/>
              <a:ext cx="190"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2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557" y="2984"/>
              <a:ext cx="19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9" name="Picture 25"/>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585" y="2695"/>
              <a:ext cx="14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0" name="Picture 2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91" y="3050"/>
              <a:ext cx="10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1" name="Picture 27" descr="C:\Documents and Settings\eamonn\Desktop\bios_family_marge.gi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13" y="2608"/>
              <a:ext cx="151"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8620" name="AutoShape 28"/>
          <p:cNvSpPr>
            <a:spLocks noChangeArrowheads="1"/>
          </p:cNvSpPr>
          <p:nvPr/>
        </p:nvSpPr>
        <p:spPr bwMode="auto">
          <a:xfrm>
            <a:off x="5410200" y="5562600"/>
            <a:ext cx="533400" cy="457200"/>
          </a:xfrm>
          <a:prstGeom prst="rightArrow">
            <a:avLst>
              <a:gd name="adj1" fmla="val 50000"/>
              <a:gd name="adj2" fmla="val 29167"/>
            </a:avLst>
          </a:prstGeom>
          <a:solidFill>
            <a:srgbClr val="FF9900"/>
          </a:solidFill>
          <a:ln w="0">
            <a:solidFill>
              <a:srgbClr val="000000"/>
            </a:solidFill>
            <a:miter lim="800000"/>
            <a:headEnd/>
            <a:tailEnd/>
          </a:ln>
          <a:effectLst>
            <a:outerShdw blurRad="63500" dist="107763" dir="8100000" algn="ctr" rotWithShape="0">
              <a:srgbClr val="000000">
                <a:alpha val="74998"/>
              </a:srgbClr>
            </a:outerShdw>
          </a:effectLst>
        </p:spPr>
        <p:txBody>
          <a:bodyPr wrap="none" anchor="ctr"/>
          <a:lstStyle/>
          <a:p>
            <a:pPr>
              <a:defRPr/>
            </a:pPr>
            <a:endParaRPr lang="en-US">
              <a:latin typeface="Arial" pitchFamily="-111" charset="0"/>
              <a:ea typeface="ＭＳ Ｐゴシック" pitchFamily="-111" charset="-128"/>
              <a:cs typeface="ＭＳ Ｐゴシック" pitchFamily="-111" charset="-128"/>
            </a:endParaRPr>
          </a:p>
        </p:txBody>
      </p:sp>
      <p:sp>
        <p:nvSpPr>
          <p:cNvPr id="31751" name="TextBox 28"/>
          <p:cNvSpPr txBox="1">
            <a:spLocks noChangeArrowheads="1"/>
          </p:cNvSpPr>
          <p:nvPr/>
        </p:nvSpPr>
        <p:spPr bwMode="auto">
          <a:xfrm>
            <a:off x="477678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185371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33375" y="1371600"/>
            <a:ext cx="8353425" cy="446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50000"/>
              </a:spcBef>
            </a:pPr>
            <a:r>
              <a:rPr lang="en-US" altLang="en-US" sz="3200" b="1"/>
              <a:t>Partition Algorithm 1: k-means 	</a:t>
            </a:r>
          </a:p>
          <a:p>
            <a:pPr>
              <a:spcBef>
                <a:spcPct val="50000"/>
              </a:spcBef>
            </a:pPr>
            <a:r>
              <a:rPr lang="en-US" altLang="en-US"/>
              <a:t>1. Decide on a value for </a:t>
            </a:r>
            <a:r>
              <a:rPr lang="en-US" altLang="en-US" i="1"/>
              <a:t>k</a:t>
            </a:r>
            <a:r>
              <a:rPr lang="en-US" altLang="en-US"/>
              <a:t>.	</a:t>
            </a:r>
          </a:p>
          <a:p>
            <a:pPr>
              <a:spcBef>
                <a:spcPct val="50000"/>
              </a:spcBef>
            </a:pPr>
            <a:r>
              <a:rPr lang="en-US" altLang="en-US"/>
              <a:t>2. Initialize the </a:t>
            </a:r>
            <a:r>
              <a:rPr lang="en-US" altLang="en-US" i="1"/>
              <a:t>k</a:t>
            </a:r>
            <a:r>
              <a:rPr lang="en-US" altLang="en-US"/>
              <a:t> cluster centers (randomly, if necessary).</a:t>
            </a:r>
          </a:p>
          <a:p>
            <a:pPr>
              <a:spcBef>
                <a:spcPct val="50000"/>
              </a:spcBef>
            </a:pPr>
            <a:r>
              <a:rPr lang="en-US" altLang="en-US"/>
              <a:t>3. Decide the class memberships of the </a:t>
            </a:r>
            <a:r>
              <a:rPr lang="en-US" altLang="en-US" i="1"/>
              <a:t>N</a:t>
            </a:r>
            <a:r>
              <a:rPr lang="en-US" altLang="en-US"/>
              <a:t> objects by assigning them to the nearest cluster center.	</a:t>
            </a:r>
          </a:p>
          <a:p>
            <a:pPr>
              <a:spcBef>
                <a:spcPct val="50000"/>
              </a:spcBef>
            </a:pPr>
            <a:r>
              <a:rPr lang="en-US" altLang="en-US"/>
              <a:t>4. Re-estimate the </a:t>
            </a:r>
            <a:r>
              <a:rPr lang="en-US" altLang="en-US" i="1"/>
              <a:t>k</a:t>
            </a:r>
            <a:r>
              <a:rPr lang="en-US" altLang="en-US"/>
              <a:t> cluster centers, by assuming the memberships found above are correct.	</a:t>
            </a:r>
          </a:p>
          <a:p>
            <a:pPr>
              <a:spcBef>
                <a:spcPct val="50000"/>
              </a:spcBef>
            </a:pPr>
            <a:r>
              <a:rPr lang="en-US" altLang="en-US"/>
              <a:t>5. If none of the </a:t>
            </a:r>
            <a:r>
              <a:rPr lang="en-US" altLang="en-US" i="1"/>
              <a:t>N</a:t>
            </a:r>
            <a:r>
              <a:rPr lang="en-US" altLang="en-US"/>
              <a:t> objects changed membership in the last iteration, exit. Otherwise goto 3.	</a:t>
            </a:r>
          </a:p>
        </p:txBody>
      </p:sp>
      <p:sp>
        <p:nvSpPr>
          <p:cNvPr id="33795" name="TextBox 2"/>
          <p:cNvSpPr txBox="1">
            <a:spLocks noChangeArrowheads="1"/>
          </p:cNvSpPr>
          <p:nvPr/>
        </p:nvSpPr>
        <p:spPr bwMode="auto">
          <a:xfrm>
            <a:off x="4776788" y="315913"/>
            <a:ext cx="4252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3616699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K-means Clustering</a:t>
            </a:r>
          </a:p>
        </p:txBody>
      </p:sp>
      <p:sp>
        <p:nvSpPr>
          <p:cNvPr id="3" name="Subtitle 2"/>
          <p:cNvSpPr>
            <a:spLocks noGrp="1"/>
          </p:cNvSpPr>
          <p:nvPr>
            <p:ph type="subTitle" idx="1"/>
          </p:nvPr>
        </p:nvSpPr>
        <p:spPr>
          <a:xfrm>
            <a:off x="914400" y="4572000"/>
            <a:ext cx="7772400" cy="1219200"/>
          </a:xfrm>
        </p:spPr>
        <p:txBody>
          <a:bodyPr>
            <a:normAutofit lnSpcReduction="10000"/>
          </a:bodyPr>
          <a:lstStyle/>
          <a:p>
            <a:pPr algn="l"/>
            <a:r>
              <a:rPr lang="en-US" sz="2400" dirty="0"/>
              <a:t>Demo: </a:t>
            </a:r>
          </a:p>
          <a:p>
            <a:pPr algn="l"/>
            <a:r>
              <a:rPr lang="en-US" sz="2400" dirty="0"/>
              <a:t>https://user.ceng.metu.edu.tr/~akifakkus/courses/ceng574/k-means/</a:t>
            </a:r>
          </a:p>
        </p:txBody>
      </p:sp>
    </p:spTree>
    <p:extLst>
      <p:ext uri="{BB962C8B-B14F-4D97-AF65-F5344CB8AC3E}">
        <p14:creationId xmlns:p14="http://schemas.microsoft.com/office/powerpoint/2010/main" val="2675763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51B5-0302-EF30-DC51-64998E1863EE}"/>
              </a:ext>
            </a:extLst>
          </p:cNvPr>
          <p:cNvSpPr>
            <a:spLocks noGrp="1"/>
          </p:cNvSpPr>
          <p:nvPr>
            <p:ph type="title"/>
          </p:nvPr>
        </p:nvSpPr>
        <p:spPr/>
        <p:txBody>
          <a:bodyPr>
            <a:normAutofit/>
          </a:bodyPr>
          <a:lstStyle/>
          <a:p>
            <a:r>
              <a:rPr lang="en-CA" b="0" i="0" dirty="0">
                <a:solidFill>
                  <a:srgbClr val="222222"/>
                </a:solidFill>
                <a:effectLst/>
                <a:latin typeface="Lato" panose="020F0502020204030203" pitchFamily="34" charset="0"/>
              </a:rPr>
              <a:t>What Is K-Means Clustering?</a:t>
            </a:r>
            <a:endParaRPr lang="en-CA" dirty="0"/>
          </a:p>
        </p:txBody>
      </p:sp>
      <p:sp>
        <p:nvSpPr>
          <p:cNvPr id="3" name="Content Placeholder 2">
            <a:extLst>
              <a:ext uri="{FF2B5EF4-FFF2-40B4-BE49-F238E27FC236}">
                <a16:creationId xmlns:a16="http://schemas.microsoft.com/office/drawing/2014/main" id="{7F01E1AE-6F5B-CE5D-0EF1-C3C109CEF834}"/>
              </a:ext>
            </a:extLst>
          </p:cNvPr>
          <p:cNvSpPr>
            <a:spLocks noGrp="1"/>
          </p:cNvSpPr>
          <p:nvPr>
            <p:ph idx="1"/>
          </p:nvPr>
        </p:nvSpPr>
        <p:spPr/>
        <p:txBody>
          <a:bodyPr>
            <a:normAutofit fontScale="92500" lnSpcReduction="10000"/>
          </a:bodyPr>
          <a:lstStyle/>
          <a:p>
            <a:pPr>
              <a:lnSpc>
                <a:spcPct val="110000"/>
              </a:lnSpc>
            </a:pPr>
            <a:r>
              <a:rPr lang="en-US" sz="2400" b="0" i="0" dirty="0">
                <a:solidFill>
                  <a:srgbClr val="222222"/>
                </a:solidFill>
                <a:effectLst/>
                <a:latin typeface="Lato" panose="020F0502020204030203" pitchFamily="34" charset="0"/>
              </a:rPr>
              <a:t>K-means clustering is a method for grouping </a:t>
            </a:r>
            <a:r>
              <a:rPr lang="en-US" sz="2400" b="0" i="0" dirty="0">
                <a:solidFill>
                  <a:srgbClr val="FF0000"/>
                </a:solidFill>
                <a:effectLst/>
                <a:latin typeface="Lato" panose="020F0502020204030203" pitchFamily="34" charset="0"/>
              </a:rPr>
              <a:t>n</a:t>
            </a:r>
            <a:r>
              <a:rPr lang="en-US" sz="2400" b="0" i="0" dirty="0">
                <a:solidFill>
                  <a:srgbClr val="222222"/>
                </a:solidFill>
                <a:effectLst/>
                <a:latin typeface="Lato" panose="020F0502020204030203" pitchFamily="34" charset="0"/>
              </a:rPr>
              <a:t> observations into </a:t>
            </a:r>
            <a:r>
              <a:rPr lang="en-US" sz="2400" b="0" i="0" dirty="0">
                <a:solidFill>
                  <a:srgbClr val="FF0000"/>
                </a:solidFill>
                <a:effectLst/>
                <a:latin typeface="Lato" panose="020F0502020204030203" pitchFamily="34" charset="0"/>
              </a:rPr>
              <a:t>K</a:t>
            </a:r>
            <a:r>
              <a:rPr lang="en-US" sz="2400" b="0" i="0" dirty="0">
                <a:solidFill>
                  <a:srgbClr val="222222"/>
                </a:solidFill>
                <a:effectLst/>
                <a:latin typeface="Lato" panose="020F0502020204030203" pitchFamily="34" charset="0"/>
              </a:rPr>
              <a:t> clusters. </a:t>
            </a:r>
          </a:p>
          <a:p>
            <a:pPr>
              <a:lnSpc>
                <a:spcPct val="110000"/>
              </a:lnSpc>
            </a:pPr>
            <a:r>
              <a:rPr lang="en-US" sz="2400" b="0" i="0" dirty="0">
                <a:solidFill>
                  <a:srgbClr val="222222"/>
                </a:solidFill>
                <a:effectLst/>
                <a:latin typeface="Lato" panose="020F0502020204030203" pitchFamily="34" charset="0"/>
              </a:rPr>
              <a:t>It uses vector quantization and aims to assign each observation to the cluster with the nearest mean or centroid, which serves as a prototype for the cluster. </a:t>
            </a:r>
          </a:p>
          <a:p>
            <a:pPr>
              <a:lnSpc>
                <a:spcPct val="110000"/>
              </a:lnSpc>
            </a:pPr>
            <a:r>
              <a:rPr lang="en-US" sz="2400" b="0" i="0" dirty="0">
                <a:solidFill>
                  <a:srgbClr val="222222"/>
                </a:solidFill>
                <a:effectLst/>
                <a:latin typeface="Lato" panose="020F0502020204030203" pitchFamily="34" charset="0"/>
              </a:rPr>
              <a:t>Originally developed for </a:t>
            </a:r>
            <a:r>
              <a:rPr lang="en-US" sz="2400" b="1" i="0" dirty="0">
                <a:solidFill>
                  <a:srgbClr val="222222"/>
                </a:solidFill>
                <a:effectLst/>
                <a:latin typeface="Lato" panose="020F0502020204030203" pitchFamily="34" charset="0"/>
              </a:rPr>
              <a:t>signal processing</a:t>
            </a:r>
            <a:r>
              <a:rPr lang="en-US" sz="2400" b="0" i="0" dirty="0">
                <a:solidFill>
                  <a:srgbClr val="222222"/>
                </a:solidFill>
                <a:effectLst/>
                <a:latin typeface="Lato" panose="020F0502020204030203" pitchFamily="34" charset="0"/>
              </a:rPr>
              <a:t>, K-means clustering is now widely used in </a:t>
            </a:r>
            <a:r>
              <a:rPr lang="en-US" sz="2400" b="1" i="0" dirty="0">
                <a:solidFill>
                  <a:srgbClr val="222222"/>
                </a:solidFill>
                <a:effectLst/>
                <a:latin typeface="Lato" panose="020F0502020204030203" pitchFamily="34" charset="0"/>
              </a:rPr>
              <a:t>machine learning </a:t>
            </a:r>
            <a:r>
              <a:rPr lang="en-US" sz="2400" b="0" i="0" dirty="0">
                <a:solidFill>
                  <a:srgbClr val="222222"/>
                </a:solidFill>
                <a:effectLst/>
                <a:latin typeface="Lato" panose="020F0502020204030203" pitchFamily="34" charset="0"/>
              </a:rPr>
              <a:t>to partition data points into </a:t>
            </a:r>
            <a:r>
              <a:rPr lang="en-US" sz="2400" b="1" i="0" dirty="0">
                <a:solidFill>
                  <a:srgbClr val="222222"/>
                </a:solidFill>
                <a:effectLst/>
                <a:latin typeface="Lato" panose="020F0502020204030203" pitchFamily="34" charset="0"/>
              </a:rPr>
              <a:t>K</a:t>
            </a:r>
            <a:r>
              <a:rPr lang="en-US" sz="2400" b="0" i="0" dirty="0">
                <a:solidFill>
                  <a:srgbClr val="222222"/>
                </a:solidFill>
                <a:effectLst/>
                <a:latin typeface="Lato" panose="020F0502020204030203" pitchFamily="34" charset="0"/>
              </a:rPr>
              <a:t> clusters based on their similarity. </a:t>
            </a:r>
          </a:p>
          <a:p>
            <a:pPr>
              <a:lnSpc>
                <a:spcPct val="110000"/>
              </a:lnSpc>
            </a:pPr>
            <a:r>
              <a:rPr lang="en-US" sz="2400" b="0" i="0" dirty="0">
                <a:solidFill>
                  <a:srgbClr val="222222"/>
                </a:solidFill>
                <a:effectLst/>
                <a:latin typeface="Lato" panose="020F0502020204030203" pitchFamily="34" charset="0"/>
              </a:rPr>
              <a:t>The goal is to minimize </a:t>
            </a:r>
            <a:r>
              <a:rPr lang="en-US" sz="2400" b="1" i="0" dirty="0">
                <a:solidFill>
                  <a:srgbClr val="222222"/>
                </a:solidFill>
                <a:effectLst/>
                <a:latin typeface="Lato" panose="020F0502020204030203" pitchFamily="34" charset="0"/>
              </a:rPr>
              <a:t>the sum of squared distances </a:t>
            </a:r>
            <a:r>
              <a:rPr lang="en-US" sz="2400" b="0" i="0" dirty="0">
                <a:solidFill>
                  <a:srgbClr val="222222"/>
                </a:solidFill>
                <a:effectLst/>
                <a:latin typeface="Lato" panose="020F0502020204030203" pitchFamily="34" charset="0"/>
              </a:rPr>
              <a:t>between the data points and their corresponding cluster centroids, resulting in clusters that are internally homogeneous and distinct from each other.</a:t>
            </a:r>
            <a:endParaRPr lang="en-CA" sz="2400" dirty="0"/>
          </a:p>
        </p:txBody>
      </p:sp>
    </p:spTree>
    <p:extLst>
      <p:ext uri="{BB962C8B-B14F-4D97-AF65-F5344CB8AC3E}">
        <p14:creationId xmlns:p14="http://schemas.microsoft.com/office/powerpoint/2010/main" val="2558787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lstStyle/>
          <a:p>
            <a:r>
              <a:rPr lang="en-US" dirty="0"/>
              <a:t>Strengths</a:t>
            </a:r>
          </a:p>
          <a:p>
            <a:pPr lvl="1"/>
            <a:r>
              <a:rPr lang="en-US" dirty="0"/>
              <a:t>Simple iterative method</a:t>
            </a:r>
          </a:p>
          <a:p>
            <a:pPr lvl="1"/>
            <a:r>
              <a:rPr lang="en-US" dirty="0"/>
              <a:t>User provides “K”</a:t>
            </a:r>
          </a:p>
          <a:p>
            <a:r>
              <a:rPr lang="en-US" dirty="0"/>
              <a:t>Weaknesses</a:t>
            </a:r>
          </a:p>
          <a:p>
            <a:pPr lvl="1"/>
            <a:r>
              <a:rPr lang="en-US" dirty="0"/>
              <a:t>Often too simple </a:t>
            </a:r>
            <a:r>
              <a:rPr lang="en-US" dirty="0">
                <a:sym typeface="Wingdings" panose="05000000000000000000" pitchFamily="2" charset="2"/>
              </a:rPr>
              <a:t> bad results</a:t>
            </a:r>
          </a:p>
          <a:p>
            <a:pPr lvl="1"/>
            <a:r>
              <a:rPr lang="en-US" dirty="0">
                <a:sym typeface="Wingdings" panose="05000000000000000000" pitchFamily="2" charset="2"/>
              </a:rPr>
              <a:t>Difficult to guess the correct “K”</a:t>
            </a:r>
          </a:p>
          <a:p>
            <a:pPr lvl="1"/>
            <a:endParaRPr lang="en-US" dirty="0">
              <a:sym typeface="Wingdings" panose="05000000000000000000" pitchFamily="2" charset="2"/>
            </a:endParaRPr>
          </a:p>
          <a:p>
            <a:pPr lvl="1"/>
            <a:endParaRPr lang="en-US" dirty="0"/>
          </a:p>
        </p:txBody>
      </p:sp>
    </p:spTree>
    <p:extLst>
      <p:ext uri="{BB962C8B-B14F-4D97-AF65-F5344CB8AC3E}">
        <p14:creationId xmlns:p14="http://schemas.microsoft.com/office/powerpoint/2010/main" val="1424941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a:t>K-means Clustering</a:t>
            </a:r>
          </a:p>
        </p:txBody>
      </p:sp>
      <p:sp>
        <p:nvSpPr>
          <p:cNvPr id="3" name="Content Placeholder 2"/>
          <p:cNvSpPr>
            <a:spLocks noGrp="1"/>
          </p:cNvSpPr>
          <p:nvPr>
            <p:ph idx="1"/>
          </p:nvPr>
        </p:nvSpPr>
        <p:spPr/>
        <p:txBody>
          <a:bodyPr/>
          <a:lstStyle/>
          <a:p>
            <a:pPr marL="0" indent="0">
              <a:buNone/>
            </a:pPr>
            <a:r>
              <a:rPr lang="en-US" dirty="0"/>
              <a:t>Basic Algorithm:</a:t>
            </a:r>
          </a:p>
          <a:p>
            <a:r>
              <a:rPr lang="en-US" dirty="0"/>
              <a:t>Step 0: select K</a:t>
            </a:r>
          </a:p>
          <a:p>
            <a:r>
              <a:rPr lang="en-US" dirty="0"/>
              <a:t>Step 1: randomly select initial cluster seeds</a:t>
            </a:r>
          </a:p>
        </p:txBody>
      </p:sp>
      <p:graphicFrame>
        <p:nvGraphicFramePr>
          <p:cNvPr id="4" name="Object 3"/>
          <p:cNvGraphicFramePr>
            <a:graphicFrameLocks noChangeAspect="1"/>
          </p:cNvGraphicFramePr>
          <p:nvPr>
            <p:extLst>
              <p:ext uri="{D42A27DB-BD31-4B8C-83A1-F6EECF244321}">
                <p14:modId xmlns:p14="http://schemas.microsoft.com/office/powerpoint/2010/main" val="2669240720"/>
              </p:ext>
            </p:extLst>
          </p:nvPr>
        </p:nvGraphicFramePr>
        <p:xfrm>
          <a:off x="2057400" y="3276600"/>
          <a:ext cx="3581400" cy="3581400"/>
        </p:xfrm>
        <a:graphic>
          <a:graphicData uri="http://schemas.openxmlformats.org/presentationml/2006/ole">
            <mc:AlternateContent xmlns:mc="http://schemas.openxmlformats.org/markup-compatibility/2006">
              <mc:Choice xmlns:v="urn:schemas-microsoft-com:vml" Requires="v">
                <p:oleObj name="Acrobat Document" r:id="rId2" imgW="4114665" imgH="4114800" progId="AcroExch.Document.7">
                  <p:embed/>
                </p:oleObj>
              </mc:Choice>
              <mc:Fallback>
                <p:oleObj name="Acrobat Document" r:id="rId2" imgW="4114665" imgH="4114800" progId="AcroExch.Document.7">
                  <p:embed/>
                  <p:pic>
                    <p:nvPicPr>
                      <p:cNvPr id="0" name=""/>
                      <p:cNvPicPr/>
                      <p:nvPr/>
                    </p:nvPicPr>
                    <p:blipFill>
                      <a:blip r:embed="rId3"/>
                      <a:stretch>
                        <a:fillRect/>
                      </a:stretch>
                    </p:blipFill>
                    <p:spPr>
                      <a:xfrm>
                        <a:off x="2057400" y="3276600"/>
                        <a:ext cx="3581400" cy="3581400"/>
                      </a:xfrm>
                      <a:prstGeom prst="rect">
                        <a:avLst/>
                      </a:prstGeom>
                    </p:spPr>
                  </p:pic>
                </p:oleObj>
              </mc:Fallback>
            </mc:AlternateContent>
          </a:graphicData>
        </a:graphic>
      </p:graphicFrame>
      <p:grpSp>
        <p:nvGrpSpPr>
          <p:cNvPr id="10" name="Group 9"/>
          <p:cNvGrpSpPr/>
          <p:nvPr/>
        </p:nvGrpSpPr>
        <p:grpSpPr>
          <a:xfrm>
            <a:off x="5410200" y="3516868"/>
            <a:ext cx="2743200" cy="2121932"/>
            <a:chOff x="5410200" y="3516868"/>
            <a:chExt cx="2743200" cy="2121932"/>
          </a:xfrm>
        </p:grpSpPr>
        <p:cxnSp>
          <p:nvCxnSpPr>
            <p:cNvPr id="6" name="Straight Arrow Connector 5"/>
            <p:cNvCxnSpPr/>
            <p:nvPr/>
          </p:nvCxnSpPr>
          <p:spPr>
            <a:xfrm flipH="1">
              <a:off x="5410200" y="3657600"/>
              <a:ext cx="1676400" cy="9906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5410200" y="4648200"/>
              <a:ext cx="1676400" cy="9906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162800" y="3516868"/>
              <a:ext cx="990600" cy="646331"/>
            </a:xfrm>
            <a:prstGeom prst="rect">
              <a:avLst/>
            </a:prstGeom>
            <a:noFill/>
          </p:spPr>
          <p:txBody>
            <a:bodyPr wrap="square" rtlCol="0">
              <a:spAutoFit/>
            </a:bodyPr>
            <a:lstStyle/>
            <a:p>
              <a:r>
                <a:rPr lang="en-US" dirty="0"/>
                <a:t>Seed 1 650</a:t>
              </a:r>
            </a:p>
          </p:txBody>
        </p:sp>
        <p:sp>
          <p:nvSpPr>
            <p:cNvPr id="9" name="TextBox 8"/>
            <p:cNvSpPr txBox="1"/>
            <p:nvPr/>
          </p:nvSpPr>
          <p:spPr>
            <a:xfrm>
              <a:off x="7162800" y="4507468"/>
              <a:ext cx="990600" cy="646331"/>
            </a:xfrm>
            <a:prstGeom prst="rect">
              <a:avLst/>
            </a:prstGeom>
            <a:noFill/>
          </p:spPr>
          <p:txBody>
            <a:bodyPr wrap="square" rtlCol="0">
              <a:spAutoFit/>
            </a:bodyPr>
            <a:lstStyle/>
            <a:p>
              <a:r>
                <a:rPr lang="en-US" dirty="0"/>
                <a:t>Seed 2 200</a:t>
              </a:r>
            </a:p>
          </p:txBody>
        </p:sp>
      </p:grpSp>
    </p:spTree>
    <p:extLst>
      <p:ext uri="{BB962C8B-B14F-4D97-AF65-F5344CB8AC3E}">
        <p14:creationId xmlns:p14="http://schemas.microsoft.com/office/powerpoint/2010/main" val="141045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lstStyle/>
          <a:p>
            <a:r>
              <a:rPr lang="en-US" dirty="0"/>
              <a:t>An initial cluster seed represents the “mean value” of its cluster.</a:t>
            </a:r>
          </a:p>
          <a:p>
            <a:r>
              <a:rPr lang="en-US" dirty="0"/>
              <a:t>In the preceding figure:</a:t>
            </a:r>
          </a:p>
          <a:p>
            <a:pPr lvl="1"/>
            <a:r>
              <a:rPr lang="en-US" dirty="0"/>
              <a:t>Cluster seed 1 = 650</a:t>
            </a:r>
          </a:p>
          <a:p>
            <a:pPr lvl="1"/>
            <a:r>
              <a:rPr lang="en-US" dirty="0"/>
              <a:t>Cluster seed 2 = 200</a:t>
            </a:r>
          </a:p>
        </p:txBody>
      </p:sp>
    </p:spTree>
    <p:extLst>
      <p:ext uri="{BB962C8B-B14F-4D97-AF65-F5344CB8AC3E}">
        <p14:creationId xmlns:p14="http://schemas.microsoft.com/office/powerpoint/2010/main" val="299301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lstStyle/>
          <a:p>
            <a:r>
              <a:rPr lang="en-US" dirty="0"/>
              <a:t>Step 2: calculate distance from each object to each cluster seed.</a:t>
            </a:r>
          </a:p>
          <a:p>
            <a:r>
              <a:rPr lang="en-US" dirty="0"/>
              <a:t>What type of distance should we use?</a:t>
            </a:r>
          </a:p>
          <a:p>
            <a:pPr lvl="1"/>
            <a:r>
              <a:rPr lang="en-US" dirty="0"/>
              <a:t>Squared Euclidean distance</a:t>
            </a:r>
          </a:p>
          <a:p>
            <a:endParaRPr lang="en-US" dirty="0"/>
          </a:p>
          <a:p>
            <a:r>
              <a:rPr lang="en-US" dirty="0"/>
              <a:t>Step 3: Assign each object to the closest cluster</a:t>
            </a:r>
          </a:p>
        </p:txBody>
      </p:sp>
    </p:spTree>
    <p:extLst>
      <p:ext uri="{BB962C8B-B14F-4D97-AF65-F5344CB8AC3E}">
        <p14:creationId xmlns:p14="http://schemas.microsoft.com/office/powerpoint/2010/main" val="210929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170329727"/>
              </p:ext>
            </p:extLst>
          </p:nvPr>
        </p:nvGraphicFramePr>
        <p:xfrm>
          <a:off x="152400" y="1096964"/>
          <a:ext cx="5791200" cy="5791200"/>
        </p:xfrm>
        <a:graphic>
          <a:graphicData uri="http://schemas.openxmlformats.org/presentationml/2006/ole">
            <mc:AlternateContent xmlns:mc="http://schemas.openxmlformats.org/markup-compatibility/2006">
              <mc:Choice xmlns:v="urn:schemas-microsoft-com:vml" Requires="v">
                <p:oleObj name="Acrobat Document" r:id="rId2" imgW="4114665" imgH="4114800" progId="AcroExch.Document.7">
                  <p:embed/>
                </p:oleObj>
              </mc:Choice>
              <mc:Fallback>
                <p:oleObj name="Acrobat Document" r:id="rId2" imgW="4114665" imgH="4114800" progId="AcroExch.Document.7">
                  <p:embed/>
                  <p:pic>
                    <p:nvPicPr>
                      <p:cNvPr id="0" name=""/>
                      <p:cNvPicPr/>
                      <p:nvPr/>
                    </p:nvPicPr>
                    <p:blipFill>
                      <a:blip r:embed="rId3"/>
                      <a:stretch>
                        <a:fillRect/>
                      </a:stretch>
                    </p:blipFill>
                    <p:spPr>
                      <a:xfrm>
                        <a:off x="152400" y="1096964"/>
                        <a:ext cx="5791200" cy="5791200"/>
                      </a:xfrm>
                      <a:prstGeom prst="rect">
                        <a:avLst/>
                      </a:prstGeom>
                    </p:spPr>
                  </p:pic>
                </p:oleObj>
              </mc:Fallback>
            </mc:AlternateContent>
          </a:graphicData>
        </a:graphic>
      </p:graphicFrame>
      <p:cxnSp>
        <p:nvCxnSpPr>
          <p:cNvPr id="8" name="Straight Arrow Connector 7"/>
          <p:cNvCxnSpPr/>
          <p:nvPr/>
        </p:nvCxnSpPr>
        <p:spPr>
          <a:xfrm flipH="1">
            <a:off x="5638800" y="2286000"/>
            <a:ext cx="1524000" cy="10668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200900" y="2057400"/>
            <a:ext cx="876300" cy="369332"/>
          </a:xfrm>
          <a:prstGeom prst="rect">
            <a:avLst/>
          </a:prstGeom>
          <a:noFill/>
        </p:spPr>
        <p:txBody>
          <a:bodyPr wrap="square" rtlCol="0">
            <a:spAutoFit/>
          </a:bodyPr>
          <a:lstStyle/>
          <a:p>
            <a:r>
              <a:rPr lang="en-US" dirty="0"/>
              <a:t>Seed 1</a:t>
            </a:r>
          </a:p>
        </p:txBody>
      </p:sp>
      <p:cxnSp>
        <p:nvCxnSpPr>
          <p:cNvPr id="10" name="Straight Arrow Connector 9"/>
          <p:cNvCxnSpPr/>
          <p:nvPr/>
        </p:nvCxnSpPr>
        <p:spPr>
          <a:xfrm flipH="1">
            <a:off x="5638800" y="3886200"/>
            <a:ext cx="1524000" cy="10668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200900" y="3657600"/>
            <a:ext cx="876300" cy="369332"/>
          </a:xfrm>
          <a:prstGeom prst="rect">
            <a:avLst/>
          </a:prstGeom>
          <a:noFill/>
        </p:spPr>
        <p:txBody>
          <a:bodyPr wrap="square" rtlCol="0">
            <a:spAutoFit/>
          </a:bodyPr>
          <a:lstStyle/>
          <a:p>
            <a:r>
              <a:rPr lang="en-US" dirty="0"/>
              <a:t>Seed 2</a:t>
            </a:r>
          </a:p>
        </p:txBody>
      </p:sp>
    </p:spTree>
    <p:extLst>
      <p:ext uri="{BB962C8B-B14F-4D97-AF65-F5344CB8AC3E}">
        <p14:creationId xmlns:p14="http://schemas.microsoft.com/office/powerpoint/2010/main" val="4247815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lstStyle/>
          <a:p>
            <a:r>
              <a:rPr lang="en-US" dirty="0"/>
              <a:t>Step 4: Compute the new centroid for each cluster</a:t>
            </a:r>
          </a:p>
        </p:txBody>
      </p:sp>
      <p:graphicFrame>
        <p:nvGraphicFramePr>
          <p:cNvPr id="4" name="Object 3"/>
          <p:cNvGraphicFramePr>
            <a:graphicFrameLocks noChangeAspect="1"/>
          </p:cNvGraphicFramePr>
          <p:nvPr>
            <p:extLst>
              <p:ext uri="{D42A27DB-BD31-4B8C-83A1-F6EECF244321}">
                <p14:modId xmlns:p14="http://schemas.microsoft.com/office/powerpoint/2010/main" val="1773010596"/>
              </p:ext>
            </p:extLst>
          </p:nvPr>
        </p:nvGraphicFramePr>
        <p:xfrm>
          <a:off x="2133600" y="2133600"/>
          <a:ext cx="4724400" cy="4724400"/>
        </p:xfrm>
        <a:graphic>
          <a:graphicData uri="http://schemas.openxmlformats.org/presentationml/2006/ole">
            <mc:AlternateContent xmlns:mc="http://schemas.openxmlformats.org/markup-compatibility/2006">
              <mc:Choice xmlns:v="urn:schemas-microsoft-com:vml" Requires="v">
                <p:oleObj name="Acrobat Document" r:id="rId2" imgW="4114665" imgH="4114800" progId="AcroExch.Document.7">
                  <p:embed/>
                </p:oleObj>
              </mc:Choice>
              <mc:Fallback>
                <p:oleObj name="Acrobat Document" r:id="rId2" imgW="4114665" imgH="4114800" progId="AcroExch.Document.7">
                  <p:embed/>
                  <p:pic>
                    <p:nvPicPr>
                      <p:cNvPr id="0" name=""/>
                      <p:cNvPicPr/>
                      <p:nvPr/>
                    </p:nvPicPr>
                    <p:blipFill>
                      <a:blip r:embed="rId3"/>
                      <a:stretch>
                        <a:fillRect/>
                      </a:stretch>
                    </p:blipFill>
                    <p:spPr>
                      <a:xfrm>
                        <a:off x="2133600" y="2133600"/>
                        <a:ext cx="4724400" cy="4724400"/>
                      </a:xfrm>
                      <a:prstGeom prst="rect">
                        <a:avLst/>
                      </a:prstGeom>
                    </p:spPr>
                  </p:pic>
                </p:oleObj>
              </mc:Fallback>
            </mc:AlternateContent>
          </a:graphicData>
        </a:graphic>
      </p:graphicFrame>
      <p:cxnSp>
        <p:nvCxnSpPr>
          <p:cNvPr id="6" name="Straight Arrow Connector 5"/>
          <p:cNvCxnSpPr/>
          <p:nvPr/>
        </p:nvCxnSpPr>
        <p:spPr>
          <a:xfrm flipH="1">
            <a:off x="6629400" y="2895600"/>
            <a:ext cx="990600" cy="8382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620000" y="2590800"/>
            <a:ext cx="1676400" cy="646331"/>
          </a:xfrm>
          <a:prstGeom prst="rect">
            <a:avLst/>
          </a:prstGeom>
          <a:noFill/>
        </p:spPr>
        <p:txBody>
          <a:bodyPr wrap="square" rtlCol="0">
            <a:spAutoFit/>
          </a:bodyPr>
          <a:lstStyle/>
          <a:p>
            <a:r>
              <a:rPr lang="en-US" dirty="0"/>
              <a:t>Cluster Seed 1 708.9</a:t>
            </a:r>
          </a:p>
        </p:txBody>
      </p:sp>
      <p:cxnSp>
        <p:nvCxnSpPr>
          <p:cNvPr id="8" name="Straight Arrow Connector 7"/>
          <p:cNvCxnSpPr/>
          <p:nvPr/>
        </p:nvCxnSpPr>
        <p:spPr>
          <a:xfrm flipH="1">
            <a:off x="6629400" y="4419600"/>
            <a:ext cx="990600" cy="838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620000" y="4114800"/>
            <a:ext cx="1676400" cy="646331"/>
          </a:xfrm>
          <a:prstGeom prst="rect">
            <a:avLst/>
          </a:prstGeom>
          <a:noFill/>
        </p:spPr>
        <p:txBody>
          <a:bodyPr wrap="square" rtlCol="0">
            <a:spAutoFit/>
          </a:bodyPr>
          <a:lstStyle/>
          <a:p>
            <a:r>
              <a:rPr lang="en-US" dirty="0"/>
              <a:t>Cluster Seed 2 214.2</a:t>
            </a:r>
          </a:p>
        </p:txBody>
      </p:sp>
    </p:spTree>
    <p:extLst>
      <p:ext uri="{BB962C8B-B14F-4D97-AF65-F5344CB8AC3E}">
        <p14:creationId xmlns:p14="http://schemas.microsoft.com/office/powerpoint/2010/main" val="1268971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normAutofit fontScale="92500"/>
          </a:bodyPr>
          <a:lstStyle/>
          <a:p>
            <a:r>
              <a:rPr lang="en-US" dirty="0"/>
              <a:t>Iterate:</a:t>
            </a:r>
          </a:p>
          <a:p>
            <a:pPr lvl="1"/>
            <a:r>
              <a:rPr lang="en-US" dirty="0"/>
              <a:t>Calculate distance from objects to cluster centroids.</a:t>
            </a:r>
          </a:p>
          <a:p>
            <a:pPr lvl="1"/>
            <a:r>
              <a:rPr lang="en-US" dirty="0"/>
              <a:t>Assign objects to closest cluster</a:t>
            </a:r>
          </a:p>
          <a:p>
            <a:pPr lvl="1"/>
            <a:r>
              <a:rPr lang="en-US" dirty="0"/>
              <a:t>Recalculate new centroids</a:t>
            </a:r>
          </a:p>
          <a:p>
            <a:pPr lvl="2"/>
            <a:r>
              <a:rPr lang="en-US" dirty="0"/>
              <a:t>the mean of all the variables within the cluster</a:t>
            </a:r>
          </a:p>
          <a:p>
            <a:r>
              <a:rPr lang="en-US" dirty="0"/>
              <a:t>Stop based on convergence criteria</a:t>
            </a:r>
          </a:p>
          <a:p>
            <a:pPr lvl="1"/>
            <a:r>
              <a:rPr lang="en-US" dirty="0"/>
              <a:t>Centroids of newly formed clusters do not change</a:t>
            </a:r>
          </a:p>
          <a:p>
            <a:pPr lvl="1"/>
            <a:r>
              <a:rPr lang="en-US" dirty="0"/>
              <a:t>Points remain in the same cluster</a:t>
            </a:r>
          </a:p>
          <a:p>
            <a:pPr lvl="1"/>
            <a:r>
              <a:rPr lang="en-US" dirty="0"/>
              <a:t>Maximum number of iterations is reached</a:t>
            </a:r>
          </a:p>
          <a:p>
            <a:pPr marL="457200" lvl="1" indent="0">
              <a:buNone/>
            </a:pPr>
            <a:endParaRPr lang="en-US" dirty="0"/>
          </a:p>
        </p:txBody>
      </p:sp>
    </p:spTree>
    <p:extLst>
      <p:ext uri="{BB962C8B-B14F-4D97-AF65-F5344CB8AC3E}">
        <p14:creationId xmlns:p14="http://schemas.microsoft.com/office/powerpoint/2010/main" val="98837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Issues</a:t>
            </a:r>
          </a:p>
        </p:txBody>
      </p:sp>
      <p:sp>
        <p:nvSpPr>
          <p:cNvPr id="3" name="Content Placeholder 2"/>
          <p:cNvSpPr>
            <a:spLocks noGrp="1"/>
          </p:cNvSpPr>
          <p:nvPr>
            <p:ph idx="1"/>
          </p:nvPr>
        </p:nvSpPr>
        <p:spPr/>
        <p:txBody>
          <a:bodyPr/>
          <a:lstStyle/>
          <a:p>
            <a:r>
              <a:rPr lang="en-US" dirty="0"/>
              <a:t>Distance measure is squared Euclidean</a:t>
            </a:r>
          </a:p>
          <a:p>
            <a:pPr lvl="1"/>
            <a:r>
              <a:rPr lang="en-US" dirty="0"/>
              <a:t>Scale should be similar in all dimensions</a:t>
            </a:r>
          </a:p>
          <a:p>
            <a:pPr lvl="2"/>
            <a:r>
              <a:rPr lang="en-US" dirty="0"/>
              <a:t>Rescale data?</a:t>
            </a:r>
          </a:p>
          <a:p>
            <a:pPr lvl="1"/>
            <a:r>
              <a:rPr lang="en-US" dirty="0"/>
              <a:t>Not good for nominal data. Why?</a:t>
            </a:r>
          </a:p>
          <a:p>
            <a:r>
              <a:rPr lang="en-US" dirty="0"/>
              <a:t>Approach tries to minimize the within-cluster sum of squared error (WCSS)</a:t>
            </a:r>
          </a:p>
          <a:p>
            <a:pPr lvl="1"/>
            <a:r>
              <a:rPr lang="en-US" dirty="0"/>
              <a:t>Implicit assumption that SSE is  similar for each group</a:t>
            </a:r>
          </a:p>
        </p:txBody>
      </p:sp>
    </p:spTree>
    <p:extLst>
      <p:ext uri="{BB962C8B-B14F-4D97-AF65-F5344CB8AC3E}">
        <p14:creationId xmlns:p14="http://schemas.microsoft.com/office/powerpoint/2010/main" val="138442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WCSS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over all WCSS is given by: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nary>
                          <m:naryPr>
                            <m:chr m:val="∑"/>
                            <m:supHide m:val="on"/>
                            <m:ctrlPr>
                              <a:rPr lang="en-US" i="1" smtClean="0">
                                <a:latin typeface="Cambria Math" panose="02040503050406030204" pitchFamily="18" charset="0"/>
                              </a:rPr>
                            </m:ctrlPr>
                          </m:naryPr>
                          <m:sub>
                            <m:r>
                              <m:rPr>
                                <m:brk m:alnAt="7"/>
                              </m:rPr>
                              <a:rPr lang="en-US" b="0" i="1" smtClean="0">
                                <a:latin typeface="Cambria Math"/>
                              </a:rPr>
                              <m:t>𝑥</m:t>
                            </m:r>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𝐶</m:t>
                                </m:r>
                              </m:e>
                              <m:sub>
                                <m:r>
                                  <a:rPr lang="en-US" b="0" i="1" smtClean="0">
                                    <a:latin typeface="Cambria Math"/>
                                    <a:ea typeface="Cambria Math"/>
                                  </a:rPr>
                                  <m:t>𝑖</m:t>
                                </m:r>
                              </m:sub>
                            </m:sSub>
                          </m:sub>
                          <m:sup/>
                          <m:e>
                            <m:sSup>
                              <m:sSupPr>
                                <m:ctrlPr>
                                  <a:rPr lang="en-US"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r>
                                      <a:rPr lang="en-US" b="0" i="1" smtClean="0">
                                        <a:latin typeface="Cambria Math"/>
                                      </a:rPr>
                                      <m:t>𝑥</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ea typeface="Cambria Math"/>
                                          </a:rPr>
                                          <m:t>𝜇</m:t>
                                        </m:r>
                                      </m:e>
                                      <m:sub>
                                        <m:r>
                                          <a:rPr lang="en-US" b="0" i="1" smtClean="0">
                                            <a:latin typeface="Cambria Math"/>
                                          </a:rPr>
                                          <m:t>𝑖</m:t>
                                        </m:r>
                                      </m:sub>
                                    </m:sSub>
                                  </m:e>
                                </m:d>
                              </m:e>
                              <m:sup>
                                <m:r>
                                  <a:rPr lang="en-US" b="0" i="1" smtClean="0">
                                    <a:latin typeface="Cambria Math"/>
                                  </a:rPr>
                                  <m:t>2</m:t>
                                </m:r>
                              </m:sup>
                            </m:sSup>
                          </m:e>
                        </m:nary>
                      </m:e>
                    </m:nary>
                  </m:oMath>
                </a14:m>
                <a:endParaRPr lang="en-US" dirty="0"/>
              </a:p>
              <a:p>
                <a:r>
                  <a:rPr lang="en-US" dirty="0"/>
                  <a:t>The goal is to find the smallest WCSS</a:t>
                </a:r>
              </a:p>
              <a:p>
                <a:r>
                  <a:rPr lang="en-US" dirty="0"/>
                  <a:t>Does this depend on the initial seed values?</a:t>
                </a:r>
              </a:p>
              <a:p>
                <a:r>
                  <a:rPr lang="en-US" dirty="0"/>
                  <a:t>Possibly.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52308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buFont typeface="Futura Bk" charset="0"/>
              <a:buNone/>
              <a:defRPr/>
            </a:pPr>
            <a:r>
              <a:rPr lang="en-US" dirty="0">
                <a:cs typeface="+mj-cs"/>
              </a:rPr>
              <a:t>To apply </a:t>
            </a:r>
            <a:r>
              <a:rPr lang="en-US" dirty="0" err="1">
                <a:cs typeface="+mj-cs"/>
              </a:rPr>
              <a:t>partitional</a:t>
            </a:r>
            <a:r>
              <a:rPr lang="en-US" dirty="0">
                <a:cs typeface="+mj-cs"/>
              </a:rPr>
              <a:t> clustering we need to:</a:t>
            </a:r>
          </a:p>
        </p:txBody>
      </p:sp>
      <p:sp>
        <p:nvSpPr>
          <p:cNvPr id="55299" name="Rectangle 3"/>
          <p:cNvSpPr txBox="1">
            <a:spLocks noChangeArrowheads="1"/>
          </p:cNvSpPr>
          <p:nvPr/>
        </p:nvSpPr>
        <p:spPr bwMode="auto">
          <a:xfrm>
            <a:off x="428625" y="1600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marL="342900" indent="-342900">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nSpc>
                <a:spcPct val="80000"/>
              </a:lnSpc>
              <a:spcBef>
                <a:spcPts val="1050"/>
              </a:spcBef>
              <a:spcAft>
                <a:spcPts val="350"/>
              </a:spcAft>
              <a:buClr>
                <a:schemeClr val="tx1"/>
              </a:buClr>
              <a:buSzPct val="75000"/>
              <a:buFont typeface="Wingdings" pitchFamily="2" charset="2"/>
              <a:buNone/>
            </a:pPr>
            <a:endParaRPr lang="en-US" altLang="en-US" sz="2800">
              <a:solidFill>
                <a:srgbClr val="000000"/>
              </a:solidFill>
            </a:endParaRPr>
          </a:p>
          <a:p>
            <a:pPr>
              <a:lnSpc>
                <a:spcPct val="80000"/>
              </a:lnSpc>
              <a:spcBef>
                <a:spcPts val="1050"/>
              </a:spcBef>
              <a:spcAft>
                <a:spcPts val="350"/>
              </a:spcAft>
              <a:buClr>
                <a:schemeClr val="tx1"/>
              </a:buClr>
              <a:buSzPct val="75000"/>
              <a:buFont typeface="Wingdings" pitchFamily="2" charset="2"/>
              <a:buChar char="§"/>
            </a:pPr>
            <a:r>
              <a:rPr lang="en-US" altLang="en-US" sz="2800">
                <a:solidFill>
                  <a:srgbClr val="000000"/>
                </a:solidFill>
              </a:rPr>
              <a:t>Select features to characterize the data</a:t>
            </a:r>
            <a:endParaRPr lang="en-US" altLang="en-US" sz="2800">
              <a:solidFill>
                <a:srgbClr val="0000FF"/>
              </a:solidFill>
            </a:endParaRPr>
          </a:p>
          <a:p>
            <a:pPr>
              <a:lnSpc>
                <a:spcPct val="80000"/>
              </a:lnSpc>
              <a:spcBef>
                <a:spcPts val="1050"/>
              </a:spcBef>
              <a:spcAft>
                <a:spcPts val="350"/>
              </a:spcAft>
              <a:buClr>
                <a:schemeClr val="tx1"/>
              </a:buClr>
              <a:buSzPct val="75000"/>
              <a:buFont typeface="Wingdings" pitchFamily="2" charset="2"/>
              <a:buChar char="§"/>
            </a:pPr>
            <a:endParaRPr lang="en-US" altLang="en-US" sz="2800">
              <a:solidFill>
                <a:srgbClr val="0000FF"/>
              </a:solidFill>
            </a:endParaRPr>
          </a:p>
          <a:p>
            <a:pPr>
              <a:lnSpc>
                <a:spcPct val="80000"/>
              </a:lnSpc>
              <a:spcBef>
                <a:spcPts val="1050"/>
              </a:spcBef>
              <a:spcAft>
                <a:spcPts val="350"/>
              </a:spcAft>
              <a:buClr>
                <a:schemeClr val="tx1"/>
              </a:buClr>
              <a:buSzPct val="75000"/>
              <a:buFont typeface="Wingdings" pitchFamily="2" charset="2"/>
              <a:buChar char="§"/>
            </a:pPr>
            <a:r>
              <a:rPr lang="en-US" altLang="en-US" sz="2800">
                <a:solidFill>
                  <a:srgbClr val="000000"/>
                </a:solidFill>
              </a:rPr>
              <a:t>Collect representative data</a:t>
            </a:r>
          </a:p>
          <a:p>
            <a:pPr>
              <a:lnSpc>
                <a:spcPct val="80000"/>
              </a:lnSpc>
              <a:spcBef>
                <a:spcPts val="1050"/>
              </a:spcBef>
              <a:spcAft>
                <a:spcPts val="350"/>
              </a:spcAft>
              <a:buClr>
                <a:schemeClr val="tx1"/>
              </a:buClr>
              <a:buSzPct val="75000"/>
              <a:buFont typeface="Wingdings" pitchFamily="2" charset="2"/>
              <a:buChar char="§"/>
            </a:pPr>
            <a:endParaRPr lang="en-US" altLang="en-US" sz="2800">
              <a:solidFill>
                <a:srgbClr val="000000"/>
              </a:solidFill>
            </a:endParaRPr>
          </a:p>
          <a:p>
            <a:pPr>
              <a:lnSpc>
                <a:spcPct val="80000"/>
              </a:lnSpc>
              <a:spcBef>
                <a:spcPts val="1050"/>
              </a:spcBef>
              <a:spcAft>
                <a:spcPts val="350"/>
              </a:spcAft>
              <a:buClr>
                <a:schemeClr val="tx1"/>
              </a:buClr>
              <a:buSzPct val="75000"/>
              <a:buFont typeface="Wingdings" pitchFamily="2" charset="2"/>
              <a:buChar char="§"/>
            </a:pPr>
            <a:r>
              <a:rPr lang="en-US" altLang="en-US" sz="2800">
                <a:solidFill>
                  <a:srgbClr val="000000"/>
                </a:solidFill>
              </a:rPr>
              <a:t>Choose a clustering algorithm</a:t>
            </a:r>
          </a:p>
          <a:p>
            <a:pPr>
              <a:lnSpc>
                <a:spcPct val="80000"/>
              </a:lnSpc>
              <a:spcBef>
                <a:spcPts val="1050"/>
              </a:spcBef>
              <a:spcAft>
                <a:spcPts val="350"/>
              </a:spcAft>
              <a:buClr>
                <a:schemeClr val="tx1"/>
              </a:buClr>
              <a:buSzPct val="75000"/>
              <a:buFont typeface="Wingdings" pitchFamily="2" charset="2"/>
              <a:buChar char="§"/>
            </a:pPr>
            <a:endParaRPr lang="en-US" altLang="en-US" sz="2800">
              <a:solidFill>
                <a:srgbClr val="000000"/>
              </a:solidFill>
            </a:endParaRPr>
          </a:p>
          <a:p>
            <a:pPr>
              <a:lnSpc>
                <a:spcPct val="80000"/>
              </a:lnSpc>
              <a:spcBef>
                <a:spcPts val="1050"/>
              </a:spcBef>
              <a:spcAft>
                <a:spcPts val="350"/>
              </a:spcAft>
              <a:buClr>
                <a:schemeClr val="tx1"/>
              </a:buClr>
              <a:buSzPct val="75000"/>
              <a:buFont typeface="Wingdings" pitchFamily="2" charset="2"/>
              <a:buChar char="§"/>
            </a:pPr>
            <a:r>
              <a:rPr lang="en-US" altLang="en-US" sz="2800">
                <a:solidFill>
                  <a:srgbClr val="000000"/>
                </a:solidFill>
              </a:rPr>
              <a:t>Specify the number of clusters</a:t>
            </a:r>
            <a:endParaRPr lang="en-US" altLang="en-US" sz="2000">
              <a:solidFill>
                <a:srgbClr val="000000"/>
              </a:solidFill>
            </a:endParaRPr>
          </a:p>
          <a:p>
            <a:pPr>
              <a:lnSpc>
                <a:spcPct val="80000"/>
              </a:lnSpc>
              <a:spcBef>
                <a:spcPts val="1050"/>
              </a:spcBef>
              <a:spcAft>
                <a:spcPts val="350"/>
              </a:spcAft>
              <a:buClr>
                <a:schemeClr val="tx1"/>
              </a:buClr>
              <a:buSzPct val="75000"/>
              <a:buFont typeface="Wingdings" pitchFamily="2" charset="2"/>
              <a:buChar char="§"/>
            </a:pPr>
            <a:endParaRPr lang="en-US" altLang="en-US" sz="2000">
              <a:solidFill>
                <a:srgbClr val="0000FF"/>
              </a:solidFill>
            </a:endParaRPr>
          </a:p>
        </p:txBody>
      </p:sp>
    </p:spTree>
    <p:extLst>
      <p:ext uri="{BB962C8B-B14F-4D97-AF65-F5344CB8AC3E}">
        <p14:creationId xmlns:p14="http://schemas.microsoft.com/office/powerpoint/2010/main" val="72929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a:t>Um, what about k?</a:t>
            </a:r>
          </a:p>
        </p:txBody>
      </p:sp>
      <p:sp>
        <p:nvSpPr>
          <p:cNvPr id="56323" name="Content Placeholder 2"/>
          <p:cNvSpPr>
            <a:spLocks noGrp="1"/>
          </p:cNvSpPr>
          <p:nvPr>
            <p:ph idx="1"/>
          </p:nvPr>
        </p:nvSpPr>
        <p:spPr/>
        <p:txBody>
          <a:bodyPr>
            <a:normAutofit lnSpcReduction="10000"/>
          </a:bodyPr>
          <a:lstStyle/>
          <a:p>
            <a:r>
              <a:rPr lang="en-US" altLang="en-US" dirty="0"/>
              <a:t>Idea 1: Use our new trick of cross validation to select k </a:t>
            </a:r>
          </a:p>
          <a:p>
            <a:pPr lvl="1"/>
            <a:r>
              <a:rPr lang="en-US" altLang="en-US" dirty="0"/>
              <a:t>What should we optimize? SSE?  Trace?</a:t>
            </a:r>
          </a:p>
          <a:p>
            <a:pPr lvl="1"/>
            <a:r>
              <a:rPr lang="en-US" altLang="en-US" dirty="0"/>
              <a:t>Problem?</a:t>
            </a:r>
          </a:p>
          <a:p>
            <a:r>
              <a:rPr lang="en-US" altLang="en-US" dirty="0"/>
              <a:t>Idea 2:  Let our domain expert look at the clustering and decide if they like it</a:t>
            </a:r>
          </a:p>
          <a:p>
            <a:pPr lvl="1"/>
            <a:r>
              <a:rPr lang="en-US" altLang="en-US" dirty="0"/>
              <a:t>How should we show this to them?</a:t>
            </a:r>
          </a:p>
          <a:p>
            <a:pPr lvl="1"/>
            <a:r>
              <a:rPr lang="en-US" altLang="en-US" dirty="0"/>
              <a:t>Problem?</a:t>
            </a:r>
          </a:p>
          <a:p>
            <a:r>
              <a:rPr lang="en-US" altLang="en-US" dirty="0"/>
              <a:t>Idea 3: The “knee” solution</a:t>
            </a:r>
          </a:p>
        </p:txBody>
      </p:sp>
    </p:spTree>
    <p:extLst>
      <p:ext uri="{BB962C8B-B14F-4D97-AF65-F5344CB8AC3E}">
        <p14:creationId xmlns:p14="http://schemas.microsoft.com/office/powerpoint/2010/main" val="3889217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5022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47" name="Rectangle 3"/>
          <p:cNvSpPr>
            <a:spLocks noChangeArrowheads="1"/>
          </p:cNvSpPr>
          <p:nvPr/>
        </p:nvSpPr>
        <p:spPr bwMode="auto">
          <a:xfrm>
            <a:off x="5403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48" name="Rectangle 4"/>
          <p:cNvSpPr>
            <a:spLocks noChangeArrowheads="1"/>
          </p:cNvSpPr>
          <p:nvPr/>
        </p:nvSpPr>
        <p:spPr bwMode="auto">
          <a:xfrm>
            <a:off x="5784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49" name="Rectangle 5"/>
          <p:cNvSpPr>
            <a:spLocks noChangeArrowheads="1"/>
          </p:cNvSpPr>
          <p:nvPr/>
        </p:nvSpPr>
        <p:spPr bwMode="auto">
          <a:xfrm>
            <a:off x="6165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0" name="Rectangle 6"/>
          <p:cNvSpPr>
            <a:spLocks noChangeArrowheads="1"/>
          </p:cNvSpPr>
          <p:nvPr/>
        </p:nvSpPr>
        <p:spPr bwMode="auto">
          <a:xfrm>
            <a:off x="6546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1" name="Rectangle 7"/>
          <p:cNvSpPr>
            <a:spLocks noChangeArrowheads="1"/>
          </p:cNvSpPr>
          <p:nvPr/>
        </p:nvSpPr>
        <p:spPr bwMode="auto">
          <a:xfrm>
            <a:off x="6927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2" name="Rectangle 8"/>
          <p:cNvSpPr>
            <a:spLocks noChangeArrowheads="1"/>
          </p:cNvSpPr>
          <p:nvPr/>
        </p:nvSpPr>
        <p:spPr bwMode="auto">
          <a:xfrm>
            <a:off x="7308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3" name="Rectangle 9"/>
          <p:cNvSpPr>
            <a:spLocks noChangeArrowheads="1"/>
          </p:cNvSpPr>
          <p:nvPr/>
        </p:nvSpPr>
        <p:spPr bwMode="auto">
          <a:xfrm>
            <a:off x="7689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4" name="Rectangle 10"/>
          <p:cNvSpPr>
            <a:spLocks noChangeArrowheads="1"/>
          </p:cNvSpPr>
          <p:nvPr/>
        </p:nvSpPr>
        <p:spPr bwMode="auto">
          <a:xfrm>
            <a:off x="8070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5" name="Rectangle 11"/>
          <p:cNvSpPr>
            <a:spLocks noChangeArrowheads="1"/>
          </p:cNvSpPr>
          <p:nvPr/>
        </p:nvSpPr>
        <p:spPr bwMode="auto">
          <a:xfrm>
            <a:off x="8451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6" name="Rectangle 12"/>
          <p:cNvSpPr>
            <a:spLocks noChangeArrowheads="1"/>
          </p:cNvSpPr>
          <p:nvPr/>
        </p:nvSpPr>
        <p:spPr bwMode="auto">
          <a:xfrm>
            <a:off x="5022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7" name="Rectangle 13"/>
          <p:cNvSpPr>
            <a:spLocks noChangeArrowheads="1"/>
          </p:cNvSpPr>
          <p:nvPr/>
        </p:nvSpPr>
        <p:spPr bwMode="auto">
          <a:xfrm>
            <a:off x="5403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8" name="Rectangle 14"/>
          <p:cNvSpPr>
            <a:spLocks noChangeArrowheads="1"/>
          </p:cNvSpPr>
          <p:nvPr/>
        </p:nvSpPr>
        <p:spPr bwMode="auto">
          <a:xfrm>
            <a:off x="5784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59" name="Rectangle 15"/>
          <p:cNvSpPr>
            <a:spLocks noChangeArrowheads="1"/>
          </p:cNvSpPr>
          <p:nvPr/>
        </p:nvSpPr>
        <p:spPr bwMode="auto">
          <a:xfrm>
            <a:off x="6165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0" name="Rectangle 16"/>
          <p:cNvSpPr>
            <a:spLocks noChangeArrowheads="1"/>
          </p:cNvSpPr>
          <p:nvPr/>
        </p:nvSpPr>
        <p:spPr bwMode="auto">
          <a:xfrm>
            <a:off x="6546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1" name="Rectangle 17"/>
          <p:cNvSpPr>
            <a:spLocks noChangeArrowheads="1"/>
          </p:cNvSpPr>
          <p:nvPr/>
        </p:nvSpPr>
        <p:spPr bwMode="auto">
          <a:xfrm>
            <a:off x="6927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2" name="Rectangle 18"/>
          <p:cNvSpPr>
            <a:spLocks noChangeArrowheads="1"/>
          </p:cNvSpPr>
          <p:nvPr/>
        </p:nvSpPr>
        <p:spPr bwMode="auto">
          <a:xfrm>
            <a:off x="7308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3" name="Rectangle 19"/>
          <p:cNvSpPr>
            <a:spLocks noChangeArrowheads="1"/>
          </p:cNvSpPr>
          <p:nvPr/>
        </p:nvSpPr>
        <p:spPr bwMode="auto">
          <a:xfrm>
            <a:off x="7689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4" name="Rectangle 20"/>
          <p:cNvSpPr>
            <a:spLocks noChangeArrowheads="1"/>
          </p:cNvSpPr>
          <p:nvPr/>
        </p:nvSpPr>
        <p:spPr bwMode="auto">
          <a:xfrm>
            <a:off x="8070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5" name="Rectangle 21"/>
          <p:cNvSpPr>
            <a:spLocks noChangeArrowheads="1"/>
          </p:cNvSpPr>
          <p:nvPr/>
        </p:nvSpPr>
        <p:spPr bwMode="auto">
          <a:xfrm>
            <a:off x="8451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6" name="Rectangle 22"/>
          <p:cNvSpPr>
            <a:spLocks noChangeArrowheads="1"/>
          </p:cNvSpPr>
          <p:nvPr/>
        </p:nvSpPr>
        <p:spPr bwMode="auto">
          <a:xfrm>
            <a:off x="5022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7" name="Rectangle 23"/>
          <p:cNvSpPr>
            <a:spLocks noChangeArrowheads="1"/>
          </p:cNvSpPr>
          <p:nvPr/>
        </p:nvSpPr>
        <p:spPr bwMode="auto">
          <a:xfrm>
            <a:off x="5403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8" name="Rectangle 24"/>
          <p:cNvSpPr>
            <a:spLocks noChangeArrowheads="1"/>
          </p:cNvSpPr>
          <p:nvPr/>
        </p:nvSpPr>
        <p:spPr bwMode="auto">
          <a:xfrm>
            <a:off x="5784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69" name="Rectangle 25"/>
          <p:cNvSpPr>
            <a:spLocks noChangeArrowheads="1"/>
          </p:cNvSpPr>
          <p:nvPr/>
        </p:nvSpPr>
        <p:spPr bwMode="auto">
          <a:xfrm>
            <a:off x="6165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0" name="Rectangle 26"/>
          <p:cNvSpPr>
            <a:spLocks noChangeArrowheads="1"/>
          </p:cNvSpPr>
          <p:nvPr/>
        </p:nvSpPr>
        <p:spPr bwMode="auto">
          <a:xfrm>
            <a:off x="6546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1" name="Rectangle 27"/>
          <p:cNvSpPr>
            <a:spLocks noChangeArrowheads="1"/>
          </p:cNvSpPr>
          <p:nvPr/>
        </p:nvSpPr>
        <p:spPr bwMode="auto">
          <a:xfrm>
            <a:off x="6927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2" name="Rectangle 28"/>
          <p:cNvSpPr>
            <a:spLocks noChangeArrowheads="1"/>
          </p:cNvSpPr>
          <p:nvPr/>
        </p:nvSpPr>
        <p:spPr bwMode="auto">
          <a:xfrm>
            <a:off x="7308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3" name="Rectangle 29"/>
          <p:cNvSpPr>
            <a:spLocks noChangeArrowheads="1"/>
          </p:cNvSpPr>
          <p:nvPr/>
        </p:nvSpPr>
        <p:spPr bwMode="auto">
          <a:xfrm>
            <a:off x="7689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4" name="Rectangle 30"/>
          <p:cNvSpPr>
            <a:spLocks noChangeArrowheads="1"/>
          </p:cNvSpPr>
          <p:nvPr/>
        </p:nvSpPr>
        <p:spPr bwMode="auto">
          <a:xfrm>
            <a:off x="8070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5" name="Rectangle 31"/>
          <p:cNvSpPr>
            <a:spLocks noChangeArrowheads="1"/>
          </p:cNvSpPr>
          <p:nvPr/>
        </p:nvSpPr>
        <p:spPr bwMode="auto">
          <a:xfrm>
            <a:off x="8451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6" name="Rectangle 32"/>
          <p:cNvSpPr>
            <a:spLocks noChangeArrowheads="1"/>
          </p:cNvSpPr>
          <p:nvPr/>
        </p:nvSpPr>
        <p:spPr bwMode="auto">
          <a:xfrm>
            <a:off x="5022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7" name="Rectangle 33"/>
          <p:cNvSpPr>
            <a:spLocks noChangeArrowheads="1"/>
          </p:cNvSpPr>
          <p:nvPr/>
        </p:nvSpPr>
        <p:spPr bwMode="auto">
          <a:xfrm>
            <a:off x="5403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8" name="Rectangle 34"/>
          <p:cNvSpPr>
            <a:spLocks noChangeArrowheads="1"/>
          </p:cNvSpPr>
          <p:nvPr/>
        </p:nvSpPr>
        <p:spPr bwMode="auto">
          <a:xfrm>
            <a:off x="5784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79" name="Rectangle 35"/>
          <p:cNvSpPr>
            <a:spLocks noChangeArrowheads="1"/>
          </p:cNvSpPr>
          <p:nvPr/>
        </p:nvSpPr>
        <p:spPr bwMode="auto">
          <a:xfrm>
            <a:off x="6165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0" name="Rectangle 36"/>
          <p:cNvSpPr>
            <a:spLocks noChangeArrowheads="1"/>
          </p:cNvSpPr>
          <p:nvPr/>
        </p:nvSpPr>
        <p:spPr bwMode="auto">
          <a:xfrm>
            <a:off x="6546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1" name="Rectangle 37"/>
          <p:cNvSpPr>
            <a:spLocks noChangeArrowheads="1"/>
          </p:cNvSpPr>
          <p:nvPr/>
        </p:nvSpPr>
        <p:spPr bwMode="auto">
          <a:xfrm>
            <a:off x="6927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2" name="Rectangle 38"/>
          <p:cNvSpPr>
            <a:spLocks noChangeArrowheads="1"/>
          </p:cNvSpPr>
          <p:nvPr/>
        </p:nvSpPr>
        <p:spPr bwMode="auto">
          <a:xfrm>
            <a:off x="7308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3" name="Rectangle 39"/>
          <p:cNvSpPr>
            <a:spLocks noChangeArrowheads="1"/>
          </p:cNvSpPr>
          <p:nvPr/>
        </p:nvSpPr>
        <p:spPr bwMode="auto">
          <a:xfrm>
            <a:off x="7689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4" name="Rectangle 40"/>
          <p:cNvSpPr>
            <a:spLocks noChangeArrowheads="1"/>
          </p:cNvSpPr>
          <p:nvPr/>
        </p:nvSpPr>
        <p:spPr bwMode="auto">
          <a:xfrm>
            <a:off x="8070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5" name="Rectangle 41"/>
          <p:cNvSpPr>
            <a:spLocks noChangeArrowheads="1"/>
          </p:cNvSpPr>
          <p:nvPr/>
        </p:nvSpPr>
        <p:spPr bwMode="auto">
          <a:xfrm>
            <a:off x="8451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6" name="Rectangle 42"/>
          <p:cNvSpPr>
            <a:spLocks noChangeArrowheads="1"/>
          </p:cNvSpPr>
          <p:nvPr/>
        </p:nvSpPr>
        <p:spPr bwMode="auto">
          <a:xfrm>
            <a:off x="5022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7" name="Rectangle 43"/>
          <p:cNvSpPr>
            <a:spLocks noChangeArrowheads="1"/>
          </p:cNvSpPr>
          <p:nvPr/>
        </p:nvSpPr>
        <p:spPr bwMode="auto">
          <a:xfrm>
            <a:off x="5403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8" name="Rectangle 44"/>
          <p:cNvSpPr>
            <a:spLocks noChangeArrowheads="1"/>
          </p:cNvSpPr>
          <p:nvPr/>
        </p:nvSpPr>
        <p:spPr bwMode="auto">
          <a:xfrm>
            <a:off x="5784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89" name="Rectangle 45"/>
          <p:cNvSpPr>
            <a:spLocks noChangeArrowheads="1"/>
          </p:cNvSpPr>
          <p:nvPr/>
        </p:nvSpPr>
        <p:spPr bwMode="auto">
          <a:xfrm>
            <a:off x="6165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0" name="Rectangle 46"/>
          <p:cNvSpPr>
            <a:spLocks noChangeArrowheads="1"/>
          </p:cNvSpPr>
          <p:nvPr/>
        </p:nvSpPr>
        <p:spPr bwMode="auto">
          <a:xfrm>
            <a:off x="6546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1" name="Rectangle 47"/>
          <p:cNvSpPr>
            <a:spLocks noChangeArrowheads="1"/>
          </p:cNvSpPr>
          <p:nvPr/>
        </p:nvSpPr>
        <p:spPr bwMode="auto">
          <a:xfrm>
            <a:off x="6927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2" name="Rectangle 48"/>
          <p:cNvSpPr>
            <a:spLocks noChangeArrowheads="1"/>
          </p:cNvSpPr>
          <p:nvPr/>
        </p:nvSpPr>
        <p:spPr bwMode="auto">
          <a:xfrm>
            <a:off x="7308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3" name="Rectangle 49"/>
          <p:cNvSpPr>
            <a:spLocks noChangeArrowheads="1"/>
          </p:cNvSpPr>
          <p:nvPr/>
        </p:nvSpPr>
        <p:spPr bwMode="auto">
          <a:xfrm>
            <a:off x="7689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4" name="Rectangle 50"/>
          <p:cNvSpPr>
            <a:spLocks noChangeArrowheads="1"/>
          </p:cNvSpPr>
          <p:nvPr/>
        </p:nvSpPr>
        <p:spPr bwMode="auto">
          <a:xfrm>
            <a:off x="8070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5" name="Rectangle 51"/>
          <p:cNvSpPr>
            <a:spLocks noChangeArrowheads="1"/>
          </p:cNvSpPr>
          <p:nvPr/>
        </p:nvSpPr>
        <p:spPr bwMode="auto">
          <a:xfrm>
            <a:off x="8451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6" name="Rectangle 52"/>
          <p:cNvSpPr>
            <a:spLocks noChangeArrowheads="1"/>
          </p:cNvSpPr>
          <p:nvPr/>
        </p:nvSpPr>
        <p:spPr bwMode="auto">
          <a:xfrm>
            <a:off x="5022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7" name="Rectangle 53"/>
          <p:cNvSpPr>
            <a:spLocks noChangeArrowheads="1"/>
          </p:cNvSpPr>
          <p:nvPr/>
        </p:nvSpPr>
        <p:spPr bwMode="auto">
          <a:xfrm>
            <a:off x="5403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8" name="Rectangle 54"/>
          <p:cNvSpPr>
            <a:spLocks noChangeArrowheads="1"/>
          </p:cNvSpPr>
          <p:nvPr/>
        </p:nvSpPr>
        <p:spPr bwMode="auto">
          <a:xfrm>
            <a:off x="5784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399" name="Rectangle 55"/>
          <p:cNvSpPr>
            <a:spLocks noChangeArrowheads="1"/>
          </p:cNvSpPr>
          <p:nvPr/>
        </p:nvSpPr>
        <p:spPr bwMode="auto">
          <a:xfrm>
            <a:off x="6165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0" name="Rectangle 56"/>
          <p:cNvSpPr>
            <a:spLocks noChangeArrowheads="1"/>
          </p:cNvSpPr>
          <p:nvPr/>
        </p:nvSpPr>
        <p:spPr bwMode="auto">
          <a:xfrm>
            <a:off x="6546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1" name="Rectangle 57"/>
          <p:cNvSpPr>
            <a:spLocks noChangeArrowheads="1"/>
          </p:cNvSpPr>
          <p:nvPr/>
        </p:nvSpPr>
        <p:spPr bwMode="auto">
          <a:xfrm>
            <a:off x="6927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2" name="Rectangle 58"/>
          <p:cNvSpPr>
            <a:spLocks noChangeArrowheads="1"/>
          </p:cNvSpPr>
          <p:nvPr/>
        </p:nvSpPr>
        <p:spPr bwMode="auto">
          <a:xfrm>
            <a:off x="7308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3" name="Rectangle 59"/>
          <p:cNvSpPr>
            <a:spLocks noChangeArrowheads="1"/>
          </p:cNvSpPr>
          <p:nvPr/>
        </p:nvSpPr>
        <p:spPr bwMode="auto">
          <a:xfrm>
            <a:off x="7689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4" name="Rectangle 60"/>
          <p:cNvSpPr>
            <a:spLocks noChangeArrowheads="1"/>
          </p:cNvSpPr>
          <p:nvPr/>
        </p:nvSpPr>
        <p:spPr bwMode="auto">
          <a:xfrm>
            <a:off x="8070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5" name="Rectangle 61"/>
          <p:cNvSpPr>
            <a:spLocks noChangeArrowheads="1"/>
          </p:cNvSpPr>
          <p:nvPr/>
        </p:nvSpPr>
        <p:spPr bwMode="auto">
          <a:xfrm>
            <a:off x="8451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6" name="Rectangle 62"/>
          <p:cNvSpPr>
            <a:spLocks noChangeArrowheads="1"/>
          </p:cNvSpPr>
          <p:nvPr/>
        </p:nvSpPr>
        <p:spPr bwMode="auto">
          <a:xfrm>
            <a:off x="5022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7" name="Rectangle 63"/>
          <p:cNvSpPr>
            <a:spLocks noChangeArrowheads="1"/>
          </p:cNvSpPr>
          <p:nvPr/>
        </p:nvSpPr>
        <p:spPr bwMode="auto">
          <a:xfrm>
            <a:off x="5403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8" name="Rectangle 64"/>
          <p:cNvSpPr>
            <a:spLocks noChangeArrowheads="1"/>
          </p:cNvSpPr>
          <p:nvPr/>
        </p:nvSpPr>
        <p:spPr bwMode="auto">
          <a:xfrm>
            <a:off x="5784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09" name="Rectangle 65"/>
          <p:cNvSpPr>
            <a:spLocks noChangeArrowheads="1"/>
          </p:cNvSpPr>
          <p:nvPr/>
        </p:nvSpPr>
        <p:spPr bwMode="auto">
          <a:xfrm>
            <a:off x="6165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0" name="Rectangle 66"/>
          <p:cNvSpPr>
            <a:spLocks noChangeArrowheads="1"/>
          </p:cNvSpPr>
          <p:nvPr/>
        </p:nvSpPr>
        <p:spPr bwMode="auto">
          <a:xfrm>
            <a:off x="6546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1" name="Rectangle 67"/>
          <p:cNvSpPr>
            <a:spLocks noChangeArrowheads="1"/>
          </p:cNvSpPr>
          <p:nvPr/>
        </p:nvSpPr>
        <p:spPr bwMode="auto">
          <a:xfrm>
            <a:off x="6927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2" name="Rectangle 68"/>
          <p:cNvSpPr>
            <a:spLocks noChangeArrowheads="1"/>
          </p:cNvSpPr>
          <p:nvPr/>
        </p:nvSpPr>
        <p:spPr bwMode="auto">
          <a:xfrm>
            <a:off x="7308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3" name="Rectangle 69"/>
          <p:cNvSpPr>
            <a:spLocks noChangeArrowheads="1"/>
          </p:cNvSpPr>
          <p:nvPr/>
        </p:nvSpPr>
        <p:spPr bwMode="auto">
          <a:xfrm>
            <a:off x="7689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4" name="Rectangle 70"/>
          <p:cNvSpPr>
            <a:spLocks noChangeArrowheads="1"/>
          </p:cNvSpPr>
          <p:nvPr/>
        </p:nvSpPr>
        <p:spPr bwMode="auto">
          <a:xfrm>
            <a:off x="8070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5" name="Rectangle 71"/>
          <p:cNvSpPr>
            <a:spLocks noChangeArrowheads="1"/>
          </p:cNvSpPr>
          <p:nvPr/>
        </p:nvSpPr>
        <p:spPr bwMode="auto">
          <a:xfrm>
            <a:off x="8451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6" name="Rectangle 72"/>
          <p:cNvSpPr>
            <a:spLocks noChangeArrowheads="1"/>
          </p:cNvSpPr>
          <p:nvPr/>
        </p:nvSpPr>
        <p:spPr bwMode="auto">
          <a:xfrm>
            <a:off x="5022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7" name="Rectangle 73"/>
          <p:cNvSpPr>
            <a:spLocks noChangeArrowheads="1"/>
          </p:cNvSpPr>
          <p:nvPr/>
        </p:nvSpPr>
        <p:spPr bwMode="auto">
          <a:xfrm>
            <a:off x="5403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8" name="Rectangle 74"/>
          <p:cNvSpPr>
            <a:spLocks noChangeArrowheads="1"/>
          </p:cNvSpPr>
          <p:nvPr/>
        </p:nvSpPr>
        <p:spPr bwMode="auto">
          <a:xfrm>
            <a:off x="5784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19" name="Rectangle 75"/>
          <p:cNvSpPr>
            <a:spLocks noChangeArrowheads="1"/>
          </p:cNvSpPr>
          <p:nvPr/>
        </p:nvSpPr>
        <p:spPr bwMode="auto">
          <a:xfrm>
            <a:off x="6165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0" name="Rectangle 76"/>
          <p:cNvSpPr>
            <a:spLocks noChangeArrowheads="1"/>
          </p:cNvSpPr>
          <p:nvPr/>
        </p:nvSpPr>
        <p:spPr bwMode="auto">
          <a:xfrm>
            <a:off x="6546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1" name="Rectangle 77"/>
          <p:cNvSpPr>
            <a:spLocks noChangeArrowheads="1"/>
          </p:cNvSpPr>
          <p:nvPr/>
        </p:nvSpPr>
        <p:spPr bwMode="auto">
          <a:xfrm>
            <a:off x="6927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2" name="Rectangle 78"/>
          <p:cNvSpPr>
            <a:spLocks noChangeArrowheads="1"/>
          </p:cNvSpPr>
          <p:nvPr/>
        </p:nvSpPr>
        <p:spPr bwMode="auto">
          <a:xfrm>
            <a:off x="7308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3" name="Rectangle 79"/>
          <p:cNvSpPr>
            <a:spLocks noChangeArrowheads="1"/>
          </p:cNvSpPr>
          <p:nvPr/>
        </p:nvSpPr>
        <p:spPr bwMode="auto">
          <a:xfrm>
            <a:off x="7689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4" name="Rectangle 80"/>
          <p:cNvSpPr>
            <a:spLocks noChangeArrowheads="1"/>
          </p:cNvSpPr>
          <p:nvPr/>
        </p:nvSpPr>
        <p:spPr bwMode="auto">
          <a:xfrm>
            <a:off x="8070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5" name="Rectangle 81"/>
          <p:cNvSpPr>
            <a:spLocks noChangeArrowheads="1"/>
          </p:cNvSpPr>
          <p:nvPr/>
        </p:nvSpPr>
        <p:spPr bwMode="auto">
          <a:xfrm>
            <a:off x="8451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6" name="Rectangle 82"/>
          <p:cNvSpPr>
            <a:spLocks noChangeArrowheads="1"/>
          </p:cNvSpPr>
          <p:nvPr/>
        </p:nvSpPr>
        <p:spPr bwMode="auto">
          <a:xfrm>
            <a:off x="5022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7" name="Rectangle 83"/>
          <p:cNvSpPr>
            <a:spLocks noChangeArrowheads="1"/>
          </p:cNvSpPr>
          <p:nvPr/>
        </p:nvSpPr>
        <p:spPr bwMode="auto">
          <a:xfrm>
            <a:off x="5403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8" name="Rectangle 84"/>
          <p:cNvSpPr>
            <a:spLocks noChangeArrowheads="1"/>
          </p:cNvSpPr>
          <p:nvPr/>
        </p:nvSpPr>
        <p:spPr bwMode="auto">
          <a:xfrm>
            <a:off x="5784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29" name="Rectangle 85"/>
          <p:cNvSpPr>
            <a:spLocks noChangeArrowheads="1"/>
          </p:cNvSpPr>
          <p:nvPr/>
        </p:nvSpPr>
        <p:spPr bwMode="auto">
          <a:xfrm>
            <a:off x="6165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0" name="Rectangle 86"/>
          <p:cNvSpPr>
            <a:spLocks noChangeArrowheads="1"/>
          </p:cNvSpPr>
          <p:nvPr/>
        </p:nvSpPr>
        <p:spPr bwMode="auto">
          <a:xfrm>
            <a:off x="6546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1" name="Rectangle 87"/>
          <p:cNvSpPr>
            <a:spLocks noChangeArrowheads="1"/>
          </p:cNvSpPr>
          <p:nvPr/>
        </p:nvSpPr>
        <p:spPr bwMode="auto">
          <a:xfrm>
            <a:off x="6927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2" name="Rectangle 88"/>
          <p:cNvSpPr>
            <a:spLocks noChangeArrowheads="1"/>
          </p:cNvSpPr>
          <p:nvPr/>
        </p:nvSpPr>
        <p:spPr bwMode="auto">
          <a:xfrm>
            <a:off x="7308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3" name="Rectangle 89"/>
          <p:cNvSpPr>
            <a:spLocks noChangeArrowheads="1"/>
          </p:cNvSpPr>
          <p:nvPr/>
        </p:nvSpPr>
        <p:spPr bwMode="auto">
          <a:xfrm>
            <a:off x="7689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4" name="Rectangle 90"/>
          <p:cNvSpPr>
            <a:spLocks noChangeArrowheads="1"/>
          </p:cNvSpPr>
          <p:nvPr/>
        </p:nvSpPr>
        <p:spPr bwMode="auto">
          <a:xfrm>
            <a:off x="8070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5" name="Rectangle 91"/>
          <p:cNvSpPr>
            <a:spLocks noChangeArrowheads="1"/>
          </p:cNvSpPr>
          <p:nvPr/>
        </p:nvSpPr>
        <p:spPr bwMode="auto">
          <a:xfrm>
            <a:off x="8451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6" name="Rectangle 92"/>
          <p:cNvSpPr>
            <a:spLocks noChangeArrowheads="1"/>
          </p:cNvSpPr>
          <p:nvPr/>
        </p:nvSpPr>
        <p:spPr bwMode="auto">
          <a:xfrm>
            <a:off x="5022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7" name="Rectangle 93"/>
          <p:cNvSpPr>
            <a:spLocks noChangeArrowheads="1"/>
          </p:cNvSpPr>
          <p:nvPr/>
        </p:nvSpPr>
        <p:spPr bwMode="auto">
          <a:xfrm>
            <a:off x="5403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8" name="Rectangle 94"/>
          <p:cNvSpPr>
            <a:spLocks noChangeArrowheads="1"/>
          </p:cNvSpPr>
          <p:nvPr/>
        </p:nvSpPr>
        <p:spPr bwMode="auto">
          <a:xfrm>
            <a:off x="5784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39" name="Rectangle 95"/>
          <p:cNvSpPr>
            <a:spLocks noChangeArrowheads="1"/>
          </p:cNvSpPr>
          <p:nvPr/>
        </p:nvSpPr>
        <p:spPr bwMode="auto">
          <a:xfrm>
            <a:off x="6165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0" name="Rectangle 96"/>
          <p:cNvSpPr>
            <a:spLocks noChangeArrowheads="1"/>
          </p:cNvSpPr>
          <p:nvPr/>
        </p:nvSpPr>
        <p:spPr bwMode="auto">
          <a:xfrm>
            <a:off x="6546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1" name="Rectangle 97"/>
          <p:cNvSpPr>
            <a:spLocks noChangeArrowheads="1"/>
          </p:cNvSpPr>
          <p:nvPr/>
        </p:nvSpPr>
        <p:spPr bwMode="auto">
          <a:xfrm>
            <a:off x="6927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2" name="Rectangle 98"/>
          <p:cNvSpPr>
            <a:spLocks noChangeArrowheads="1"/>
          </p:cNvSpPr>
          <p:nvPr/>
        </p:nvSpPr>
        <p:spPr bwMode="auto">
          <a:xfrm>
            <a:off x="7308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3" name="Rectangle 99"/>
          <p:cNvSpPr>
            <a:spLocks noChangeArrowheads="1"/>
          </p:cNvSpPr>
          <p:nvPr/>
        </p:nvSpPr>
        <p:spPr bwMode="auto">
          <a:xfrm>
            <a:off x="7689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4" name="Rectangle 100"/>
          <p:cNvSpPr>
            <a:spLocks noChangeArrowheads="1"/>
          </p:cNvSpPr>
          <p:nvPr/>
        </p:nvSpPr>
        <p:spPr bwMode="auto">
          <a:xfrm>
            <a:off x="8070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5" name="Rectangle 101"/>
          <p:cNvSpPr>
            <a:spLocks noChangeArrowheads="1"/>
          </p:cNvSpPr>
          <p:nvPr/>
        </p:nvSpPr>
        <p:spPr bwMode="auto">
          <a:xfrm>
            <a:off x="8451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6" name="Line 102"/>
          <p:cNvSpPr>
            <a:spLocks noChangeShapeType="1"/>
          </p:cNvSpPr>
          <p:nvPr/>
        </p:nvSpPr>
        <p:spPr bwMode="auto">
          <a:xfrm>
            <a:off x="5022850" y="6038850"/>
            <a:ext cx="3810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47" name="Line 103"/>
          <p:cNvSpPr>
            <a:spLocks noChangeShapeType="1"/>
          </p:cNvSpPr>
          <p:nvPr/>
        </p:nvSpPr>
        <p:spPr bwMode="auto">
          <a:xfrm flipV="1">
            <a:off x="5022850" y="2228850"/>
            <a:ext cx="0" cy="3810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48" name="Oval 104"/>
          <p:cNvSpPr>
            <a:spLocks noChangeArrowheads="1"/>
          </p:cNvSpPr>
          <p:nvPr/>
        </p:nvSpPr>
        <p:spPr bwMode="auto">
          <a:xfrm>
            <a:off x="5403850" y="4743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49" name="Oval 105"/>
          <p:cNvSpPr>
            <a:spLocks noChangeArrowheads="1"/>
          </p:cNvSpPr>
          <p:nvPr/>
        </p:nvSpPr>
        <p:spPr bwMode="auto">
          <a:xfrm>
            <a:off x="6013450" y="5276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0" name="Rectangle 106"/>
          <p:cNvSpPr>
            <a:spLocks noChangeArrowheads="1"/>
          </p:cNvSpPr>
          <p:nvPr/>
        </p:nvSpPr>
        <p:spPr bwMode="auto">
          <a:xfrm>
            <a:off x="8321675" y="27114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1" name="Rectangle 107"/>
          <p:cNvSpPr>
            <a:spLocks noChangeArrowheads="1"/>
          </p:cNvSpPr>
          <p:nvPr/>
        </p:nvSpPr>
        <p:spPr bwMode="auto">
          <a:xfrm>
            <a:off x="7418388" y="33718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2" name="Rectangle 108"/>
          <p:cNvSpPr>
            <a:spLocks noChangeArrowheads="1"/>
          </p:cNvSpPr>
          <p:nvPr/>
        </p:nvSpPr>
        <p:spPr bwMode="auto">
          <a:xfrm>
            <a:off x="7994650" y="24574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3" name="Rectangle 109"/>
          <p:cNvSpPr>
            <a:spLocks noChangeArrowheads="1"/>
          </p:cNvSpPr>
          <p:nvPr/>
        </p:nvSpPr>
        <p:spPr bwMode="auto">
          <a:xfrm>
            <a:off x="8147050" y="34480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4" name="Rectangle 110"/>
          <p:cNvSpPr>
            <a:spLocks noChangeArrowheads="1"/>
          </p:cNvSpPr>
          <p:nvPr/>
        </p:nvSpPr>
        <p:spPr bwMode="auto">
          <a:xfrm>
            <a:off x="8675688" y="4278313"/>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5" name="Oval 111"/>
          <p:cNvSpPr>
            <a:spLocks noChangeArrowheads="1"/>
          </p:cNvSpPr>
          <p:nvPr/>
        </p:nvSpPr>
        <p:spPr bwMode="auto">
          <a:xfrm>
            <a:off x="5567363" y="411480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6" name="Oval 112"/>
          <p:cNvSpPr>
            <a:spLocks noChangeArrowheads="1"/>
          </p:cNvSpPr>
          <p:nvPr/>
        </p:nvSpPr>
        <p:spPr bwMode="auto">
          <a:xfrm>
            <a:off x="5175250" y="5581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7" name="Oval 113"/>
          <p:cNvSpPr>
            <a:spLocks noChangeArrowheads="1"/>
          </p:cNvSpPr>
          <p:nvPr/>
        </p:nvSpPr>
        <p:spPr bwMode="auto">
          <a:xfrm>
            <a:off x="5251450" y="4210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58" name="Text Box 114"/>
          <p:cNvSpPr txBox="1">
            <a:spLocks noChangeArrowheads="1"/>
          </p:cNvSpPr>
          <p:nvPr/>
        </p:nvSpPr>
        <p:spPr bwMode="auto">
          <a:xfrm>
            <a:off x="5175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a:t>
            </a:r>
          </a:p>
        </p:txBody>
      </p:sp>
      <p:sp>
        <p:nvSpPr>
          <p:cNvPr id="57459" name="Text Box 115"/>
          <p:cNvSpPr txBox="1">
            <a:spLocks noChangeArrowheads="1"/>
          </p:cNvSpPr>
          <p:nvPr/>
        </p:nvSpPr>
        <p:spPr bwMode="auto">
          <a:xfrm>
            <a:off x="5556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2</a:t>
            </a:r>
          </a:p>
        </p:txBody>
      </p:sp>
      <p:sp>
        <p:nvSpPr>
          <p:cNvPr id="57460" name="Text Box 116"/>
          <p:cNvSpPr txBox="1">
            <a:spLocks noChangeArrowheads="1"/>
          </p:cNvSpPr>
          <p:nvPr/>
        </p:nvSpPr>
        <p:spPr bwMode="auto">
          <a:xfrm>
            <a:off x="5937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3</a:t>
            </a:r>
          </a:p>
        </p:txBody>
      </p:sp>
      <p:sp>
        <p:nvSpPr>
          <p:cNvPr id="57461" name="Text Box 117"/>
          <p:cNvSpPr txBox="1">
            <a:spLocks noChangeArrowheads="1"/>
          </p:cNvSpPr>
          <p:nvPr/>
        </p:nvSpPr>
        <p:spPr bwMode="auto">
          <a:xfrm>
            <a:off x="6318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4</a:t>
            </a:r>
          </a:p>
        </p:txBody>
      </p:sp>
      <p:sp>
        <p:nvSpPr>
          <p:cNvPr id="57462" name="Text Box 118"/>
          <p:cNvSpPr txBox="1">
            <a:spLocks noChangeArrowheads="1"/>
          </p:cNvSpPr>
          <p:nvPr/>
        </p:nvSpPr>
        <p:spPr bwMode="auto">
          <a:xfrm>
            <a:off x="6699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5</a:t>
            </a:r>
          </a:p>
        </p:txBody>
      </p:sp>
      <p:sp>
        <p:nvSpPr>
          <p:cNvPr id="57463" name="Text Box 119"/>
          <p:cNvSpPr txBox="1">
            <a:spLocks noChangeArrowheads="1"/>
          </p:cNvSpPr>
          <p:nvPr/>
        </p:nvSpPr>
        <p:spPr bwMode="auto">
          <a:xfrm>
            <a:off x="7080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6</a:t>
            </a:r>
          </a:p>
        </p:txBody>
      </p:sp>
      <p:sp>
        <p:nvSpPr>
          <p:cNvPr id="57464" name="Text Box 120"/>
          <p:cNvSpPr txBox="1">
            <a:spLocks noChangeArrowheads="1"/>
          </p:cNvSpPr>
          <p:nvPr/>
        </p:nvSpPr>
        <p:spPr bwMode="auto">
          <a:xfrm>
            <a:off x="7461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7</a:t>
            </a:r>
          </a:p>
        </p:txBody>
      </p:sp>
      <p:sp>
        <p:nvSpPr>
          <p:cNvPr id="57465" name="Text Box 121"/>
          <p:cNvSpPr txBox="1">
            <a:spLocks noChangeArrowheads="1"/>
          </p:cNvSpPr>
          <p:nvPr/>
        </p:nvSpPr>
        <p:spPr bwMode="auto">
          <a:xfrm>
            <a:off x="7842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8</a:t>
            </a:r>
          </a:p>
        </p:txBody>
      </p:sp>
      <p:sp>
        <p:nvSpPr>
          <p:cNvPr id="57466" name="Text Box 122"/>
          <p:cNvSpPr txBox="1">
            <a:spLocks noChangeArrowheads="1"/>
          </p:cNvSpPr>
          <p:nvPr/>
        </p:nvSpPr>
        <p:spPr bwMode="auto">
          <a:xfrm>
            <a:off x="8223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9</a:t>
            </a:r>
          </a:p>
        </p:txBody>
      </p:sp>
      <p:sp>
        <p:nvSpPr>
          <p:cNvPr id="57467" name="Text Box 123"/>
          <p:cNvSpPr txBox="1">
            <a:spLocks noChangeArrowheads="1"/>
          </p:cNvSpPr>
          <p:nvPr/>
        </p:nvSpPr>
        <p:spPr bwMode="auto">
          <a:xfrm>
            <a:off x="8528050" y="611505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10</a:t>
            </a:r>
          </a:p>
        </p:txBody>
      </p:sp>
      <p:sp>
        <p:nvSpPr>
          <p:cNvPr id="57468" name="Oval 124"/>
          <p:cNvSpPr>
            <a:spLocks noChangeArrowheads="1"/>
          </p:cNvSpPr>
          <p:nvPr/>
        </p:nvSpPr>
        <p:spPr bwMode="auto">
          <a:xfrm>
            <a:off x="58610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69" name="Oval 125"/>
          <p:cNvSpPr>
            <a:spLocks noChangeArrowheads="1"/>
          </p:cNvSpPr>
          <p:nvPr/>
        </p:nvSpPr>
        <p:spPr bwMode="auto">
          <a:xfrm>
            <a:off x="5480050" y="5124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0" name="Oval 126"/>
          <p:cNvSpPr>
            <a:spLocks noChangeArrowheads="1"/>
          </p:cNvSpPr>
          <p:nvPr/>
        </p:nvSpPr>
        <p:spPr bwMode="auto">
          <a:xfrm>
            <a:off x="5632450" y="5429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1" name="Oval 127"/>
          <p:cNvSpPr>
            <a:spLocks noChangeArrowheads="1"/>
          </p:cNvSpPr>
          <p:nvPr/>
        </p:nvSpPr>
        <p:spPr bwMode="auto">
          <a:xfrm>
            <a:off x="60896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2" name="Oval 128"/>
          <p:cNvSpPr>
            <a:spLocks noChangeArrowheads="1"/>
          </p:cNvSpPr>
          <p:nvPr/>
        </p:nvSpPr>
        <p:spPr bwMode="auto">
          <a:xfrm>
            <a:off x="5327650" y="3829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3" name="Oval 129"/>
          <p:cNvSpPr>
            <a:spLocks noChangeArrowheads="1"/>
          </p:cNvSpPr>
          <p:nvPr/>
        </p:nvSpPr>
        <p:spPr bwMode="auto">
          <a:xfrm>
            <a:off x="5772150" y="37353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4" name="Oval 130"/>
          <p:cNvSpPr>
            <a:spLocks noChangeArrowheads="1"/>
          </p:cNvSpPr>
          <p:nvPr/>
        </p:nvSpPr>
        <p:spPr bwMode="auto">
          <a:xfrm>
            <a:off x="5480050" y="4591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5" name="Oval 131"/>
          <p:cNvSpPr>
            <a:spLocks noChangeArrowheads="1"/>
          </p:cNvSpPr>
          <p:nvPr/>
        </p:nvSpPr>
        <p:spPr bwMode="auto">
          <a:xfrm>
            <a:off x="5784850" y="4514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6" name="Oval 132"/>
          <p:cNvSpPr>
            <a:spLocks noChangeArrowheads="1"/>
          </p:cNvSpPr>
          <p:nvPr/>
        </p:nvSpPr>
        <p:spPr bwMode="auto">
          <a:xfrm>
            <a:off x="5175250" y="5048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7" name="Oval 133"/>
          <p:cNvSpPr>
            <a:spLocks noChangeArrowheads="1"/>
          </p:cNvSpPr>
          <p:nvPr/>
        </p:nvSpPr>
        <p:spPr bwMode="auto">
          <a:xfrm>
            <a:off x="5708650" y="4972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8" name="Oval 134"/>
          <p:cNvSpPr>
            <a:spLocks noChangeArrowheads="1"/>
          </p:cNvSpPr>
          <p:nvPr/>
        </p:nvSpPr>
        <p:spPr bwMode="auto">
          <a:xfrm>
            <a:off x="5175250" y="3295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79" name="Oval 135"/>
          <p:cNvSpPr>
            <a:spLocks noChangeArrowheads="1"/>
          </p:cNvSpPr>
          <p:nvPr/>
        </p:nvSpPr>
        <p:spPr bwMode="auto">
          <a:xfrm>
            <a:off x="5556250" y="4362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0" name="Oval 136"/>
          <p:cNvSpPr>
            <a:spLocks noChangeArrowheads="1"/>
          </p:cNvSpPr>
          <p:nvPr/>
        </p:nvSpPr>
        <p:spPr bwMode="auto">
          <a:xfrm>
            <a:off x="6013450" y="4895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1" name="Rectangle 137"/>
          <p:cNvSpPr>
            <a:spLocks noChangeArrowheads="1"/>
          </p:cNvSpPr>
          <p:nvPr/>
        </p:nvSpPr>
        <p:spPr bwMode="auto">
          <a:xfrm>
            <a:off x="7918450" y="32194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2" name="Rectangle 138"/>
          <p:cNvSpPr>
            <a:spLocks noChangeArrowheads="1"/>
          </p:cNvSpPr>
          <p:nvPr/>
        </p:nvSpPr>
        <p:spPr bwMode="auto">
          <a:xfrm>
            <a:off x="7766050" y="35242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3" name="Rectangle 139"/>
          <p:cNvSpPr>
            <a:spLocks noChangeArrowheads="1"/>
          </p:cNvSpPr>
          <p:nvPr/>
        </p:nvSpPr>
        <p:spPr bwMode="auto">
          <a:xfrm>
            <a:off x="7537450" y="31432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4" name="Rectangle 140"/>
          <p:cNvSpPr>
            <a:spLocks noChangeArrowheads="1"/>
          </p:cNvSpPr>
          <p:nvPr/>
        </p:nvSpPr>
        <p:spPr bwMode="auto">
          <a:xfrm>
            <a:off x="7537450" y="36004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5" name="Rectangle 141"/>
          <p:cNvSpPr>
            <a:spLocks noChangeArrowheads="1"/>
          </p:cNvSpPr>
          <p:nvPr/>
        </p:nvSpPr>
        <p:spPr bwMode="auto">
          <a:xfrm>
            <a:off x="8070850" y="29908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6" name="Rectangle 142"/>
          <p:cNvSpPr>
            <a:spLocks noChangeArrowheads="1"/>
          </p:cNvSpPr>
          <p:nvPr/>
        </p:nvSpPr>
        <p:spPr bwMode="auto">
          <a:xfrm>
            <a:off x="8223250" y="32194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7" name="Rectangle 143"/>
          <p:cNvSpPr>
            <a:spLocks noChangeArrowheads="1"/>
          </p:cNvSpPr>
          <p:nvPr/>
        </p:nvSpPr>
        <p:spPr bwMode="auto">
          <a:xfrm>
            <a:off x="7537450" y="23050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8" name="Rectangle 144"/>
          <p:cNvSpPr>
            <a:spLocks noChangeArrowheads="1"/>
          </p:cNvSpPr>
          <p:nvPr/>
        </p:nvSpPr>
        <p:spPr bwMode="auto">
          <a:xfrm>
            <a:off x="8528050" y="22288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89" name="Rectangle 145"/>
          <p:cNvSpPr>
            <a:spLocks noChangeArrowheads="1"/>
          </p:cNvSpPr>
          <p:nvPr/>
        </p:nvSpPr>
        <p:spPr bwMode="auto">
          <a:xfrm>
            <a:off x="7570788" y="2720975"/>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0" name="Rectangle 146"/>
          <p:cNvSpPr>
            <a:spLocks noChangeArrowheads="1"/>
          </p:cNvSpPr>
          <p:nvPr/>
        </p:nvSpPr>
        <p:spPr bwMode="auto">
          <a:xfrm>
            <a:off x="8223250" y="37528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1" name="Rectangle 147"/>
          <p:cNvSpPr>
            <a:spLocks noChangeArrowheads="1"/>
          </p:cNvSpPr>
          <p:nvPr/>
        </p:nvSpPr>
        <p:spPr bwMode="auto">
          <a:xfrm>
            <a:off x="8147050" y="27622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2" name="Rectangle 148"/>
          <p:cNvSpPr>
            <a:spLocks noChangeArrowheads="1"/>
          </p:cNvSpPr>
          <p:nvPr/>
        </p:nvSpPr>
        <p:spPr bwMode="auto">
          <a:xfrm>
            <a:off x="7689850" y="29146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3" name="Rectangle 149"/>
          <p:cNvSpPr>
            <a:spLocks noChangeArrowheads="1"/>
          </p:cNvSpPr>
          <p:nvPr/>
        </p:nvSpPr>
        <p:spPr bwMode="auto">
          <a:xfrm>
            <a:off x="7232650" y="30670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4" name="Rectangle 150"/>
          <p:cNvSpPr>
            <a:spLocks noChangeArrowheads="1"/>
          </p:cNvSpPr>
          <p:nvPr/>
        </p:nvSpPr>
        <p:spPr bwMode="auto">
          <a:xfrm>
            <a:off x="8528050" y="29908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5" name="Rectangle 151"/>
          <p:cNvSpPr>
            <a:spLocks noChangeArrowheads="1"/>
          </p:cNvSpPr>
          <p:nvPr/>
        </p:nvSpPr>
        <p:spPr bwMode="auto">
          <a:xfrm>
            <a:off x="7842250" y="38290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6" name="Rectangle 152"/>
          <p:cNvSpPr>
            <a:spLocks noChangeArrowheads="1"/>
          </p:cNvSpPr>
          <p:nvPr/>
        </p:nvSpPr>
        <p:spPr bwMode="auto">
          <a:xfrm>
            <a:off x="8451850" y="39052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7" name="Oval 153"/>
          <p:cNvSpPr>
            <a:spLocks noChangeArrowheads="1"/>
          </p:cNvSpPr>
          <p:nvPr/>
        </p:nvSpPr>
        <p:spPr bwMode="auto">
          <a:xfrm>
            <a:off x="6240463" y="47529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8" name="Oval 154"/>
          <p:cNvSpPr>
            <a:spLocks noChangeArrowheads="1"/>
          </p:cNvSpPr>
          <p:nvPr/>
        </p:nvSpPr>
        <p:spPr bwMode="auto">
          <a:xfrm>
            <a:off x="5922963" y="41259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499" name="Oval 155"/>
          <p:cNvSpPr>
            <a:spLocks noChangeArrowheads="1"/>
          </p:cNvSpPr>
          <p:nvPr/>
        </p:nvSpPr>
        <p:spPr bwMode="auto">
          <a:xfrm>
            <a:off x="6042025" y="44545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0" name="Oval 156"/>
          <p:cNvSpPr>
            <a:spLocks noChangeArrowheads="1"/>
          </p:cNvSpPr>
          <p:nvPr/>
        </p:nvSpPr>
        <p:spPr bwMode="auto">
          <a:xfrm>
            <a:off x="6378575" y="44561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1" name="Oval 157"/>
          <p:cNvSpPr>
            <a:spLocks noChangeArrowheads="1"/>
          </p:cNvSpPr>
          <p:nvPr/>
        </p:nvSpPr>
        <p:spPr bwMode="auto">
          <a:xfrm>
            <a:off x="6254750" y="501173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2" name="Oval 158"/>
          <p:cNvSpPr>
            <a:spLocks noChangeArrowheads="1"/>
          </p:cNvSpPr>
          <p:nvPr/>
        </p:nvSpPr>
        <p:spPr bwMode="auto">
          <a:xfrm>
            <a:off x="5173663" y="45942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3" name="Oval 159"/>
          <p:cNvSpPr>
            <a:spLocks noChangeArrowheads="1"/>
          </p:cNvSpPr>
          <p:nvPr/>
        </p:nvSpPr>
        <p:spPr bwMode="auto">
          <a:xfrm>
            <a:off x="5402263" y="53990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4" name="Oval 160"/>
          <p:cNvSpPr>
            <a:spLocks noChangeArrowheads="1"/>
          </p:cNvSpPr>
          <p:nvPr/>
        </p:nvSpPr>
        <p:spPr bwMode="auto">
          <a:xfrm>
            <a:off x="5856288" y="43529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5" name="Oval 161"/>
          <p:cNvSpPr>
            <a:spLocks noChangeArrowheads="1"/>
          </p:cNvSpPr>
          <p:nvPr/>
        </p:nvSpPr>
        <p:spPr bwMode="auto">
          <a:xfrm>
            <a:off x="5799138" y="52101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6" name="Oval 162"/>
          <p:cNvSpPr>
            <a:spLocks noChangeArrowheads="1"/>
          </p:cNvSpPr>
          <p:nvPr/>
        </p:nvSpPr>
        <p:spPr bwMode="auto">
          <a:xfrm>
            <a:off x="5137150" y="58308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7" name="Rectangle 163"/>
          <p:cNvSpPr>
            <a:spLocks noChangeArrowheads="1"/>
          </p:cNvSpPr>
          <p:nvPr/>
        </p:nvSpPr>
        <p:spPr bwMode="auto">
          <a:xfrm>
            <a:off x="8440738" y="3641725"/>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8" name="Rectangle 164"/>
          <p:cNvSpPr>
            <a:spLocks noChangeArrowheads="1"/>
          </p:cNvSpPr>
          <p:nvPr/>
        </p:nvSpPr>
        <p:spPr bwMode="auto">
          <a:xfrm>
            <a:off x="7847013" y="2668588"/>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09" name="Rectangle 165"/>
          <p:cNvSpPr>
            <a:spLocks noChangeArrowheads="1"/>
          </p:cNvSpPr>
          <p:nvPr/>
        </p:nvSpPr>
        <p:spPr bwMode="auto">
          <a:xfrm>
            <a:off x="7143750" y="3308350"/>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10" name="Rectangle 166"/>
          <p:cNvSpPr>
            <a:spLocks noChangeArrowheads="1"/>
          </p:cNvSpPr>
          <p:nvPr/>
        </p:nvSpPr>
        <p:spPr bwMode="auto">
          <a:xfrm>
            <a:off x="8150225" y="4073525"/>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11" name="Rectangle 167"/>
          <p:cNvSpPr>
            <a:spLocks noChangeArrowheads="1"/>
          </p:cNvSpPr>
          <p:nvPr/>
        </p:nvSpPr>
        <p:spPr bwMode="auto">
          <a:xfrm>
            <a:off x="8470900" y="3268663"/>
            <a:ext cx="152400" cy="152400"/>
          </a:xfrm>
          <a:prstGeom prst="rect">
            <a:avLst/>
          </a:prstGeom>
          <a:solidFill>
            <a:srgbClr val="339966"/>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12" name="Oval 168"/>
          <p:cNvSpPr>
            <a:spLocks noChangeArrowheads="1"/>
          </p:cNvSpPr>
          <p:nvPr/>
        </p:nvSpPr>
        <p:spPr bwMode="auto">
          <a:xfrm>
            <a:off x="6711950" y="4002088"/>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7513" name="Rectangle 169"/>
          <p:cNvSpPr>
            <a:spLocks noChangeArrowheads="1"/>
          </p:cNvSpPr>
          <p:nvPr/>
        </p:nvSpPr>
        <p:spPr bwMode="auto">
          <a:xfrm>
            <a:off x="1765300" y="1573213"/>
            <a:ext cx="553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 When k = 1, the objective function is 873.0</a:t>
            </a:r>
          </a:p>
        </p:txBody>
      </p:sp>
      <p:sp>
        <p:nvSpPr>
          <p:cNvPr id="57514" name="TextBox 169"/>
          <p:cNvSpPr txBox="1">
            <a:spLocks noChangeArrowheads="1"/>
          </p:cNvSpPr>
          <p:nvPr/>
        </p:nvSpPr>
        <p:spPr bwMode="auto">
          <a:xfrm>
            <a:off x="0" y="6488113"/>
            <a:ext cx="425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880243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5022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1" name="Rectangle 3"/>
          <p:cNvSpPr>
            <a:spLocks noChangeArrowheads="1"/>
          </p:cNvSpPr>
          <p:nvPr/>
        </p:nvSpPr>
        <p:spPr bwMode="auto">
          <a:xfrm>
            <a:off x="5403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2" name="Rectangle 4"/>
          <p:cNvSpPr>
            <a:spLocks noChangeArrowheads="1"/>
          </p:cNvSpPr>
          <p:nvPr/>
        </p:nvSpPr>
        <p:spPr bwMode="auto">
          <a:xfrm>
            <a:off x="5784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3" name="Rectangle 5"/>
          <p:cNvSpPr>
            <a:spLocks noChangeArrowheads="1"/>
          </p:cNvSpPr>
          <p:nvPr/>
        </p:nvSpPr>
        <p:spPr bwMode="auto">
          <a:xfrm>
            <a:off x="6165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4" name="Rectangle 6"/>
          <p:cNvSpPr>
            <a:spLocks noChangeArrowheads="1"/>
          </p:cNvSpPr>
          <p:nvPr/>
        </p:nvSpPr>
        <p:spPr bwMode="auto">
          <a:xfrm>
            <a:off x="6546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5" name="Rectangle 7"/>
          <p:cNvSpPr>
            <a:spLocks noChangeArrowheads="1"/>
          </p:cNvSpPr>
          <p:nvPr/>
        </p:nvSpPr>
        <p:spPr bwMode="auto">
          <a:xfrm>
            <a:off x="6927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6" name="Rectangle 8"/>
          <p:cNvSpPr>
            <a:spLocks noChangeArrowheads="1"/>
          </p:cNvSpPr>
          <p:nvPr/>
        </p:nvSpPr>
        <p:spPr bwMode="auto">
          <a:xfrm>
            <a:off x="7308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7" name="Rectangle 9"/>
          <p:cNvSpPr>
            <a:spLocks noChangeArrowheads="1"/>
          </p:cNvSpPr>
          <p:nvPr/>
        </p:nvSpPr>
        <p:spPr bwMode="auto">
          <a:xfrm>
            <a:off x="7689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8" name="Rectangle 10"/>
          <p:cNvSpPr>
            <a:spLocks noChangeArrowheads="1"/>
          </p:cNvSpPr>
          <p:nvPr/>
        </p:nvSpPr>
        <p:spPr bwMode="auto">
          <a:xfrm>
            <a:off x="8070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79" name="Rectangle 11"/>
          <p:cNvSpPr>
            <a:spLocks noChangeArrowheads="1"/>
          </p:cNvSpPr>
          <p:nvPr/>
        </p:nvSpPr>
        <p:spPr bwMode="auto">
          <a:xfrm>
            <a:off x="8451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0" name="Rectangle 12"/>
          <p:cNvSpPr>
            <a:spLocks noChangeArrowheads="1"/>
          </p:cNvSpPr>
          <p:nvPr/>
        </p:nvSpPr>
        <p:spPr bwMode="auto">
          <a:xfrm>
            <a:off x="5022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1" name="Rectangle 13"/>
          <p:cNvSpPr>
            <a:spLocks noChangeArrowheads="1"/>
          </p:cNvSpPr>
          <p:nvPr/>
        </p:nvSpPr>
        <p:spPr bwMode="auto">
          <a:xfrm>
            <a:off x="5403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2" name="Rectangle 14"/>
          <p:cNvSpPr>
            <a:spLocks noChangeArrowheads="1"/>
          </p:cNvSpPr>
          <p:nvPr/>
        </p:nvSpPr>
        <p:spPr bwMode="auto">
          <a:xfrm>
            <a:off x="5784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3" name="Rectangle 15"/>
          <p:cNvSpPr>
            <a:spLocks noChangeArrowheads="1"/>
          </p:cNvSpPr>
          <p:nvPr/>
        </p:nvSpPr>
        <p:spPr bwMode="auto">
          <a:xfrm>
            <a:off x="6165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4" name="Rectangle 16"/>
          <p:cNvSpPr>
            <a:spLocks noChangeArrowheads="1"/>
          </p:cNvSpPr>
          <p:nvPr/>
        </p:nvSpPr>
        <p:spPr bwMode="auto">
          <a:xfrm>
            <a:off x="6546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5" name="Rectangle 17"/>
          <p:cNvSpPr>
            <a:spLocks noChangeArrowheads="1"/>
          </p:cNvSpPr>
          <p:nvPr/>
        </p:nvSpPr>
        <p:spPr bwMode="auto">
          <a:xfrm>
            <a:off x="6927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6" name="Rectangle 18"/>
          <p:cNvSpPr>
            <a:spLocks noChangeArrowheads="1"/>
          </p:cNvSpPr>
          <p:nvPr/>
        </p:nvSpPr>
        <p:spPr bwMode="auto">
          <a:xfrm>
            <a:off x="7308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7" name="Rectangle 19"/>
          <p:cNvSpPr>
            <a:spLocks noChangeArrowheads="1"/>
          </p:cNvSpPr>
          <p:nvPr/>
        </p:nvSpPr>
        <p:spPr bwMode="auto">
          <a:xfrm>
            <a:off x="7689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8" name="Rectangle 20"/>
          <p:cNvSpPr>
            <a:spLocks noChangeArrowheads="1"/>
          </p:cNvSpPr>
          <p:nvPr/>
        </p:nvSpPr>
        <p:spPr bwMode="auto">
          <a:xfrm>
            <a:off x="8070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89" name="Rectangle 21"/>
          <p:cNvSpPr>
            <a:spLocks noChangeArrowheads="1"/>
          </p:cNvSpPr>
          <p:nvPr/>
        </p:nvSpPr>
        <p:spPr bwMode="auto">
          <a:xfrm>
            <a:off x="8451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0" name="Rectangle 22"/>
          <p:cNvSpPr>
            <a:spLocks noChangeArrowheads="1"/>
          </p:cNvSpPr>
          <p:nvPr/>
        </p:nvSpPr>
        <p:spPr bwMode="auto">
          <a:xfrm>
            <a:off x="5022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1" name="Rectangle 23"/>
          <p:cNvSpPr>
            <a:spLocks noChangeArrowheads="1"/>
          </p:cNvSpPr>
          <p:nvPr/>
        </p:nvSpPr>
        <p:spPr bwMode="auto">
          <a:xfrm>
            <a:off x="5403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2" name="Rectangle 24"/>
          <p:cNvSpPr>
            <a:spLocks noChangeArrowheads="1"/>
          </p:cNvSpPr>
          <p:nvPr/>
        </p:nvSpPr>
        <p:spPr bwMode="auto">
          <a:xfrm>
            <a:off x="5784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3" name="Rectangle 25"/>
          <p:cNvSpPr>
            <a:spLocks noChangeArrowheads="1"/>
          </p:cNvSpPr>
          <p:nvPr/>
        </p:nvSpPr>
        <p:spPr bwMode="auto">
          <a:xfrm>
            <a:off x="6165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4" name="Rectangle 26"/>
          <p:cNvSpPr>
            <a:spLocks noChangeArrowheads="1"/>
          </p:cNvSpPr>
          <p:nvPr/>
        </p:nvSpPr>
        <p:spPr bwMode="auto">
          <a:xfrm>
            <a:off x="6546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5" name="Rectangle 27"/>
          <p:cNvSpPr>
            <a:spLocks noChangeArrowheads="1"/>
          </p:cNvSpPr>
          <p:nvPr/>
        </p:nvSpPr>
        <p:spPr bwMode="auto">
          <a:xfrm>
            <a:off x="6927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6" name="Rectangle 28"/>
          <p:cNvSpPr>
            <a:spLocks noChangeArrowheads="1"/>
          </p:cNvSpPr>
          <p:nvPr/>
        </p:nvSpPr>
        <p:spPr bwMode="auto">
          <a:xfrm>
            <a:off x="7308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7" name="Rectangle 29"/>
          <p:cNvSpPr>
            <a:spLocks noChangeArrowheads="1"/>
          </p:cNvSpPr>
          <p:nvPr/>
        </p:nvSpPr>
        <p:spPr bwMode="auto">
          <a:xfrm>
            <a:off x="7689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8" name="Rectangle 30"/>
          <p:cNvSpPr>
            <a:spLocks noChangeArrowheads="1"/>
          </p:cNvSpPr>
          <p:nvPr/>
        </p:nvSpPr>
        <p:spPr bwMode="auto">
          <a:xfrm>
            <a:off x="8070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399" name="Rectangle 31"/>
          <p:cNvSpPr>
            <a:spLocks noChangeArrowheads="1"/>
          </p:cNvSpPr>
          <p:nvPr/>
        </p:nvSpPr>
        <p:spPr bwMode="auto">
          <a:xfrm>
            <a:off x="8451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0" name="Rectangle 32"/>
          <p:cNvSpPr>
            <a:spLocks noChangeArrowheads="1"/>
          </p:cNvSpPr>
          <p:nvPr/>
        </p:nvSpPr>
        <p:spPr bwMode="auto">
          <a:xfrm>
            <a:off x="5022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1" name="Rectangle 33"/>
          <p:cNvSpPr>
            <a:spLocks noChangeArrowheads="1"/>
          </p:cNvSpPr>
          <p:nvPr/>
        </p:nvSpPr>
        <p:spPr bwMode="auto">
          <a:xfrm>
            <a:off x="5403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2" name="Rectangle 34"/>
          <p:cNvSpPr>
            <a:spLocks noChangeArrowheads="1"/>
          </p:cNvSpPr>
          <p:nvPr/>
        </p:nvSpPr>
        <p:spPr bwMode="auto">
          <a:xfrm>
            <a:off x="5784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3" name="Rectangle 35"/>
          <p:cNvSpPr>
            <a:spLocks noChangeArrowheads="1"/>
          </p:cNvSpPr>
          <p:nvPr/>
        </p:nvSpPr>
        <p:spPr bwMode="auto">
          <a:xfrm>
            <a:off x="6165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4" name="Rectangle 36"/>
          <p:cNvSpPr>
            <a:spLocks noChangeArrowheads="1"/>
          </p:cNvSpPr>
          <p:nvPr/>
        </p:nvSpPr>
        <p:spPr bwMode="auto">
          <a:xfrm>
            <a:off x="6546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5" name="Rectangle 37"/>
          <p:cNvSpPr>
            <a:spLocks noChangeArrowheads="1"/>
          </p:cNvSpPr>
          <p:nvPr/>
        </p:nvSpPr>
        <p:spPr bwMode="auto">
          <a:xfrm>
            <a:off x="6927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6" name="Rectangle 38"/>
          <p:cNvSpPr>
            <a:spLocks noChangeArrowheads="1"/>
          </p:cNvSpPr>
          <p:nvPr/>
        </p:nvSpPr>
        <p:spPr bwMode="auto">
          <a:xfrm>
            <a:off x="7308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7" name="Rectangle 39"/>
          <p:cNvSpPr>
            <a:spLocks noChangeArrowheads="1"/>
          </p:cNvSpPr>
          <p:nvPr/>
        </p:nvSpPr>
        <p:spPr bwMode="auto">
          <a:xfrm>
            <a:off x="7689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8" name="Rectangle 40"/>
          <p:cNvSpPr>
            <a:spLocks noChangeArrowheads="1"/>
          </p:cNvSpPr>
          <p:nvPr/>
        </p:nvSpPr>
        <p:spPr bwMode="auto">
          <a:xfrm>
            <a:off x="8070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09" name="Rectangle 41"/>
          <p:cNvSpPr>
            <a:spLocks noChangeArrowheads="1"/>
          </p:cNvSpPr>
          <p:nvPr/>
        </p:nvSpPr>
        <p:spPr bwMode="auto">
          <a:xfrm>
            <a:off x="8451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0" name="Rectangle 42"/>
          <p:cNvSpPr>
            <a:spLocks noChangeArrowheads="1"/>
          </p:cNvSpPr>
          <p:nvPr/>
        </p:nvSpPr>
        <p:spPr bwMode="auto">
          <a:xfrm>
            <a:off x="5022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1" name="Rectangle 43"/>
          <p:cNvSpPr>
            <a:spLocks noChangeArrowheads="1"/>
          </p:cNvSpPr>
          <p:nvPr/>
        </p:nvSpPr>
        <p:spPr bwMode="auto">
          <a:xfrm>
            <a:off x="5403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2" name="Rectangle 44"/>
          <p:cNvSpPr>
            <a:spLocks noChangeArrowheads="1"/>
          </p:cNvSpPr>
          <p:nvPr/>
        </p:nvSpPr>
        <p:spPr bwMode="auto">
          <a:xfrm>
            <a:off x="5784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3" name="Rectangle 45"/>
          <p:cNvSpPr>
            <a:spLocks noChangeArrowheads="1"/>
          </p:cNvSpPr>
          <p:nvPr/>
        </p:nvSpPr>
        <p:spPr bwMode="auto">
          <a:xfrm>
            <a:off x="6165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4" name="Rectangle 46"/>
          <p:cNvSpPr>
            <a:spLocks noChangeArrowheads="1"/>
          </p:cNvSpPr>
          <p:nvPr/>
        </p:nvSpPr>
        <p:spPr bwMode="auto">
          <a:xfrm>
            <a:off x="6546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5" name="Rectangle 47"/>
          <p:cNvSpPr>
            <a:spLocks noChangeArrowheads="1"/>
          </p:cNvSpPr>
          <p:nvPr/>
        </p:nvSpPr>
        <p:spPr bwMode="auto">
          <a:xfrm>
            <a:off x="6927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6" name="Rectangle 48"/>
          <p:cNvSpPr>
            <a:spLocks noChangeArrowheads="1"/>
          </p:cNvSpPr>
          <p:nvPr/>
        </p:nvSpPr>
        <p:spPr bwMode="auto">
          <a:xfrm>
            <a:off x="7308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7" name="Rectangle 49"/>
          <p:cNvSpPr>
            <a:spLocks noChangeArrowheads="1"/>
          </p:cNvSpPr>
          <p:nvPr/>
        </p:nvSpPr>
        <p:spPr bwMode="auto">
          <a:xfrm>
            <a:off x="7689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8" name="Rectangle 50"/>
          <p:cNvSpPr>
            <a:spLocks noChangeArrowheads="1"/>
          </p:cNvSpPr>
          <p:nvPr/>
        </p:nvSpPr>
        <p:spPr bwMode="auto">
          <a:xfrm>
            <a:off x="8070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19" name="Rectangle 51"/>
          <p:cNvSpPr>
            <a:spLocks noChangeArrowheads="1"/>
          </p:cNvSpPr>
          <p:nvPr/>
        </p:nvSpPr>
        <p:spPr bwMode="auto">
          <a:xfrm>
            <a:off x="8451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0" name="Rectangle 52"/>
          <p:cNvSpPr>
            <a:spLocks noChangeArrowheads="1"/>
          </p:cNvSpPr>
          <p:nvPr/>
        </p:nvSpPr>
        <p:spPr bwMode="auto">
          <a:xfrm>
            <a:off x="5022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1" name="Rectangle 53"/>
          <p:cNvSpPr>
            <a:spLocks noChangeArrowheads="1"/>
          </p:cNvSpPr>
          <p:nvPr/>
        </p:nvSpPr>
        <p:spPr bwMode="auto">
          <a:xfrm>
            <a:off x="5403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2" name="Rectangle 54"/>
          <p:cNvSpPr>
            <a:spLocks noChangeArrowheads="1"/>
          </p:cNvSpPr>
          <p:nvPr/>
        </p:nvSpPr>
        <p:spPr bwMode="auto">
          <a:xfrm>
            <a:off x="5784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3" name="Rectangle 55"/>
          <p:cNvSpPr>
            <a:spLocks noChangeArrowheads="1"/>
          </p:cNvSpPr>
          <p:nvPr/>
        </p:nvSpPr>
        <p:spPr bwMode="auto">
          <a:xfrm>
            <a:off x="6165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4" name="Rectangle 56"/>
          <p:cNvSpPr>
            <a:spLocks noChangeArrowheads="1"/>
          </p:cNvSpPr>
          <p:nvPr/>
        </p:nvSpPr>
        <p:spPr bwMode="auto">
          <a:xfrm>
            <a:off x="6546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5" name="Rectangle 57"/>
          <p:cNvSpPr>
            <a:spLocks noChangeArrowheads="1"/>
          </p:cNvSpPr>
          <p:nvPr/>
        </p:nvSpPr>
        <p:spPr bwMode="auto">
          <a:xfrm>
            <a:off x="6927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6" name="Rectangle 58"/>
          <p:cNvSpPr>
            <a:spLocks noChangeArrowheads="1"/>
          </p:cNvSpPr>
          <p:nvPr/>
        </p:nvSpPr>
        <p:spPr bwMode="auto">
          <a:xfrm>
            <a:off x="7308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7" name="Rectangle 59"/>
          <p:cNvSpPr>
            <a:spLocks noChangeArrowheads="1"/>
          </p:cNvSpPr>
          <p:nvPr/>
        </p:nvSpPr>
        <p:spPr bwMode="auto">
          <a:xfrm>
            <a:off x="7689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8" name="Rectangle 60"/>
          <p:cNvSpPr>
            <a:spLocks noChangeArrowheads="1"/>
          </p:cNvSpPr>
          <p:nvPr/>
        </p:nvSpPr>
        <p:spPr bwMode="auto">
          <a:xfrm>
            <a:off x="8070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29" name="Rectangle 61"/>
          <p:cNvSpPr>
            <a:spLocks noChangeArrowheads="1"/>
          </p:cNvSpPr>
          <p:nvPr/>
        </p:nvSpPr>
        <p:spPr bwMode="auto">
          <a:xfrm>
            <a:off x="8451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0" name="Rectangle 62"/>
          <p:cNvSpPr>
            <a:spLocks noChangeArrowheads="1"/>
          </p:cNvSpPr>
          <p:nvPr/>
        </p:nvSpPr>
        <p:spPr bwMode="auto">
          <a:xfrm>
            <a:off x="5022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1" name="Rectangle 63"/>
          <p:cNvSpPr>
            <a:spLocks noChangeArrowheads="1"/>
          </p:cNvSpPr>
          <p:nvPr/>
        </p:nvSpPr>
        <p:spPr bwMode="auto">
          <a:xfrm>
            <a:off x="5403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2" name="Rectangle 64"/>
          <p:cNvSpPr>
            <a:spLocks noChangeArrowheads="1"/>
          </p:cNvSpPr>
          <p:nvPr/>
        </p:nvSpPr>
        <p:spPr bwMode="auto">
          <a:xfrm>
            <a:off x="5784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3" name="Rectangle 65"/>
          <p:cNvSpPr>
            <a:spLocks noChangeArrowheads="1"/>
          </p:cNvSpPr>
          <p:nvPr/>
        </p:nvSpPr>
        <p:spPr bwMode="auto">
          <a:xfrm>
            <a:off x="6165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4" name="Rectangle 66"/>
          <p:cNvSpPr>
            <a:spLocks noChangeArrowheads="1"/>
          </p:cNvSpPr>
          <p:nvPr/>
        </p:nvSpPr>
        <p:spPr bwMode="auto">
          <a:xfrm>
            <a:off x="6546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5" name="Rectangle 67"/>
          <p:cNvSpPr>
            <a:spLocks noChangeArrowheads="1"/>
          </p:cNvSpPr>
          <p:nvPr/>
        </p:nvSpPr>
        <p:spPr bwMode="auto">
          <a:xfrm>
            <a:off x="6927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6" name="Rectangle 68"/>
          <p:cNvSpPr>
            <a:spLocks noChangeArrowheads="1"/>
          </p:cNvSpPr>
          <p:nvPr/>
        </p:nvSpPr>
        <p:spPr bwMode="auto">
          <a:xfrm>
            <a:off x="7308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7" name="Rectangle 69"/>
          <p:cNvSpPr>
            <a:spLocks noChangeArrowheads="1"/>
          </p:cNvSpPr>
          <p:nvPr/>
        </p:nvSpPr>
        <p:spPr bwMode="auto">
          <a:xfrm>
            <a:off x="7689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8" name="Rectangle 70"/>
          <p:cNvSpPr>
            <a:spLocks noChangeArrowheads="1"/>
          </p:cNvSpPr>
          <p:nvPr/>
        </p:nvSpPr>
        <p:spPr bwMode="auto">
          <a:xfrm>
            <a:off x="8070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39" name="Rectangle 71"/>
          <p:cNvSpPr>
            <a:spLocks noChangeArrowheads="1"/>
          </p:cNvSpPr>
          <p:nvPr/>
        </p:nvSpPr>
        <p:spPr bwMode="auto">
          <a:xfrm>
            <a:off x="8451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0" name="Rectangle 72"/>
          <p:cNvSpPr>
            <a:spLocks noChangeArrowheads="1"/>
          </p:cNvSpPr>
          <p:nvPr/>
        </p:nvSpPr>
        <p:spPr bwMode="auto">
          <a:xfrm>
            <a:off x="5022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1" name="Rectangle 73"/>
          <p:cNvSpPr>
            <a:spLocks noChangeArrowheads="1"/>
          </p:cNvSpPr>
          <p:nvPr/>
        </p:nvSpPr>
        <p:spPr bwMode="auto">
          <a:xfrm>
            <a:off x="5403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2" name="Rectangle 74"/>
          <p:cNvSpPr>
            <a:spLocks noChangeArrowheads="1"/>
          </p:cNvSpPr>
          <p:nvPr/>
        </p:nvSpPr>
        <p:spPr bwMode="auto">
          <a:xfrm>
            <a:off x="5784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3" name="Rectangle 75"/>
          <p:cNvSpPr>
            <a:spLocks noChangeArrowheads="1"/>
          </p:cNvSpPr>
          <p:nvPr/>
        </p:nvSpPr>
        <p:spPr bwMode="auto">
          <a:xfrm>
            <a:off x="6165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4" name="Rectangle 76"/>
          <p:cNvSpPr>
            <a:spLocks noChangeArrowheads="1"/>
          </p:cNvSpPr>
          <p:nvPr/>
        </p:nvSpPr>
        <p:spPr bwMode="auto">
          <a:xfrm>
            <a:off x="6546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5" name="Rectangle 77"/>
          <p:cNvSpPr>
            <a:spLocks noChangeArrowheads="1"/>
          </p:cNvSpPr>
          <p:nvPr/>
        </p:nvSpPr>
        <p:spPr bwMode="auto">
          <a:xfrm>
            <a:off x="6927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6" name="Rectangle 78"/>
          <p:cNvSpPr>
            <a:spLocks noChangeArrowheads="1"/>
          </p:cNvSpPr>
          <p:nvPr/>
        </p:nvSpPr>
        <p:spPr bwMode="auto">
          <a:xfrm>
            <a:off x="7308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7" name="Rectangle 79"/>
          <p:cNvSpPr>
            <a:spLocks noChangeArrowheads="1"/>
          </p:cNvSpPr>
          <p:nvPr/>
        </p:nvSpPr>
        <p:spPr bwMode="auto">
          <a:xfrm>
            <a:off x="7689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8" name="Rectangle 80"/>
          <p:cNvSpPr>
            <a:spLocks noChangeArrowheads="1"/>
          </p:cNvSpPr>
          <p:nvPr/>
        </p:nvSpPr>
        <p:spPr bwMode="auto">
          <a:xfrm>
            <a:off x="8070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49" name="Rectangle 81"/>
          <p:cNvSpPr>
            <a:spLocks noChangeArrowheads="1"/>
          </p:cNvSpPr>
          <p:nvPr/>
        </p:nvSpPr>
        <p:spPr bwMode="auto">
          <a:xfrm>
            <a:off x="8451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0" name="Rectangle 82"/>
          <p:cNvSpPr>
            <a:spLocks noChangeArrowheads="1"/>
          </p:cNvSpPr>
          <p:nvPr/>
        </p:nvSpPr>
        <p:spPr bwMode="auto">
          <a:xfrm>
            <a:off x="5022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1" name="Rectangle 83"/>
          <p:cNvSpPr>
            <a:spLocks noChangeArrowheads="1"/>
          </p:cNvSpPr>
          <p:nvPr/>
        </p:nvSpPr>
        <p:spPr bwMode="auto">
          <a:xfrm>
            <a:off x="5403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2" name="Rectangle 84"/>
          <p:cNvSpPr>
            <a:spLocks noChangeArrowheads="1"/>
          </p:cNvSpPr>
          <p:nvPr/>
        </p:nvSpPr>
        <p:spPr bwMode="auto">
          <a:xfrm>
            <a:off x="5784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3" name="Rectangle 85"/>
          <p:cNvSpPr>
            <a:spLocks noChangeArrowheads="1"/>
          </p:cNvSpPr>
          <p:nvPr/>
        </p:nvSpPr>
        <p:spPr bwMode="auto">
          <a:xfrm>
            <a:off x="6165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4" name="Rectangle 86"/>
          <p:cNvSpPr>
            <a:spLocks noChangeArrowheads="1"/>
          </p:cNvSpPr>
          <p:nvPr/>
        </p:nvSpPr>
        <p:spPr bwMode="auto">
          <a:xfrm>
            <a:off x="6546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5" name="Rectangle 87"/>
          <p:cNvSpPr>
            <a:spLocks noChangeArrowheads="1"/>
          </p:cNvSpPr>
          <p:nvPr/>
        </p:nvSpPr>
        <p:spPr bwMode="auto">
          <a:xfrm>
            <a:off x="6927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6" name="Rectangle 88"/>
          <p:cNvSpPr>
            <a:spLocks noChangeArrowheads="1"/>
          </p:cNvSpPr>
          <p:nvPr/>
        </p:nvSpPr>
        <p:spPr bwMode="auto">
          <a:xfrm>
            <a:off x="7308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7" name="Rectangle 89"/>
          <p:cNvSpPr>
            <a:spLocks noChangeArrowheads="1"/>
          </p:cNvSpPr>
          <p:nvPr/>
        </p:nvSpPr>
        <p:spPr bwMode="auto">
          <a:xfrm>
            <a:off x="7689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8" name="Rectangle 90"/>
          <p:cNvSpPr>
            <a:spLocks noChangeArrowheads="1"/>
          </p:cNvSpPr>
          <p:nvPr/>
        </p:nvSpPr>
        <p:spPr bwMode="auto">
          <a:xfrm>
            <a:off x="8070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59" name="Rectangle 91"/>
          <p:cNvSpPr>
            <a:spLocks noChangeArrowheads="1"/>
          </p:cNvSpPr>
          <p:nvPr/>
        </p:nvSpPr>
        <p:spPr bwMode="auto">
          <a:xfrm>
            <a:off x="8451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0" name="Rectangle 92"/>
          <p:cNvSpPr>
            <a:spLocks noChangeArrowheads="1"/>
          </p:cNvSpPr>
          <p:nvPr/>
        </p:nvSpPr>
        <p:spPr bwMode="auto">
          <a:xfrm>
            <a:off x="5022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1" name="Rectangle 93"/>
          <p:cNvSpPr>
            <a:spLocks noChangeArrowheads="1"/>
          </p:cNvSpPr>
          <p:nvPr/>
        </p:nvSpPr>
        <p:spPr bwMode="auto">
          <a:xfrm>
            <a:off x="5403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2" name="Rectangle 94"/>
          <p:cNvSpPr>
            <a:spLocks noChangeArrowheads="1"/>
          </p:cNvSpPr>
          <p:nvPr/>
        </p:nvSpPr>
        <p:spPr bwMode="auto">
          <a:xfrm>
            <a:off x="5784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3" name="Rectangle 95"/>
          <p:cNvSpPr>
            <a:spLocks noChangeArrowheads="1"/>
          </p:cNvSpPr>
          <p:nvPr/>
        </p:nvSpPr>
        <p:spPr bwMode="auto">
          <a:xfrm>
            <a:off x="6165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4" name="Rectangle 96"/>
          <p:cNvSpPr>
            <a:spLocks noChangeArrowheads="1"/>
          </p:cNvSpPr>
          <p:nvPr/>
        </p:nvSpPr>
        <p:spPr bwMode="auto">
          <a:xfrm>
            <a:off x="6546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5" name="Rectangle 97"/>
          <p:cNvSpPr>
            <a:spLocks noChangeArrowheads="1"/>
          </p:cNvSpPr>
          <p:nvPr/>
        </p:nvSpPr>
        <p:spPr bwMode="auto">
          <a:xfrm>
            <a:off x="6927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6" name="Rectangle 98"/>
          <p:cNvSpPr>
            <a:spLocks noChangeArrowheads="1"/>
          </p:cNvSpPr>
          <p:nvPr/>
        </p:nvSpPr>
        <p:spPr bwMode="auto">
          <a:xfrm>
            <a:off x="7308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7" name="Rectangle 99"/>
          <p:cNvSpPr>
            <a:spLocks noChangeArrowheads="1"/>
          </p:cNvSpPr>
          <p:nvPr/>
        </p:nvSpPr>
        <p:spPr bwMode="auto">
          <a:xfrm>
            <a:off x="7689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8" name="Rectangle 100"/>
          <p:cNvSpPr>
            <a:spLocks noChangeArrowheads="1"/>
          </p:cNvSpPr>
          <p:nvPr/>
        </p:nvSpPr>
        <p:spPr bwMode="auto">
          <a:xfrm>
            <a:off x="8070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69" name="Rectangle 101"/>
          <p:cNvSpPr>
            <a:spLocks noChangeArrowheads="1"/>
          </p:cNvSpPr>
          <p:nvPr/>
        </p:nvSpPr>
        <p:spPr bwMode="auto">
          <a:xfrm>
            <a:off x="8451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0" name="Line 102"/>
          <p:cNvSpPr>
            <a:spLocks noChangeShapeType="1"/>
          </p:cNvSpPr>
          <p:nvPr/>
        </p:nvSpPr>
        <p:spPr bwMode="auto">
          <a:xfrm>
            <a:off x="5022850" y="6038850"/>
            <a:ext cx="3810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71" name="Line 103"/>
          <p:cNvSpPr>
            <a:spLocks noChangeShapeType="1"/>
          </p:cNvSpPr>
          <p:nvPr/>
        </p:nvSpPr>
        <p:spPr bwMode="auto">
          <a:xfrm flipV="1">
            <a:off x="5022850" y="2228850"/>
            <a:ext cx="0" cy="3810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72" name="Oval 104"/>
          <p:cNvSpPr>
            <a:spLocks noChangeArrowheads="1"/>
          </p:cNvSpPr>
          <p:nvPr/>
        </p:nvSpPr>
        <p:spPr bwMode="auto">
          <a:xfrm>
            <a:off x="5403850" y="4743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3" name="Oval 105"/>
          <p:cNvSpPr>
            <a:spLocks noChangeArrowheads="1"/>
          </p:cNvSpPr>
          <p:nvPr/>
        </p:nvSpPr>
        <p:spPr bwMode="auto">
          <a:xfrm>
            <a:off x="6013450" y="5276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4" name="Rectangle 106"/>
          <p:cNvSpPr>
            <a:spLocks noChangeArrowheads="1"/>
          </p:cNvSpPr>
          <p:nvPr/>
        </p:nvSpPr>
        <p:spPr bwMode="auto">
          <a:xfrm>
            <a:off x="8321675" y="27114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5" name="Rectangle 107"/>
          <p:cNvSpPr>
            <a:spLocks noChangeArrowheads="1"/>
          </p:cNvSpPr>
          <p:nvPr/>
        </p:nvSpPr>
        <p:spPr bwMode="auto">
          <a:xfrm>
            <a:off x="7418388" y="33718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6" name="Rectangle 108"/>
          <p:cNvSpPr>
            <a:spLocks noChangeArrowheads="1"/>
          </p:cNvSpPr>
          <p:nvPr/>
        </p:nvSpPr>
        <p:spPr bwMode="auto">
          <a:xfrm>
            <a:off x="7994650" y="24574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7" name="Rectangle 109"/>
          <p:cNvSpPr>
            <a:spLocks noChangeArrowheads="1"/>
          </p:cNvSpPr>
          <p:nvPr/>
        </p:nvSpPr>
        <p:spPr bwMode="auto">
          <a:xfrm>
            <a:off x="8147050" y="34480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8" name="Rectangle 110"/>
          <p:cNvSpPr>
            <a:spLocks noChangeArrowheads="1"/>
          </p:cNvSpPr>
          <p:nvPr/>
        </p:nvSpPr>
        <p:spPr bwMode="auto">
          <a:xfrm>
            <a:off x="8675688" y="4278313"/>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79" name="Oval 111"/>
          <p:cNvSpPr>
            <a:spLocks noChangeArrowheads="1"/>
          </p:cNvSpPr>
          <p:nvPr/>
        </p:nvSpPr>
        <p:spPr bwMode="auto">
          <a:xfrm>
            <a:off x="5567363" y="411480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80" name="Oval 112"/>
          <p:cNvSpPr>
            <a:spLocks noChangeArrowheads="1"/>
          </p:cNvSpPr>
          <p:nvPr/>
        </p:nvSpPr>
        <p:spPr bwMode="auto">
          <a:xfrm>
            <a:off x="5175250" y="5581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81" name="Oval 113"/>
          <p:cNvSpPr>
            <a:spLocks noChangeArrowheads="1"/>
          </p:cNvSpPr>
          <p:nvPr/>
        </p:nvSpPr>
        <p:spPr bwMode="auto">
          <a:xfrm>
            <a:off x="5251450" y="4210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82" name="Text Box 114"/>
          <p:cNvSpPr txBox="1">
            <a:spLocks noChangeArrowheads="1"/>
          </p:cNvSpPr>
          <p:nvPr/>
        </p:nvSpPr>
        <p:spPr bwMode="auto">
          <a:xfrm>
            <a:off x="5175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a:t>
            </a:r>
          </a:p>
        </p:txBody>
      </p:sp>
      <p:sp>
        <p:nvSpPr>
          <p:cNvPr id="58483" name="Text Box 115"/>
          <p:cNvSpPr txBox="1">
            <a:spLocks noChangeArrowheads="1"/>
          </p:cNvSpPr>
          <p:nvPr/>
        </p:nvSpPr>
        <p:spPr bwMode="auto">
          <a:xfrm>
            <a:off x="5556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2</a:t>
            </a:r>
          </a:p>
        </p:txBody>
      </p:sp>
      <p:sp>
        <p:nvSpPr>
          <p:cNvPr id="58484" name="Text Box 116"/>
          <p:cNvSpPr txBox="1">
            <a:spLocks noChangeArrowheads="1"/>
          </p:cNvSpPr>
          <p:nvPr/>
        </p:nvSpPr>
        <p:spPr bwMode="auto">
          <a:xfrm>
            <a:off x="5937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3</a:t>
            </a:r>
          </a:p>
        </p:txBody>
      </p:sp>
      <p:sp>
        <p:nvSpPr>
          <p:cNvPr id="58485" name="Text Box 117"/>
          <p:cNvSpPr txBox="1">
            <a:spLocks noChangeArrowheads="1"/>
          </p:cNvSpPr>
          <p:nvPr/>
        </p:nvSpPr>
        <p:spPr bwMode="auto">
          <a:xfrm>
            <a:off x="6318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4</a:t>
            </a:r>
          </a:p>
        </p:txBody>
      </p:sp>
      <p:sp>
        <p:nvSpPr>
          <p:cNvPr id="58486" name="Text Box 118"/>
          <p:cNvSpPr txBox="1">
            <a:spLocks noChangeArrowheads="1"/>
          </p:cNvSpPr>
          <p:nvPr/>
        </p:nvSpPr>
        <p:spPr bwMode="auto">
          <a:xfrm>
            <a:off x="6699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5</a:t>
            </a:r>
          </a:p>
        </p:txBody>
      </p:sp>
      <p:sp>
        <p:nvSpPr>
          <p:cNvPr id="58487" name="Text Box 119"/>
          <p:cNvSpPr txBox="1">
            <a:spLocks noChangeArrowheads="1"/>
          </p:cNvSpPr>
          <p:nvPr/>
        </p:nvSpPr>
        <p:spPr bwMode="auto">
          <a:xfrm>
            <a:off x="7080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6</a:t>
            </a:r>
          </a:p>
        </p:txBody>
      </p:sp>
      <p:sp>
        <p:nvSpPr>
          <p:cNvPr id="58488" name="Text Box 120"/>
          <p:cNvSpPr txBox="1">
            <a:spLocks noChangeArrowheads="1"/>
          </p:cNvSpPr>
          <p:nvPr/>
        </p:nvSpPr>
        <p:spPr bwMode="auto">
          <a:xfrm>
            <a:off x="7461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7</a:t>
            </a:r>
          </a:p>
        </p:txBody>
      </p:sp>
      <p:sp>
        <p:nvSpPr>
          <p:cNvPr id="58489" name="Text Box 121"/>
          <p:cNvSpPr txBox="1">
            <a:spLocks noChangeArrowheads="1"/>
          </p:cNvSpPr>
          <p:nvPr/>
        </p:nvSpPr>
        <p:spPr bwMode="auto">
          <a:xfrm>
            <a:off x="7842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8</a:t>
            </a:r>
          </a:p>
        </p:txBody>
      </p:sp>
      <p:sp>
        <p:nvSpPr>
          <p:cNvPr id="58490" name="Text Box 122"/>
          <p:cNvSpPr txBox="1">
            <a:spLocks noChangeArrowheads="1"/>
          </p:cNvSpPr>
          <p:nvPr/>
        </p:nvSpPr>
        <p:spPr bwMode="auto">
          <a:xfrm>
            <a:off x="8223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9</a:t>
            </a:r>
          </a:p>
        </p:txBody>
      </p:sp>
      <p:sp>
        <p:nvSpPr>
          <p:cNvPr id="58491" name="Text Box 123"/>
          <p:cNvSpPr txBox="1">
            <a:spLocks noChangeArrowheads="1"/>
          </p:cNvSpPr>
          <p:nvPr/>
        </p:nvSpPr>
        <p:spPr bwMode="auto">
          <a:xfrm>
            <a:off x="8528050" y="611505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10</a:t>
            </a:r>
          </a:p>
        </p:txBody>
      </p:sp>
      <p:sp>
        <p:nvSpPr>
          <p:cNvPr id="58492" name="Oval 124"/>
          <p:cNvSpPr>
            <a:spLocks noChangeArrowheads="1"/>
          </p:cNvSpPr>
          <p:nvPr/>
        </p:nvSpPr>
        <p:spPr bwMode="auto">
          <a:xfrm>
            <a:off x="58610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3" name="Oval 125"/>
          <p:cNvSpPr>
            <a:spLocks noChangeArrowheads="1"/>
          </p:cNvSpPr>
          <p:nvPr/>
        </p:nvSpPr>
        <p:spPr bwMode="auto">
          <a:xfrm>
            <a:off x="5480050" y="5124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4" name="Oval 126"/>
          <p:cNvSpPr>
            <a:spLocks noChangeArrowheads="1"/>
          </p:cNvSpPr>
          <p:nvPr/>
        </p:nvSpPr>
        <p:spPr bwMode="auto">
          <a:xfrm>
            <a:off x="5632450" y="5429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5" name="Oval 127"/>
          <p:cNvSpPr>
            <a:spLocks noChangeArrowheads="1"/>
          </p:cNvSpPr>
          <p:nvPr/>
        </p:nvSpPr>
        <p:spPr bwMode="auto">
          <a:xfrm>
            <a:off x="60896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6" name="Oval 128"/>
          <p:cNvSpPr>
            <a:spLocks noChangeArrowheads="1"/>
          </p:cNvSpPr>
          <p:nvPr/>
        </p:nvSpPr>
        <p:spPr bwMode="auto">
          <a:xfrm>
            <a:off x="5327650" y="3829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7" name="Oval 129"/>
          <p:cNvSpPr>
            <a:spLocks noChangeArrowheads="1"/>
          </p:cNvSpPr>
          <p:nvPr/>
        </p:nvSpPr>
        <p:spPr bwMode="auto">
          <a:xfrm>
            <a:off x="5772150" y="37353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8" name="Oval 130"/>
          <p:cNvSpPr>
            <a:spLocks noChangeArrowheads="1"/>
          </p:cNvSpPr>
          <p:nvPr/>
        </p:nvSpPr>
        <p:spPr bwMode="auto">
          <a:xfrm>
            <a:off x="5480050" y="4591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499" name="Oval 131"/>
          <p:cNvSpPr>
            <a:spLocks noChangeArrowheads="1"/>
          </p:cNvSpPr>
          <p:nvPr/>
        </p:nvSpPr>
        <p:spPr bwMode="auto">
          <a:xfrm>
            <a:off x="5784850" y="4514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0" name="Oval 132"/>
          <p:cNvSpPr>
            <a:spLocks noChangeArrowheads="1"/>
          </p:cNvSpPr>
          <p:nvPr/>
        </p:nvSpPr>
        <p:spPr bwMode="auto">
          <a:xfrm>
            <a:off x="5175250" y="5048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1" name="Oval 133"/>
          <p:cNvSpPr>
            <a:spLocks noChangeArrowheads="1"/>
          </p:cNvSpPr>
          <p:nvPr/>
        </p:nvSpPr>
        <p:spPr bwMode="auto">
          <a:xfrm>
            <a:off x="5708650" y="4972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2" name="Oval 134"/>
          <p:cNvSpPr>
            <a:spLocks noChangeArrowheads="1"/>
          </p:cNvSpPr>
          <p:nvPr/>
        </p:nvSpPr>
        <p:spPr bwMode="auto">
          <a:xfrm>
            <a:off x="5175250" y="3295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3" name="Oval 135"/>
          <p:cNvSpPr>
            <a:spLocks noChangeArrowheads="1"/>
          </p:cNvSpPr>
          <p:nvPr/>
        </p:nvSpPr>
        <p:spPr bwMode="auto">
          <a:xfrm>
            <a:off x="5556250" y="4362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4" name="Oval 136"/>
          <p:cNvSpPr>
            <a:spLocks noChangeArrowheads="1"/>
          </p:cNvSpPr>
          <p:nvPr/>
        </p:nvSpPr>
        <p:spPr bwMode="auto">
          <a:xfrm>
            <a:off x="6013450" y="4895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5" name="Rectangle 137"/>
          <p:cNvSpPr>
            <a:spLocks noChangeArrowheads="1"/>
          </p:cNvSpPr>
          <p:nvPr/>
        </p:nvSpPr>
        <p:spPr bwMode="auto">
          <a:xfrm>
            <a:off x="7918450" y="32194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6" name="Rectangle 138"/>
          <p:cNvSpPr>
            <a:spLocks noChangeArrowheads="1"/>
          </p:cNvSpPr>
          <p:nvPr/>
        </p:nvSpPr>
        <p:spPr bwMode="auto">
          <a:xfrm>
            <a:off x="7766050" y="35242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7" name="Rectangle 139"/>
          <p:cNvSpPr>
            <a:spLocks noChangeArrowheads="1"/>
          </p:cNvSpPr>
          <p:nvPr/>
        </p:nvSpPr>
        <p:spPr bwMode="auto">
          <a:xfrm>
            <a:off x="7537450" y="31432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8" name="Rectangle 140"/>
          <p:cNvSpPr>
            <a:spLocks noChangeArrowheads="1"/>
          </p:cNvSpPr>
          <p:nvPr/>
        </p:nvSpPr>
        <p:spPr bwMode="auto">
          <a:xfrm>
            <a:off x="7537450" y="36004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09" name="Rectangle 141"/>
          <p:cNvSpPr>
            <a:spLocks noChangeArrowheads="1"/>
          </p:cNvSpPr>
          <p:nvPr/>
        </p:nvSpPr>
        <p:spPr bwMode="auto">
          <a:xfrm>
            <a:off x="8070850" y="29908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0" name="Rectangle 142"/>
          <p:cNvSpPr>
            <a:spLocks noChangeArrowheads="1"/>
          </p:cNvSpPr>
          <p:nvPr/>
        </p:nvSpPr>
        <p:spPr bwMode="auto">
          <a:xfrm>
            <a:off x="8223250" y="32194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1" name="Rectangle 143"/>
          <p:cNvSpPr>
            <a:spLocks noChangeArrowheads="1"/>
          </p:cNvSpPr>
          <p:nvPr/>
        </p:nvSpPr>
        <p:spPr bwMode="auto">
          <a:xfrm>
            <a:off x="7537450" y="23050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2" name="Rectangle 144"/>
          <p:cNvSpPr>
            <a:spLocks noChangeArrowheads="1"/>
          </p:cNvSpPr>
          <p:nvPr/>
        </p:nvSpPr>
        <p:spPr bwMode="auto">
          <a:xfrm>
            <a:off x="8528050" y="22288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3" name="Rectangle 145"/>
          <p:cNvSpPr>
            <a:spLocks noChangeArrowheads="1"/>
          </p:cNvSpPr>
          <p:nvPr/>
        </p:nvSpPr>
        <p:spPr bwMode="auto">
          <a:xfrm>
            <a:off x="7570788" y="2720975"/>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4" name="Rectangle 146"/>
          <p:cNvSpPr>
            <a:spLocks noChangeArrowheads="1"/>
          </p:cNvSpPr>
          <p:nvPr/>
        </p:nvSpPr>
        <p:spPr bwMode="auto">
          <a:xfrm>
            <a:off x="8223250" y="37528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5" name="Rectangle 147"/>
          <p:cNvSpPr>
            <a:spLocks noChangeArrowheads="1"/>
          </p:cNvSpPr>
          <p:nvPr/>
        </p:nvSpPr>
        <p:spPr bwMode="auto">
          <a:xfrm>
            <a:off x="8147050" y="27622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6" name="Rectangle 148"/>
          <p:cNvSpPr>
            <a:spLocks noChangeArrowheads="1"/>
          </p:cNvSpPr>
          <p:nvPr/>
        </p:nvSpPr>
        <p:spPr bwMode="auto">
          <a:xfrm>
            <a:off x="7689850" y="29146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7" name="Rectangle 149"/>
          <p:cNvSpPr>
            <a:spLocks noChangeArrowheads="1"/>
          </p:cNvSpPr>
          <p:nvPr/>
        </p:nvSpPr>
        <p:spPr bwMode="auto">
          <a:xfrm>
            <a:off x="7232650" y="30670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8" name="Rectangle 150"/>
          <p:cNvSpPr>
            <a:spLocks noChangeArrowheads="1"/>
          </p:cNvSpPr>
          <p:nvPr/>
        </p:nvSpPr>
        <p:spPr bwMode="auto">
          <a:xfrm>
            <a:off x="8528050" y="29908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19" name="Rectangle 151"/>
          <p:cNvSpPr>
            <a:spLocks noChangeArrowheads="1"/>
          </p:cNvSpPr>
          <p:nvPr/>
        </p:nvSpPr>
        <p:spPr bwMode="auto">
          <a:xfrm>
            <a:off x="7842250" y="38290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0" name="Rectangle 152"/>
          <p:cNvSpPr>
            <a:spLocks noChangeArrowheads="1"/>
          </p:cNvSpPr>
          <p:nvPr/>
        </p:nvSpPr>
        <p:spPr bwMode="auto">
          <a:xfrm>
            <a:off x="8451850" y="39052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1" name="Oval 153"/>
          <p:cNvSpPr>
            <a:spLocks noChangeArrowheads="1"/>
          </p:cNvSpPr>
          <p:nvPr/>
        </p:nvSpPr>
        <p:spPr bwMode="auto">
          <a:xfrm>
            <a:off x="6240463" y="47529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2" name="Oval 154"/>
          <p:cNvSpPr>
            <a:spLocks noChangeArrowheads="1"/>
          </p:cNvSpPr>
          <p:nvPr/>
        </p:nvSpPr>
        <p:spPr bwMode="auto">
          <a:xfrm>
            <a:off x="5922963" y="41259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3" name="Oval 155"/>
          <p:cNvSpPr>
            <a:spLocks noChangeArrowheads="1"/>
          </p:cNvSpPr>
          <p:nvPr/>
        </p:nvSpPr>
        <p:spPr bwMode="auto">
          <a:xfrm>
            <a:off x="6042025" y="44545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4" name="Oval 156"/>
          <p:cNvSpPr>
            <a:spLocks noChangeArrowheads="1"/>
          </p:cNvSpPr>
          <p:nvPr/>
        </p:nvSpPr>
        <p:spPr bwMode="auto">
          <a:xfrm>
            <a:off x="6378575" y="44561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5" name="Oval 157"/>
          <p:cNvSpPr>
            <a:spLocks noChangeArrowheads="1"/>
          </p:cNvSpPr>
          <p:nvPr/>
        </p:nvSpPr>
        <p:spPr bwMode="auto">
          <a:xfrm>
            <a:off x="6254750" y="501173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6" name="Oval 158"/>
          <p:cNvSpPr>
            <a:spLocks noChangeArrowheads="1"/>
          </p:cNvSpPr>
          <p:nvPr/>
        </p:nvSpPr>
        <p:spPr bwMode="auto">
          <a:xfrm>
            <a:off x="5173663" y="45942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7" name="Oval 159"/>
          <p:cNvSpPr>
            <a:spLocks noChangeArrowheads="1"/>
          </p:cNvSpPr>
          <p:nvPr/>
        </p:nvSpPr>
        <p:spPr bwMode="auto">
          <a:xfrm>
            <a:off x="5402263" y="53990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8" name="Oval 160"/>
          <p:cNvSpPr>
            <a:spLocks noChangeArrowheads="1"/>
          </p:cNvSpPr>
          <p:nvPr/>
        </p:nvSpPr>
        <p:spPr bwMode="auto">
          <a:xfrm>
            <a:off x="5856288" y="43529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29" name="Oval 161"/>
          <p:cNvSpPr>
            <a:spLocks noChangeArrowheads="1"/>
          </p:cNvSpPr>
          <p:nvPr/>
        </p:nvSpPr>
        <p:spPr bwMode="auto">
          <a:xfrm>
            <a:off x="5799138" y="52101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0" name="Oval 162"/>
          <p:cNvSpPr>
            <a:spLocks noChangeArrowheads="1"/>
          </p:cNvSpPr>
          <p:nvPr/>
        </p:nvSpPr>
        <p:spPr bwMode="auto">
          <a:xfrm>
            <a:off x="5137150" y="58308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1" name="Rectangle 163"/>
          <p:cNvSpPr>
            <a:spLocks noChangeArrowheads="1"/>
          </p:cNvSpPr>
          <p:nvPr/>
        </p:nvSpPr>
        <p:spPr bwMode="auto">
          <a:xfrm>
            <a:off x="8440738" y="3641725"/>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2" name="Rectangle 164"/>
          <p:cNvSpPr>
            <a:spLocks noChangeArrowheads="1"/>
          </p:cNvSpPr>
          <p:nvPr/>
        </p:nvSpPr>
        <p:spPr bwMode="auto">
          <a:xfrm>
            <a:off x="7847013" y="2668588"/>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3" name="Rectangle 165"/>
          <p:cNvSpPr>
            <a:spLocks noChangeArrowheads="1"/>
          </p:cNvSpPr>
          <p:nvPr/>
        </p:nvSpPr>
        <p:spPr bwMode="auto">
          <a:xfrm>
            <a:off x="7143750" y="3308350"/>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4" name="Rectangle 166"/>
          <p:cNvSpPr>
            <a:spLocks noChangeArrowheads="1"/>
          </p:cNvSpPr>
          <p:nvPr/>
        </p:nvSpPr>
        <p:spPr bwMode="auto">
          <a:xfrm>
            <a:off x="8150225" y="4073525"/>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5" name="Rectangle 167"/>
          <p:cNvSpPr>
            <a:spLocks noChangeArrowheads="1"/>
          </p:cNvSpPr>
          <p:nvPr/>
        </p:nvSpPr>
        <p:spPr bwMode="auto">
          <a:xfrm>
            <a:off x="8470900" y="3268663"/>
            <a:ext cx="152400" cy="1524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6" name="Oval 168"/>
          <p:cNvSpPr>
            <a:spLocks noChangeArrowheads="1"/>
          </p:cNvSpPr>
          <p:nvPr/>
        </p:nvSpPr>
        <p:spPr bwMode="auto">
          <a:xfrm>
            <a:off x="5646738" y="4689475"/>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7" name="Oval 169"/>
          <p:cNvSpPr>
            <a:spLocks noChangeArrowheads="1"/>
          </p:cNvSpPr>
          <p:nvPr/>
        </p:nvSpPr>
        <p:spPr bwMode="auto">
          <a:xfrm>
            <a:off x="7921625" y="3138488"/>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8538" name="Rectangle 170"/>
          <p:cNvSpPr>
            <a:spLocks noChangeArrowheads="1"/>
          </p:cNvSpPr>
          <p:nvPr/>
        </p:nvSpPr>
        <p:spPr bwMode="auto">
          <a:xfrm>
            <a:off x="1765300" y="1573213"/>
            <a:ext cx="553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 When k = 2, the objective function is 173.1</a:t>
            </a:r>
          </a:p>
        </p:txBody>
      </p:sp>
      <p:sp>
        <p:nvSpPr>
          <p:cNvPr id="58539" name="TextBox 170"/>
          <p:cNvSpPr txBox="1">
            <a:spLocks noChangeArrowheads="1"/>
          </p:cNvSpPr>
          <p:nvPr/>
        </p:nvSpPr>
        <p:spPr bwMode="auto">
          <a:xfrm>
            <a:off x="0" y="6488113"/>
            <a:ext cx="425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2307310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5022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395" name="Rectangle 3"/>
          <p:cNvSpPr>
            <a:spLocks noChangeArrowheads="1"/>
          </p:cNvSpPr>
          <p:nvPr/>
        </p:nvSpPr>
        <p:spPr bwMode="auto">
          <a:xfrm>
            <a:off x="5403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396" name="Rectangle 4"/>
          <p:cNvSpPr>
            <a:spLocks noChangeArrowheads="1"/>
          </p:cNvSpPr>
          <p:nvPr/>
        </p:nvSpPr>
        <p:spPr bwMode="auto">
          <a:xfrm>
            <a:off x="5784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397" name="Rectangle 5"/>
          <p:cNvSpPr>
            <a:spLocks noChangeArrowheads="1"/>
          </p:cNvSpPr>
          <p:nvPr/>
        </p:nvSpPr>
        <p:spPr bwMode="auto">
          <a:xfrm>
            <a:off x="6165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398" name="Rectangle 6"/>
          <p:cNvSpPr>
            <a:spLocks noChangeArrowheads="1"/>
          </p:cNvSpPr>
          <p:nvPr/>
        </p:nvSpPr>
        <p:spPr bwMode="auto">
          <a:xfrm>
            <a:off x="6546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399" name="Rectangle 7"/>
          <p:cNvSpPr>
            <a:spLocks noChangeArrowheads="1"/>
          </p:cNvSpPr>
          <p:nvPr/>
        </p:nvSpPr>
        <p:spPr bwMode="auto">
          <a:xfrm>
            <a:off x="6927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0" name="Rectangle 8"/>
          <p:cNvSpPr>
            <a:spLocks noChangeArrowheads="1"/>
          </p:cNvSpPr>
          <p:nvPr/>
        </p:nvSpPr>
        <p:spPr bwMode="auto">
          <a:xfrm>
            <a:off x="7308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1" name="Rectangle 9"/>
          <p:cNvSpPr>
            <a:spLocks noChangeArrowheads="1"/>
          </p:cNvSpPr>
          <p:nvPr/>
        </p:nvSpPr>
        <p:spPr bwMode="auto">
          <a:xfrm>
            <a:off x="7689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2" name="Rectangle 10"/>
          <p:cNvSpPr>
            <a:spLocks noChangeArrowheads="1"/>
          </p:cNvSpPr>
          <p:nvPr/>
        </p:nvSpPr>
        <p:spPr bwMode="auto">
          <a:xfrm>
            <a:off x="8070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3" name="Rectangle 11"/>
          <p:cNvSpPr>
            <a:spLocks noChangeArrowheads="1"/>
          </p:cNvSpPr>
          <p:nvPr/>
        </p:nvSpPr>
        <p:spPr bwMode="auto">
          <a:xfrm>
            <a:off x="8451850" y="5657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4" name="Rectangle 12"/>
          <p:cNvSpPr>
            <a:spLocks noChangeArrowheads="1"/>
          </p:cNvSpPr>
          <p:nvPr/>
        </p:nvSpPr>
        <p:spPr bwMode="auto">
          <a:xfrm>
            <a:off x="5022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5" name="Rectangle 13"/>
          <p:cNvSpPr>
            <a:spLocks noChangeArrowheads="1"/>
          </p:cNvSpPr>
          <p:nvPr/>
        </p:nvSpPr>
        <p:spPr bwMode="auto">
          <a:xfrm>
            <a:off x="5403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6" name="Rectangle 14"/>
          <p:cNvSpPr>
            <a:spLocks noChangeArrowheads="1"/>
          </p:cNvSpPr>
          <p:nvPr/>
        </p:nvSpPr>
        <p:spPr bwMode="auto">
          <a:xfrm>
            <a:off x="5784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7" name="Rectangle 15"/>
          <p:cNvSpPr>
            <a:spLocks noChangeArrowheads="1"/>
          </p:cNvSpPr>
          <p:nvPr/>
        </p:nvSpPr>
        <p:spPr bwMode="auto">
          <a:xfrm>
            <a:off x="6165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8" name="Rectangle 16"/>
          <p:cNvSpPr>
            <a:spLocks noChangeArrowheads="1"/>
          </p:cNvSpPr>
          <p:nvPr/>
        </p:nvSpPr>
        <p:spPr bwMode="auto">
          <a:xfrm>
            <a:off x="6546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09" name="Rectangle 17"/>
          <p:cNvSpPr>
            <a:spLocks noChangeArrowheads="1"/>
          </p:cNvSpPr>
          <p:nvPr/>
        </p:nvSpPr>
        <p:spPr bwMode="auto">
          <a:xfrm>
            <a:off x="6927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0" name="Rectangle 18"/>
          <p:cNvSpPr>
            <a:spLocks noChangeArrowheads="1"/>
          </p:cNvSpPr>
          <p:nvPr/>
        </p:nvSpPr>
        <p:spPr bwMode="auto">
          <a:xfrm>
            <a:off x="7308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1" name="Rectangle 19"/>
          <p:cNvSpPr>
            <a:spLocks noChangeArrowheads="1"/>
          </p:cNvSpPr>
          <p:nvPr/>
        </p:nvSpPr>
        <p:spPr bwMode="auto">
          <a:xfrm>
            <a:off x="7689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2" name="Rectangle 20"/>
          <p:cNvSpPr>
            <a:spLocks noChangeArrowheads="1"/>
          </p:cNvSpPr>
          <p:nvPr/>
        </p:nvSpPr>
        <p:spPr bwMode="auto">
          <a:xfrm>
            <a:off x="8070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3" name="Rectangle 21"/>
          <p:cNvSpPr>
            <a:spLocks noChangeArrowheads="1"/>
          </p:cNvSpPr>
          <p:nvPr/>
        </p:nvSpPr>
        <p:spPr bwMode="auto">
          <a:xfrm>
            <a:off x="8451850" y="5276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4" name="Rectangle 22"/>
          <p:cNvSpPr>
            <a:spLocks noChangeArrowheads="1"/>
          </p:cNvSpPr>
          <p:nvPr/>
        </p:nvSpPr>
        <p:spPr bwMode="auto">
          <a:xfrm>
            <a:off x="5022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5" name="Rectangle 23"/>
          <p:cNvSpPr>
            <a:spLocks noChangeArrowheads="1"/>
          </p:cNvSpPr>
          <p:nvPr/>
        </p:nvSpPr>
        <p:spPr bwMode="auto">
          <a:xfrm>
            <a:off x="5403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6" name="Rectangle 24"/>
          <p:cNvSpPr>
            <a:spLocks noChangeArrowheads="1"/>
          </p:cNvSpPr>
          <p:nvPr/>
        </p:nvSpPr>
        <p:spPr bwMode="auto">
          <a:xfrm>
            <a:off x="5784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7" name="Rectangle 25"/>
          <p:cNvSpPr>
            <a:spLocks noChangeArrowheads="1"/>
          </p:cNvSpPr>
          <p:nvPr/>
        </p:nvSpPr>
        <p:spPr bwMode="auto">
          <a:xfrm>
            <a:off x="6165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8" name="Rectangle 26"/>
          <p:cNvSpPr>
            <a:spLocks noChangeArrowheads="1"/>
          </p:cNvSpPr>
          <p:nvPr/>
        </p:nvSpPr>
        <p:spPr bwMode="auto">
          <a:xfrm>
            <a:off x="6546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19" name="Rectangle 27"/>
          <p:cNvSpPr>
            <a:spLocks noChangeArrowheads="1"/>
          </p:cNvSpPr>
          <p:nvPr/>
        </p:nvSpPr>
        <p:spPr bwMode="auto">
          <a:xfrm>
            <a:off x="6927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0" name="Rectangle 28"/>
          <p:cNvSpPr>
            <a:spLocks noChangeArrowheads="1"/>
          </p:cNvSpPr>
          <p:nvPr/>
        </p:nvSpPr>
        <p:spPr bwMode="auto">
          <a:xfrm>
            <a:off x="7308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1" name="Rectangle 29"/>
          <p:cNvSpPr>
            <a:spLocks noChangeArrowheads="1"/>
          </p:cNvSpPr>
          <p:nvPr/>
        </p:nvSpPr>
        <p:spPr bwMode="auto">
          <a:xfrm>
            <a:off x="7689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2" name="Rectangle 30"/>
          <p:cNvSpPr>
            <a:spLocks noChangeArrowheads="1"/>
          </p:cNvSpPr>
          <p:nvPr/>
        </p:nvSpPr>
        <p:spPr bwMode="auto">
          <a:xfrm>
            <a:off x="8070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3" name="Rectangle 31"/>
          <p:cNvSpPr>
            <a:spLocks noChangeArrowheads="1"/>
          </p:cNvSpPr>
          <p:nvPr/>
        </p:nvSpPr>
        <p:spPr bwMode="auto">
          <a:xfrm>
            <a:off x="8451850" y="4895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4" name="Rectangle 32"/>
          <p:cNvSpPr>
            <a:spLocks noChangeArrowheads="1"/>
          </p:cNvSpPr>
          <p:nvPr/>
        </p:nvSpPr>
        <p:spPr bwMode="auto">
          <a:xfrm>
            <a:off x="5022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5" name="Rectangle 33"/>
          <p:cNvSpPr>
            <a:spLocks noChangeArrowheads="1"/>
          </p:cNvSpPr>
          <p:nvPr/>
        </p:nvSpPr>
        <p:spPr bwMode="auto">
          <a:xfrm>
            <a:off x="5403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6" name="Rectangle 34"/>
          <p:cNvSpPr>
            <a:spLocks noChangeArrowheads="1"/>
          </p:cNvSpPr>
          <p:nvPr/>
        </p:nvSpPr>
        <p:spPr bwMode="auto">
          <a:xfrm>
            <a:off x="5784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7" name="Rectangle 35"/>
          <p:cNvSpPr>
            <a:spLocks noChangeArrowheads="1"/>
          </p:cNvSpPr>
          <p:nvPr/>
        </p:nvSpPr>
        <p:spPr bwMode="auto">
          <a:xfrm>
            <a:off x="6165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8" name="Rectangle 36"/>
          <p:cNvSpPr>
            <a:spLocks noChangeArrowheads="1"/>
          </p:cNvSpPr>
          <p:nvPr/>
        </p:nvSpPr>
        <p:spPr bwMode="auto">
          <a:xfrm>
            <a:off x="6546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29" name="Rectangle 37"/>
          <p:cNvSpPr>
            <a:spLocks noChangeArrowheads="1"/>
          </p:cNvSpPr>
          <p:nvPr/>
        </p:nvSpPr>
        <p:spPr bwMode="auto">
          <a:xfrm>
            <a:off x="6927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0" name="Rectangle 38"/>
          <p:cNvSpPr>
            <a:spLocks noChangeArrowheads="1"/>
          </p:cNvSpPr>
          <p:nvPr/>
        </p:nvSpPr>
        <p:spPr bwMode="auto">
          <a:xfrm>
            <a:off x="7308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1" name="Rectangle 39"/>
          <p:cNvSpPr>
            <a:spLocks noChangeArrowheads="1"/>
          </p:cNvSpPr>
          <p:nvPr/>
        </p:nvSpPr>
        <p:spPr bwMode="auto">
          <a:xfrm>
            <a:off x="7689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2" name="Rectangle 40"/>
          <p:cNvSpPr>
            <a:spLocks noChangeArrowheads="1"/>
          </p:cNvSpPr>
          <p:nvPr/>
        </p:nvSpPr>
        <p:spPr bwMode="auto">
          <a:xfrm>
            <a:off x="8070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3" name="Rectangle 41"/>
          <p:cNvSpPr>
            <a:spLocks noChangeArrowheads="1"/>
          </p:cNvSpPr>
          <p:nvPr/>
        </p:nvSpPr>
        <p:spPr bwMode="auto">
          <a:xfrm>
            <a:off x="8451850" y="4514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4" name="Rectangle 42"/>
          <p:cNvSpPr>
            <a:spLocks noChangeArrowheads="1"/>
          </p:cNvSpPr>
          <p:nvPr/>
        </p:nvSpPr>
        <p:spPr bwMode="auto">
          <a:xfrm>
            <a:off x="5022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5" name="Rectangle 43"/>
          <p:cNvSpPr>
            <a:spLocks noChangeArrowheads="1"/>
          </p:cNvSpPr>
          <p:nvPr/>
        </p:nvSpPr>
        <p:spPr bwMode="auto">
          <a:xfrm>
            <a:off x="5403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6" name="Rectangle 44"/>
          <p:cNvSpPr>
            <a:spLocks noChangeArrowheads="1"/>
          </p:cNvSpPr>
          <p:nvPr/>
        </p:nvSpPr>
        <p:spPr bwMode="auto">
          <a:xfrm>
            <a:off x="5784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7" name="Rectangle 45"/>
          <p:cNvSpPr>
            <a:spLocks noChangeArrowheads="1"/>
          </p:cNvSpPr>
          <p:nvPr/>
        </p:nvSpPr>
        <p:spPr bwMode="auto">
          <a:xfrm>
            <a:off x="6165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8" name="Rectangle 46"/>
          <p:cNvSpPr>
            <a:spLocks noChangeArrowheads="1"/>
          </p:cNvSpPr>
          <p:nvPr/>
        </p:nvSpPr>
        <p:spPr bwMode="auto">
          <a:xfrm>
            <a:off x="6546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39" name="Rectangle 47"/>
          <p:cNvSpPr>
            <a:spLocks noChangeArrowheads="1"/>
          </p:cNvSpPr>
          <p:nvPr/>
        </p:nvSpPr>
        <p:spPr bwMode="auto">
          <a:xfrm>
            <a:off x="6927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0" name="Rectangle 48"/>
          <p:cNvSpPr>
            <a:spLocks noChangeArrowheads="1"/>
          </p:cNvSpPr>
          <p:nvPr/>
        </p:nvSpPr>
        <p:spPr bwMode="auto">
          <a:xfrm>
            <a:off x="7308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1" name="Rectangle 49"/>
          <p:cNvSpPr>
            <a:spLocks noChangeArrowheads="1"/>
          </p:cNvSpPr>
          <p:nvPr/>
        </p:nvSpPr>
        <p:spPr bwMode="auto">
          <a:xfrm>
            <a:off x="7689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2" name="Rectangle 50"/>
          <p:cNvSpPr>
            <a:spLocks noChangeArrowheads="1"/>
          </p:cNvSpPr>
          <p:nvPr/>
        </p:nvSpPr>
        <p:spPr bwMode="auto">
          <a:xfrm>
            <a:off x="8070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3" name="Rectangle 51"/>
          <p:cNvSpPr>
            <a:spLocks noChangeArrowheads="1"/>
          </p:cNvSpPr>
          <p:nvPr/>
        </p:nvSpPr>
        <p:spPr bwMode="auto">
          <a:xfrm>
            <a:off x="8451850" y="4133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4" name="Rectangle 52"/>
          <p:cNvSpPr>
            <a:spLocks noChangeArrowheads="1"/>
          </p:cNvSpPr>
          <p:nvPr/>
        </p:nvSpPr>
        <p:spPr bwMode="auto">
          <a:xfrm>
            <a:off x="5022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5" name="Rectangle 53"/>
          <p:cNvSpPr>
            <a:spLocks noChangeArrowheads="1"/>
          </p:cNvSpPr>
          <p:nvPr/>
        </p:nvSpPr>
        <p:spPr bwMode="auto">
          <a:xfrm>
            <a:off x="5403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6" name="Rectangle 54"/>
          <p:cNvSpPr>
            <a:spLocks noChangeArrowheads="1"/>
          </p:cNvSpPr>
          <p:nvPr/>
        </p:nvSpPr>
        <p:spPr bwMode="auto">
          <a:xfrm>
            <a:off x="5784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7" name="Rectangle 55"/>
          <p:cNvSpPr>
            <a:spLocks noChangeArrowheads="1"/>
          </p:cNvSpPr>
          <p:nvPr/>
        </p:nvSpPr>
        <p:spPr bwMode="auto">
          <a:xfrm>
            <a:off x="6165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8" name="Rectangle 56"/>
          <p:cNvSpPr>
            <a:spLocks noChangeArrowheads="1"/>
          </p:cNvSpPr>
          <p:nvPr/>
        </p:nvSpPr>
        <p:spPr bwMode="auto">
          <a:xfrm>
            <a:off x="6546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49" name="Rectangle 57"/>
          <p:cNvSpPr>
            <a:spLocks noChangeArrowheads="1"/>
          </p:cNvSpPr>
          <p:nvPr/>
        </p:nvSpPr>
        <p:spPr bwMode="auto">
          <a:xfrm>
            <a:off x="6927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0" name="Rectangle 58"/>
          <p:cNvSpPr>
            <a:spLocks noChangeArrowheads="1"/>
          </p:cNvSpPr>
          <p:nvPr/>
        </p:nvSpPr>
        <p:spPr bwMode="auto">
          <a:xfrm>
            <a:off x="7308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1" name="Rectangle 59"/>
          <p:cNvSpPr>
            <a:spLocks noChangeArrowheads="1"/>
          </p:cNvSpPr>
          <p:nvPr/>
        </p:nvSpPr>
        <p:spPr bwMode="auto">
          <a:xfrm>
            <a:off x="7689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2" name="Rectangle 60"/>
          <p:cNvSpPr>
            <a:spLocks noChangeArrowheads="1"/>
          </p:cNvSpPr>
          <p:nvPr/>
        </p:nvSpPr>
        <p:spPr bwMode="auto">
          <a:xfrm>
            <a:off x="8070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3" name="Rectangle 61"/>
          <p:cNvSpPr>
            <a:spLocks noChangeArrowheads="1"/>
          </p:cNvSpPr>
          <p:nvPr/>
        </p:nvSpPr>
        <p:spPr bwMode="auto">
          <a:xfrm>
            <a:off x="8451850" y="3752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4" name="Rectangle 62"/>
          <p:cNvSpPr>
            <a:spLocks noChangeArrowheads="1"/>
          </p:cNvSpPr>
          <p:nvPr/>
        </p:nvSpPr>
        <p:spPr bwMode="auto">
          <a:xfrm>
            <a:off x="5022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5" name="Rectangle 63"/>
          <p:cNvSpPr>
            <a:spLocks noChangeArrowheads="1"/>
          </p:cNvSpPr>
          <p:nvPr/>
        </p:nvSpPr>
        <p:spPr bwMode="auto">
          <a:xfrm>
            <a:off x="5403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6" name="Rectangle 64"/>
          <p:cNvSpPr>
            <a:spLocks noChangeArrowheads="1"/>
          </p:cNvSpPr>
          <p:nvPr/>
        </p:nvSpPr>
        <p:spPr bwMode="auto">
          <a:xfrm>
            <a:off x="5784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7" name="Rectangle 65"/>
          <p:cNvSpPr>
            <a:spLocks noChangeArrowheads="1"/>
          </p:cNvSpPr>
          <p:nvPr/>
        </p:nvSpPr>
        <p:spPr bwMode="auto">
          <a:xfrm>
            <a:off x="6165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8" name="Rectangle 66"/>
          <p:cNvSpPr>
            <a:spLocks noChangeArrowheads="1"/>
          </p:cNvSpPr>
          <p:nvPr/>
        </p:nvSpPr>
        <p:spPr bwMode="auto">
          <a:xfrm>
            <a:off x="6546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59" name="Rectangle 67"/>
          <p:cNvSpPr>
            <a:spLocks noChangeArrowheads="1"/>
          </p:cNvSpPr>
          <p:nvPr/>
        </p:nvSpPr>
        <p:spPr bwMode="auto">
          <a:xfrm>
            <a:off x="6927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0" name="Rectangle 68"/>
          <p:cNvSpPr>
            <a:spLocks noChangeArrowheads="1"/>
          </p:cNvSpPr>
          <p:nvPr/>
        </p:nvSpPr>
        <p:spPr bwMode="auto">
          <a:xfrm>
            <a:off x="7308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1" name="Rectangle 69"/>
          <p:cNvSpPr>
            <a:spLocks noChangeArrowheads="1"/>
          </p:cNvSpPr>
          <p:nvPr/>
        </p:nvSpPr>
        <p:spPr bwMode="auto">
          <a:xfrm>
            <a:off x="7689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2" name="Rectangle 70"/>
          <p:cNvSpPr>
            <a:spLocks noChangeArrowheads="1"/>
          </p:cNvSpPr>
          <p:nvPr/>
        </p:nvSpPr>
        <p:spPr bwMode="auto">
          <a:xfrm>
            <a:off x="8070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3" name="Rectangle 71"/>
          <p:cNvSpPr>
            <a:spLocks noChangeArrowheads="1"/>
          </p:cNvSpPr>
          <p:nvPr/>
        </p:nvSpPr>
        <p:spPr bwMode="auto">
          <a:xfrm>
            <a:off x="8451850" y="3371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4" name="Rectangle 72"/>
          <p:cNvSpPr>
            <a:spLocks noChangeArrowheads="1"/>
          </p:cNvSpPr>
          <p:nvPr/>
        </p:nvSpPr>
        <p:spPr bwMode="auto">
          <a:xfrm>
            <a:off x="5022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5" name="Rectangle 73"/>
          <p:cNvSpPr>
            <a:spLocks noChangeArrowheads="1"/>
          </p:cNvSpPr>
          <p:nvPr/>
        </p:nvSpPr>
        <p:spPr bwMode="auto">
          <a:xfrm>
            <a:off x="5403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6" name="Rectangle 74"/>
          <p:cNvSpPr>
            <a:spLocks noChangeArrowheads="1"/>
          </p:cNvSpPr>
          <p:nvPr/>
        </p:nvSpPr>
        <p:spPr bwMode="auto">
          <a:xfrm>
            <a:off x="5784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7" name="Rectangle 75"/>
          <p:cNvSpPr>
            <a:spLocks noChangeArrowheads="1"/>
          </p:cNvSpPr>
          <p:nvPr/>
        </p:nvSpPr>
        <p:spPr bwMode="auto">
          <a:xfrm>
            <a:off x="6165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8" name="Rectangle 76"/>
          <p:cNvSpPr>
            <a:spLocks noChangeArrowheads="1"/>
          </p:cNvSpPr>
          <p:nvPr/>
        </p:nvSpPr>
        <p:spPr bwMode="auto">
          <a:xfrm>
            <a:off x="6546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69" name="Rectangle 77"/>
          <p:cNvSpPr>
            <a:spLocks noChangeArrowheads="1"/>
          </p:cNvSpPr>
          <p:nvPr/>
        </p:nvSpPr>
        <p:spPr bwMode="auto">
          <a:xfrm>
            <a:off x="6927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0" name="Rectangle 78"/>
          <p:cNvSpPr>
            <a:spLocks noChangeArrowheads="1"/>
          </p:cNvSpPr>
          <p:nvPr/>
        </p:nvSpPr>
        <p:spPr bwMode="auto">
          <a:xfrm>
            <a:off x="7308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1" name="Rectangle 79"/>
          <p:cNvSpPr>
            <a:spLocks noChangeArrowheads="1"/>
          </p:cNvSpPr>
          <p:nvPr/>
        </p:nvSpPr>
        <p:spPr bwMode="auto">
          <a:xfrm>
            <a:off x="7689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2" name="Rectangle 80"/>
          <p:cNvSpPr>
            <a:spLocks noChangeArrowheads="1"/>
          </p:cNvSpPr>
          <p:nvPr/>
        </p:nvSpPr>
        <p:spPr bwMode="auto">
          <a:xfrm>
            <a:off x="8070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3" name="Rectangle 81"/>
          <p:cNvSpPr>
            <a:spLocks noChangeArrowheads="1"/>
          </p:cNvSpPr>
          <p:nvPr/>
        </p:nvSpPr>
        <p:spPr bwMode="auto">
          <a:xfrm>
            <a:off x="8451850" y="2990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4" name="Rectangle 82"/>
          <p:cNvSpPr>
            <a:spLocks noChangeArrowheads="1"/>
          </p:cNvSpPr>
          <p:nvPr/>
        </p:nvSpPr>
        <p:spPr bwMode="auto">
          <a:xfrm>
            <a:off x="5022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5" name="Rectangle 83"/>
          <p:cNvSpPr>
            <a:spLocks noChangeArrowheads="1"/>
          </p:cNvSpPr>
          <p:nvPr/>
        </p:nvSpPr>
        <p:spPr bwMode="auto">
          <a:xfrm>
            <a:off x="5403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6" name="Rectangle 84"/>
          <p:cNvSpPr>
            <a:spLocks noChangeArrowheads="1"/>
          </p:cNvSpPr>
          <p:nvPr/>
        </p:nvSpPr>
        <p:spPr bwMode="auto">
          <a:xfrm>
            <a:off x="5784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7" name="Rectangle 85"/>
          <p:cNvSpPr>
            <a:spLocks noChangeArrowheads="1"/>
          </p:cNvSpPr>
          <p:nvPr/>
        </p:nvSpPr>
        <p:spPr bwMode="auto">
          <a:xfrm>
            <a:off x="6165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8" name="Rectangle 86"/>
          <p:cNvSpPr>
            <a:spLocks noChangeArrowheads="1"/>
          </p:cNvSpPr>
          <p:nvPr/>
        </p:nvSpPr>
        <p:spPr bwMode="auto">
          <a:xfrm>
            <a:off x="6546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79" name="Rectangle 87"/>
          <p:cNvSpPr>
            <a:spLocks noChangeArrowheads="1"/>
          </p:cNvSpPr>
          <p:nvPr/>
        </p:nvSpPr>
        <p:spPr bwMode="auto">
          <a:xfrm>
            <a:off x="6927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0" name="Rectangle 88"/>
          <p:cNvSpPr>
            <a:spLocks noChangeArrowheads="1"/>
          </p:cNvSpPr>
          <p:nvPr/>
        </p:nvSpPr>
        <p:spPr bwMode="auto">
          <a:xfrm>
            <a:off x="7308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1" name="Rectangle 89"/>
          <p:cNvSpPr>
            <a:spLocks noChangeArrowheads="1"/>
          </p:cNvSpPr>
          <p:nvPr/>
        </p:nvSpPr>
        <p:spPr bwMode="auto">
          <a:xfrm>
            <a:off x="7689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2" name="Rectangle 90"/>
          <p:cNvSpPr>
            <a:spLocks noChangeArrowheads="1"/>
          </p:cNvSpPr>
          <p:nvPr/>
        </p:nvSpPr>
        <p:spPr bwMode="auto">
          <a:xfrm>
            <a:off x="8070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3" name="Rectangle 91"/>
          <p:cNvSpPr>
            <a:spLocks noChangeArrowheads="1"/>
          </p:cNvSpPr>
          <p:nvPr/>
        </p:nvSpPr>
        <p:spPr bwMode="auto">
          <a:xfrm>
            <a:off x="8451850" y="2609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4" name="Rectangle 92"/>
          <p:cNvSpPr>
            <a:spLocks noChangeArrowheads="1"/>
          </p:cNvSpPr>
          <p:nvPr/>
        </p:nvSpPr>
        <p:spPr bwMode="auto">
          <a:xfrm>
            <a:off x="5022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5" name="Rectangle 93"/>
          <p:cNvSpPr>
            <a:spLocks noChangeArrowheads="1"/>
          </p:cNvSpPr>
          <p:nvPr/>
        </p:nvSpPr>
        <p:spPr bwMode="auto">
          <a:xfrm>
            <a:off x="5403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6" name="Rectangle 94"/>
          <p:cNvSpPr>
            <a:spLocks noChangeArrowheads="1"/>
          </p:cNvSpPr>
          <p:nvPr/>
        </p:nvSpPr>
        <p:spPr bwMode="auto">
          <a:xfrm>
            <a:off x="5784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7" name="Rectangle 95"/>
          <p:cNvSpPr>
            <a:spLocks noChangeArrowheads="1"/>
          </p:cNvSpPr>
          <p:nvPr/>
        </p:nvSpPr>
        <p:spPr bwMode="auto">
          <a:xfrm>
            <a:off x="6165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8" name="Rectangle 96"/>
          <p:cNvSpPr>
            <a:spLocks noChangeArrowheads="1"/>
          </p:cNvSpPr>
          <p:nvPr/>
        </p:nvSpPr>
        <p:spPr bwMode="auto">
          <a:xfrm>
            <a:off x="6546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89" name="Rectangle 97"/>
          <p:cNvSpPr>
            <a:spLocks noChangeArrowheads="1"/>
          </p:cNvSpPr>
          <p:nvPr/>
        </p:nvSpPr>
        <p:spPr bwMode="auto">
          <a:xfrm>
            <a:off x="6927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0" name="Rectangle 98"/>
          <p:cNvSpPr>
            <a:spLocks noChangeArrowheads="1"/>
          </p:cNvSpPr>
          <p:nvPr/>
        </p:nvSpPr>
        <p:spPr bwMode="auto">
          <a:xfrm>
            <a:off x="7308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1" name="Rectangle 99"/>
          <p:cNvSpPr>
            <a:spLocks noChangeArrowheads="1"/>
          </p:cNvSpPr>
          <p:nvPr/>
        </p:nvSpPr>
        <p:spPr bwMode="auto">
          <a:xfrm>
            <a:off x="7689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2" name="Rectangle 100"/>
          <p:cNvSpPr>
            <a:spLocks noChangeArrowheads="1"/>
          </p:cNvSpPr>
          <p:nvPr/>
        </p:nvSpPr>
        <p:spPr bwMode="auto">
          <a:xfrm>
            <a:off x="8070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3" name="Rectangle 101"/>
          <p:cNvSpPr>
            <a:spLocks noChangeArrowheads="1"/>
          </p:cNvSpPr>
          <p:nvPr/>
        </p:nvSpPr>
        <p:spPr bwMode="auto">
          <a:xfrm>
            <a:off x="8451850" y="2228850"/>
            <a:ext cx="381000" cy="381000"/>
          </a:xfrm>
          <a:prstGeom prst="rect">
            <a:avLst/>
          </a:prstGeom>
          <a:noFill/>
          <a:ln w="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4" name="Line 102"/>
          <p:cNvSpPr>
            <a:spLocks noChangeShapeType="1"/>
          </p:cNvSpPr>
          <p:nvPr/>
        </p:nvSpPr>
        <p:spPr bwMode="auto">
          <a:xfrm>
            <a:off x="5022850" y="6038850"/>
            <a:ext cx="3810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495" name="Line 103"/>
          <p:cNvSpPr>
            <a:spLocks noChangeShapeType="1"/>
          </p:cNvSpPr>
          <p:nvPr/>
        </p:nvSpPr>
        <p:spPr bwMode="auto">
          <a:xfrm flipV="1">
            <a:off x="5022850" y="2228850"/>
            <a:ext cx="0" cy="3810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496" name="Oval 104"/>
          <p:cNvSpPr>
            <a:spLocks noChangeArrowheads="1"/>
          </p:cNvSpPr>
          <p:nvPr/>
        </p:nvSpPr>
        <p:spPr bwMode="auto">
          <a:xfrm>
            <a:off x="5403850" y="4743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7" name="Oval 105"/>
          <p:cNvSpPr>
            <a:spLocks noChangeArrowheads="1"/>
          </p:cNvSpPr>
          <p:nvPr/>
        </p:nvSpPr>
        <p:spPr bwMode="auto">
          <a:xfrm>
            <a:off x="6013450" y="5276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8" name="Rectangle 106"/>
          <p:cNvSpPr>
            <a:spLocks noChangeArrowheads="1"/>
          </p:cNvSpPr>
          <p:nvPr/>
        </p:nvSpPr>
        <p:spPr bwMode="auto">
          <a:xfrm>
            <a:off x="8321675" y="27114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499" name="Rectangle 107"/>
          <p:cNvSpPr>
            <a:spLocks noChangeArrowheads="1"/>
          </p:cNvSpPr>
          <p:nvPr/>
        </p:nvSpPr>
        <p:spPr bwMode="auto">
          <a:xfrm>
            <a:off x="7418388" y="33718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0" name="Rectangle 108"/>
          <p:cNvSpPr>
            <a:spLocks noChangeArrowheads="1"/>
          </p:cNvSpPr>
          <p:nvPr/>
        </p:nvSpPr>
        <p:spPr bwMode="auto">
          <a:xfrm>
            <a:off x="7994650" y="24574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1" name="Rectangle 109"/>
          <p:cNvSpPr>
            <a:spLocks noChangeArrowheads="1"/>
          </p:cNvSpPr>
          <p:nvPr/>
        </p:nvSpPr>
        <p:spPr bwMode="auto">
          <a:xfrm>
            <a:off x="8147050" y="34480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2" name="Rectangle 110"/>
          <p:cNvSpPr>
            <a:spLocks noChangeArrowheads="1"/>
          </p:cNvSpPr>
          <p:nvPr/>
        </p:nvSpPr>
        <p:spPr bwMode="auto">
          <a:xfrm>
            <a:off x="8675688" y="4278313"/>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3" name="Oval 111"/>
          <p:cNvSpPr>
            <a:spLocks noChangeArrowheads="1"/>
          </p:cNvSpPr>
          <p:nvPr/>
        </p:nvSpPr>
        <p:spPr bwMode="auto">
          <a:xfrm>
            <a:off x="5567363" y="411480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4" name="Oval 112"/>
          <p:cNvSpPr>
            <a:spLocks noChangeArrowheads="1"/>
          </p:cNvSpPr>
          <p:nvPr/>
        </p:nvSpPr>
        <p:spPr bwMode="auto">
          <a:xfrm>
            <a:off x="5175250" y="5581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5" name="Oval 113"/>
          <p:cNvSpPr>
            <a:spLocks noChangeArrowheads="1"/>
          </p:cNvSpPr>
          <p:nvPr/>
        </p:nvSpPr>
        <p:spPr bwMode="auto">
          <a:xfrm>
            <a:off x="5251450" y="4210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06" name="Text Box 114"/>
          <p:cNvSpPr txBox="1">
            <a:spLocks noChangeArrowheads="1"/>
          </p:cNvSpPr>
          <p:nvPr/>
        </p:nvSpPr>
        <p:spPr bwMode="auto">
          <a:xfrm>
            <a:off x="5175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a:t>
            </a:r>
          </a:p>
        </p:txBody>
      </p:sp>
      <p:sp>
        <p:nvSpPr>
          <p:cNvPr id="59507" name="Text Box 115"/>
          <p:cNvSpPr txBox="1">
            <a:spLocks noChangeArrowheads="1"/>
          </p:cNvSpPr>
          <p:nvPr/>
        </p:nvSpPr>
        <p:spPr bwMode="auto">
          <a:xfrm>
            <a:off x="5556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2</a:t>
            </a:r>
          </a:p>
        </p:txBody>
      </p:sp>
      <p:sp>
        <p:nvSpPr>
          <p:cNvPr id="59508" name="Text Box 116"/>
          <p:cNvSpPr txBox="1">
            <a:spLocks noChangeArrowheads="1"/>
          </p:cNvSpPr>
          <p:nvPr/>
        </p:nvSpPr>
        <p:spPr bwMode="auto">
          <a:xfrm>
            <a:off x="5937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3</a:t>
            </a:r>
          </a:p>
        </p:txBody>
      </p:sp>
      <p:sp>
        <p:nvSpPr>
          <p:cNvPr id="59509" name="Text Box 117"/>
          <p:cNvSpPr txBox="1">
            <a:spLocks noChangeArrowheads="1"/>
          </p:cNvSpPr>
          <p:nvPr/>
        </p:nvSpPr>
        <p:spPr bwMode="auto">
          <a:xfrm>
            <a:off x="6318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4</a:t>
            </a:r>
          </a:p>
        </p:txBody>
      </p:sp>
      <p:sp>
        <p:nvSpPr>
          <p:cNvPr id="59510" name="Text Box 118"/>
          <p:cNvSpPr txBox="1">
            <a:spLocks noChangeArrowheads="1"/>
          </p:cNvSpPr>
          <p:nvPr/>
        </p:nvSpPr>
        <p:spPr bwMode="auto">
          <a:xfrm>
            <a:off x="6699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5</a:t>
            </a:r>
          </a:p>
        </p:txBody>
      </p:sp>
      <p:sp>
        <p:nvSpPr>
          <p:cNvPr id="59511" name="Text Box 119"/>
          <p:cNvSpPr txBox="1">
            <a:spLocks noChangeArrowheads="1"/>
          </p:cNvSpPr>
          <p:nvPr/>
        </p:nvSpPr>
        <p:spPr bwMode="auto">
          <a:xfrm>
            <a:off x="7080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6</a:t>
            </a:r>
          </a:p>
        </p:txBody>
      </p:sp>
      <p:sp>
        <p:nvSpPr>
          <p:cNvPr id="59512" name="Text Box 120"/>
          <p:cNvSpPr txBox="1">
            <a:spLocks noChangeArrowheads="1"/>
          </p:cNvSpPr>
          <p:nvPr/>
        </p:nvSpPr>
        <p:spPr bwMode="auto">
          <a:xfrm>
            <a:off x="7461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7</a:t>
            </a:r>
          </a:p>
        </p:txBody>
      </p:sp>
      <p:sp>
        <p:nvSpPr>
          <p:cNvPr id="59513" name="Text Box 121"/>
          <p:cNvSpPr txBox="1">
            <a:spLocks noChangeArrowheads="1"/>
          </p:cNvSpPr>
          <p:nvPr/>
        </p:nvSpPr>
        <p:spPr bwMode="auto">
          <a:xfrm>
            <a:off x="7842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8</a:t>
            </a:r>
          </a:p>
        </p:txBody>
      </p:sp>
      <p:sp>
        <p:nvSpPr>
          <p:cNvPr id="59514" name="Text Box 122"/>
          <p:cNvSpPr txBox="1">
            <a:spLocks noChangeArrowheads="1"/>
          </p:cNvSpPr>
          <p:nvPr/>
        </p:nvSpPr>
        <p:spPr bwMode="auto">
          <a:xfrm>
            <a:off x="8223250" y="6115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9</a:t>
            </a:r>
          </a:p>
        </p:txBody>
      </p:sp>
      <p:sp>
        <p:nvSpPr>
          <p:cNvPr id="59515" name="Text Box 123"/>
          <p:cNvSpPr txBox="1">
            <a:spLocks noChangeArrowheads="1"/>
          </p:cNvSpPr>
          <p:nvPr/>
        </p:nvSpPr>
        <p:spPr bwMode="auto">
          <a:xfrm>
            <a:off x="8528050" y="611505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10</a:t>
            </a:r>
          </a:p>
        </p:txBody>
      </p:sp>
      <p:sp>
        <p:nvSpPr>
          <p:cNvPr id="59516" name="Oval 124"/>
          <p:cNvSpPr>
            <a:spLocks noChangeArrowheads="1"/>
          </p:cNvSpPr>
          <p:nvPr/>
        </p:nvSpPr>
        <p:spPr bwMode="auto">
          <a:xfrm>
            <a:off x="58610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17" name="Oval 125"/>
          <p:cNvSpPr>
            <a:spLocks noChangeArrowheads="1"/>
          </p:cNvSpPr>
          <p:nvPr/>
        </p:nvSpPr>
        <p:spPr bwMode="auto">
          <a:xfrm>
            <a:off x="5480050" y="5124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18" name="Oval 126"/>
          <p:cNvSpPr>
            <a:spLocks noChangeArrowheads="1"/>
          </p:cNvSpPr>
          <p:nvPr/>
        </p:nvSpPr>
        <p:spPr bwMode="auto">
          <a:xfrm>
            <a:off x="5632450" y="5429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19" name="Oval 127"/>
          <p:cNvSpPr>
            <a:spLocks noChangeArrowheads="1"/>
          </p:cNvSpPr>
          <p:nvPr/>
        </p:nvSpPr>
        <p:spPr bwMode="auto">
          <a:xfrm>
            <a:off x="6089650" y="4667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0" name="Oval 128"/>
          <p:cNvSpPr>
            <a:spLocks noChangeArrowheads="1"/>
          </p:cNvSpPr>
          <p:nvPr/>
        </p:nvSpPr>
        <p:spPr bwMode="auto">
          <a:xfrm>
            <a:off x="5327650" y="3829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1" name="Oval 129"/>
          <p:cNvSpPr>
            <a:spLocks noChangeArrowheads="1"/>
          </p:cNvSpPr>
          <p:nvPr/>
        </p:nvSpPr>
        <p:spPr bwMode="auto">
          <a:xfrm>
            <a:off x="5772150" y="37353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2" name="Oval 130"/>
          <p:cNvSpPr>
            <a:spLocks noChangeArrowheads="1"/>
          </p:cNvSpPr>
          <p:nvPr/>
        </p:nvSpPr>
        <p:spPr bwMode="auto">
          <a:xfrm>
            <a:off x="5480050" y="4591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3" name="Oval 131"/>
          <p:cNvSpPr>
            <a:spLocks noChangeArrowheads="1"/>
          </p:cNvSpPr>
          <p:nvPr/>
        </p:nvSpPr>
        <p:spPr bwMode="auto">
          <a:xfrm>
            <a:off x="5784850" y="4514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4" name="Oval 132"/>
          <p:cNvSpPr>
            <a:spLocks noChangeArrowheads="1"/>
          </p:cNvSpPr>
          <p:nvPr/>
        </p:nvSpPr>
        <p:spPr bwMode="auto">
          <a:xfrm>
            <a:off x="5175250" y="50482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5" name="Oval 133"/>
          <p:cNvSpPr>
            <a:spLocks noChangeArrowheads="1"/>
          </p:cNvSpPr>
          <p:nvPr/>
        </p:nvSpPr>
        <p:spPr bwMode="auto">
          <a:xfrm>
            <a:off x="5708650" y="49720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6" name="Oval 134"/>
          <p:cNvSpPr>
            <a:spLocks noChangeArrowheads="1"/>
          </p:cNvSpPr>
          <p:nvPr/>
        </p:nvSpPr>
        <p:spPr bwMode="auto">
          <a:xfrm>
            <a:off x="5175250" y="32956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7" name="Oval 135"/>
          <p:cNvSpPr>
            <a:spLocks noChangeArrowheads="1"/>
          </p:cNvSpPr>
          <p:nvPr/>
        </p:nvSpPr>
        <p:spPr bwMode="auto">
          <a:xfrm>
            <a:off x="5556250" y="43624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8" name="Oval 136"/>
          <p:cNvSpPr>
            <a:spLocks noChangeArrowheads="1"/>
          </p:cNvSpPr>
          <p:nvPr/>
        </p:nvSpPr>
        <p:spPr bwMode="auto">
          <a:xfrm>
            <a:off x="6013450" y="4895850"/>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29" name="Rectangle 137"/>
          <p:cNvSpPr>
            <a:spLocks noChangeArrowheads="1"/>
          </p:cNvSpPr>
          <p:nvPr/>
        </p:nvSpPr>
        <p:spPr bwMode="auto">
          <a:xfrm>
            <a:off x="7918450" y="32194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0" name="Rectangle 138"/>
          <p:cNvSpPr>
            <a:spLocks noChangeArrowheads="1"/>
          </p:cNvSpPr>
          <p:nvPr/>
        </p:nvSpPr>
        <p:spPr bwMode="auto">
          <a:xfrm>
            <a:off x="7766050" y="35242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1" name="Rectangle 139"/>
          <p:cNvSpPr>
            <a:spLocks noChangeArrowheads="1"/>
          </p:cNvSpPr>
          <p:nvPr/>
        </p:nvSpPr>
        <p:spPr bwMode="auto">
          <a:xfrm>
            <a:off x="7537450" y="31432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2" name="Rectangle 140"/>
          <p:cNvSpPr>
            <a:spLocks noChangeArrowheads="1"/>
          </p:cNvSpPr>
          <p:nvPr/>
        </p:nvSpPr>
        <p:spPr bwMode="auto">
          <a:xfrm>
            <a:off x="7537450" y="36004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3" name="Rectangle 141"/>
          <p:cNvSpPr>
            <a:spLocks noChangeArrowheads="1"/>
          </p:cNvSpPr>
          <p:nvPr/>
        </p:nvSpPr>
        <p:spPr bwMode="auto">
          <a:xfrm>
            <a:off x="8070850" y="29908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4" name="Rectangle 142"/>
          <p:cNvSpPr>
            <a:spLocks noChangeArrowheads="1"/>
          </p:cNvSpPr>
          <p:nvPr/>
        </p:nvSpPr>
        <p:spPr bwMode="auto">
          <a:xfrm>
            <a:off x="8223250" y="32194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5" name="Rectangle 143"/>
          <p:cNvSpPr>
            <a:spLocks noChangeArrowheads="1"/>
          </p:cNvSpPr>
          <p:nvPr/>
        </p:nvSpPr>
        <p:spPr bwMode="auto">
          <a:xfrm>
            <a:off x="7537450" y="23050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6" name="Rectangle 144"/>
          <p:cNvSpPr>
            <a:spLocks noChangeArrowheads="1"/>
          </p:cNvSpPr>
          <p:nvPr/>
        </p:nvSpPr>
        <p:spPr bwMode="auto">
          <a:xfrm>
            <a:off x="8528050" y="22288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7" name="Rectangle 145"/>
          <p:cNvSpPr>
            <a:spLocks noChangeArrowheads="1"/>
          </p:cNvSpPr>
          <p:nvPr/>
        </p:nvSpPr>
        <p:spPr bwMode="auto">
          <a:xfrm>
            <a:off x="7570788" y="2720975"/>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8" name="Rectangle 146"/>
          <p:cNvSpPr>
            <a:spLocks noChangeArrowheads="1"/>
          </p:cNvSpPr>
          <p:nvPr/>
        </p:nvSpPr>
        <p:spPr bwMode="auto">
          <a:xfrm>
            <a:off x="8223250" y="37528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39" name="Rectangle 147"/>
          <p:cNvSpPr>
            <a:spLocks noChangeArrowheads="1"/>
          </p:cNvSpPr>
          <p:nvPr/>
        </p:nvSpPr>
        <p:spPr bwMode="auto">
          <a:xfrm>
            <a:off x="8147050" y="27622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0" name="Rectangle 148"/>
          <p:cNvSpPr>
            <a:spLocks noChangeArrowheads="1"/>
          </p:cNvSpPr>
          <p:nvPr/>
        </p:nvSpPr>
        <p:spPr bwMode="auto">
          <a:xfrm>
            <a:off x="7689850" y="29146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1" name="Rectangle 149"/>
          <p:cNvSpPr>
            <a:spLocks noChangeArrowheads="1"/>
          </p:cNvSpPr>
          <p:nvPr/>
        </p:nvSpPr>
        <p:spPr bwMode="auto">
          <a:xfrm>
            <a:off x="7232650" y="30670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2" name="Rectangle 150"/>
          <p:cNvSpPr>
            <a:spLocks noChangeArrowheads="1"/>
          </p:cNvSpPr>
          <p:nvPr/>
        </p:nvSpPr>
        <p:spPr bwMode="auto">
          <a:xfrm>
            <a:off x="8528050" y="29908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3" name="Rectangle 151"/>
          <p:cNvSpPr>
            <a:spLocks noChangeArrowheads="1"/>
          </p:cNvSpPr>
          <p:nvPr/>
        </p:nvSpPr>
        <p:spPr bwMode="auto">
          <a:xfrm>
            <a:off x="7842250" y="38290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4" name="Rectangle 152"/>
          <p:cNvSpPr>
            <a:spLocks noChangeArrowheads="1"/>
          </p:cNvSpPr>
          <p:nvPr/>
        </p:nvSpPr>
        <p:spPr bwMode="auto">
          <a:xfrm>
            <a:off x="8451850" y="3905250"/>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5" name="Oval 153"/>
          <p:cNvSpPr>
            <a:spLocks noChangeArrowheads="1"/>
          </p:cNvSpPr>
          <p:nvPr/>
        </p:nvSpPr>
        <p:spPr bwMode="auto">
          <a:xfrm>
            <a:off x="6240463" y="47529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6" name="Oval 154"/>
          <p:cNvSpPr>
            <a:spLocks noChangeArrowheads="1"/>
          </p:cNvSpPr>
          <p:nvPr/>
        </p:nvSpPr>
        <p:spPr bwMode="auto">
          <a:xfrm>
            <a:off x="5922963" y="41259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7" name="Oval 155"/>
          <p:cNvSpPr>
            <a:spLocks noChangeArrowheads="1"/>
          </p:cNvSpPr>
          <p:nvPr/>
        </p:nvSpPr>
        <p:spPr bwMode="auto">
          <a:xfrm>
            <a:off x="6042025" y="44545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8" name="Oval 156"/>
          <p:cNvSpPr>
            <a:spLocks noChangeArrowheads="1"/>
          </p:cNvSpPr>
          <p:nvPr/>
        </p:nvSpPr>
        <p:spPr bwMode="auto">
          <a:xfrm>
            <a:off x="6378575" y="4456113"/>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49" name="Oval 157"/>
          <p:cNvSpPr>
            <a:spLocks noChangeArrowheads="1"/>
          </p:cNvSpPr>
          <p:nvPr/>
        </p:nvSpPr>
        <p:spPr bwMode="auto">
          <a:xfrm>
            <a:off x="6254750" y="501173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0" name="Oval 158"/>
          <p:cNvSpPr>
            <a:spLocks noChangeArrowheads="1"/>
          </p:cNvSpPr>
          <p:nvPr/>
        </p:nvSpPr>
        <p:spPr bwMode="auto">
          <a:xfrm>
            <a:off x="5173663" y="45942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1" name="Oval 159"/>
          <p:cNvSpPr>
            <a:spLocks noChangeArrowheads="1"/>
          </p:cNvSpPr>
          <p:nvPr/>
        </p:nvSpPr>
        <p:spPr bwMode="auto">
          <a:xfrm>
            <a:off x="5402263" y="53990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2" name="Oval 160"/>
          <p:cNvSpPr>
            <a:spLocks noChangeArrowheads="1"/>
          </p:cNvSpPr>
          <p:nvPr/>
        </p:nvSpPr>
        <p:spPr bwMode="auto">
          <a:xfrm>
            <a:off x="5856288" y="435292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3" name="Oval 161"/>
          <p:cNvSpPr>
            <a:spLocks noChangeArrowheads="1"/>
          </p:cNvSpPr>
          <p:nvPr/>
        </p:nvSpPr>
        <p:spPr bwMode="auto">
          <a:xfrm>
            <a:off x="5799138" y="5210175"/>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4" name="Oval 162"/>
          <p:cNvSpPr>
            <a:spLocks noChangeArrowheads="1"/>
          </p:cNvSpPr>
          <p:nvPr/>
        </p:nvSpPr>
        <p:spPr bwMode="auto">
          <a:xfrm>
            <a:off x="5137150" y="5830888"/>
            <a:ext cx="152400" cy="152400"/>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5" name="Rectangle 163"/>
          <p:cNvSpPr>
            <a:spLocks noChangeArrowheads="1"/>
          </p:cNvSpPr>
          <p:nvPr/>
        </p:nvSpPr>
        <p:spPr bwMode="auto">
          <a:xfrm>
            <a:off x="8440738" y="3641725"/>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6" name="Rectangle 164"/>
          <p:cNvSpPr>
            <a:spLocks noChangeArrowheads="1"/>
          </p:cNvSpPr>
          <p:nvPr/>
        </p:nvSpPr>
        <p:spPr bwMode="auto">
          <a:xfrm>
            <a:off x="7847013" y="2668588"/>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7" name="Rectangle 165"/>
          <p:cNvSpPr>
            <a:spLocks noChangeArrowheads="1"/>
          </p:cNvSpPr>
          <p:nvPr/>
        </p:nvSpPr>
        <p:spPr bwMode="auto">
          <a:xfrm>
            <a:off x="7143750" y="3308350"/>
            <a:ext cx="152400" cy="152400"/>
          </a:xfrm>
          <a:prstGeom prst="rect">
            <a:avLst/>
          </a:prstGeom>
          <a:solidFill>
            <a:srgbClr val="FF660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8" name="Rectangle 166"/>
          <p:cNvSpPr>
            <a:spLocks noChangeArrowheads="1"/>
          </p:cNvSpPr>
          <p:nvPr/>
        </p:nvSpPr>
        <p:spPr bwMode="auto">
          <a:xfrm>
            <a:off x="8150225" y="4073525"/>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59" name="Rectangle 167"/>
          <p:cNvSpPr>
            <a:spLocks noChangeArrowheads="1"/>
          </p:cNvSpPr>
          <p:nvPr/>
        </p:nvSpPr>
        <p:spPr bwMode="auto">
          <a:xfrm>
            <a:off x="8470900" y="3268663"/>
            <a:ext cx="152400" cy="152400"/>
          </a:xfrm>
          <a:prstGeom prst="rect">
            <a:avLst/>
          </a:prstGeom>
          <a:solidFill>
            <a:srgbClr val="800080"/>
          </a:solidFill>
          <a:ln w="9525">
            <a:solidFill>
              <a:schemeClr val="tx1"/>
            </a:solidFill>
            <a:miter lim="800000"/>
            <a:headEnd/>
            <a:tailEnd/>
          </a:ln>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60" name="Oval 168"/>
          <p:cNvSpPr>
            <a:spLocks noChangeArrowheads="1"/>
          </p:cNvSpPr>
          <p:nvPr/>
        </p:nvSpPr>
        <p:spPr bwMode="auto">
          <a:xfrm>
            <a:off x="5646738" y="4689475"/>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61" name="Oval 169"/>
          <p:cNvSpPr>
            <a:spLocks noChangeArrowheads="1"/>
          </p:cNvSpPr>
          <p:nvPr/>
        </p:nvSpPr>
        <p:spPr bwMode="auto">
          <a:xfrm>
            <a:off x="8274050" y="3340100"/>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62" name="Oval 170"/>
          <p:cNvSpPr>
            <a:spLocks noChangeArrowheads="1"/>
          </p:cNvSpPr>
          <p:nvPr/>
        </p:nvSpPr>
        <p:spPr bwMode="auto">
          <a:xfrm>
            <a:off x="7519988" y="2955925"/>
            <a:ext cx="219075" cy="234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59563" name="Rectangle 171"/>
          <p:cNvSpPr>
            <a:spLocks noChangeArrowheads="1"/>
          </p:cNvSpPr>
          <p:nvPr/>
        </p:nvSpPr>
        <p:spPr bwMode="auto">
          <a:xfrm>
            <a:off x="1765300" y="1573213"/>
            <a:ext cx="553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 When k = 3, the objective function is 133.6</a:t>
            </a:r>
          </a:p>
        </p:txBody>
      </p:sp>
      <p:sp>
        <p:nvSpPr>
          <p:cNvPr id="59564" name="TextBox 171"/>
          <p:cNvSpPr txBox="1">
            <a:spLocks noChangeArrowheads="1"/>
          </p:cNvSpPr>
          <p:nvPr/>
        </p:nvSpPr>
        <p:spPr bwMode="auto">
          <a:xfrm>
            <a:off x="0" y="6488113"/>
            <a:ext cx="425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283464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911225" y="2346325"/>
            <a:ext cx="7610475" cy="3556000"/>
          </a:xfrm>
          <a:prstGeom prst="rect">
            <a:avLst/>
          </a:prstGeom>
          <a:solidFill>
            <a:srgbClr val="FFFFFF"/>
          </a:solidFill>
          <a:ln w="0">
            <a:solidFill>
              <a:srgbClr val="000000"/>
            </a:solidFill>
            <a:miter lim="800000"/>
            <a:headEnd/>
            <a:tailEnd/>
          </a:ln>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60419" name="Rectangle 3"/>
          <p:cNvSpPr>
            <a:spLocks noChangeArrowheads="1"/>
          </p:cNvSpPr>
          <p:nvPr/>
        </p:nvSpPr>
        <p:spPr bwMode="auto">
          <a:xfrm>
            <a:off x="2452688" y="2538413"/>
            <a:ext cx="5702300" cy="29257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60420" name="Line 4"/>
          <p:cNvSpPr>
            <a:spLocks noChangeShapeType="1"/>
          </p:cNvSpPr>
          <p:nvPr/>
        </p:nvSpPr>
        <p:spPr bwMode="auto">
          <a:xfrm>
            <a:off x="2452688" y="517366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1" name="Line 5"/>
          <p:cNvSpPr>
            <a:spLocks noChangeShapeType="1"/>
          </p:cNvSpPr>
          <p:nvPr/>
        </p:nvSpPr>
        <p:spPr bwMode="auto">
          <a:xfrm>
            <a:off x="2452688" y="488156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2" name="Line 6"/>
          <p:cNvSpPr>
            <a:spLocks noChangeShapeType="1"/>
          </p:cNvSpPr>
          <p:nvPr/>
        </p:nvSpPr>
        <p:spPr bwMode="auto">
          <a:xfrm>
            <a:off x="2452688" y="4581525"/>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3" name="Line 7"/>
          <p:cNvSpPr>
            <a:spLocks noChangeShapeType="1"/>
          </p:cNvSpPr>
          <p:nvPr/>
        </p:nvSpPr>
        <p:spPr bwMode="auto">
          <a:xfrm>
            <a:off x="2452688" y="4291013"/>
            <a:ext cx="5702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4" name="Line 8"/>
          <p:cNvSpPr>
            <a:spLocks noChangeShapeType="1"/>
          </p:cNvSpPr>
          <p:nvPr/>
        </p:nvSpPr>
        <p:spPr bwMode="auto">
          <a:xfrm>
            <a:off x="2452688" y="4000500"/>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5" name="Line 9"/>
          <p:cNvSpPr>
            <a:spLocks noChangeShapeType="1"/>
          </p:cNvSpPr>
          <p:nvPr/>
        </p:nvSpPr>
        <p:spPr bwMode="auto">
          <a:xfrm>
            <a:off x="2452688" y="3708400"/>
            <a:ext cx="570230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6" name="Line 10"/>
          <p:cNvSpPr>
            <a:spLocks noChangeShapeType="1"/>
          </p:cNvSpPr>
          <p:nvPr/>
        </p:nvSpPr>
        <p:spPr bwMode="auto">
          <a:xfrm>
            <a:off x="2452688" y="3417888"/>
            <a:ext cx="5702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7" name="Line 11"/>
          <p:cNvSpPr>
            <a:spLocks noChangeShapeType="1"/>
          </p:cNvSpPr>
          <p:nvPr/>
        </p:nvSpPr>
        <p:spPr bwMode="auto">
          <a:xfrm>
            <a:off x="2452688" y="3117850"/>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8" name="Line 12"/>
          <p:cNvSpPr>
            <a:spLocks noChangeShapeType="1"/>
          </p:cNvSpPr>
          <p:nvPr/>
        </p:nvSpPr>
        <p:spPr bwMode="auto">
          <a:xfrm>
            <a:off x="2452688" y="2828925"/>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9" name="Line 13"/>
          <p:cNvSpPr>
            <a:spLocks noChangeShapeType="1"/>
          </p:cNvSpPr>
          <p:nvPr/>
        </p:nvSpPr>
        <p:spPr bwMode="auto">
          <a:xfrm>
            <a:off x="2452688" y="253841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0" name="Rectangle 14"/>
          <p:cNvSpPr>
            <a:spLocks noChangeArrowheads="1"/>
          </p:cNvSpPr>
          <p:nvPr/>
        </p:nvSpPr>
        <p:spPr bwMode="auto">
          <a:xfrm>
            <a:off x="2452688" y="2538413"/>
            <a:ext cx="5702300" cy="2925762"/>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sp>
        <p:nvSpPr>
          <p:cNvPr id="60431" name="Line 15"/>
          <p:cNvSpPr>
            <a:spLocks noChangeShapeType="1"/>
          </p:cNvSpPr>
          <p:nvPr/>
        </p:nvSpPr>
        <p:spPr bwMode="auto">
          <a:xfrm>
            <a:off x="2452688" y="2538413"/>
            <a:ext cx="3175" cy="29257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2" name="Line 16"/>
          <p:cNvSpPr>
            <a:spLocks noChangeShapeType="1"/>
          </p:cNvSpPr>
          <p:nvPr/>
        </p:nvSpPr>
        <p:spPr bwMode="auto">
          <a:xfrm>
            <a:off x="2400300" y="5464175"/>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3" name="Line 17"/>
          <p:cNvSpPr>
            <a:spLocks noChangeShapeType="1"/>
          </p:cNvSpPr>
          <p:nvPr/>
        </p:nvSpPr>
        <p:spPr bwMode="auto">
          <a:xfrm>
            <a:off x="2400300" y="517366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4" name="Line 18"/>
          <p:cNvSpPr>
            <a:spLocks noChangeShapeType="1"/>
          </p:cNvSpPr>
          <p:nvPr/>
        </p:nvSpPr>
        <p:spPr bwMode="auto">
          <a:xfrm>
            <a:off x="2400300" y="488156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5" name="Line 19"/>
          <p:cNvSpPr>
            <a:spLocks noChangeShapeType="1"/>
          </p:cNvSpPr>
          <p:nvPr/>
        </p:nvSpPr>
        <p:spPr bwMode="auto">
          <a:xfrm>
            <a:off x="2400300" y="45815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6" name="Line 20"/>
          <p:cNvSpPr>
            <a:spLocks noChangeShapeType="1"/>
          </p:cNvSpPr>
          <p:nvPr/>
        </p:nvSpPr>
        <p:spPr bwMode="auto">
          <a:xfrm>
            <a:off x="2400300" y="429101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7" name="Line 21"/>
          <p:cNvSpPr>
            <a:spLocks noChangeShapeType="1"/>
          </p:cNvSpPr>
          <p:nvPr/>
        </p:nvSpPr>
        <p:spPr bwMode="auto">
          <a:xfrm>
            <a:off x="2400300" y="400050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8" name="Line 22"/>
          <p:cNvSpPr>
            <a:spLocks noChangeShapeType="1"/>
          </p:cNvSpPr>
          <p:nvPr/>
        </p:nvSpPr>
        <p:spPr bwMode="auto">
          <a:xfrm>
            <a:off x="2400300" y="3708400"/>
            <a:ext cx="523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9" name="Line 23"/>
          <p:cNvSpPr>
            <a:spLocks noChangeShapeType="1"/>
          </p:cNvSpPr>
          <p:nvPr/>
        </p:nvSpPr>
        <p:spPr bwMode="auto">
          <a:xfrm>
            <a:off x="2400300" y="341788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0" name="Line 24"/>
          <p:cNvSpPr>
            <a:spLocks noChangeShapeType="1"/>
          </p:cNvSpPr>
          <p:nvPr/>
        </p:nvSpPr>
        <p:spPr bwMode="auto">
          <a:xfrm>
            <a:off x="2400300" y="311785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1" name="Line 25"/>
          <p:cNvSpPr>
            <a:spLocks noChangeShapeType="1"/>
          </p:cNvSpPr>
          <p:nvPr/>
        </p:nvSpPr>
        <p:spPr bwMode="auto">
          <a:xfrm>
            <a:off x="2400300" y="2828925"/>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2" name="Line 26"/>
          <p:cNvSpPr>
            <a:spLocks noChangeShapeType="1"/>
          </p:cNvSpPr>
          <p:nvPr/>
        </p:nvSpPr>
        <p:spPr bwMode="auto">
          <a:xfrm>
            <a:off x="2400300" y="253841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3" name="Line 27"/>
          <p:cNvSpPr>
            <a:spLocks noChangeShapeType="1"/>
          </p:cNvSpPr>
          <p:nvPr/>
        </p:nvSpPr>
        <p:spPr bwMode="auto">
          <a:xfrm>
            <a:off x="2452688" y="5464175"/>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4" name="Line 28"/>
          <p:cNvSpPr>
            <a:spLocks noChangeShapeType="1"/>
          </p:cNvSpPr>
          <p:nvPr/>
        </p:nvSpPr>
        <p:spPr bwMode="auto">
          <a:xfrm flipV="1">
            <a:off x="2452688" y="5464175"/>
            <a:ext cx="3175"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5" name="Line 29"/>
          <p:cNvSpPr>
            <a:spLocks noChangeShapeType="1"/>
          </p:cNvSpPr>
          <p:nvPr/>
        </p:nvSpPr>
        <p:spPr bwMode="auto">
          <a:xfrm flipV="1">
            <a:off x="3408363" y="5464175"/>
            <a:ext cx="4762"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6" name="Line 30"/>
          <p:cNvSpPr>
            <a:spLocks noChangeShapeType="1"/>
          </p:cNvSpPr>
          <p:nvPr/>
        </p:nvSpPr>
        <p:spPr bwMode="auto">
          <a:xfrm flipV="1">
            <a:off x="4352925" y="5464175"/>
            <a:ext cx="1588"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7" name="Line 31"/>
          <p:cNvSpPr>
            <a:spLocks noChangeShapeType="1"/>
          </p:cNvSpPr>
          <p:nvPr/>
        </p:nvSpPr>
        <p:spPr bwMode="auto">
          <a:xfrm flipV="1">
            <a:off x="5310188" y="5464175"/>
            <a:ext cx="1587"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8" name="Line 32"/>
          <p:cNvSpPr>
            <a:spLocks noChangeShapeType="1"/>
          </p:cNvSpPr>
          <p:nvPr/>
        </p:nvSpPr>
        <p:spPr bwMode="auto">
          <a:xfrm flipV="1">
            <a:off x="6254750" y="5464175"/>
            <a:ext cx="1588"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9" name="Line 33"/>
          <p:cNvSpPr>
            <a:spLocks noChangeShapeType="1"/>
          </p:cNvSpPr>
          <p:nvPr/>
        </p:nvSpPr>
        <p:spPr bwMode="auto">
          <a:xfrm flipV="1">
            <a:off x="7210425" y="5464175"/>
            <a:ext cx="3175"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0" name="Line 34"/>
          <p:cNvSpPr>
            <a:spLocks noChangeShapeType="1"/>
          </p:cNvSpPr>
          <p:nvPr/>
        </p:nvSpPr>
        <p:spPr bwMode="auto">
          <a:xfrm flipV="1">
            <a:off x="8154988" y="5464175"/>
            <a:ext cx="1587"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1" name="Line 35"/>
          <p:cNvSpPr>
            <a:spLocks noChangeShapeType="1"/>
          </p:cNvSpPr>
          <p:nvPr/>
        </p:nvSpPr>
        <p:spPr bwMode="auto">
          <a:xfrm>
            <a:off x="2925763" y="2909888"/>
            <a:ext cx="955675" cy="2043112"/>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2" name="Line 36"/>
          <p:cNvSpPr>
            <a:spLocks noChangeShapeType="1"/>
          </p:cNvSpPr>
          <p:nvPr/>
        </p:nvSpPr>
        <p:spPr bwMode="auto">
          <a:xfrm>
            <a:off x="3881438" y="4953000"/>
            <a:ext cx="944562" cy="119063"/>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3" name="Line 37"/>
          <p:cNvSpPr>
            <a:spLocks noChangeShapeType="1"/>
          </p:cNvSpPr>
          <p:nvPr/>
        </p:nvSpPr>
        <p:spPr bwMode="auto">
          <a:xfrm>
            <a:off x="4826000" y="5072063"/>
            <a:ext cx="957263" cy="46037"/>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4" name="Line 38"/>
          <p:cNvSpPr>
            <a:spLocks noChangeShapeType="1"/>
          </p:cNvSpPr>
          <p:nvPr/>
        </p:nvSpPr>
        <p:spPr bwMode="auto">
          <a:xfrm>
            <a:off x="5783263" y="5118100"/>
            <a:ext cx="941387" cy="17463"/>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5" name="Line 39"/>
          <p:cNvSpPr>
            <a:spLocks noChangeShapeType="1"/>
          </p:cNvSpPr>
          <p:nvPr/>
        </p:nvSpPr>
        <p:spPr bwMode="auto">
          <a:xfrm>
            <a:off x="6724650" y="5135563"/>
            <a:ext cx="957263" cy="28575"/>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6" name="Rectangle 40"/>
          <p:cNvSpPr>
            <a:spLocks noChangeArrowheads="1"/>
          </p:cNvSpPr>
          <p:nvPr/>
        </p:nvSpPr>
        <p:spPr bwMode="auto">
          <a:xfrm>
            <a:off x="1587500" y="539115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0.00E+00</a:t>
            </a:r>
            <a:endParaRPr lang="en-US" altLang="en-US"/>
          </a:p>
        </p:txBody>
      </p:sp>
      <p:sp>
        <p:nvSpPr>
          <p:cNvPr id="60457" name="Rectangle 41"/>
          <p:cNvSpPr>
            <a:spLocks noChangeArrowheads="1"/>
          </p:cNvSpPr>
          <p:nvPr/>
        </p:nvSpPr>
        <p:spPr bwMode="auto">
          <a:xfrm>
            <a:off x="1587500" y="510063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1.00E+02</a:t>
            </a:r>
            <a:endParaRPr lang="en-US" altLang="en-US"/>
          </a:p>
        </p:txBody>
      </p:sp>
      <p:sp>
        <p:nvSpPr>
          <p:cNvPr id="60458" name="Rectangle 42"/>
          <p:cNvSpPr>
            <a:spLocks noChangeArrowheads="1"/>
          </p:cNvSpPr>
          <p:nvPr/>
        </p:nvSpPr>
        <p:spPr bwMode="auto">
          <a:xfrm>
            <a:off x="1587500" y="480853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2.00E+02</a:t>
            </a:r>
            <a:endParaRPr lang="en-US" altLang="en-US"/>
          </a:p>
        </p:txBody>
      </p:sp>
      <p:sp>
        <p:nvSpPr>
          <p:cNvPr id="60459" name="Rectangle 43"/>
          <p:cNvSpPr>
            <a:spLocks noChangeArrowheads="1"/>
          </p:cNvSpPr>
          <p:nvPr/>
        </p:nvSpPr>
        <p:spPr bwMode="auto">
          <a:xfrm>
            <a:off x="1587500" y="45085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3.00E+02</a:t>
            </a:r>
            <a:endParaRPr lang="en-US" altLang="en-US"/>
          </a:p>
        </p:txBody>
      </p:sp>
      <p:sp>
        <p:nvSpPr>
          <p:cNvPr id="60460" name="Rectangle 44"/>
          <p:cNvSpPr>
            <a:spLocks noChangeArrowheads="1"/>
          </p:cNvSpPr>
          <p:nvPr/>
        </p:nvSpPr>
        <p:spPr bwMode="auto">
          <a:xfrm>
            <a:off x="1587500" y="421798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4.00E+02</a:t>
            </a:r>
            <a:endParaRPr lang="en-US" altLang="en-US"/>
          </a:p>
        </p:txBody>
      </p:sp>
      <p:sp>
        <p:nvSpPr>
          <p:cNvPr id="60461" name="Rectangle 45"/>
          <p:cNvSpPr>
            <a:spLocks noChangeArrowheads="1"/>
          </p:cNvSpPr>
          <p:nvPr/>
        </p:nvSpPr>
        <p:spPr bwMode="auto">
          <a:xfrm>
            <a:off x="1587500" y="3927475"/>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5.00E+02</a:t>
            </a:r>
            <a:endParaRPr lang="en-US" altLang="en-US"/>
          </a:p>
        </p:txBody>
      </p:sp>
      <p:sp>
        <p:nvSpPr>
          <p:cNvPr id="60462" name="Rectangle 46"/>
          <p:cNvSpPr>
            <a:spLocks noChangeArrowheads="1"/>
          </p:cNvSpPr>
          <p:nvPr/>
        </p:nvSpPr>
        <p:spPr bwMode="auto">
          <a:xfrm>
            <a:off x="1587500" y="3635375"/>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6.00E+02</a:t>
            </a:r>
            <a:endParaRPr lang="en-US" altLang="en-US"/>
          </a:p>
        </p:txBody>
      </p:sp>
      <p:sp>
        <p:nvSpPr>
          <p:cNvPr id="60463" name="Rectangle 47"/>
          <p:cNvSpPr>
            <a:spLocks noChangeArrowheads="1"/>
          </p:cNvSpPr>
          <p:nvPr/>
        </p:nvSpPr>
        <p:spPr bwMode="auto">
          <a:xfrm>
            <a:off x="1587500" y="334645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7.00E+02</a:t>
            </a:r>
            <a:endParaRPr lang="en-US" altLang="en-US"/>
          </a:p>
        </p:txBody>
      </p:sp>
      <p:sp>
        <p:nvSpPr>
          <p:cNvPr id="60464" name="Rectangle 48"/>
          <p:cNvSpPr>
            <a:spLocks noChangeArrowheads="1"/>
          </p:cNvSpPr>
          <p:nvPr/>
        </p:nvSpPr>
        <p:spPr bwMode="auto">
          <a:xfrm>
            <a:off x="1587500" y="3046413"/>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8.00E+02</a:t>
            </a:r>
            <a:endParaRPr lang="en-US" altLang="en-US"/>
          </a:p>
        </p:txBody>
      </p:sp>
      <p:sp>
        <p:nvSpPr>
          <p:cNvPr id="60465" name="Rectangle 49"/>
          <p:cNvSpPr>
            <a:spLocks noChangeArrowheads="1"/>
          </p:cNvSpPr>
          <p:nvPr/>
        </p:nvSpPr>
        <p:spPr bwMode="auto">
          <a:xfrm>
            <a:off x="1587500" y="27559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9.00E+02</a:t>
            </a:r>
            <a:endParaRPr lang="en-US" altLang="en-US"/>
          </a:p>
        </p:txBody>
      </p:sp>
      <p:sp>
        <p:nvSpPr>
          <p:cNvPr id="60466" name="Rectangle 50"/>
          <p:cNvSpPr>
            <a:spLocks noChangeArrowheads="1"/>
          </p:cNvSpPr>
          <p:nvPr/>
        </p:nvSpPr>
        <p:spPr bwMode="auto">
          <a:xfrm>
            <a:off x="1587500" y="24638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1.00E+03</a:t>
            </a:r>
            <a:endParaRPr lang="en-US" altLang="en-US"/>
          </a:p>
        </p:txBody>
      </p:sp>
      <p:sp>
        <p:nvSpPr>
          <p:cNvPr id="60467" name="Rectangle 51"/>
          <p:cNvSpPr>
            <a:spLocks noChangeArrowheads="1"/>
          </p:cNvSpPr>
          <p:nvPr/>
        </p:nvSpPr>
        <p:spPr bwMode="auto">
          <a:xfrm>
            <a:off x="2886075"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1</a:t>
            </a:r>
            <a:endParaRPr lang="en-US" altLang="en-US"/>
          </a:p>
        </p:txBody>
      </p:sp>
      <p:sp>
        <p:nvSpPr>
          <p:cNvPr id="60468" name="Rectangle 52"/>
          <p:cNvSpPr>
            <a:spLocks noChangeArrowheads="1"/>
          </p:cNvSpPr>
          <p:nvPr/>
        </p:nvSpPr>
        <p:spPr bwMode="auto">
          <a:xfrm>
            <a:off x="3841750"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2</a:t>
            </a:r>
            <a:endParaRPr lang="en-US" altLang="en-US"/>
          </a:p>
        </p:txBody>
      </p:sp>
      <p:sp>
        <p:nvSpPr>
          <p:cNvPr id="60469" name="Rectangle 53"/>
          <p:cNvSpPr>
            <a:spLocks noChangeArrowheads="1"/>
          </p:cNvSpPr>
          <p:nvPr/>
        </p:nvSpPr>
        <p:spPr bwMode="auto">
          <a:xfrm>
            <a:off x="4786313"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3</a:t>
            </a:r>
            <a:endParaRPr lang="en-US" altLang="en-US"/>
          </a:p>
        </p:txBody>
      </p:sp>
      <p:sp>
        <p:nvSpPr>
          <p:cNvPr id="60470" name="Rectangle 54"/>
          <p:cNvSpPr>
            <a:spLocks noChangeArrowheads="1"/>
          </p:cNvSpPr>
          <p:nvPr/>
        </p:nvSpPr>
        <p:spPr bwMode="auto">
          <a:xfrm>
            <a:off x="5743575"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4</a:t>
            </a:r>
            <a:endParaRPr lang="en-US" altLang="en-US"/>
          </a:p>
        </p:txBody>
      </p:sp>
      <p:sp>
        <p:nvSpPr>
          <p:cNvPr id="60471" name="Rectangle 55"/>
          <p:cNvSpPr>
            <a:spLocks noChangeArrowheads="1"/>
          </p:cNvSpPr>
          <p:nvPr/>
        </p:nvSpPr>
        <p:spPr bwMode="auto">
          <a:xfrm>
            <a:off x="6688138"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5</a:t>
            </a:r>
            <a:endParaRPr lang="en-US" altLang="en-US"/>
          </a:p>
        </p:txBody>
      </p:sp>
      <p:sp>
        <p:nvSpPr>
          <p:cNvPr id="60472" name="Rectangle 56"/>
          <p:cNvSpPr>
            <a:spLocks noChangeArrowheads="1"/>
          </p:cNvSpPr>
          <p:nvPr/>
        </p:nvSpPr>
        <p:spPr bwMode="auto">
          <a:xfrm>
            <a:off x="7643813"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000">
                <a:solidFill>
                  <a:srgbClr val="000000"/>
                </a:solidFill>
              </a:rPr>
              <a:t>6</a:t>
            </a:r>
            <a:endParaRPr lang="en-US" altLang="en-US"/>
          </a:p>
        </p:txBody>
      </p:sp>
      <p:sp>
        <p:nvSpPr>
          <p:cNvPr id="60473" name="Rectangle 57"/>
          <p:cNvSpPr>
            <a:spLocks noChangeArrowheads="1"/>
          </p:cNvSpPr>
          <p:nvPr/>
        </p:nvSpPr>
        <p:spPr bwMode="auto">
          <a:xfrm>
            <a:off x="258763" y="204788"/>
            <a:ext cx="8685212"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2000"/>
              <a:t>We can plot the objective function values for k equals 1 to 6…</a:t>
            </a:r>
          </a:p>
          <a:p>
            <a:endParaRPr lang="en-US" altLang="en-US" sz="2000"/>
          </a:p>
          <a:p>
            <a:r>
              <a:rPr lang="en-US" altLang="en-US" sz="2000"/>
              <a:t>The abrupt change at k = 2, is highly suggestive of two clusters in the data. This technique for determining the number of clusters is known as “knee finding” or “elbow finding”.</a:t>
            </a:r>
          </a:p>
        </p:txBody>
      </p:sp>
      <p:sp>
        <p:nvSpPr>
          <p:cNvPr id="60474" name="Text Box 59"/>
          <p:cNvSpPr txBox="1">
            <a:spLocks noChangeArrowheads="1"/>
          </p:cNvSpPr>
          <p:nvPr/>
        </p:nvSpPr>
        <p:spPr bwMode="auto">
          <a:xfrm>
            <a:off x="5084763" y="54895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k</a:t>
            </a:r>
          </a:p>
        </p:txBody>
      </p:sp>
      <p:sp>
        <p:nvSpPr>
          <p:cNvPr id="60475" name="Text Box 60"/>
          <p:cNvSpPr txBox="1">
            <a:spLocks noChangeArrowheads="1"/>
          </p:cNvSpPr>
          <p:nvPr/>
        </p:nvSpPr>
        <p:spPr bwMode="auto">
          <a:xfrm rot="-5400000">
            <a:off x="13494" y="3785394"/>
            <a:ext cx="2525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a:t>Objective Function</a:t>
            </a:r>
          </a:p>
        </p:txBody>
      </p:sp>
      <p:sp>
        <p:nvSpPr>
          <p:cNvPr id="60476" name="TextBox 60"/>
          <p:cNvSpPr txBox="1">
            <a:spLocks noChangeArrowheads="1"/>
          </p:cNvSpPr>
          <p:nvPr/>
        </p:nvSpPr>
        <p:spPr bwMode="auto">
          <a:xfrm>
            <a:off x="0" y="6488113"/>
            <a:ext cx="4252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altLang="en-US" sz="1800"/>
              <a:t>Slide based on one by Eamonn Keogh</a:t>
            </a:r>
          </a:p>
        </p:txBody>
      </p:sp>
    </p:spTree>
    <p:extLst>
      <p:ext uri="{BB962C8B-B14F-4D97-AF65-F5344CB8AC3E}">
        <p14:creationId xmlns:p14="http://schemas.microsoft.com/office/powerpoint/2010/main" val="2902590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 Line</a:t>
            </a:r>
          </a:p>
        </p:txBody>
      </p:sp>
      <p:sp>
        <p:nvSpPr>
          <p:cNvPr id="3" name="Content Placeholder 2"/>
          <p:cNvSpPr>
            <a:spLocks noGrp="1"/>
          </p:cNvSpPr>
          <p:nvPr>
            <p:ph idx="1"/>
          </p:nvPr>
        </p:nvSpPr>
        <p:spPr/>
        <p:txBody>
          <a:bodyPr/>
          <a:lstStyle/>
          <a:p>
            <a:r>
              <a:rPr lang="en-US" dirty="0"/>
              <a:t>K-means</a:t>
            </a:r>
          </a:p>
          <a:p>
            <a:pPr lvl="1"/>
            <a:r>
              <a:rPr lang="en-US" dirty="0"/>
              <a:t>Easy to use</a:t>
            </a:r>
          </a:p>
          <a:p>
            <a:pPr lvl="1"/>
            <a:r>
              <a:rPr lang="en-US" dirty="0"/>
              <a:t>Need to know K</a:t>
            </a:r>
          </a:p>
          <a:p>
            <a:pPr lvl="1"/>
            <a:r>
              <a:rPr lang="en-US" dirty="0"/>
              <a:t>May need to scale data</a:t>
            </a:r>
          </a:p>
          <a:p>
            <a:pPr lvl="1"/>
            <a:r>
              <a:rPr lang="en-US" dirty="0"/>
              <a:t>Good initial method</a:t>
            </a:r>
          </a:p>
          <a:p>
            <a:r>
              <a:rPr lang="en-US" dirty="0"/>
              <a:t>Local optima</a:t>
            </a:r>
          </a:p>
          <a:p>
            <a:pPr lvl="1"/>
            <a:r>
              <a:rPr lang="en-US" dirty="0"/>
              <a:t>No guarantee of optimal solution</a:t>
            </a:r>
          </a:p>
          <a:p>
            <a:pPr lvl="1"/>
            <a:r>
              <a:rPr lang="en-US" dirty="0"/>
              <a:t>Repeat with different starting values</a:t>
            </a:r>
          </a:p>
        </p:txBody>
      </p:sp>
      <p:sp>
        <p:nvSpPr>
          <p:cNvPr id="5" name="TextBox 4">
            <a:extLst>
              <a:ext uri="{FF2B5EF4-FFF2-40B4-BE49-F238E27FC236}">
                <a16:creationId xmlns:a16="http://schemas.microsoft.com/office/drawing/2014/main" id="{5B3F8331-1707-2E7A-7C6E-557D9ED6B5C2}"/>
              </a:ext>
            </a:extLst>
          </p:cNvPr>
          <p:cNvSpPr txBox="1"/>
          <p:nvPr/>
        </p:nvSpPr>
        <p:spPr>
          <a:xfrm>
            <a:off x="609600" y="6100763"/>
            <a:ext cx="8229600" cy="307777"/>
          </a:xfrm>
          <a:prstGeom prst="rect">
            <a:avLst/>
          </a:prstGeom>
          <a:noFill/>
        </p:spPr>
        <p:txBody>
          <a:bodyPr wrap="square">
            <a:spAutoFit/>
          </a:bodyPr>
          <a:lstStyle/>
          <a:p>
            <a:pPr marL="0" indent="0">
              <a:buNone/>
            </a:pPr>
            <a:r>
              <a:rPr lang="en-US" sz="1400" dirty="0"/>
              <a:t>(for explanation of mixture models see </a:t>
            </a:r>
            <a:r>
              <a:rPr lang="en-US" sz="1400" dirty="0">
                <a:hlinkClick r:id="rId2"/>
              </a:rPr>
              <a:t>https://www.ncbi.nlm.nih.gov/pmc/articles/PMC5096736/</a:t>
            </a:r>
            <a:r>
              <a:rPr lang="en-US" sz="1400" dirty="0"/>
              <a:t> )</a:t>
            </a:r>
          </a:p>
        </p:txBody>
      </p:sp>
    </p:spTree>
    <p:extLst>
      <p:ext uri="{BB962C8B-B14F-4D97-AF65-F5344CB8AC3E}">
        <p14:creationId xmlns:p14="http://schemas.microsoft.com/office/powerpoint/2010/main" val="55450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2300</TotalTime>
  <Words>2095</Words>
  <Application>Microsoft Office PowerPoint</Application>
  <PresentationFormat>On-screen Show (4:3)</PresentationFormat>
  <Paragraphs>333</Paragraphs>
  <Slides>37</Slides>
  <Notes>8</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54" baseType="lpstr">
      <vt:lpstr>Arial Unicode MS</vt:lpstr>
      <vt:lpstr>Futura Bk</vt:lpstr>
      <vt:lpstr>open-sans</vt:lpstr>
      <vt:lpstr>SimSun</vt:lpstr>
      <vt:lpstr>Arial</vt:lpstr>
      <vt:lpstr>Calibri</vt:lpstr>
      <vt:lpstr>Cambria Math</vt:lpstr>
      <vt:lpstr>Courier New</vt:lpstr>
      <vt:lpstr>Helvetica</vt:lpstr>
      <vt:lpstr>Lato</vt:lpstr>
      <vt:lpstr>Microsoft Sans Serif</vt:lpstr>
      <vt:lpstr>Symbol</vt:lpstr>
      <vt:lpstr>Times</vt:lpstr>
      <vt:lpstr>Times New Roman</vt:lpstr>
      <vt:lpstr>Wingdings</vt:lpstr>
      <vt:lpstr>Office Theme</vt:lpstr>
      <vt:lpstr>Acrobat Document</vt:lpstr>
      <vt:lpstr>Introduction to Clustering</vt:lpstr>
      <vt:lpstr>Clustering (Unsupervised Learning)</vt:lpstr>
      <vt:lpstr>Why cluster?</vt:lpstr>
      <vt:lpstr>Goal of Clustering</vt:lpstr>
      <vt:lpstr>PowerPoint Presentation</vt:lpstr>
      <vt:lpstr>PowerPoint Presentation</vt:lpstr>
      <vt:lpstr>Two Types of Clustering</vt:lpstr>
      <vt:lpstr>Dendogram: A Useful Tool for Summarizing Similarity Measurements </vt:lpstr>
      <vt:lpstr>Hierarchical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K-means Clustering</vt:lpstr>
      <vt:lpstr>What Is K-Means Clustering?</vt:lpstr>
      <vt:lpstr>K-means Clustering</vt:lpstr>
      <vt:lpstr>K-means Clustering</vt:lpstr>
      <vt:lpstr>K-means Clustering</vt:lpstr>
      <vt:lpstr>K-means Clustering</vt:lpstr>
      <vt:lpstr>K-means Clustering</vt:lpstr>
      <vt:lpstr>K-means Clustering</vt:lpstr>
      <vt:lpstr>K-means Clustering</vt:lpstr>
      <vt:lpstr>K-means Issues</vt:lpstr>
      <vt:lpstr>WCSS</vt:lpstr>
      <vt:lpstr>To apply partitional clustering we need to:</vt:lpstr>
      <vt:lpstr>Um, what about k?</vt:lpstr>
      <vt:lpstr>PowerPoint Presentation</vt:lpstr>
      <vt:lpstr>PowerPoint Presentation</vt:lpstr>
      <vt:lpstr>PowerPoint Presentation</vt:lpstr>
      <vt:lpstr>PowerPoint Presentation</vt:lpstr>
      <vt:lpstr>Bottom Line</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K-means Clustering</dc:title>
  <dc:creator>Rose, John R</dc:creator>
  <cp:lastModifiedBy>Guo, Hongyu</cp:lastModifiedBy>
  <cp:revision>34</cp:revision>
  <dcterms:created xsi:type="dcterms:W3CDTF">2015-02-02T18:43:07Z</dcterms:created>
  <dcterms:modified xsi:type="dcterms:W3CDTF">2024-03-21T17:05:05Z</dcterms:modified>
</cp:coreProperties>
</file>