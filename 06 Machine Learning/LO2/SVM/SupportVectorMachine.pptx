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58" r:id="rId4"/>
    <p:sldId id="260" r:id="rId5"/>
    <p:sldId id="259" r:id="rId6"/>
    <p:sldId id="261" r:id="rId7"/>
    <p:sldId id="262" r:id="rId8"/>
    <p:sldId id="264" r:id="rId9"/>
    <p:sldId id="263" r:id="rId10"/>
    <p:sldId id="273" r:id="rId11"/>
    <p:sldId id="266" r:id="rId12"/>
    <p:sldId id="269" r:id="rId13"/>
    <p:sldId id="270" r:id="rId14"/>
    <p:sldId id="271" r:id="rId15"/>
    <p:sldId id="272" r:id="rId16"/>
    <p:sldId id="275" r:id="rId17"/>
    <p:sldId id="277" r:id="rId18"/>
    <p:sldId id="278" r:id="rId19"/>
    <p:sldId id="279" r:id="rId20"/>
    <p:sldId id="274" r:id="rId21"/>
    <p:sldId id="297" r:id="rId22"/>
    <p:sldId id="283" r:id="rId23"/>
    <p:sldId id="284" r:id="rId24"/>
    <p:sldId id="285" r:id="rId25"/>
    <p:sldId id="286" r:id="rId26"/>
    <p:sldId id="287" r:id="rId27"/>
    <p:sldId id="288" r:id="rId28"/>
    <p:sldId id="316" r:id="rId29"/>
    <p:sldId id="317" r:id="rId30"/>
    <p:sldId id="296" r:id="rId31"/>
    <p:sldId id="304" r:id="rId32"/>
    <p:sldId id="318" r:id="rId33"/>
    <p:sldId id="308" r:id="rId34"/>
    <p:sldId id="310"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10" autoAdjust="0"/>
  </p:normalViewPr>
  <p:slideViewPr>
    <p:cSldViewPr>
      <p:cViewPr>
        <p:scale>
          <a:sx n="74" d="100"/>
          <a:sy n="74" d="100"/>
        </p:scale>
        <p:origin x="84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1D57CED-5361-19E5-B891-524FE630BD8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4099" name="Rectangle 3">
            <a:extLst>
              <a:ext uri="{FF2B5EF4-FFF2-40B4-BE49-F238E27FC236}">
                <a16:creationId xmlns:a16="http://schemas.microsoft.com/office/drawing/2014/main" id="{07F5427C-7128-54E9-CF48-78F11839D7B7}"/>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4100" name="Rectangle 4">
            <a:extLst>
              <a:ext uri="{FF2B5EF4-FFF2-40B4-BE49-F238E27FC236}">
                <a16:creationId xmlns:a16="http://schemas.microsoft.com/office/drawing/2014/main" id="{F16C5997-8138-6F33-1CD7-20CE0432CED0}"/>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a:extLst>
              <a:ext uri="{FF2B5EF4-FFF2-40B4-BE49-F238E27FC236}">
                <a16:creationId xmlns:a16="http://schemas.microsoft.com/office/drawing/2014/main" id="{2DD64AB6-7DB3-819D-FCA4-C559D0937C37}"/>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2" name="Rectangle 6">
            <a:extLst>
              <a:ext uri="{FF2B5EF4-FFF2-40B4-BE49-F238E27FC236}">
                <a16:creationId xmlns:a16="http://schemas.microsoft.com/office/drawing/2014/main" id="{77FBE8C3-B90A-3C56-C8F4-FC3F931BC5DB}"/>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4103" name="Rectangle 7">
            <a:extLst>
              <a:ext uri="{FF2B5EF4-FFF2-40B4-BE49-F238E27FC236}">
                <a16:creationId xmlns:a16="http://schemas.microsoft.com/office/drawing/2014/main" id="{F55D249F-1B42-D7C1-4A11-646B966751BC}"/>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853C81F-5DB2-4F5A-B39A-EF5B7D0655D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63B8E19-4923-EB82-B4FD-B4B8ECF6B54A}"/>
              </a:ext>
            </a:extLst>
          </p:cNvPr>
          <p:cNvSpPr>
            <a:spLocks noGrp="1" noChangeArrowheads="1"/>
          </p:cNvSpPr>
          <p:nvPr>
            <p:ph type="sldNum" sz="quarter" idx="5"/>
          </p:nvPr>
        </p:nvSpPr>
        <p:spPr>
          <a:ln/>
        </p:spPr>
        <p:txBody>
          <a:bodyPr/>
          <a:lstStyle/>
          <a:p>
            <a:fld id="{30F6416E-B9B7-40DF-82A0-83ADE698C310}" type="slidenum">
              <a:rPr lang="en-US" altLang="en-US"/>
              <a:pPr/>
              <a:t>2</a:t>
            </a:fld>
            <a:endParaRPr lang="en-US" altLang="en-US"/>
          </a:p>
        </p:txBody>
      </p:sp>
      <p:sp>
        <p:nvSpPr>
          <p:cNvPr id="5122" name="Rectangle 2">
            <a:extLst>
              <a:ext uri="{FF2B5EF4-FFF2-40B4-BE49-F238E27FC236}">
                <a16:creationId xmlns:a16="http://schemas.microsoft.com/office/drawing/2014/main" id="{8EE597CF-43E3-DCB4-AA97-DBAC40C9F538}"/>
              </a:ext>
            </a:extLst>
          </p:cNvPr>
          <p:cNvSpPr>
            <a:spLocks noRot="1" noChangeArrowheads="1" noTextEdit="1"/>
          </p:cNvSpPr>
          <p:nvPr>
            <p:ph type="sldImg"/>
          </p:nvPr>
        </p:nvSpPr>
        <p:spPr>
          <a:ln/>
        </p:spPr>
      </p:sp>
      <p:sp>
        <p:nvSpPr>
          <p:cNvPr id="5123" name="Rectangle 3">
            <a:extLst>
              <a:ext uri="{FF2B5EF4-FFF2-40B4-BE49-F238E27FC236}">
                <a16:creationId xmlns:a16="http://schemas.microsoft.com/office/drawing/2014/main" id="{DDE03E2B-75DC-DD25-368F-23AC4B6907EF}"/>
              </a:ext>
            </a:extLst>
          </p:cNvPr>
          <p:cNvSpPr>
            <a:spLocks noGrp="1" noChangeArrowheads="1"/>
          </p:cNvSpPr>
          <p:nvPr>
            <p:ph type="body" idx="1"/>
          </p:nvPr>
        </p:nvSpPr>
        <p:spPr>
          <a:xfrm>
            <a:off x="914400" y="4343400"/>
            <a:ext cx="5029200" cy="4114800"/>
          </a:xfrm>
        </p:spPr>
        <p:txBody>
          <a:bodyPr/>
          <a:lstStyle/>
          <a:p>
            <a:r>
              <a:rPr lang="en-US" altLang="en-US"/>
              <a:t>First introduced in COLT-92 by Boser, Guyon and Vapnik</a:t>
            </a:r>
          </a:p>
          <a:p>
            <a:r>
              <a:rPr lang="en-US" altLang="en-US"/>
              <a:t>COLT = computational learning theory</a:t>
            </a:r>
          </a:p>
          <a:p>
            <a:pPr lvl="2"/>
            <a:r>
              <a:rPr lang="en-US" altLang="en-US"/>
              <a:t>B. Scholkopf et al. ICANN 96. 47-52.</a:t>
            </a:r>
          </a:p>
          <a:p>
            <a:endParaRPr lang="en-US" altLang="en-US"/>
          </a:p>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354DFBF-FB44-AC60-55AD-C1556992A0F6}"/>
              </a:ext>
            </a:extLst>
          </p:cNvPr>
          <p:cNvSpPr>
            <a:spLocks noGrp="1" noChangeArrowheads="1"/>
          </p:cNvSpPr>
          <p:nvPr>
            <p:ph type="sldNum" sz="quarter" idx="5"/>
          </p:nvPr>
        </p:nvSpPr>
        <p:spPr>
          <a:ln/>
        </p:spPr>
        <p:txBody>
          <a:bodyPr/>
          <a:lstStyle/>
          <a:p>
            <a:fld id="{25A81BBF-41C7-4D88-A8BB-E32D3562F091}" type="slidenum">
              <a:rPr lang="en-US" altLang="en-US"/>
              <a:pPr/>
              <a:t>3</a:t>
            </a:fld>
            <a:endParaRPr lang="en-US" altLang="en-US"/>
          </a:p>
        </p:txBody>
      </p:sp>
      <p:sp>
        <p:nvSpPr>
          <p:cNvPr id="7170" name="Rectangle 2">
            <a:extLst>
              <a:ext uri="{FF2B5EF4-FFF2-40B4-BE49-F238E27FC236}">
                <a16:creationId xmlns:a16="http://schemas.microsoft.com/office/drawing/2014/main" id="{394AD580-B4F8-C185-BCE1-891FAAC70764}"/>
              </a:ext>
            </a:extLst>
          </p:cNvPr>
          <p:cNvSpPr>
            <a:spLocks noRot="1" noChangeArrowheads="1" noTextEdit="1"/>
          </p:cNvSpPr>
          <p:nvPr>
            <p:ph type="sldImg"/>
          </p:nvPr>
        </p:nvSpPr>
        <p:spPr>
          <a:ln/>
        </p:spPr>
      </p:sp>
      <p:sp>
        <p:nvSpPr>
          <p:cNvPr id="7171" name="Rectangle 3">
            <a:extLst>
              <a:ext uri="{FF2B5EF4-FFF2-40B4-BE49-F238E27FC236}">
                <a16:creationId xmlns:a16="http://schemas.microsoft.com/office/drawing/2014/main" id="{7363BFC8-FC87-EFB2-BD42-89CD0E8BEDE3}"/>
              </a:ext>
            </a:extLst>
          </p:cNvPr>
          <p:cNvSpPr>
            <a:spLocks noGrp="1" noChangeArrowheads="1"/>
          </p:cNvSpPr>
          <p:nvPr>
            <p:ph type="body" idx="1"/>
          </p:nvPr>
        </p:nvSpPr>
        <p:spPr>
          <a:xfrm>
            <a:off x="914400" y="4343400"/>
            <a:ext cx="5029200" cy="4114800"/>
          </a:xfrm>
        </p:spPr>
        <p:txBody>
          <a:bodyPr/>
          <a:lstStyle/>
          <a:p>
            <a:r>
              <a:rPr lang="en-US" altLang="en-US"/>
              <a:t>Perceptron learning rule can be used to find any decision boundary between class 1 and class 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DDCC2E-3917-07E3-A820-F96E6FAC25CE}"/>
              </a:ext>
            </a:extLst>
          </p:cNvPr>
          <p:cNvSpPr>
            <a:spLocks noGrp="1" noChangeArrowheads="1"/>
          </p:cNvSpPr>
          <p:nvPr>
            <p:ph type="sldNum" sz="quarter" idx="5"/>
          </p:nvPr>
        </p:nvSpPr>
        <p:spPr>
          <a:ln/>
        </p:spPr>
        <p:txBody>
          <a:bodyPr/>
          <a:lstStyle/>
          <a:p>
            <a:fld id="{8A470565-072F-49D1-B5FE-89C25ED59890}" type="slidenum">
              <a:rPr lang="en-US" altLang="en-US"/>
              <a:pPr/>
              <a:t>9</a:t>
            </a:fld>
            <a:endParaRPr lang="en-US" altLang="en-US"/>
          </a:p>
        </p:txBody>
      </p:sp>
      <p:sp>
        <p:nvSpPr>
          <p:cNvPr id="13314" name="Rectangle 2">
            <a:extLst>
              <a:ext uri="{FF2B5EF4-FFF2-40B4-BE49-F238E27FC236}">
                <a16:creationId xmlns:a16="http://schemas.microsoft.com/office/drawing/2014/main" id="{A602B22D-A25F-D1C1-DEB8-6162B676FF36}"/>
              </a:ext>
            </a:extLst>
          </p:cNvPr>
          <p:cNvSpPr>
            <a:spLocks noRot="1" noChangeArrowheads="1" noTextEdit="1"/>
          </p:cNvSpPr>
          <p:nvPr>
            <p:ph type="sldImg"/>
          </p:nvPr>
        </p:nvSpPr>
        <p:spPr>
          <a:ln/>
        </p:spPr>
      </p:sp>
      <p:sp>
        <p:nvSpPr>
          <p:cNvPr id="13315" name="Rectangle 3">
            <a:extLst>
              <a:ext uri="{FF2B5EF4-FFF2-40B4-BE49-F238E27FC236}">
                <a16:creationId xmlns:a16="http://schemas.microsoft.com/office/drawing/2014/main" id="{A364E1C8-E5DB-B243-5FD6-0146654C9071}"/>
              </a:ext>
            </a:extLst>
          </p:cNvPr>
          <p:cNvSpPr>
            <a:spLocks noGrp="1" noChangeArrowheads="1"/>
          </p:cNvSpPr>
          <p:nvPr>
            <p:ph type="body" idx="1"/>
          </p:nvPr>
        </p:nvSpPr>
        <p:spPr>
          <a:xfrm>
            <a:off x="914400" y="4343400"/>
            <a:ext cx="5029200" cy="4114800"/>
          </a:xfrm>
        </p:spPr>
        <p:txBody>
          <a:bodyPr/>
          <a:lstStyle/>
          <a:p>
            <a:r>
              <a:rPr lang="de-CH" altLang="en-US" dirty="0"/>
              <a:t>The perpendicular distance of a point x from a hyperplane defined by y(x)=0 where y(x) is given </a:t>
            </a:r>
            <a:r>
              <a:rPr lang="de-CH" altLang="en-US" b="1" dirty="0">
                <a:highlight>
                  <a:srgbClr val="FFFF00"/>
                </a:highlight>
              </a:rPr>
              <a:t>by |y(x)|/||w||.</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56CE2FF-2E19-BC8E-267A-0D637D240321}"/>
              </a:ext>
            </a:extLst>
          </p:cNvPr>
          <p:cNvSpPr>
            <a:spLocks noGrp="1" noChangeArrowheads="1"/>
          </p:cNvSpPr>
          <p:nvPr>
            <p:ph type="sldNum" sz="quarter" idx="5"/>
          </p:nvPr>
        </p:nvSpPr>
        <p:spPr>
          <a:ln/>
        </p:spPr>
        <p:txBody>
          <a:bodyPr/>
          <a:lstStyle/>
          <a:p>
            <a:fld id="{7E4FE152-1C56-4175-9983-96F522EC8C03}" type="slidenum">
              <a:rPr lang="sv-SE" altLang="en-US"/>
              <a:pPr/>
              <a:t>10</a:t>
            </a:fld>
            <a:endParaRPr lang="sv-SE" altLang="en-US"/>
          </a:p>
        </p:txBody>
      </p:sp>
      <p:sp>
        <p:nvSpPr>
          <p:cNvPr id="70658" name="Rectangle 2">
            <a:extLst>
              <a:ext uri="{FF2B5EF4-FFF2-40B4-BE49-F238E27FC236}">
                <a16:creationId xmlns:a16="http://schemas.microsoft.com/office/drawing/2014/main" id="{6B817056-484E-16B9-4328-E683EEBAB9E7}"/>
              </a:ext>
            </a:extLst>
          </p:cNvPr>
          <p:cNvSpPr>
            <a:spLocks noChangeArrowheads="1" noTextEdit="1"/>
          </p:cNvSpPr>
          <p:nvPr>
            <p:ph type="sldImg"/>
          </p:nvPr>
        </p:nvSpPr>
        <p:spPr>
          <a:ln/>
        </p:spPr>
      </p:sp>
      <p:sp>
        <p:nvSpPr>
          <p:cNvPr id="70659" name="Rectangle 3">
            <a:extLst>
              <a:ext uri="{FF2B5EF4-FFF2-40B4-BE49-F238E27FC236}">
                <a16:creationId xmlns:a16="http://schemas.microsoft.com/office/drawing/2014/main" id="{E443B405-D632-3896-BD62-95A0CEF0398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374CC2-31D7-6B7E-BBA3-922DFE24DFD2}"/>
              </a:ext>
            </a:extLst>
          </p:cNvPr>
          <p:cNvSpPr>
            <a:spLocks noGrp="1" noChangeArrowheads="1"/>
          </p:cNvSpPr>
          <p:nvPr>
            <p:ph type="sldNum" sz="quarter" idx="5"/>
          </p:nvPr>
        </p:nvSpPr>
        <p:spPr>
          <a:ln/>
        </p:spPr>
        <p:txBody>
          <a:bodyPr/>
          <a:lstStyle/>
          <a:p>
            <a:fld id="{32B58680-F27E-4837-B99C-0DE4E80D868F}" type="slidenum">
              <a:rPr lang="en-US" altLang="en-US"/>
              <a:pPr/>
              <a:t>11</a:t>
            </a:fld>
            <a:endParaRPr lang="en-US" altLang="en-US"/>
          </a:p>
        </p:txBody>
      </p:sp>
      <p:sp>
        <p:nvSpPr>
          <p:cNvPr id="17410" name="Rectangle 2">
            <a:extLst>
              <a:ext uri="{FF2B5EF4-FFF2-40B4-BE49-F238E27FC236}">
                <a16:creationId xmlns:a16="http://schemas.microsoft.com/office/drawing/2014/main" id="{13F80536-886C-4009-8DE6-257DD75B75A2}"/>
              </a:ext>
            </a:extLst>
          </p:cNvPr>
          <p:cNvSpPr>
            <a:spLocks noRot="1" noChangeArrowheads="1" noTextEdit="1"/>
          </p:cNvSpPr>
          <p:nvPr>
            <p:ph type="sldImg"/>
          </p:nvPr>
        </p:nvSpPr>
        <p:spPr>
          <a:ln/>
        </p:spPr>
      </p:sp>
      <p:sp>
        <p:nvSpPr>
          <p:cNvPr id="17411" name="Rectangle 3">
            <a:extLst>
              <a:ext uri="{FF2B5EF4-FFF2-40B4-BE49-F238E27FC236}">
                <a16:creationId xmlns:a16="http://schemas.microsoft.com/office/drawing/2014/main" id="{B7665358-7E63-5C19-2E19-99336DA5E795}"/>
              </a:ext>
            </a:extLst>
          </p:cNvPr>
          <p:cNvSpPr>
            <a:spLocks noGrp="1" noChangeArrowheads="1"/>
          </p:cNvSpPr>
          <p:nvPr>
            <p:ph type="body" idx="1"/>
          </p:nvPr>
        </p:nvSpPr>
        <p:spPr>
          <a:xfrm>
            <a:off x="914400" y="4343400"/>
            <a:ext cx="5029200" cy="4114800"/>
          </a:xfrm>
        </p:spPr>
        <p:txBody>
          <a:bodyPr/>
          <a:lstStyle/>
          <a:p>
            <a:r>
              <a:rPr lang="en-US" altLang="zh-CN" dirty="0"/>
              <a:t>The factor of ½ is included for later convenience. </a:t>
            </a:r>
            <a:endParaRPr lang="de-CH"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9853C81F-5DB2-4F5A-B39A-EF5B7D0655DD}" type="slidenum">
              <a:rPr lang="en-US" altLang="en-US" smtClean="0"/>
              <a:pPr/>
              <a:t>13</a:t>
            </a:fld>
            <a:endParaRPr lang="en-US" altLang="en-US"/>
          </a:p>
        </p:txBody>
      </p:sp>
    </p:spTree>
    <p:extLst>
      <p:ext uri="{BB962C8B-B14F-4D97-AF65-F5344CB8AC3E}">
        <p14:creationId xmlns:p14="http://schemas.microsoft.com/office/powerpoint/2010/main" val="2755970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CDA61B6-FB95-D305-C291-48D4AE23A3F7}"/>
              </a:ext>
            </a:extLst>
          </p:cNvPr>
          <p:cNvSpPr>
            <a:spLocks noGrp="1" noChangeArrowheads="1"/>
          </p:cNvSpPr>
          <p:nvPr>
            <p:ph type="sldNum" sz="quarter" idx="5"/>
          </p:nvPr>
        </p:nvSpPr>
        <p:spPr>
          <a:ln/>
        </p:spPr>
        <p:txBody>
          <a:bodyPr/>
          <a:lstStyle/>
          <a:p>
            <a:fld id="{7133366C-EF8A-4CE8-ACE0-CACDFA1514DF}" type="slidenum">
              <a:rPr lang="en-US" altLang="en-US"/>
              <a:pPr/>
              <a:t>15</a:t>
            </a:fld>
            <a:endParaRPr lang="en-US" altLang="en-US"/>
          </a:p>
        </p:txBody>
      </p:sp>
      <p:sp>
        <p:nvSpPr>
          <p:cNvPr id="24578" name="Rectangle 2">
            <a:extLst>
              <a:ext uri="{FF2B5EF4-FFF2-40B4-BE49-F238E27FC236}">
                <a16:creationId xmlns:a16="http://schemas.microsoft.com/office/drawing/2014/main" id="{847D7192-02B1-16F0-7C97-2422482F30E8}"/>
              </a:ext>
            </a:extLst>
          </p:cNvPr>
          <p:cNvSpPr>
            <a:spLocks noRot="1" noChangeArrowheads="1" noTextEdit="1"/>
          </p:cNvSpPr>
          <p:nvPr>
            <p:ph type="sldImg"/>
          </p:nvPr>
        </p:nvSpPr>
        <p:spPr>
          <a:ln/>
        </p:spPr>
      </p:sp>
      <p:sp>
        <p:nvSpPr>
          <p:cNvPr id="24579" name="Rectangle 3">
            <a:extLst>
              <a:ext uri="{FF2B5EF4-FFF2-40B4-BE49-F238E27FC236}">
                <a16:creationId xmlns:a16="http://schemas.microsoft.com/office/drawing/2014/main" id="{9E955BD5-5B21-2E76-2B00-25DB0FD2CDA4}"/>
              </a:ext>
            </a:extLst>
          </p:cNvPr>
          <p:cNvSpPr>
            <a:spLocks noGrp="1" noChangeArrowheads="1"/>
          </p:cNvSpPr>
          <p:nvPr>
            <p:ph type="body" idx="1"/>
          </p:nvPr>
        </p:nvSpPr>
        <p:spPr>
          <a:xfrm>
            <a:off x="914400" y="4343400"/>
            <a:ext cx="5029200" cy="4114800"/>
          </a:xfrm>
        </p:spPr>
        <p:txBody>
          <a:bodyPr/>
          <a:lstStyle/>
          <a:p>
            <a:r>
              <a:rPr lang="en-US" altLang="en-US"/>
              <a:t>Let x(1) and x(-1) be two S.V.</a:t>
            </a:r>
          </a:p>
          <a:p>
            <a:r>
              <a:rPr lang="en-US" altLang="en-US"/>
              <a:t>Then b = -1/2( w^T x(1) + w^T x(-1)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1B217A7-E40A-D5B6-C2A5-F97540104EC4}"/>
              </a:ext>
            </a:extLst>
          </p:cNvPr>
          <p:cNvSpPr>
            <a:spLocks noGrp="1" noChangeArrowheads="1"/>
          </p:cNvSpPr>
          <p:nvPr>
            <p:ph type="sldNum" sz="quarter" idx="5"/>
          </p:nvPr>
        </p:nvSpPr>
        <p:spPr>
          <a:ln/>
        </p:spPr>
        <p:txBody>
          <a:bodyPr/>
          <a:lstStyle/>
          <a:p>
            <a:fld id="{741F0683-9684-4D6C-96DA-217152A656F3}" type="slidenum">
              <a:rPr lang="en-US" altLang="en-US"/>
              <a:pPr/>
              <a:t>17</a:t>
            </a:fld>
            <a:endParaRPr lang="en-US" altLang="en-US"/>
          </a:p>
        </p:txBody>
      </p:sp>
      <p:sp>
        <p:nvSpPr>
          <p:cNvPr id="34818" name="Rectangle 2">
            <a:extLst>
              <a:ext uri="{FF2B5EF4-FFF2-40B4-BE49-F238E27FC236}">
                <a16:creationId xmlns:a16="http://schemas.microsoft.com/office/drawing/2014/main" id="{4EFA7733-954C-EA79-8476-7B0467F9B8C8}"/>
              </a:ext>
            </a:extLst>
          </p:cNvPr>
          <p:cNvSpPr>
            <a:spLocks noRot="1" noChangeArrowheads="1" noTextEdit="1"/>
          </p:cNvSpPr>
          <p:nvPr>
            <p:ph type="sldImg"/>
          </p:nvPr>
        </p:nvSpPr>
        <p:spPr>
          <a:ln/>
        </p:spPr>
      </p:sp>
      <p:sp>
        <p:nvSpPr>
          <p:cNvPr id="34819" name="Rectangle 3">
            <a:extLst>
              <a:ext uri="{FF2B5EF4-FFF2-40B4-BE49-F238E27FC236}">
                <a16:creationId xmlns:a16="http://schemas.microsoft.com/office/drawing/2014/main" id="{7D3F0323-5EC9-B741-8177-59CCE58E2F8A}"/>
              </a:ext>
            </a:extLst>
          </p:cNvPr>
          <p:cNvSpPr>
            <a:spLocks noGrp="1" noChangeArrowheads="1"/>
          </p:cNvSpPr>
          <p:nvPr>
            <p:ph type="body" idx="1"/>
          </p:nvPr>
        </p:nvSpPr>
        <p:spPr>
          <a:xfrm>
            <a:off x="914400" y="4343400"/>
            <a:ext cx="5029200" cy="4114800"/>
          </a:xfrm>
        </p:spPr>
        <p:txBody>
          <a:bodyPr/>
          <a:lstStyle/>
          <a:p>
            <a:r>
              <a:rPr lang="en-US" altLang="en-US"/>
              <a:t>So, if change internal points, no effect on the decision boundary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Our goal is to maximize the margin while softly penalizing points that lie on the wrong side of the margin boundary. </a:t>
            </a:r>
          </a:p>
        </p:txBody>
      </p:sp>
      <p:sp>
        <p:nvSpPr>
          <p:cNvPr id="4" name="Slide Number Placeholder 3"/>
          <p:cNvSpPr>
            <a:spLocks noGrp="1"/>
          </p:cNvSpPr>
          <p:nvPr>
            <p:ph type="sldNum" sz="quarter" idx="5"/>
          </p:nvPr>
        </p:nvSpPr>
        <p:spPr/>
        <p:txBody>
          <a:bodyPr/>
          <a:lstStyle/>
          <a:p>
            <a:fld id="{9853C81F-5DB2-4F5A-B39A-EF5B7D0655DD}" type="slidenum">
              <a:rPr lang="en-US" altLang="en-US" smtClean="0"/>
              <a:pPr/>
              <a:t>19</a:t>
            </a:fld>
            <a:endParaRPr lang="en-US" altLang="en-US"/>
          </a:p>
        </p:txBody>
      </p:sp>
    </p:spTree>
    <p:extLst>
      <p:ext uri="{BB962C8B-B14F-4D97-AF65-F5344CB8AC3E}">
        <p14:creationId xmlns:p14="http://schemas.microsoft.com/office/powerpoint/2010/main" val="2901880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2C6A72-7DC1-E66C-4EDD-DF439577E72A}"/>
              </a:ext>
            </a:extLst>
          </p:cNvPr>
          <p:cNvSpPr>
            <a:spLocks noGrp="1" noChangeArrowheads="1"/>
          </p:cNvSpPr>
          <p:nvPr>
            <p:ph type="sldNum" sz="quarter" idx="5"/>
          </p:nvPr>
        </p:nvSpPr>
        <p:spPr>
          <a:ln/>
        </p:spPr>
        <p:txBody>
          <a:bodyPr/>
          <a:lstStyle/>
          <a:p>
            <a:fld id="{54225E2C-EFEB-4917-A09C-43FB5A872D6E}" type="slidenum">
              <a:rPr lang="sv-SE" altLang="en-US"/>
              <a:pPr/>
              <a:t>20</a:t>
            </a:fld>
            <a:endParaRPr lang="sv-SE" altLang="en-US"/>
          </a:p>
        </p:txBody>
      </p:sp>
      <p:sp>
        <p:nvSpPr>
          <p:cNvPr id="72706" name="Rectangle 2">
            <a:extLst>
              <a:ext uri="{FF2B5EF4-FFF2-40B4-BE49-F238E27FC236}">
                <a16:creationId xmlns:a16="http://schemas.microsoft.com/office/drawing/2014/main" id="{1D005CF3-B3E5-821E-9A3C-D816ABB21755}"/>
              </a:ext>
            </a:extLst>
          </p:cNvPr>
          <p:cNvSpPr>
            <a:spLocks noChangeArrowheads="1" noTextEdit="1"/>
          </p:cNvSpPr>
          <p:nvPr>
            <p:ph type="sldImg"/>
          </p:nvPr>
        </p:nvSpPr>
        <p:spPr>
          <a:ln/>
        </p:spPr>
      </p:sp>
      <p:sp>
        <p:nvSpPr>
          <p:cNvPr id="72707" name="Rectangle 3">
            <a:extLst>
              <a:ext uri="{FF2B5EF4-FFF2-40B4-BE49-F238E27FC236}">
                <a16:creationId xmlns:a16="http://schemas.microsoft.com/office/drawing/2014/main" id="{9947F42E-922F-1500-B0DE-1AFF85489FE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E33A8D3-8368-5111-A955-EE573E9343C3}"/>
              </a:ext>
            </a:extLst>
          </p:cNvPr>
          <p:cNvSpPr>
            <a:spLocks noGrp="1" noChangeArrowheads="1"/>
          </p:cNvSpPr>
          <p:nvPr>
            <p:ph type="sldNum" sz="quarter" idx="5"/>
          </p:nvPr>
        </p:nvSpPr>
        <p:spPr>
          <a:ln/>
        </p:spPr>
        <p:txBody>
          <a:bodyPr/>
          <a:lstStyle/>
          <a:p>
            <a:fld id="{CD1055FE-FC08-4AB7-81B4-6F4FC85C2D69}" type="slidenum">
              <a:rPr lang="sv-SE" altLang="en-US"/>
              <a:pPr/>
              <a:t>21</a:t>
            </a:fld>
            <a:endParaRPr lang="sv-SE" altLang="en-US"/>
          </a:p>
        </p:txBody>
      </p:sp>
      <p:sp>
        <p:nvSpPr>
          <p:cNvPr id="98306" name="Rectangle 2">
            <a:extLst>
              <a:ext uri="{FF2B5EF4-FFF2-40B4-BE49-F238E27FC236}">
                <a16:creationId xmlns:a16="http://schemas.microsoft.com/office/drawing/2014/main" id="{DCB213C3-9CB4-CCBE-8B4E-F5682932FF8B}"/>
              </a:ext>
            </a:extLst>
          </p:cNvPr>
          <p:cNvSpPr>
            <a:spLocks noChangeArrowheads="1" noTextEdit="1"/>
          </p:cNvSpPr>
          <p:nvPr>
            <p:ph type="sldImg"/>
          </p:nvPr>
        </p:nvSpPr>
        <p:spPr>
          <a:ln/>
        </p:spPr>
      </p:sp>
      <p:sp>
        <p:nvSpPr>
          <p:cNvPr id="98307" name="Rectangle 3">
            <a:extLst>
              <a:ext uri="{FF2B5EF4-FFF2-40B4-BE49-F238E27FC236}">
                <a16:creationId xmlns:a16="http://schemas.microsoft.com/office/drawing/2014/main" id="{162D2A67-E60E-1F76-1C3A-C2ECE62DED0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4DD1446-3BCA-7589-A4C3-3710AB7DB6E2}"/>
              </a:ext>
            </a:extLst>
          </p:cNvPr>
          <p:cNvSpPr>
            <a:spLocks noGrp="1" noChangeArrowheads="1"/>
          </p:cNvSpPr>
          <p:nvPr>
            <p:ph type="sldNum" sz="quarter" idx="5"/>
          </p:nvPr>
        </p:nvSpPr>
        <p:spPr>
          <a:ln/>
        </p:spPr>
        <p:txBody>
          <a:bodyPr/>
          <a:lstStyle/>
          <a:p>
            <a:fld id="{514B6D7F-6E2A-4B4E-A537-928947BE8400}" type="slidenum">
              <a:rPr lang="en-US" altLang="en-US"/>
              <a:pPr/>
              <a:t>22</a:t>
            </a:fld>
            <a:endParaRPr lang="en-US" altLang="en-US"/>
          </a:p>
        </p:txBody>
      </p:sp>
      <p:sp>
        <p:nvSpPr>
          <p:cNvPr id="47106" name="Rectangle 2">
            <a:extLst>
              <a:ext uri="{FF2B5EF4-FFF2-40B4-BE49-F238E27FC236}">
                <a16:creationId xmlns:a16="http://schemas.microsoft.com/office/drawing/2014/main" id="{F64894D6-E3BC-D7AE-DDF5-73F79FA32A6D}"/>
              </a:ext>
            </a:extLst>
          </p:cNvPr>
          <p:cNvSpPr>
            <a:spLocks noRot="1" noChangeArrowheads="1" noTextEdit="1"/>
          </p:cNvSpPr>
          <p:nvPr>
            <p:ph type="sldImg"/>
          </p:nvPr>
        </p:nvSpPr>
        <p:spPr>
          <a:ln/>
        </p:spPr>
      </p:sp>
      <p:sp>
        <p:nvSpPr>
          <p:cNvPr id="47107" name="Rectangle 3">
            <a:extLst>
              <a:ext uri="{FF2B5EF4-FFF2-40B4-BE49-F238E27FC236}">
                <a16:creationId xmlns:a16="http://schemas.microsoft.com/office/drawing/2014/main" id="{BF77FFA2-8275-3729-2944-67445625A9C7}"/>
              </a:ext>
            </a:extLst>
          </p:cNvPr>
          <p:cNvSpPr>
            <a:spLocks noGrp="1" noChangeArrowheads="1"/>
          </p:cNvSpPr>
          <p:nvPr>
            <p:ph type="body" idx="1"/>
          </p:nvPr>
        </p:nvSpPr>
        <p:spPr>
          <a:xfrm>
            <a:off x="914400" y="4343400"/>
            <a:ext cx="5029200" cy="4114800"/>
          </a:xfrm>
        </p:spPr>
        <p:txBody>
          <a:bodyPr/>
          <a:lstStyle/>
          <a:p>
            <a:r>
              <a:rPr lang="en-US" altLang="en-US"/>
              <a:t>XOR: x_1, x_2, and we want to transform to x_1^2, x_2^2, x_1 x_2</a:t>
            </a:r>
          </a:p>
          <a:p>
            <a:endParaRPr lang="en-US" altLang="en-US"/>
          </a:p>
          <a:p>
            <a:r>
              <a:rPr lang="en-US" altLang="en-US"/>
              <a:t>It can also be viewed as feature extraction from the feature vector </a:t>
            </a:r>
            <a:r>
              <a:rPr lang="en-US" altLang="en-US" b="1"/>
              <a:t>x</a:t>
            </a:r>
            <a:r>
              <a:rPr lang="en-US" altLang="en-US"/>
              <a:t>, but now we extract </a:t>
            </a:r>
            <a:r>
              <a:rPr lang="en-US" altLang="en-US" i="1"/>
              <a:t>more</a:t>
            </a:r>
            <a:r>
              <a:rPr lang="en-US" altLang="en-US"/>
              <a:t> feature than the number of features in </a:t>
            </a:r>
            <a:r>
              <a:rPr lang="en-US" altLang="en-US" b="1"/>
              <a:t>x</a:t>
            </a:r>
            <a:r>
              <a:rPr lang="en-US" altLang="en-US"/>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07A8FD6-C114-2A06-6CF4-19CAA517E656}"/>
              </a:ext>
            </a:extLst>
          </p:cNvPr>
          <p:cNvSpPr>
            <a:spLocks noGrp="1" noChangeArrowheads="1"/>
          </p:cNvSpPr>
          <p:nvPr>
            <p:ph type="sldNum" sz="quarter" idx="5"/>
          </p:nvPr>
        </p:nvSpPr>
        <p:spPr>
          <a:ln/>
        </p:spPr>
        <p:txBody>
          <a:bodyPr/>
          <a:lstStyle/>
          <a:p>
            <a:fld id="{AF3044FB-206F-4AF5-88A5-E9E4B8A65D6F}" type="slidenum">
              <a:rPr lang="en-US" altLang="en-US"/>
              <a:pPr/>
              <a:t>27</a:t>
            </a:fld>
            <a:endParaRPr lang="en-US" altLang="en-US"/>
          </a:p>
        </p:txBody>
      </p:sp>
      <p:sp>
        <p:nvSpPr>
          <p:cNvPr id="53250" name="Rectangle 2">
            <a:extLst>
              <a:ext uri="{FF2B5EF4-FFF2-40B4-BE49-F238E27FC236}">
                <a16:creationId xmlns:a16="http://schemas.microsoft.com/office/drawing/2014/main" id="{71550BEC-BC7A-224F-9D38-9E1A270ADF9E}"/>
              </a:ext>
            </a:extLst>
          </p:cNvPr>
          <p:cNvSpPr>
            <a:spLocks noRot="1" noChangeArrowheads="1" noTextEdit="1"/>
          </p:cNvSpPr>
          <p:nvPr>
            <p:ph type="sldImg"/>
          </p:nvPr>
        </p:nvSpPr>
        <p:spPr>
          <a:ln/>
        </p:spPr>
      </p:sp>
      <p:sp>
        <p:nvSpPr>
          <p:cNvPr id="53251" name="Rectangle 3">
            <a:extLst>
              <a:ext uri="{FF2B5EF4-FFF2-40B4-BE49-F238E27FC236}">
                <a16:creationId xmlns:a16="http://schemas.microsoft.com/office/drawing/2014/main" id="{41F8238D-6739-C097-B17F-D96C342E1CED}"/>
              </a:ext>
            </a:extLst>
          </p:cNvPr>
          <p:cNvSpPr>
            <a:spLocks noGrp="1" noChangeArrowheads="1"/>
          </p:cNvSpPr>
          <p:nvPr>
            <p:ph type="body" idx="1"/>
          </p:nvPr>
        </p:nvSpPr>
        <p:spPr>
          <a:xfrm>
            <a:off x="914400" y="4343400"/>
            <a:ext cx="5029200" cy="4114800"/>
          </a:xfrm>
        </p:spPr>
        <p:txBody>
          <a:bodyPr/>
          <a:lstStyle/>
          <a:p>
            <a:r>
              <a:rPr lang="en-US" altLang="en-US"/>
              <a:t>Despite violating Mercer condition, the sigmoid kernel function can still work</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59D3F-FC2C-EA0E-DFD7-C02C5F184C5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274A6B9-64C7-6373-D632-36BAABA0792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1F75B57-BEFC-35C2-7281-FC629E0EED3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980490B-728B-BF26-7820-444DDF19C62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A037EC7-F02B-8A62-6F10-06BD55FADF21}"/>
              </a:ext>
            </a:extLst>
          </p:cNvPr>
          <p:cNvSpPr>
            <a:spLocks noGrp="1"/>
          </p:cNvSpPr>
          <p:nvPr>
            <p:ph type="sldNum" sz="quarter" idx="12"/>
          </p:nvPr>
        </p:nvSpPr>
        <p:spPr/>
        <p:txBody>
          <a:bodyPr/>
          <a:lstStyle>
            <a:lvl1pPr>
              <a:defRPr/>
            </a:lvl1pPr>
          </a:lstStyle>
          <a:p>
            <a:fld id="{CB79CD30-B059-4974-B8A4-7A43CB5C3F0F}" type="slidenum">
              <a:rPr lang="en-US" altLang="en-US"/>
              <a:pPr/>
              <a:t>‹#›</a:t>
            </a:fld>
            <a:endParaRPr lang="en-US" altLang="en-US"/>
          </a:p>
        </p:txBody>
      </p:sp>
    </p:spTree>
    <p:extLst>
      <p:ext uri="{BB962C8B-B14F-4D97-AF65-F5344CB8AC3E}">
        <p14:creationId xmlns:p14="http://schemas.microsoft.com/office/powerpoint/2010/main" val="358348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94AEE-E872-BE9D-245A-085D2C12ED6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2B63726-0E69-CD8D-9015-2A5249A4E9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99E0904-D88A-9F71-2F7E-B67EDF8DCC47}"/>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B512324-2BC2-280A-D51F-38F9BC0F9D3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ECDB195-8F26-9279-E9C7-72B237686538}"/>
              </a:ext>
            </a:extLst>
          </p:cNvPr>
          <p:cNvSpPr>
            <a:spLocks noGrp="1"/>
          </p:cNvSpPr>
          <p:nvPr>
            <p:ph type="sldNum" sz="quarter" idx="12"/>
          </p:nvPr>
        </p:nvSpPr>
        <p:spPr/>
        <p:txBody>
          <a:bodyPr/>
          <a:lstStyle>
            <a:lvl1pPr>
              <a:defRPr/>
            </a:lvl1pPr>
          </a:lstStyle>
          <a:p>
            <a:fld id="{AE6E0A46-6E62-449A-97AB-07623F025070}" type="slidenum">
              <a:rPr lang="en-US" altLang="en-US"/>
              <a:pPr/>
              <a:t>‹#›</a:t>
            </a:fld>
            <a:endParaRPr lang="en-US" altLang="en-US"/>
          </a:p>
        </p:txBody>
      </p:sp>
    </p:spTree>
    <p:extLst>
      <p:ext uri="{BB962C8B-B14F-4D97-AF65-F5344CB8AC3E}">
        <p14:creationId xmlns:p14="http://schemas.microsoft.com/office/powerpoint/2010/main" val="223945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0E95D-66D7-3033-F40F-913CF7E27DB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4106E5F-9E6B-7CEB-2A75-5EB41FA65CD3}"/>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E679786E-58B2-94F3-5043-E1DC8BA7883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C4F2CAB-8AE2-A54C-714D-18B05D08225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EF5CF0AA-4E8E-F182-8E8D-5EE6FDBED6E9}"/>
              </a:ext>
            </a:extLst>
          </p:cNvPr>
          <p:cNvSpPr>
            <a:spLocks noGrp="1"/>
          </p:cNvSpPr>
          <p:nvPr>
            <p:ph type="sldNum" sz="quarter" idx="12"/>
          </p:nvPr>
        </p:nvSpPr>
        <p:spPr/>
        <p:txBody>
          <a:bodyPr/>
          <a:lstStyle>
            <a:lvl1pPr>
              <a:defRPr/>
            </a:lvl1pPr>
          </a:lstStyle>
          <a:p>
            <a:fld id="{E991441A-808E-47E6-878D-CE070EFD16BE}" type="slidenum">
              <a:rPr lang="en-US" altLang="en-US"/>
              <a:pPr/>
              <a:t>‹#›</a:t>
            </a:fld>
            <a:endParaRPr lang="en-US" altLang="en-US"/>
          </a:p>
        </p:txBody>
      </p:sp>
    </p:spTree>
    <p:extLst>
      <p:ext uri="{BB962C8B-B14F-4D97-AF65-F5344CB8AC3E}">
        <p14:creationId xmlns:p14="http://schemas.microsoft.com/office/powerpoint/2010/main" val="270208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27D10-148C-6E63-A646-164BDC7B897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D12D986-0920-AECB-7045-9CD645C9536A}"/>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EEB0930-C331-3432-E519-91F3D4900918}"/>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B737D80F-A42B-479E-53A2-C6E6A6258555}"/>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9004746-AC06-0530-940A-072BC24A0410}"/>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7E651B2-EA98-DA88-E04B-5C0E8F000B9C}"/>
              </a:ext>
            </a:extLst>
          </p:cNvPr>
          <p:cNvSpPr>
            <a:spLocks noGrp="1"/>
          </p:cNvSpPr>
          <p:nvPr>
            <p:ph type="sldNum" sz="quarter" idx="12"/>
          </p:nvPr>
        </p:nvSpPr>
        <p:spPr/>
        <p:txBody>
          <a:bodyPr/>
          <a:lstStyle>
            <a:lvl1pPr>
              <a:defRPr/>
            </a:lvl1pPr>
          </a:lstStyle>
          <a:p>
            <a:fld id="{B248F51F-6A11-4045-9EB3-109E1D369A94}" type="slidenum">
              <a:rPr lang="en-US" altLang="en-US"/>
              <a:pPr/>
              <a:t>‹#›</a:t>
            </a:fld>
            <a:endParaRPr lang="en-US" altLang="en-US"/>
          </a:p>
        </p:txBody>
      </p:sp>
    </p:spTree>
    <p:extLst>
      <p:ext uri="{BB962C8B-B14F-4D97-AF65-F5344CB8AC3E}">
        <p14:creationId xmlns:p14="http://schemas.microsoft.com/office/powerpoint/2010/main" val="3505510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9B2C7-2FFA-624A-BCE4-0CDF5D6AC39A}"/>
              </a:ext>
            </a:extLst>
          </p:cNvPr>
          <p:cNvSpPr>
            <a:spLocks noGrp="1"/>
          </p:cNvSpPr>
          <p:nvPr>
            <p:ph type="title"/>
          </p:nvPr>
        </p:nvSpPr>
        <p:spPr>
          <a:xfrm>
            <a:off x="630238" y="365125"/>
            <a:ext cx="78867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E2C4272-9B44-2E58-9FDA-D113FF63CFE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137DB6-8ACC-B78D-216A-3232F948CF50}"/>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5846223-E35F-5BFD-0E0B-E6EBBBB0E150}"/>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AC23A4-3490-E322-604B-CF6A7A4A842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7A4ECAF-E01B-8485-4941-588CAF9D7622}"/>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D094A37-1F9F-14EC-32B8-FBC1165F25F2}"/>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00966EC1-7C91-CF10-E159-989DFE2987D1}"/>
              </a:ext>
            </a:extLst>
          </p:cNvPr>
          <p:cNvSpPr>
            <a:spLocks noGrp="1"/>
          </p:cNvSpPr>
          <p:nvPr>
            <p:ph type="sldNum" sz="quarter" idx="12"/>
          </p:nvPr>
        </p:nvSpPr>
        <p:spPr/>
        <p:txBody>
          <a:bodyPr/>
          <a:lstStyle>
            <a:lvl1pPr>
              <a:defRPr/>
            </a:lvl1pPr>
          </a:lstStyle>
          <a:p>
            <a:fld id="{32FDA25D-DA6B-4FA5-BC56-7E5A539D0A32}" type="slidenum">
              <a:rPr lang="en-US" altLang="en-US"/>
              <a:pPr/>
              <a:t>‹#›</a:t>
            </a:fld>
            <a:endParaRPr lang="en-US" altLang="en-US"/>
          </a:p>
        </p:txBody>
      </p:sp>
    </p:spTree>
    <p:extLst>
      <p:ext uri="{BB962C8B-B14F-4D97-AF65-F5344CB8AC3E}">
        <p14:creationId xmlns:p14="http://schemas.microsoft.com/office/powerpoint/2010/main" val="23674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4403-505F-12AC-5B12-AAA0C0F4F98C}"/>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38F17539-64DA-12C5-6F08-9785BC3D642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B58AAE49-A20C-4018-2FDE-CDA4E63B71D7}"/>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E17DB684-1530-1577-6ECD-7581FDD08353}"/>
              </a:ext>
            </a:extLst>
          </p:cNvPr>
          <p:cNvSpPr>
            <a:spLocks noGrp="1"/>
          </p:cNvSpPr>
          <p:nvPr>
            <p:ph type="sldNum" sz="quarter" idx="12"/>
          </p:nvPr>
        </p:nvSpPr>
        <p:spPr/>
        <p:txBody>
          <a:bodyPr/>
          <a:lstStyle>
            <a:lvl1pPr>
              <a:defRPr/>
            </a:lvl1pPr>
          </a:lstStyle>
          <a:p>
            <a:fld id="{7B4739BC-31E0-4BF4-9E11-B360FF16858D}" type="slidenum">
              <a:rPr lang="en-US" altLang="en-US"/>
              <a:pPr/>
              <a:t>‹#›</a:t>
            </a:fld>
            <a:endParaRPr lang="en-US" altLang="en-US"/>
          </a:p>
        </p:txBody>
      </p:sp>
    </p:spTree>
    <p:extLst>
      <p:ext uri="{BB962C8B-B14F-4D97-AF65-F5344CB8AC3E}">
        <p14:creationId xmlns:p14="http://schemas.microsoft.com/office/powerpoint/2010/main" val="315894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353D0E-3BCA-1165-1DD8-FD26B22AB26F}"/>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DD98FB25-0D03-617E-54C3-6BAE8946E923}"/>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965E8479-899B-E6C3-00AC-6CA164C69DCD}"/>
              </a:ext>
            </a:extLst>
          </p:cNvPr>
          <p:cNvSpPr>
            <a:spLocks noGrp="1"/>
          </p:cNvSpPr>
          <p:nvPr>
            <p:ph type="sldNum" sz="quarter" idx="12"/>
          </p:nvPr>
        </p:nvSpPr>
        <p:spPr/>
        <p:txBody>
          <a:bodyPr/>
          <a:lstStyle>
            <a:lvl1pPr>
              <a:defRPr/>
            </a:lvl1pPr>
          </a:lstStyle>
          <a:p>
            <a:fld id="{AE710162-D3A0-421A-AE13-CA09BAA9A2C7}" type="slidenum">
              <a:rPr lang="en-US" altLang="en-US"/>
              <a:pPr/>
              <a:t>‹#›</a:t>
            </a:fld>
            <a:endParaRPr lang="en-US" altLang="en-US"/>
          </a:p>
        </p:txBody>
      </p:sp>
    </p:spTree>
    <p:extLst>
      <p:ext uri="{BB962C8B-B14F-4D97-AF65-F5344CB8AC3E}">
        <p14:creationId xmlns:p14="http://schemas.microsoft.com/office/powerpoint/2010/main" val="1203574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7D5C4-881C-A7BA-CD79-EB95ED7FFAC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42D0640-991E-A4E9-11FA-B53FE8671A68}"/>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BA62690-94F7-FB3F-F48B-8768D463DD9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1E4AC-CC7D-1F15-A31F-5FA34A873C0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E61AEBC-E851-51F6-EB4F-F7CE2C2DDAE8}"/>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6F559806-E65B-A41E-C2B7-4999CF4FADE2}"/>
              </a:ext>
            </a:extLst>
          </p:cNvPr>
          <p:cNvSpPr>
            <a:spLocks noGrp="1"/>
          </p:cNvSpPr>
          <p:nvPr>
            <p:ph type="sldNum" sz="quarter" idx="12"/>
          </p:nvPr>
        </p:nvSpPr>
        <p:spPr/>
        <p:txBody>
          <a:bodyPr/>
          <a:lstStyle>
            <a:lvl1pPr>
              <a:defRPr/>
            </a:lvl1pPr>
          </a:lstStyle>
          <a:p>
            <a:fld id="{2A679E7E-7F20-4C65-A129-3E51AF463FD1}" type="slidenum">
              <a:rPr lang="en-US" altLang="en-US"/>
              <a:pPr/>
              <a:t>‹#›</a:t>
            </a:fld>
            <a:endParaRPr lang="en-US" altLang="en-US"/>
          </a:p>
        </p:txBody>
      </p:sp>
    </p:spTree>
    <p:extLst>
      <p:ext uri="{BB962C8B-B14F-4D97-AF65-F5344CB8AC3E}">
        <p14:creationId xmlns:p14="http://schemas.microsoft.com/office/powerpoint/2010/main" val="2316132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D8A01-9B02-6916-FE2F-333E461134C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BB21E00-CBEE-3EB5-EEDF-892E0A51183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8B2FFE60-EF47-1756-4CA3-7BC97812C04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E14A3E-6EFA-54FD-1AF1-87D64DAD129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34234C2-A3A9-7372-F797-6D9FB28EE5A4}"/>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F350086-DAD0-55DE-5636-4DC1B41FA84D}"/>
              </a:ext>
            </a:extLst>
          </p:cNvPr>
          <p:cNvSpPr>
            <a:spLocks noGrp="1"/>
          </p:cNvSpPr>
          <p:nvPr>
            <p:ph type="sldNum" sz="quarter" idx="12"/>
          </p:nvPr>
        </p:nvSpPr>
        <p:spPr/>
        <p:txBody>
          <a:bodyPr/>
          <a:lstStyle>
            <a:lvl1pPr>
              <a:defRPr/>
            </a:lvl1pPr>
          </a:lstStyle>
          <a:p>
            <a:fld id="{CEC98BFB-FADE-4577-9D22-1BD4F9742ABD}" type="slidenum">
              <a:rPr lang="en-US" altLang="en-US"/>
              <a:pPr/>
              <a:t>‹#›</a:t>
            </a:fld>
            <a:endParaRPr lang="en-US" altLang="en-US"/>
          </a:p>
        </p:txBody>
      </p:sp>
    </p:spTree>
    <p:extLst>
      <p:ext uri="{BB962C8B-B14F-4D97-AF65-F5344CB8AC3E}">
        <p14:creationId xmlns:p14="http://schemas.microsoft.com/office/powerpoint/2010/main" val="2761534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13DF-60C4-90BB-D432-B36DD59A12D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BE255D9-CFF8-0046-FEE2-7F416EAA32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0E495D4-3524-DCD3-5517-4070E4A3D49F}"/>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550D548-80D1-07D4-1995-E70797C2C31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DF04E3A-434B-9065-CB53-FB7F729B84EF}"/>
              </a:ext>
            </a:extLst>
          </p:cNvPr>
          <p:cNvSpPr>
            <a:spLocks noGrp="1"/>
          </p:cNvSpPr>
          <p:nvPr>
            <p:ph type="sldNum" sz="quarter" idx="12"/>
          </p:nvPr>
        </p:nvSpPr>
        <p:spPr/>
        <p:txBody>
          <a:bodyPr/>
          <a:lstStyle>
            <a:lvl1pPr>
              <a:defRPr/>
            </a:lvl1pPr>
          </a:lstStyle>
          <a:p>
            <a:fld id="{8A2A8D6C-EA43-4CFA-8988-38F4A56D99E0}" type="slidenum">
              <a:rPr lang="en-US" altLang="en-US"/>
              <a:pPr/>
              <a:t>‹#›</a:t>
            </a:fld>
            <a:endParaRPr lang="en-US" altLang="en-US"/>
          </a:p>
        </p:txBody>
      </p:sp>
    </p:spTree>
    <p:extLst>
      <p:ext uri="{BB962C8B-B14F-4D97-AF65-F5344CB8AC3E}">
        <p14:creationId xmlns:p14="http://schemas.microsoft.com/office/powerpoint/2010/main" val="701354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CF61BF-AD3A-8AE4-1CF7-77468F2F643A}"/>
              </a:ext>
            </a:extLst>
          </p:cNvPr>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3C0B2EF-1AB1-1E8C-5AB5-2F8DD877123B}"/>
              </a:ext>
            </a:extLst>
          </p:cNvPr>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9C0BA83-A26D-02C0-71F4-4A0368AA6F5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3A15AB8E-D91F-A8F2-AFE8-23EAF69B5202}"/>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9E74666-D402-6710-719A-15EE00169684}"/>
              </a:ext>
            </a:extLst>
          </p:cNvPr>
          <p:cNvSpPr>
            <a:spLocks noGrp="1"/>
          </p:cNvSpPr>
          <p:nvPr>
            <p:ph type="sldNum" sz="quarter" idx="12"/>
          </p:nvPr>
        </p:nvSpPr>
        <p:spPr/>
        <p:txBody>
          <a:bodyPr/>
          <a:lstStyle>
            <a:lvl1pPr>
              <a:defRPr/>
            </a:lvl1pPr>
          </a:lstStyle>
          <a:p>
            <a:fld id="{43717CD8-178C-419C-A6F8-782BF3A843FE}" type="slidenum">
              <a:rPr lang="en-US" altLang="en-US"/>
              <a:pPr/>
              <a:t>‹#›</a:t>
            </a:fld>
            <a:endParaRPr lang="en-US" altLang="en-US"/>
          </a:p>
        </p:txBody>
      </p:sp>
    </p:spTree>
    <p:extLst>
      <p:ext uri="{BB962C8B-B14F-4D97-AF65-F5344CB8AC3E}">
        <p14:creationId xmlns:p14="http://schemas.microsoft.com/office/powerpoint/2010/main" val="1946422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5824E-FCE4-E754-5EB6-F726C2DB3A32}"/>
              </a:ext>
            </a:extLst>
          </p:cNvPr>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001F02C-7AC4-26AF-811C-08F7BFEA74D7}"/>
              </a:ext>
            </a:extLst>
          </p:cNvPr>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B997058-5758-F8C6-95FA-DB9E5CD6AA64}"/>
              </a:ext>
            </a:extLst>
          </p:cNvPr>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B53474A-114D-BEBC-147B-78039DBE16D1}"/>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CD7B967-F1CA-2EEE-6981-7C83EA0C3B0B}"/>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CA3CEF1-F058-3A39-413F-7799CF7906E9}"/>
              </a:ext>
            </a:extLst>
          </p:cNvPr>
          <p:cNvSpPr>
            <a:spLocks noGrp="1"/>
          </p:cNvSpPr>
          <p:nvPr>
            <p:ph type="sldNum" sz="quarter" idx="12"/>
          </p:nvPr>
        </p:nvSpPr>
        <p:spPr>
          <a:xfrm>
            <a:off x="6553200" y="6245225"/>
            <a:ext cx="2133600" cy="476250"/>
          </a:xfrm>
        </p:spPr>
        <p:txBody>
          <a:bodyPr/>
          <a:lstStyle>
            <a:lvl1pPr>
              <a:defRPr/>
            </a:lvl1pPr>
          </a:lstStyle>
          <a:p>
            <a:fld id="{BE4F7836-20B6-4AA4-B8B4-FEAE41CA781A}" type="slidenum">
              <a:rPr lang="en-US" altLang="en-US"/>
              <a:pPr/>
              <a:t>‹#›</a:t>
            </a:fld>
            <a:endParaRPr lang="en-US" altLang="en-US"/>
          </a:p>
        </p:txBody>
      </p:sp>
    </p:spTree>
    <p:extLst>
      <p:ext uri="{BB962C8B-B14F-4D97-AF65-F5344CB8AC3E}">
        <p14:creationId xmlns:p14="http://schemas.microsoft.com/office/powerpoint/2010/main" val="1643946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C637E-4383-9EE5-A8EC-1BAD59209654}"/>
              </a:ext>
            </a:extLst>
          </p:cNvPr>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2B22A51-6992-7F44-0902-89F2C8082A73}"/>
              </a:ext>
            </a:extLst>
          </p:cNvPr>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253F9DF5-2116-27FC-C9E7-42593C2FB835}"/>
              </a:ext>
            </a:extLst>
          </p:cNvPr>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a:extLst>
              <a:ext uri="{FF2B5EF4-FFF2-40B4-BE49-F238E27FC236}">
                <a16:creationId xmlns:a16="http://schemas.microsoft.com/office/drawing/2014/main" id="{F8A1881E-D506-D35C-919D-EDB9333BCBC1}"/>
              </a:ext>
            </a:extLst>
          </p:cNvPr>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Date Placeholder 5">
            <a:extLst>
              <a:ext uri="{FF2B5EF4-FFF2-40B4-BE49-F238E27FC236}">
                <a16:creationId xmlns:a16="http://schemas.microsoft.com/office/drawing/2014/main" id="{9F2AC0F0-465F-1044-DCCC-7DE40822AF66}"/>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7" name="Footer Placeholder 6">
            <a:extLst>
              <a:ext uri="{FF2B5EF4-FFF2-40B4-BE49-F238E27FC236}">
                <a16:creationId xmlns:a16="http://schemas.microsoft.com/office/drawing/2014/main" id="{2E8CB8E3-D323-930D-B954-2C191BEE73CE}"/>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4273671-EEFE-E49A-2CCD-B977B537BD97}"/>
              </a:ext>
            </a:extLst>
          </p:cNvPr>
          <p:cNvSpPr>
            <a:spLocks noGrp="1"/>
          </p:cNvSpPr>
          <p:nvPr>
            <p:ph type="sldNum" sz="quarter" idx="12"/>
          </p:nvPr>
        </p:nvSpPr>
        <p:spPr>
          <a:xfrm>
            <a:off x="6553200" y="6245225"/>
            <a:ext cx="2133600" cy="476250"/>
          </a:xfrm>
        </p:spPr>
        <p:txBody>
          <a:bodyPr/>
          <a:lstStyle>
            <a:lvl1pPr>
              <a:defRPr/>
            </a:lvl1pPr>
          </a:lstStyle>
          <a:p>
            <a:fld id="{D37CD9FB-CD91-4AD5-97E9-5E6823F57971}" type="slidenum">
              <a:rPr lang="en-US" altLang="en-US"/>
              <a:pPr/>
              <a:t>‹#›</a:t>
            </a:fld>
            <a:endParaRPr lang="en-US" altLang="en-US"/>
          </a:p>
        </p:txBody>
      </p:sp>
    </p:spTree>
    <p:extLst>
      <p:ext uri="{BB962C8B-B14F-4D97-AF65-F5344CB8AC3E}">
        <p14:creationId xmlns:p14="http://schemas.microsoft.com/office/powerpoint/2010/main" val="3030473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646C8-132C-8E2F-DAD8-92EA4AC940ED}"/>
              </a:ext>
            </a:extLst>
          </p:cNvPr>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D48531D-2E28-1103-5969-A34F8A52AD78}"/>
              </a:ext>
            </a:extLst>
          </p:cNvPr>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683CCD9-DC41-37F6-FDCD-E87097AEEA7C}"/>
              </a:ext>
            </a:extLst>
          </p:cNvPr>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a:extLst>
              <a:ext uri="{FF2B5EF4-FFF2-40B4-BE49-F238E27FC236}">
                <a16:creationId xmlns:a16="http://schemas.microsoft.com/office/drawing/2014/main" id="{A8498F84-0F3E-823D-154D-B546E1CA33C1}"/>
              </a:ext>
            </a:extLst>
          </p:cNvPr>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Date Placeholder 5">
            <a:extLst>
              <a:ext uri="{FF2B5EF4-FFF2-40B4-BE49-F238E27FC236}">
                <a16:creationId xmlns:a16="http://schemas.microsoft.com/office/drawing/2014/main" id="{304D18B2-F7D9-28C6-A5C3-D7FF0C64E741}"/>
              </a:ext>
            </a:extLst>
          </p:cNvPr>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7" name="Footer Placeholder 6">
            <a:extLst>
              <a:ext uri="{FF2B5EF4-FFF2-40B4-BE49-F238E27FC236}">
                <a16:creationId xmlns:a16="http://schemas.microsoft.com/office/drawing/2014/main" id="{61DD0603-A6C4-8609-67F1-FAC3E1A2ABC9}"/>
              </a:ext>
            </a:extLst>
          </p:cNvPr>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D278B188-3414-92C6-5418-F751B707D899}"/>
              </a:ext>
            </a:extLst>
          </p:cNvPr>
          <p:cNvSpPr>
            <a:spLocks noGrp="1"/>
          </p:cNvSpPr>
          <p:nvPr>
            <p:ph type="sldNum" sz="quarter" idx="12"/>
          </p:nvPr>
        </p:nvSpPr>
        <p:spPr>
          <a:xfrm>
            <a:off x="6553200" y="6245225"/>
            <a:ext cx="2133600" cy="476250"/>
          </a:xfrm>
        </p:spPr>
        <p:txBody>
          <a:bodyPr/>
          <a:lstStyle>
            <a:lvl1pPr>
              <a:defRPr/>
            </a:lvl1pPr>
          </a:lstStyle>
          <a:p>
            <a:fld id="{EC35493F-B32B-4C59-9F79-22728D7FCDF6}" type="slidenum">
              <a:rPr lang="en-US" altLang="en-US"/>
              <a:pPr/>
              <a:t>‹#›</a:t>
            </a:fld>
            <a:endParaRPr lang="en-US" altLang="en-US"/>
          </a:p>
        </p:txBody>
      </p:sp>
    </p:spTree>
    <p:extLst>
      <p:ext uri="{BB962C8B-B14F-4D97-AF65-F5344CB8AC3E}">
        <p14:creationId xmlns:p14="http://schemas.microsoft.com/office/powerpoint/2010/main" val="3217330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B7C49C8-DD39-5A49-FB60-94D5DFB29471}"/>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4D4BB39-CBD0-DC73-227D-5EB2CD4D2C35}"/>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7697DE6-3FFB-7ACF-D71D-AD521B6BBC4F}"/>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A6CDE01D-A6B2-BE3A-CF3E-B20DC220DAD5}"/>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567D3964-CCA2-B659-756B-27383D8F7AF0}"/>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1283FC5C-50DB-407C-900E-60ACDED81EE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xml"/><Relationship Id="rId7" Type="http://schemas.openxmlformats.org/officeDocument/2006/relationships/notesSlide" Target="../notesSlides/notesSlide3.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8.xml"/><Relationship Id="rId7"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7.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1.xml"/><Relationship Id="rId7" Type="http://schemas.openxmlformats.org/officeDocument/2006/relationships/image" Target="../media/image8.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slideLayout" Target="../slideLayouts/slideLayout2.xml"/><Relationship Id="rId11" Type="http://schemas.openxmlformats.org/officeDocument/2006/relationships/image" Target="../media/image13.png"/><Relationship Id="rId5" Type="http://schemas.openxmlformats.org/officeDocument/2006/relationships/tags" Target="../tags/tag13.xml"/><Relationship Id="rId10" Type="http://schemas.openxmlformats.org/officeDocument/2006/relationships/image" Target="../media/image12.png"/><Relationship Id="rId4" Type="http://schemas.openxmlformats.org/officeDocument/2006/relationships/tags" Target="../tags/tag12.xml"/><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6.xml"/><Relationship Id="rId7" Type="http://schemas.openxmlformats.org/officeDocument/2006/relationships/image" Target="../media/image14.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6.xml"/><Relationship Id="rId5" Type="http://schemas.openxmlformats.org/officeDocument/2006/relationships/slideLayout" Target="../slideLayouts/slideLayout2.xml"/><Relationship Id="rId10" Type="http://schemas.openxmlformats.org/officeDocument/2006/relationships/image" Target="../media/image16.png"/><Relationship Id="rId4" Type="http://schemas.openxmlformats.org/officeDocument/2006/relationships/tags" Target="../tags/tag17.xml"/><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22.xml"/><Relationship Id="rId7" Type="http://schemas.openxmlformats.org/officeDocument/2006/relationships/image" Target="../media/image18.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9.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25.xml"/><Relationship Id="rId7" Type="http://schemas.openxmlformats.org/officeDocument/2006/relationships/image" Target="../media/image1.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notesSlide" Target="../notesSlides/notesSlide8.xml"/><Relationship Id="rId5" Type="http://schemas.openxmlformats.org/officeDocument/2006/relationships/slideLayout" Target="../slideLayouts/slideLayout2.xml"/><Relationship Id="rId10" Type="http://schemas.openxmlformats.org/officeDocument/2006/relationships/image" Target="../media/image5.png"/><Relationship Id="rId4" Type="http://schemas.openxmlformats.org/officeDocument/2006/relationships/tags" Target="../tags/tag26.xml"/><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image" Target="../media/image5.png"/><Relationship Id="rId3" Type="http://schemas.openxmlformats.org/officeDocument/2006/relationships/tags" Target="../tags/tag29.xml"/><Relationship Id="rId7" Type="http://schemas.openxmlformats.org/officeDocument/2006/relationships/tags" Target="../tags/tag33.xml"/><Relationship Id="rId12" Type="http://schemas.openxmlformats.org/officeDocument/2006/relationships/image" Target="../media/image3.png"/><Relationship Id="rId17" Type="http://schemas.openxmlformats.org/officeDocument/2006/relationships/image" Target="../media/image25.png"/><Relationship Id="rId2" Type="http://schemas.openxmlformats.org/officeDocument/2006/relationships/tags" Target="../tags/tag28.xml"/><Relationship Id="rId16" Type="http://schemas.openxmlformats.org/officeDocument/2006/relationships/image" Target="../media/image24.pn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image" Target="../media/image2.png"/><Relationship Id="rId5" Type="http://schemas.openxmlformats.org/officeDocument/2006/relationships/tags" Target="../tags/tag31.xml"/><Relationship Id="rId15" Type="http://schemas.openxmlformats.org/officeDocument/2006/relationships/image" Target="../media/image23.png"/><Relationship Id="rId10" Type="http://schemas.openxmlformats.org/officeDocument/2006/relationships/image" Target="../media/image1.png"/><Relationship Id="rId4" Type="http://schemas.openxmlformats.org/officeDocument/2006/relationships/tags" Target="../tags/tag30.xml"/><Relationship Id="rId9" Type="http://schemas.openxmlformats.org/officeDocument/2006/relationships/slideLayout" Target="../slideLayouts/slideLayout2.xml"/><Relationship Id="rId14" Type="http://schemas.openxmlformats.org/officeDocument/2006/relationships/image" Target="../media/image22.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37.xml"/><Relationship Id="rId7" Type="http://schemas.openxmlformats.org/officeDocument/2006/relationships/image" Target="../media/image26.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notesSlide" Target="../notesSlides/notesSlide9.xml"/><Relationship Id="rId5" Type="http://schemas.openxmlformats.org/officeDocument/2006/relationships/slideLayout" Target="../slideLayouts/slideLayout2.xml"/><Relationship Id="rId10" Type="http://schemas.openxmlformats.org/officeDocument/2006/relationships/image" Target="../media/image29.png"/><Relationship Id="rId4" Type="http://schemas.openxmlformats.org/officeDocument/2006/relationships/tags" Target="../tags/tag38.xml"/><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oleObject" Target="../embeddings/oleObject2.bin"/><Relationship Id="rId7" Type="http://schemas.openxmlformats.org/officeDocument/2006/relationships/image" Target="../media/image32.w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oleObject" Target="../embeddings/oleObject3.bin"/><Relationship Id="rId5" Type="http://schemas.openxmlformats.org/officeDocument/2006/relationships/image" Target="../media/image31.png"/><Relationship Id="rId4" Type="http://schemas.openxmlformats.org/officeDocument/2006/relationships/image" Target="../media/image30.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35.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34.png"/><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8.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47.xml"/><Relationship Id="rId7" Type="http://schemas.openxmlformats.org/officeDocument/2006/relationships/image" Target="../media/image40.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9.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4.bin"/><Relationship Id="rId1" Type="http://schemas.openxmlformats.org/officeDocument/2006/relationships/slideLayout" Target="../slideLayouts/slideLayout14.xml"/><Relationship Id="rId5" Type="http://schemas.openxmlformats.org/officeDocument/2006/relationships/image" Target="../media/image43.wmf"/><Relationship Id="rId4"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support-vector.net/" TargetMode="External"/><Relationship Id="rId2" Type="http://schemas.openxmlformats.org/officeDocument/2006/relationships/hyperlink" Target="http://www.kernel-machines.org/" TargetMode="External"/><Relationship Id="rId1" Type="http://schemas.openxmlformats.org/officeDocument/2006/relationships/slideLayout" Target="../slideLayouts/slideLayout2.xml"/><Relationship Id="rId6" Type="http://schemas.openxmlformats.org/officeDocument/2006/relationships/hyperlink" Target="http://www.clopinet.com/isabelle/Projects/SVM/applist.html" TargetMode="External"/><Relationship Id="rId5" Type="http://schemas.openxmlformats.org/officeDocument/2006/relationships/hyperlink" Target="http://www.kernel-machines.org/papers/tutorial-nips.ps.gz" TargetMode="External"/><Relationship Id="rId4" Type="http://schemas.openxmlformats.org/officeDocument/2006/relationships/hyperlink" Target="http://www.support-vector.net/icml-tutorial.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D131FDA9-44A7-1CFA-14F2-68CFAA133123}"/>
              </a:ext>
            </a:extLst>
          </p:cNvPr>
          <p:cNvSpPr>
            <a:spLocks noGrp="1" noChangeArrowheads="1"/>
          </p:cNvSpPr>
          <p:nvPr>
            <p:ph type="ctrTitle"/>
          </p:nvPr>
        </p:nvSpPr>
        <p:spPr>
          <a:xfrm>
            <a:off x="685800" y="1752600"/>
            <a:ext cx="7772400" cy="1470025"/>
          </a:xfrm>
        </p:spPr>
        <p:txBody>
          <a:bodyPr anchor="ctr"/>
          <a:lstStyle/>
          <a:p>
            <a:r>
              <a:rPr lang="en-US" altLang="en-US" sz="4400" dirty="0"/>
              <a:t>Support Vector Machines	</a:t>
            </a:r>
          </a:p>
        </p:txBody>
      </p:sp>
      <p:sp>
        <p:nvSpPr>
          <p:cNvPr id="2051" name="Rectangle 3">
            <a:extLst>
              <a:ext uri="{FF2B5EF4-FFF2-40B4-BE49-F238E27FC236}">
                <a16:creationId xmlns:a16="http://schemas.microsoft.com/office/drawing/2014/main" id="{9C03E41B-DA7C-2A01-24A4-6341EC120C75}"/>
              </a:ext>
            </a:extLst>
          </p:cNvPr>
          <p:cNvSpPr>
            <a:spLocks noGrp="1" noChangeArrowheads="1"/>
          </p:cNvSpPr>
          <p:nvPr>
            <p:ph type="subTitle" idx="1"/>
          </p:nvPr>
        </p:nvSpPr>
        <p:spPr>
          <a:xfrm>
            <a:off x="1371600" y="3962400"/>
            <a:ext cx="6400800" cy="1752600"/>
          </a:xfrm>
        </p:spPr>
        <p:txBody>
          <a:bodyPr/>
          <a:lstStyle/>
          <a:p>
            <a:r>
              <a:rPr lang="en-US" altLang="en-US" sz="2800" dirty="0"/>
              <a:t>Hongyu Guo</a:t>
            </a:r>
          </a:p>
          <a:p>
            <a:r>
              <a:rPr lang="en-US" altLang="en-US" dirty="0"/>
              <a:t>2024 Winter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95292DA-4A6B-7807-3CCC-78BF008028A4}"/>
              </a:ext>
            </a:extLst>
          </p:cNvPr>
          <p:cNvSpPr>
            <a:spLocks noGrp="1" noChangeArrowheads="1"/>
          </p:cNvSpPr>
          <p:nvPr>
            <p:ph type="title"/>
          </p:nvPr>
        </p:nvSpPr>
        <p:spPr/>
        <p:txBody>
          <a:bodyPr/>
          <a:lstStyle/>
          <a:p>
            <a:r>
              <a:rPr lang="en-US" altLang="en-US"/>
              <a:t>History of SVM</a:t>
            </a:r>
          </a:p>
        </p:txBody>
      </p:sp>
      <p:sp>
        <p:nvSpPr>
          <p:cNvPr id="3075" name="Rectangle 3">
            <a:extLst>
              <a:ext uri="{FF2B5EF4-FFF2-40B4-BE49-F238E27FC236}">
                <a16:creationId xmlns:a16="http://schemas.microsoft.com/office/drawing/2014/main" id="{9023AFE4-17AF-6B12-589B-3A2A485B2821}"/>
              </a:ext>
            </a:extLst>
          </p:cNvPr>
          <p:cNvSpPr>
            <a:spLocks noGrp="1" noChangeArrowheads="1"/>
          </p:cNvSpPr>
          <p:nvPr>
            <p:ph type="body" idx="1"/>
          </p:nvPr>
        </p:nvSpPr>
        <p:spPr/>
        <p:txBody>
          <a:bodyPr/>
          <a:lstStyle/>
          <a:p>
            <a:r>
              <a:rPr lang="en-US" altLang="en-US" sz="2000"/>
              <a:t>SVM is </a:t>
            </a:r>
            <a:r>
              <a:rPr lang="en-US" altLang="zh-TW" sz="2000">
                <a:ea typeface="PMingLiU" panose="02020500000000000000" pitchFamily="18" charset="-120"/>
              </a:rPr>
              <a:t>related to</a:t>
            </a:r>
            <a:r>
              <a:rPr lang="en-US" altLang="en-US" sz="2000"/>
              <a:t> statistical learning theory [3]</a:t>
            </a:r>
          </a:p>
          <a:p>
            <a:r>
              <a:rPr lang="en-US" altLang="en-US" sz="2000"/>
              <a:t>SVM was first introduced in 1992 [1] </a:t>
            </a:r>
          </a:p>
          <a:p>
            <a:r>
              <a:rPr lang="en-US" altLang="en-US" sz="2000"/>
              <a:t>SVM becomes popular because of its success in handwritten digit recognition </a:t>
            </a:r>
          </a:p>
          <a:p>
            <a:pPr lvl="1"/>
            <a:r>
              <a:rPr lang="en-US" altLang="en-US" sz="2000"/>
              <a:t>1.1% test error rate for SVM. This is the same as the error rates of a carefully constructed neural network, LeNet 4.</a:t>
            </a:r>
          </a:p>
          <a:p>
            <a:pPr lvl="2"/>
            <a:r>
              <a:rPr lang="en-US" altLang="en-US" sz="2000"/>
              <a:t>See Section 5.11 in [2] or the discussion in [3] for details</a:t>
            </a:r>
          </a:p>
          <a:p>
            <a:r>
              <a:rPr lang="en-US" altLang="en-US" sz="2000"/>
              <a:t>SVM is now regarded as an important example of “kernel methods”, </a:t>
            </a:r>
            <a:r>
              <a:rPr lang="en-US" altLang="zh-TW" sz="2000">
                <a:ea typeface="PMingLiU" panose="02020500000000000000" pitchFamily="18" charset="-120"/>
              </a:rPr>
              <a:t>one of the key</a:t>
            </a:r>
            <a:r>
              <a:rPr lang="en-US" altLang="en-US" sz="2000"/>
              <a:t> area in machine learning</a:t>
            </a:r>
          </a:p>
        </p:txBody>
      </p:sp>
      <p:sp>
        <p:nvSpPr>
          <p:cNvPr id="3076" name="Text Box 4">
            <a:extLst>
              <a:ext uri="{FF2B5EF4-FFF2-40B4-BE49-F238E27FC236}">
                <a16:creationId xmlns:a16="http://schemas.microsoft.com/office/drawing/2014/main" id="{4F6A8FF8-6366-5396-A9E3-C36C47708F10}"/>
              </a:ext>
            </a:extLst>
          </p:cNvPr>
          <p:cNvSpPr txBox="1">
            <a:spLocks noChangeArrowheads="1"/>
          </p:cNvSpPr>
          <p:nvPr/>
        </p:nvSpPr>
        <p:spPr bwMode="auto">
          <a:xfrm>
            <a:off x="381000" y="4876800"/>
            <a:ext cx="8550275"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2100" indent="-2921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en-US" sz="1200">
                <a:latin typeface="Tahoma" panose="020B0604030504040204" pitchFamily="34" charset="0"/>
              </a:rPr>
              <a:t>[1</a:t>
            </a:r>
            <a:r>
              <a:rPr lang="en-US" altLang="en-US" sz="1600">
                <a:latin typeface="Tahoma" panose="020B0604030504040204" pitchFamily="34" charset="0"/>
              </a:rPr>
              <a:t>] B.E. Boser </a:t>
            </a:r>
            <a:r>
              <a:rPr lang="en-US" altLang="en-US" sz="1600" i="1">
                <a:latin typeface="Tahoma" panose="020B0604030504040204" pitchFamily="34" charset="0"/>
              </a:rPr>
              <a:t>et al</a:t>
            </a:r>
            <a:r>
              <a:rPr lang="en-US" altLang="en-US" sz="1600">
                <a:latin typeface="Tahoma" panose="020B0604030504040204" pitchFamily="34" charset="0"/>
              </a:rPr>
              <a:t>. A Training Algorithm for Optimal Margin Classifiers. Proceedings of the Fifth Annual Workshop on Computational Learning Theory 5 144-152, Pittsburgh, 1992. </a:t>
            </a:r>
          </a:p>
          <a:p>
            <a:r>
              <a:rPr lang="en-US" altLang="en-US" sz="1600">
                <a:latin typeface="Tahoma" panose="020B0604030504040204" pitchFamily="34" charset="0"/>
              </a:rPr>
              <a:t>[2] L. Bottou </a:t>
            </a:r>
            <a:r>
              <a:rPr lang="en-US" altLang="en-US" sz="1600" i="1">
                <a:latin typeface="Tahoma" panose="020B0604030504040204" pitchFamily="34" charset="0"/>
              </a:rPr>
              <a:t>et al</a:t>
            </a:r>
            <a:r>
              <a:rPr lang="en-US" altLang="en-US" sz="1600">
                <a:latin typeface="Tahoma" panose="020B0604030504040204" pitchFamily="34" charset="0"/>
              </a:rPr>
              <a:t>.  Comparison of classifier methods: a case study in handwritten digit recognition. Proceedings of the 12th IAPR International Conference on Pattern Recognition, vol. 2, pp. 77-82.</a:t>
            </a:r>
          </a:p>
          <a:p>
            <a:r>
              <a:rPr lang="en-US" altLang="en-US" sz="1600">
                <a:latin typeface="Tahoma" panose="020B0604030504040204" pitchFamily="34" charset="0"/>
              </a:rPr>
              <a:t>[3] V. Vapnik. The Nature of Statistical Learning Theory. 2</a:t>
            </a:r>
            <a:r>
              <a:rPr lang="en-US" altLang="en-US" sz="1600" baseline="30000">
                <a:latin typeface="Tahoma" panose="020B0604030504040204" pitchFamily="34" charset="0"/>
              </a:rPr>
              <a:t>nd</a:t>
            </a:r>
            <a:r>
              <a:rPr lang="en-US" altLang="en-US" sz="1600">
                <a:latin typeface="Tahoma" panose="020B0604030504040204" pitchFamily="34" charset="0"/>
              </a:rPr>
              <a:t> edition, Springer, 1999.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AE30512D-9406-3E3D-E112-CD9CAAB687E0}"/>
              </a:ext>
            </a:extLst>
          </p:cNvPr>
          <p:cNvSpPr>
            <a:spLocks noGrp="1" noChangeArrowheads="1"/>
          </p:cNvSpPr>
          <p:nvPr>
            <p:ph type="title"/>
          </p:nvPr>
        </p:nvSpPr>
        <p:spPr/>
        <p:txBody>
          <a:bodyPr/>
          <a:lstStyle/>
          <a:p>
            <a:r>
              <a:rPr lang="en-US" altLang="en-US"/>
              <a:t>What is a good Decision Boundary?</a:t>
            </a:r>
          </a:p>
        </p:txBody>
      </p:sp>
      <p:sp>
        <p:nvSpPr>
          <p:cNvPr id="6147" name="Rectangle 3">
            <a:extLst>
              <a:ext uri="{FF2B5EF4-FFF2-40B4-BE49-F238E27FC236}">
                <a16:creationId xmlns:a16="http://schemas.microsoft.com/office/drawing/2014/main" id="{79E1FDC9-A2E6-727C-5828-A95E4807794C}"/>
              </a:ext>
            </a:extLst>
          </p:cNvPr>
          <p:cNvSpPr>
            <a:spLocks noGrp="1" noChangeArrowheads="1"/>
          </p:cNvSpPr>
          <p:nvPr>
            <p:ph type="body" idx="1"/>
          </p:nvPr>
        </p:nvSpPr>
        <p:spPr>
          <a:xfrm>
            <a:off x="381000" y="1828800"/>
            <a:ext cx="4724400" cy="4648200"/>
          </a:xfrm>
        </p:spPr>
        <p:txBody>
          <a:bodyPr/>
          <a:lstStyle/>
          <a:p>
            <a:r>
              <a:rPr lang="en-US" altLang="en-US" sz="2400"/>
              <a:t>Consider a two-class, linearly separable classification problem</a:t>
            </a:r>
          </a:p>
          <a:p>
            <a:r>
              <a:rPr lang="en-US" altLang="en-US" sz="2400"/>
              <a:t>Many decision boundaries!</a:t>
            </a:r>
          </a:p>
          <a:p>
            <a:pPr lvl="1"/>
            <a:r>
              <a:rPr lang="en-US" altLang="en-US" sz="2400"/>
              <a:t>The Perceptron algorithm can be used to find such a boundary</a:t>
            </a:r>
            <a:endParaRPr lang="en-US" altLang="zh-TW" sz="2400">
              <a:ea typeface="PMingLiU" panose="02020500000000000000" pitchFamily="18" charset="-120"/>
            </a:endParaRPr>
          </a:p>
          <a:p>
            <a:pPr lvl="1"/>
            <a:r>
              <a:rPr lang="en-US" altLang="zh-TW" sz="2400">
                <a:ea typeface="PMingLiU" panose="02020500000000000000" pitchFamily="18" charset="-120"/>
              </a:rPr>
              <a:t>Different algorithms have been proposed </a:t>
            </a:r>
          </a:p>
          <a:p>
            <a:r>
              <a:rPr lang="en-US" altLang="en-US" sz="2400"/>
              <a:t>Are all decision boundaries equally good?</a:t>
            </a:r>
          </a:p>
        </p:txBody>
      </p:sp>
      <p:grpSp>
        <p:nvGrpSpPr>
          <p:cNvPr id="6148" name="Group 4">
            <a:extLst>
              <a:ext uri="{FF2B5EF4-FFF2-40B4-BE49-F238E27FC236}">
                <a16:creationId xmlns:a16="http://schemas.microsoft.com/office/drawing/2014/main" id="{94848A36-B442-3A44-3303-3F68181BE71A}"/>
              </a:ext>
            </a:extLst>
          </p:cNvPr>
          <p:cNvGrpSpPr>
            <a:grpSpLocks/>
          </p:cNvGrpSpPr>
          <p:nvPr/>
        </p:nvGrpSpPr>
        <p:grpSpPr bwMode="auto">
          <a:xfrm>
            <a:off x="5257800" y="2057400"/>
            <a:ext cx="3486150" cy="3200400"/>
            <a:chOff x="720" y="1584"/>
            <a:chExt cx="2196" cy="2016"/>
          </a:xfrm>
        </p:grpSpPr>
        <p:sp>
          <p:nvSpPr>
            <p:cNvPr id="6149" name="Line 5">
              <a:extLst>
                <a:ext uri="{FF2B5EF4-FFF2-40B4-BE49-F238E27FC236}">
                  <a16:creationId xmlns:a16="http://schemas.microsoft.com/office/drawing/2014/main" id="{4AD963FB-82CE-C313-B245-16A29F8EF71D}"/>
                </a:ext>
              </a:extLst>
            </p:cNvPr>
            <p:cNvSpPr>
              <a:spLocks noChangeShapeType="1"/>
            </p:cNvSpPr>
            <p:nvPr/>
          </p:nvSpPr>
          <p:spPr bwMode="auto">
            <a:xfrm flipV="1">
              <a:off x="720" y="1584"/>
              <a:ext cx="0" cy="2016"/>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6150" name="Line 6">
              <a:extLst>
                <a:ext uri="{FF2B5EF4-FFF2-40B4-BE49-F238E27FC236}">
                  <a16:creationId xmlns:a16="http://schemas.microsoft.com/office/drawing/2014/main" id="{F89742F3-A2D6-B59F-F238-685076B16D50}"/>
                </a:ext>
              </a:extLst>
            </p:cNvPr>
            <p:cNvSpPr>
              <a:spLocks noChangeShapeType="1"/>
            </p:cNvSpPr>
            <p:nvPr/>
          </p:nvSpPr>
          <p:spPr bwMode="auto">
            <a:xfrm flipV="1">
              <a:off x="720" y="3600"/>
              <a:ext cx="192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6151" name="Oval 7">
              <a:extLst>
                <a:ext uri="{FF2B5EF4-FFF2-40B4-BE49-F238E27FC236}">
                  <a16:creationId xmlns:a16="http://schemas.microsoft.com/office/drawing/2014/main" id="{9E713E85-3997-265C-18C4-DA267447B880}"/>
                </a:ext>
              </a:extLst>
            </p:cNvPr>
            <p:cNvSpPr>
              <a:spLocks noChangeArrowheads="1"/>
            </p:cNvSpPr>
            <p:nvPr/>
          </p:nvSpPr>
          <p:spPr bwMode="auto">
            <a:xfrm>
              <a:off x="2016" y="1968"/>
              <a:ext cx="96" cy="9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2" name="Oval 8">
              <a:extLst>
                <a:ext uri="{FF2B5EF4-FFF2-40B4-BE49-F238E27FC236}">
                  <a16:creationId xmlns:a16="http://schemas.microsoft.com/office/drawing/2014/main" id="{062EC037-9D27-E7B4-955F-3CC4A805F572}"/>
                </a:ext>
              </a:extLst>
            </p:cNvPr>
            <p:cNvSpPr>
              <a:spLocks noChangeArrowheads="1"/>
            </p:cNvSpPr>
            <p:nvPr/>
          </p:nvSpPr>
          <p:spPr bwMode="auto">
            <a:xfrm>
              <a:off x="2160" y="2352"/>
              <a:ext cx="96" cy="9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3" name="Oval 9">
              <a:extLst>
                <a:ext uri="{FF2B5EF4-FFF2-40B4-BE49-F238E27FC236}">
                  <a16:creationId xmlns:a16="http://schemas.microsoft.com/office/drawing/2014/main" id="{E6A540A3-87AB-8005-E652-B363DA94509D}"/>
                </a:ext>
              </a:extLst>
            </p:cNvPr>
            <p:cNvSpPr>
              <a:spLocks noChangeArrowheads="1"/>
            </p:cNvSpPr>
            <p:nvPr/>
          </p:nvSpPr>
          <p:spPr bwMode="auto">
            <a:xfrm>
              <a:off x="2688" y="2496"/>
              <a:ext cx="96" cy="9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4" name="Oval 10">
              <a:extLst>
                <a:ext uri="{FF2B5EF4-FFF2-40B4-BE49-F238E27FC236}">
                  <a16:creationId xmlns:a16="http://schemas.microsoft.com/office/drawing/2014/main" id="{A42E6EE5-A031-5A0C-7B5C-821B4DF8DE26}"/>
                </a:ext>
              </a:extLst>
            </p:cNvPr>
            <p:cNvSpPr>
              <a:spLocks noChangeArrowheads="1"/>
            </p:cNvSpPr>
            <p:nvPr/>
          </p:nvSpPr>
          <p:spPr bwMode="auto">
            <a:xfrm>
              <a:off x="1728" y="2064"/>
              <a:ext cx="96" cy="9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5" name="Oval 11">
              <a:extLst>
                <a:ext uri="{FF2B5EF4-FFF2-40B4-BE49-F238E27FC236}">
                  <a16:creationId xmlns:a16="http://schemas.microsoft.com/office/drawing/2014/main" id="{1D64EB92-88B9-C255-035F-744E6B00129D}"/>
                </a:ext>
              </a:extLst>
            </p:cNvPr>
            <p:cNvSpPr>
              <a:spLocks noChangeArrowheads="1"/>
            </p:cNvSpPr>
            <p:nvPr/>
          </p:nvSpPr>
          <p:spPr bwMode="auto">
            <a:xfrm>
              <a:off x="2352" y="2688"/>
              <a:ext cx="96" cy="96"/>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6" name="Rectangle 12">
              <a:extLst>
                <a:ext uri="{FF2B5EF4-FFF2-40B4-BE49-F238E27FC236}">
                  <a16:creationId xmlns:a16="http://schemas.microsoft.com/office/drawing/2014/main" id="{E040371B-225A-E16E-7C58-9C6DA918A156}"/>
                </a:ext>
              </a:extLst>
            </p:cNvPr>
            <p:cNvSpPr>
              <a:spLocks noChangeArrowheads="1"/>
            </p:cNvSpPr>
            <p:nvPr/>
          </p:nvSpPr>
          <p:spPr bwMode="auto">
            <a:xfrm>
              <a:off x="912" y="2640"/>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7" name="Rectangle 13">
              <a:extLst>
                <a:ext uri="{FF2B5EF4-FFF2-40B4-BE49-F238E27FC236}">
                  <a16:creationId xmlns:a16="http://schemas.microsoft.com/office/drawing/2014/main" id="{26F89038-C0DD-C48C-5F5C-1D2B6E65B97A}"/>
                </a:ext>
              </a:extLst>
            </p:cNvPr>
            <p:cNvSpPr>
              <a:spLocks noChangeArrowheads="1"/>
            </p:cNvSpPr>
            <p:nvPr/>
          </p:nvSpPr>
          <p:spPr bwMode="auto">
            <a:xfrm>
              <a:off x="1680" y="2928"/>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8" name="Rectangle 14">
              <a:extLst>
                <a:ext uri="{FF2B5EF4-FFF2-40B4-BE49-F238E27FC236}">
                  <a16:creationId xmlns:a16="http://schemas.microsoft.com/office/drawing/2014/main" id="{84E83195-EA7D-F1F3-08D8-CE318EBAA8EA}"/>
                </a:ext>
              </a:extLst>
            </p:cNvPr>
            <p:cNvSpPr>
              <a:spLocks noChangeArrowheads="1"/>
            </p:cNvSpPr>
            <p:nvPr/>
          </p:nvSpPr>
          <p:spPr bwMode="auto">
            <a:xfrm>
              <a:off x="1584" y="3216"/>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59" name="Rectangle 15">
              <a:extLst>
                <a:ext uri="{FF2B5EF4-FFF2-40B4-BE49-F238E27FC236}">
                  <a16:creationId xmlns:a16="http://schemas.microsoft.com/office/drawing/2014/main" id="{A938C327-46D0-91F0-BC21-00000DF078BE}"/>
                </a:ext>
              </a:extLst>
            </p:cNvPr>
            <p:cNvSpPr>
              <a:spLocks noChangeArrowheads="1"/>
            </p:cNvSpPr>
            <p:nvPr/>
          </p:nvSpPr>
          <p:spPr bwMode="auto">
            <a:xfrm>
              <a:off x="1200" y="2928"/>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60" name="Rectangle 16">
              <a:extLst>
                <a:ext uri="{FF2B5EF4-FFF2-40B4-BE49-F238E27FC236}">
                  <a16:creationId xmlns:a16="http://schemas.microsoft.com/office/drawing/2014/main" id="{A13D7008-C8AD-9AE3-5256-95F520A7BC15}"/>
                </a:ext>
              </a:extLst>
            </p:cNvPr>
            <p:cNvSpPr>
              <a:spLocks noChangeArrowheads="1"/>
            </p:cNvSpPr>
            <p:nvPr/>
          </p:nvSpPr>
          <p:spPr bwMode="auto">
            <a:xfrm>
              <a:off x="1008" y="3168"/>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61" name="Rectangle 17">
              <a:extLst>
                <a:ext uri="{FF2B5EF4-FFF2-40B4-BE49-F238E27FC236}">
                  <a16:creationId xmlns:a16="http://schemas.microsoft.com/office/drawing/2014/main" id="{FE46D9F7-54D4-754B-526A-DFFAAB554CE5}"/>
                </a:ext>
              </a:extLst>
            </p:cNvPr>
            <p:cNvSpPr>
              <a:spLocks noChangeArrowheads="1"/>
            </p:cNvSpPr>
            <p:nvPr/>
          </p:nvSpPr>
          <p:spPr bwMode="auto">
            <a:xfrm>
              <a:off x="1152" y="2400"/>
              <a:ext cx="96" cy="96"/>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6162" name="Text Box 18">
              <a:extLst>
                <a:ext uri="{FF2B5EF4-FFF2-40B4-BE49-F238E27FC236}">
                  <a16:creationId xmlns:a16="http://schemas.microsoft.com/office/drawing/2014/main" id="{A16C27C7-6C04-AA08-0B0F-E954EC8E2868}"/>
                </a:ext>
              </a:extLst>
            </p:cNvPr>
            <p:cNvSpPr txBox="1">
              <a:spLocks noChangeArrowheads="1"/>
            </p:cNvSpPr>
            <p:nvPr/>
          </p:nvSpPr>
          <p:spPr bwMode="auto">
            <a:xfrm>
              <a:off x="912" y="3295"/>
              <a:ext cx="6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1</a:t>
              </a:r>
            </a:p>
          </p:txBody>
        </p:sp>
        <p:sp>
          <p:nvSpPr>
            <p:cNvPr id="6163" name="Text Box 19">
              <a:extLst>
                <a:ext uri="{FF2B5EF4-FFF2-40B4-BE49-F238E27FC236}">
                  <a16:creationId xmlns:a16="http://schemas.microsoft.com/office/drawing/2014/main" id="{2932D46D-05E0-4B13-5462-E2FF5522D999}"/>
                </a:ext>
              </a:extLst>
            </p:cNvPr>
            <p:cNvSpPr txBox="1">
              <a:spLocks noChangeArrowheads="1"/>
            </p:cNvSpPr>
            <p:nvPr/>
          </p:nvSpPr>
          <p:spPr bwMode="auto">
            <a:xfrm>
              <a:off x="2304" y="1872"/>
              <a:ext cx="6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6164" name="Line 20">
              <a:extLst>
                <a:ext uri="{FF2B5EF4-FFF2-40B4-BE49-F238E27FC236}">
                  <a16:creationId xmlns:a16="http://schemas.microsoft.com/office/drawing/2014/main" id="{EFB4C238-3D8A-E5C5-BB90-170EFAB41E62}"/>
                </a:ext>
              </a:extLst>
            </p:cNvPr>
            <p:cNvSpPr>
              <a:spLocks noChangeShapeType="1"/>
            </p:cNvSpPr>
            <p:nvPr/>
          </p:nvSpPr>
          <p:spPr bwMode="auto">
            <a:xfrm>
              <a:off x="1152" y="1680"/>
              <a:ext cx="1488" cy="1728"/>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169BB1F-19BA-2EF7-D38D-48866D9CA958}"/>
              </a:ext>
            </a:extLst>
          </p:cNvPr>
          <p:cNvSpPr>
            <a:spLocks noGrp="1" noChangeArrowheads="1"/>
          </p:cNvSpPr>
          <p:nvPr>
            <p:ph type="title"/>
          </p:nvPr>
        </p:nvSpPr>
        <p:spPr>
          <a:xfrm>
            <a:off x="152400" y="304800"/>
            <a:ext cx="4648200" cy="685800"/>
          </a:xfrm>
        </p:spPr>
        <p:txBody>
          <a:bodyPr/>
          <a:lstStyle/>
          <a:p>
            <a:r>
              <a:rPr lang="en-US" altLang="en-US"/>
              <a:t> Linear Classifiers</a:t>
            </a:r>
          </a:p>
        </p:txBody>
      </p:sp>
      <p:sp>
        <p:nvSpPr>
          <p:cNvPr id="9219" name="Rectangle 3">
            <a:extLst>
              <a:ext uri="{FF2B5EF4-FFF2-40B4-BE49-F238E27FC236}">
                <a16:creationId xmlns:a16="http://schemas.microsoft.com/office/drawing/2014/main" id="{1FE66DBC-0407-7730-E57B-25C7C24F0A54}"/>
              </a:ext>
            </a:extLst>
          </p:cNvPr>
          <p:cNvSpPr>
            <a:spLocks noChangeArrowheads="1"/>
          </p:cNvSpPr>
          <p:nvPr/>
        </p:nvSpPr>
        <p:spPr bwMode="auto">
          <a:xfrm>
            <a:off x="5334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en-US" sz="3600" i="1">
                <a:latin typeface="Tahoma" panose="020B0604030504040204" pitchFamily="34" charset="0"/>
              </a:rPr>
              <a:t>f </a:t>
            </a:r>
            <a:r>
              <a:rPr lang="en-US" altLang="en-US" sz="2000">
                <a:latin typeface="Tahoma" panose="020B0604030504040204" pitchFamily="34" charset="0"/>
              </a:rPr>
              <a:t>        </a:t>
            </a:r>
          </a:p>
        </p:txBody>
      </p:sp>
      <p:sp>
        <p:nvSpPr>
          <p:cNvPr id="9220" name="Line 4">
            <a:extLst>
              <a:ext uri="{FF2B5EF4-FFF2-40B4-BE49-F238E27FC236}">
                <a16:creationId xmlns:a16="http://schemas.microsoft.com/office/drawing/2014/main" id="{9E932503-1BAA-5D03-EEB1-F3BC18B385FD}"/>
              </a:ext>
            </a:extLst>
          </p:cNvPr>
          <p:cNvSpPr>
            <a:spLocks noChangeShapeType="1"/>
          </p:cNvSpPr>
          <p:nvPr/>
        </p:nvSpPr>
        <p:spPr bwMode="auto">
          <a:xfrm>
            <a:off x="3962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221" name="Text Box 5">
            <a:extLst>
              <a:ext uri="{FF2B5EF4-FFF2-40B4-BE49-F238E27FC236}">
                <a16:creationId xmlns:a16="http://schemas.microsoft.com/office/drawing/2014/main" id="{97075354-1468-95AD-784F-D84DCE949B4D}"/>
              </a:ext>
            </a:extLst>
          </p:cNvPr>
          <p:cNvSpPr txBox="1">
            <a:spLocks noChangeArrowheads="1"/>
          </p:cNvSpPr>
          <p:nvPr/>
        </p:nvSpPr>
        <p:spPr bwMode="auto">
          <a:xfrm>
            <a:off x="3505200" y="762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800" b="1" i="1">
                <a:latin typeface="Tahoma" panose="020B0604030504040204" pitchFamily="34" charset="0"/>
              </a:rPr>
              <a:t>x</a:t>
            </a:r>
          </a:p>
        </p:txBody>
      </p:sp>
      <p:sp>
        <p:nvSpPr>
          <p:cNvPr id="9222" name="Line 6">
            <a:extLst>
              <a:ext uri="{FF2B5EF4-FFF2-40B4-BE49-F238E27FC236}">
                <a16:creationId xmlns:a16="http://schemas.microsoft.com/office/drawing/2014/main" id="{A3464C37-19DC-56F9-E5C2-4AA5AF7FA235}"/>
              </a:ext>
            </a:extLst>
          </p:cNvPr>
          <p:cNvSpPr>
            <a:spLocks noChangeShapeType="1"/>
          </p:cNvSpPr>
          <p:nvPr/>
        </p:nvSpPr>
        <p:spPr bwMode="auto">
          <a:xfrm>
            <a:off x="6019800" y="3810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223" name="Text Box 7">
            <a:extLst>
              <a:ext uri="{FF2B5EF4-FFF2-40B4-BE49-F238E27FC236}">
                <a16:creationId xmlns:a16="http://schemas.microsoft.com/office/drawing/2014/main" id="{6D282AFD-17A3-4A2F-24C3-C3462CF0744C}"/>
              </a:ext>
            </a:extLst>
          </p:cNvPr>
          <p:cNvSpPr txBox="1">
            <a:spLocks noChangeArrowheads="1"/>
          </p:cNvSpPr>
          <p:nvPr/>
        </p:nvSpPr>
        <p:spPr bwMode="auto">
          <a:xfrm>
            <a:off x="5791200" y="0"/>
            <a:ext cx="3810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3200">
                <a:solidFill>
                  <a:srgbClr val="00CC00"/>
                </a:solidFill>
                <a:latin typeface="Symbol" panose="05050102010706020507" pitchFamily="18" charset="2"/>
              </a:rPr>
              <a:t>a</a:t>
            </a:r>
          </a:p>
        </p:txBody>
      </p:sp>
      <p:sp>
        <p:nvSpPr>
          <p:cNvPr id="9224" name="Line 8">
            <a:extLst>
              <a:ext uri="{FF2B5EF4-FFF2-40B4-BE49-F238E27FC236}">
                <a16:creationId xmlns:a16="http://schemas.microsoft.com/office/drawing/2014/main" id="{E4FD8029-01B4-D84D-4C0C-2C10F8720DE5}"/>
              </a:ext>
            </a:extLst>
          </p:cNvPr>
          <p:cNvSpPr>
            <a:spLocks noChangeShapeType="1"/>
          </p:cNvSpPr>
          <p:nvPr/>
        </p:nvSpPr>
        <p:spPr bwMode="auto">
          <a:xfrm>
            <a:off x="6934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225" name="Text Box 9">
            <a:extLst>
              <a:ext uri="{FF2B5EF4-FFF2-40B4-BE49-F238E27FC236}">
                <a16:creationId xmlns:a16="http://schemas.microsoft.com/office/drawing/2014/main" id="{AAA0D6F0-EBE1-EF99-1280-969F236DDBB3}"/>
              </a:ext>
            </a:extLst>
          </p:cNvPr>
          <p:cNvSpPr txBox="1">
            <a:spLocks noChangeArrowheads="1"/>
          </p:cNvSpPr>
          <p:nvPr/>
        </p:nvSpPr>
        <p:spPr bwMode="auto">
          <a:xfrm>
            <a:off x="8305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en-US" sz="3200">
                <a:latin typeface="Tahoma" panose="020B0604030504040204" pitchFamily="34" charset="0"/>
              </a:rPr>
              <a:t>y</a:t>
            </a:r>
            <a:r>
              <a:rPr lang="en-US" altLang="en-US" sz="3200" baseline="30000">
                <a:latin typeface="Tahoma" panose="020B0604030504040204" pitchFamily="34" charset="0"/>
              </a:rPr>
              <a:t>est</a:t>
            </a:r>
          </a:p>
        </p:txBody>
      </p:sp>
      <p:sp>
        <p:nvSpPr>
          <p:cNvPr id="9226" name="Text Box 10">
            <a:extLst>
              <a:ext uri="{FF2B5EF4-FFF2-40B4-BE49-F238E27FC236}">
                <a16:creationId xmlns:a16="http://schemas.microsoft.com/office/drawing/2014/main" id="{D4DE1D49-2A86-8D3E-1272-46E0A2FED3D8}"/>
              </a:ext>
            </a:extLst>
          </p:cNvPr>
          <p:cNvSpPr txBox="1">
            <a:spLocks noChangeArrowheads="1"/>
          </p:cNvSpPr>
          <p:nvPr/>
        </p:nvSpPr>
        <p:spPr bwMode="auto">
          <a:xfrm>
            <a:off x="838200" y="19050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a:latin typeface="Tahoma" panose="020B0604030504040204" pitchFamily="34" charset="0"/>
              </a:rPr>
              <a:t>denotes +1</a:t>
            </a:r>
          </a:p>
          <a:p>
            <a:pPr algn="ctr">
              <a:spcBef>
                <a:spcPct val="50000"/>
              </a:spcBef>
              <a:buClr>
                <a:schemeClr val="tx1"/>
              </a:buClr>
            </a:pPr>
            <a:r>
              <a:rPr lang="en-US" altLang="en-US" sz="2000">
                <a:latin typeface="Tahoma" panose="020B0604030504040204" pitchFamily="34" charset="0"/>
              </a:rPr>
              <a:t>denotes -1</a:t>
            </a:r>
          </a:p>
        </p:txBody>
      </p:sp>
      <p:sp>
        <p:nvSpPr>
          <p:cNvPr id="9227" name="Oval 11">
            <a:extLst>
              <a:ext uri="{FF2B5EF4-FFF2-40B4-BE49-F238E27FC236}">
                <a16:creationId xmlns:a16="http://schemas.microsoft.com/office/drawing/2014/main" id="{AF9E5242-2AAA-15CB-3DB6-5CC895806038}"/>
              </a:ext>
            </a:extLst>
          </p:cNvPr>
          <p:cNvSpPr>
            <a:spLocks noChangeAspect="1" noChangeArrowheads="1"/>
          </p:cNvSpPr>
          <p:nvPr/>
        </p:nvSpPr>
        <p:spPr bwMode="auto">
          <a:xfrm rot="4777107">
            <a:off x="915194" y="20566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28" name="Oval 12">
            <a:extLst>
              <a:ext uri="{FF2B5EF4-FFF2-40B4-BE49-F238E27FC236}">
                <a16:creationId xmlns:a16="http://schemas.microsoft.com/office/drawing/2014/main" id="{C7B0F9BC-A285-B39E-B55E-03122AA3484C}"/>
              </a:ext>
            </a:extLst>
          </p:cNvPr>
          <p:cNvSpPr>
            <a:spLocks noChangeAspect="1" noChangeArrowheads="1"/>
          </p:cNvSpPr>
          <p:nvPr/>
        </p:nvSpPr>
        <p:spPr bwMode="auto">
          <a:xfrm rot="5895381">
            <a:off x="915988" y="25130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29" name="Line 13">
            <a:extLst>
              <a:ext uri="{FF2B5EF4-FFF2-40B4-BE49-F238E27FC236}">
                <a16:creationId xmlns:a16="http://schemas.microsoft.com/office/drawing/2014/main" id="{2856DE93-E389-EEDE-5B1D-78A320C3B878}"/>
              </a:ext>
            </a:extLst>
          </p:cNvPr>
          <p:cNvSpPr>
            <a:spLocks noChangeShapeType="1"/>
          </p:cNvSpPr>
          <p:nvPr/>
        </p:nvSpPr>
        <p:spPr bwMode="auto">
          <a:xfrm>
            <a:off x="2590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9230" name="Line 14">
            <a:extLst>
              <a:ext uri="{FF2B5EF4-FFF2-40B4-BE49-F238E27FC236}">
                <a16:creationId xmlns:a16="http://schemas.microsoft.com/office/drawing/2014/main" id="{EF9BFBC8-E1A5-9642-A1D8-3BCC90D4E382}"/>
              </a:ext>
            </a:extLst>
          </p:cNvPr>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31" name="Oval 15">
            <a:extLst>
              <a:ext uri="{FF2B5EF4-FFF2-40B4-BE49-F238E27FC236}">
                <a16:creationId xmlns:a16="http://schemas.microsoft.com/office/drawing/2014/main" id="{780D29E8-E079-7BBC-806A-DF65F456C40E}"/>
              </a:ext>
            </a:extLst>
          </p:cNvPr>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2" name="Oval 16">
            <a:extLst>
              <a:ext uri="{FF2B5EF4-FFF2-40B4-BE49-F238E27FC236}">
                <a16:creationId xmlns:a16="http://schemas.microsoft.com/office/drawing/2014/main" id="{D85C56C2-F2C4-6F91-B292-6CBA19DED97F}"/>
              </a:ext>
            </a:extLst>
          </p:cNvPr>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3" name="Oval 17">
            <a:extLst>
              <a:ext uri="{FF2B5EF4-FFF2-40B4-BE49-F238E27FC236}">
                <a16:creationId xmlns:a16="http://schemas.microsoft.com/office/drawing/2014/main" id="{3BA0E0AF-4F31-C2B1-3B95-DF854FDE9AA6}"/>
              </a:ext>
            </a:extLst>
          </p:cNvPr>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4" name="Oval 18">
            <a:extLst>
              <a:ext uri="{FF2B5EF4-FFF2-40B4-BE49-F238E27FC236}">
                <a16:creationId xmlns:a16="http://schemas.microsoft.com/office/drawing/2014/main" id="{37F99AE4-0454-B286-A5F8-467C3369AD22}"/>
              </a:ext>
            </a:extLst>
          </p:cNvPr>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5" name="Oval 19">
            <a:extLst>
              <a:ext uri="{FF2B5EF4-FFF2-40B4-BE49-F238E27FC236}">
                <a16:creationId xmlns:a16="http://schemas.microsoft.com/office/drawing/2014/main" id="{1895DA37-97BF-0847-DB5D-36E5ECCE9727}"/>
              </a:ext>
            </a:extLst>
          </p:cNvPr>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6" name="Oval 20">
            <a:extLst>
              <a:ext uri="{FF2B5EF4-FFF2-40B4-BE49-F238E27FC236}">
                <a16:creationId xmlns:a16="http://schemas.microsoft.com/office/drawing/2014/main" id="{F0B7CDA2-E27B-3E0F-8340-EE5C308AAFAE}"/>
              </a:ext>
            </a:extLst>
          </p:cNvPr>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7" name="Oval 21">
            <a:extLst>
              <a:ext uri="{FF2B5EF4-FFF2-40B4-BE49-F238E27FC236}">
                <a16:creationId xmlns:a16="http://schemas.microsoft.com/office/drawing/2014/main" id="{BEC50E6E-BC18-1693-4EDC-DC11EFE209BD}"/>
              </a:ext>
            </a:extLst>
          </p:cNvPr>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8" name="Oval 22">
            <a:extLst>
              <a:ext uri="{FF2B5EF4-FFF2-40B4-BE49-F238E27FC236}">
                <a16:creationId xmlns:a16="http://schemas.microsoft.com/office/drawing/2014/main" id="{02882C60-A5B2-B7C2-AAE0-AB4A3B0E0689}"/>
              </a:ext>
            </a:extLst>
          </p:cNvPr>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39" name="Oval 23">
            <a:extLst>
              <a:ext uri="{FF2B5EF4-FFF2-40B4-BE49-F238E27FC236}">
                <a16:creationId xmlns:a16="http://schemas.microsoft.com/office/drawing/2014/main" id="{D874493A-14E3-1B22-F850-69E71BF6E9AE}"/>
              </a:ext>
            </a:extLst>
          </p:cNvPr>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0" name="Oval 24">
            <a:extLst>
              <a:ext uri="{FF2B5EF4-FFF2-40B4-BE49-F238E27FC236}">
                <a16:creationId xmlns:a16="http://schemas.microsoft.com/office/drawing/2014/main" id="{2AC0BEBF-78AF-7192-028C-BC486AD16584}"/>
              </a:ext>
            </a:extLst>
          </p:cNvPr>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1" name="Oval 25">
            <a:extLst>
              <a:ext uri="{FF2B5EF4-FFF2-40B4-BE49-F238E27FC236}">
                <a16:creationId xmlns:a16="http://schemas.microsoft.com/office/drawing/2014/main" id="{2334BC76-A3CD-5D28-D162-B02349E2EFFE}"/>
              </a:ext>
            </a:extLst>
          </p:cNvPr>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2" name="Oval 26">
            <a:extLst>
              <a:ext uri="{FF2B5EF4-FFF2-40B4-BE49-F238E27FC236}">
                <a16:creationId xmlns:a16="http://schemas.microsoft.com/office/drawing/2014/main" id="{7E735C6B-5C94-DC5D-E13E-8A4AE47A57CD}"/>
              </a:ext>
            </a:extLst>
          </p:cNvPr>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3" name="Oval 27">
            <a:extLst>
              <a:ext uri="{FF2B5EF4-FFF2-40B4-BE49-F238E27FC236}">
                <a16:creationId xmlns:a16="http://schemas.microsoft.com/office/drawing/2014/main" id="{6EB4AC39-44EF-3D81-D85C-0C0A48715346}"/>
              </a:ext>
            </a:extLst>
          </p:cNvPr>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4" name="Oval 28">
            <a:extLst>
              <a:ext uri="{FF2B5EF4-FFF2-40B4-BE49-F238E27FC236}">
                <a16:creationId xmlns:a16="http://schemas.microsoft.com/office/drawing/2014/main" id="{D6B1B04E-8DFC-9D41-15FA-4166A8675BED}"/>
              </a:ext>
            </a:extLst>
          </p:cNvPr>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5" name="Oval 29">
            <a:extLst>
              <a:ext uri="{FF2B5EF4-FFF2-40B4-BE49-F238E27FC236}">
                <a16:creationId xmlns:a16="http://schemas.microsoft.com/office/drawing/2014/main" id="{466B642A-1CAF-A606-E878-6E5FCB5B3741}"/>
              </a:ext>
            </a:extLst>
          </p:cNvPr>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6" name="Oval 30">
            <a:extLst>
              <a:ext uri="{FF2B5EF4-FFF2-40B4-BE49-F238E27FC236}">
                <a16:creationId xmlns:a16="http://schemas.microsoft.com/office/drawing/2014/main" id="{D90B73DF-6DF3-C9A8-9DBD-A63DE903746E}"/>
              </a:ext>
            </a:extLst>
          </p:cNvPr>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7" name="Oval 31">
            <a:extLst>
              <a:ext uri="{FF2B5EF4-FFF2-40B4-BE49-F238E27FC236}">
                <a16:creationId xmlns:a16="http://schemas.microsoft.com/office/drawing/2014/main" id="{1489A7D0-19E4-CE85-BDC9-5C3405A1FCC9}"/>
              </a:ext>
            </a:extLst>
          </p:cNvPr>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8" name="Oval 32">
            <a:extLst>
              <a:ext uri="{FF2B5EF4-FFF2-40B4-BE49-F238E27FC236}">
                <a16:creationId xmlns:a16="http://schemas.microsoft.com/office/drawing/2014/main" id="{7A5401F9-7878-9F42-01A7-7753253EACE8}"/>
              </a:ext>
            </a:extLst>
          </p:cNvPr>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49" name="Oval 33">
            <a:extLst>
              <a:ext uri="{FF2B5EF4-FFF2-40B4-BE49-F238E27FC236}">
                <a16:creationId xmlns:a16="http://schemas.microsoft.com/office/drawing/2014/main" id="{A2BB1D1F-C50A-10AC-8C58-57BC193983E4}"/>
              </a:ext>
            </a:extLst>
          </p:cNvPr>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0" name="Oval 34">
            <a:extLst>
              <a:ext uri="{FF2B5EF4-FFF2-40B4-BE49-F238E27FC236}">
                <a16:creationId xmlns:a16="http://schemas.microsoft.com/office/drawing/2014/main" id="{38234E16-8962-AD07-0E3B-139780FD220A}"/>
              </a:ext>
            </a:extLst>
          </p:cNvPr>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1" name="Oval 35">
            <a:extLst>
              <a:ext uri="{FF2B5EF4-FFF2-40B4-BE49-F238E27FC236}">
                <a16:creationId xmlns:a16="http://schemas.microsoft.com/office/drawing/2014/main" id="{4B289DD7-B0A8-1752-A5A7-91D8F8CC55D8}"/>
              </a:ext>
            </a:extLst>
          </p:cNvPr>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2" name="Oval 36">
            <a:extLst>
              <a:ext uri="{FF2B5EF4-FFF2-40B4-BE49-F238E27FC236}">
                <a16:creationId xmlns:a16="http://schemas.microsoft.com/office/drawing/2014/main" id="{FADA6217-72D2-730D-A843-5E0931743E3F}"/>
              </a:ext>
            </a:extLst>
          </p:cNvPr>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3" name="Oval 37">
            <a:extLst>
              <a:ext uri="{FF2B5EF4-FFF2-40B4-BE49-F238E27FC236}">
                <a16:creationId xmlns:a16="http://schemas.microsoft.com/office/drawing/2014/main" id="{C190014D-E181-2724-C649-9906A7A40E98}"/>
              </a:ext>
            </a:extLst>
          </p:cNvPr>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4" name="Oval 38">
            <a:extLst>
              <a:ext uri="{FF2B5EF4-FFF2-40B4-BE49-F238E27FC236}">
                <a16:creationId xmlns:a16="http://schemas.microsoft.com/office/drawing/2014/main" id="{713043ED-C808-5357-5D3A-8150E530EA54}"/>
              </a:ext>
            </a:extLst>
          </p:cNvPr>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5" name="Oval 39">
            <a:extLst>
              <a:ext uri="{FF2B5EF4-FFF2-40B4-BE49-F238E27FC236}">
                <a16:creationId xmlns:a16="http://schemas.microsoft.com/office/drawing/2014/main" id="{3E105A74-A95E-AE4C-B35A-A12D7798CC55}"/>
              </a:ext>
            </a:extLst>
          </p:cNvPr>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6" name="Oval 40">
            <a:extLst>
              <a:ext uri="{FF2B5EF4-FFF2-40B4-BE49-F238E27FC236}">
                <a16:creationId xmlns:a16="http://schemas.microsoft.com/office/drawing/2014/main" id="{64211F79-8438-7FD4-E1D7-86D2CD271BE6}"/>
              </a:ext>
            </a:extLst>
          </p:cNvPr>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7" name="Oval 41">
            <a:extLst>
              <a:ext uri="{FF2B5EF4-FFF2-40B4-BE49-F238E27FC236}">
                <a16:creationId xmlns:a16="http://schemas.microsoft.com/office/drawing/2014/main" id="{E2E154D7-410C-F9E8-CAB4-78F25758F2A4}"/>
              </a:ext>
            </a:extLst>
          </p:cNvPr>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8" name="Oval 42">
            <a:extLst>
              <a:ext uri="{FF2B5EF4-FFF2-40B4-BE49-F238E27FC236}">
                <a16:creationId xmlns:a16="http://schemas.microsoft.com/office/drawing/2014/main" id="{155B00C2-BED9-A55F-BFA4-5D01E66F2568}"/>
              </a:ext>
            </a:extLst>
          </p:cNvPr>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59" name="Oval 43">
            <a:extLst>
              <a:ext uri="{FF2B5EF4-FFF2-40B4-BE49-F238E27FC236}">
                <a16:creationId xmlns:a16="http://schemas.microsoft.com/office/drawing/2014/main" id="{6227BCFA-BF8D-885C-064B-3370EE08EFFD}"/>
              </a:ext>
            </a:extLst>
          </p:cNvPr>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0" name="Oval 44">
            <a:extLst>
              <a:ext uri="{FF2B5EF4-FFF2-40B4-BE49-F238E27FC236}">
                <a16:creationId xmlns:a16="http://schemas.microsoft.com/office/drawing/2014/main" id="{F499ACFB-E433-7DFD-A6EA-BA1AFDEF477D}"/>
              </a:ext>
            </a:extLst>
          </p:cNvPr>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1" name="Oval 45">
            <a:extLst>
              <a:ext uri="{FF2B5EF4-FFF2-40B4-BE49-F238E27FC236}">
                <a16:creationId xmlns:a16="http://schemas.microsoft.com/office/drawing/2014/main" id="{CF92EC34-A024-DF78-AACE-28E0289F8E34}"/>
              </a:ext>
            </a:extLst>
          </p:cNvPr>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2" name="Oval 46">
            <a:extLst>
              <a:ext uri="{FF2B5EF4-FFF2-40B4-BE49-F238E27FC236}">
                <a16:creationId xmlns:a16="http://schemas.microsoft.com/office/drawing/2014/main" id="{82A82159-CEF6-5700-60B3-D458DCE34B99}"/>
              </a:ext>
            </a:extLst>
          </p:cNvPr>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3" name="Oval 47">
            <a:extLst>
              <a:ext uri="{FF2B5EF4-FFF2-40B4-BE49-F238E27FC236}">
                <a16:creationId xmlns:a16="http://schemas.microsoft.com/office/drawing/2014/main" id="{3FED44BF-C783-450E-3C67-3BB118A97B67}"/>
              </a:ext>
            </a:extLst>
          </p:cNvPr>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4" name="Oval 48">
            <a:extLst>
              <a:ext uri="{FF2B5EF4-FFF2-40B4-BE49-F238E27FC236}">
                <a16:creationId xmlns:a16="http://schemas.microsoft.com/office/drawing/2014/main" id="{458B3AC1-E225-24AA-FFA2-F5014B0BF0C5}"/>
              </a:ext>
            </a:extLst>
          </p:cNvPr>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9265" name="Text Box 49">
            <a:extLst>
              <a:ext uri="{FF2B5EF4-FFF2-40B4-BE49-F238E27FC236}">
                <a16:creationId xmlns:a16="http://schemas.microsoft.com/office/drawing/2014/main" id="{855705C3-C0A6-C207-DB2E-72794C9AFDEB}"/>
              </a:ext>
            </a:extLst>
          </p:cNvPr>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b="1" i="1">
                <a:latin typeface="Tahoma" panose="020B0604030504040204" pitchFamily="34" charset="0"/>
              </a:rPr>
              <a:t>f</a:t>
            </a:r>
            <a:r>
              <a:rPr lang="en-US" altLang="en-US" sz="2000" i="1">
                <a:latin typeface="Tahoma" panose="020B0604030504040204" pitchFamily="34" charset="0"/>
              </a:rPr>
              <a:t>(</a:t>
            </a:r>
            <a:r>
              <a:rPr lang="en-US" altLang="en-US" sz="2000" b="1" i="1">
                <a:latin typeface="Tahoma" panose="020B0604030504040204" pitchFamily="34" charset="0"/>
              </a:rPr>
              <a:t>x</a:t>
            </a:r>
            <a:r>
              <a:rPr lang="en-US" altLang="en-US" sz="2000" i="1">
                <a:latin typeface="Tahoma" panose="020B0604030504040204" pitchFamily="34" charset="0"/>
              </a:rPr>
              <a:t>,</a:t>
            </a:r>
            <a:r>
              <a:rPr lang="en-US" altLang="en-US" sz="2000" b="1" i="1">
                <a:solidFill>
                  <a:srgbClr val="00CC00"/>
                </a:solidFill>
                <a:latin typeface="Tahoma" panose="020B0604030504040204" pitchFamily="34" charset="0"/>
              </a:rPr>
              <a:t>w</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 = sign(</a:t>
            </a:r>
            <a:r>
              <a:rPr lang="en-US" altLang="en-US" sz="2000" b="1" i="1">
                <a:solidFill>
                  <a:srgbClr val="00CC00"/>
                </a:solidFill>
                <a:latin typeface="Tahoma" panose="020B0604030504040204" pitchFamily="34" charset="0"/>
              </a:rPr>
              <a:t>w</a:t>
            </a:r>
            <a:r>
              <a:rPr lang="en-US" altLang="en-US" sz="2000" b="1" i="1">
                <a:latin typeface="Tahoma" panose="020B0604030504040204" pitchFamily="34" charset="0"/>
              </a:rPr>
              <a:t>. x</a:t>
            </a:r>
            <a:r>
              <a:rPr lang="en-US" altLang="en-US" sz="2000" i="1">
                <a:solidFill>
                  <a:srgbClr val="00CC00"/>
                </a:solidFill>
                <a:latin typeface="Tahoma" panose="020B0604030504040204" pitchFamily="34" charset="0"/>
              </a:rPr>
              <a:t> </a:t>
            </a:r>
            <a:r>
              <a:rPr lang="en-US" altLang="en-US" sz="2000" i="1">
                <a:latin typeface="Tahoma" panose="020B0604030504040204" pitchFamily="34" charset="0"/>
              </a:rPr>
              <a:t>+ </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a:t>
            </a:r>
          </a:p>
        </p:txBody>
      </p:sp>
      <p:sp>
        <p:nvSpPr>
          <p:cNvPr id="9266" name="Line 50">
            <a:extLst>
              <a:ext uri="{FF2B5EF4-FFF2-40B4-BE49-F238E27FC236}">
                <a16:creationId xmlns:a16="http://schemas.microsoft.com/office/drawing/2014/main" id="{839167D2-CFBE-1373-0C43-CD6620F9ADB6}"/>
              </a:ext>
            </a:extLst>
          </p:cNvPr>
          <p:cNvSpPr>
            <a:spLocks noChangeShapeType="1"/>
          </p:cNvSpPr>
          <p:nvPr/>
        </p:nvSpPr>
        <p:spPr bwMode="auto">
          <a:xfrm flipV="1">
            <a:off x="3429000" y="1676400"/>
            <a:ext cx="1447800" cy="4038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67" name="Text Box 51">
            <a:extLst>
              <a:ext uri="{FF2B5EF4-FFF2-40B4-BE49-F238E27FC236}">
                <a16:creationId xmlns:a16="http://schemas.microsoft.com/office/drawing/2014/main" id="{837DDFF2-BA46-9305-DD75-52FEBC1DD74F}"/>
              </a:ext>
            </a:extLst>
          </p:cNvPr>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en-US" altLang="en-US" sz="2000">
              <a:latin typeface="Tahoma" panose="020B0604030504040204" pitchFamily="34" charset="0"/>
            </a:endParaRPr>
          </a:p>
        </p:txBody>
      </p:sp>
      <p:sp>
        <p:nvSpPr>
          <p:cNvPr id="9268" name="Text Box 52">
            <a:extLst>
              <a:ext uri="{FF2B5EF4-FFF2-40B4-BE49-F238E27FC236}">
                <a16:creationId xmlns:a16="http://schemas.microsoft.com/office/drawing/2014/main" id="{4E7BBC99-6413-3A67-3F46-644F767D9ED4}"/>
              </a:ext>
            </a:extLst>
          </p:cNvPr>
          <p:cNvSpPr txBox="1">
            <a:spLocks noChangeArrowheads="1"/>
          </p:cNvSpPr>
          <p:nvPr/>
        </p:nvSpPr>
        <p:spPr bwMode="auto">
          <a:xfrm>
            <a:off x="6400800" y="3352800"/>
            <a:ext cx="2209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en-US" sz="2000">
                <a:latin typeface="Tahoma" panose="020B0604030504040204" pitchFamily="34" charset="0"/>
              </a:rPr>
              <a:t>Any of these would be fine..</a:t>
            </a:r>
          </a:p>
          <a:p>
            <a:pPr>
              <a:spcBef>
                <a:spcPct val="50000"/>
              </a:spcBef>
              <a:buClr>
                <a:schemeClr val="tx1"/>
              </a:buClr>
            </a:pPr>
            <a:endParaRPr lang="en-US" altLang="en-US" sz="2000">
              <a:latin typeface="Tahoma" panose="020B0604030504040204" pitchFamily="34" charset="0"/>
            </a:endParaRPr>
          </a:p>
          <a:p>
            <a:pPr>
              <a:spcBef>
                <a:spcPct val="50000"/>
              </a:spcBef>
              <a:buClr>
                <a:schemeClr val="tx1"/>
              </a:buClr>
            </a:pPr>
            <a:r>
              <a:rPr lang="en-US" altLang="en-US" sz="2000">
                <a:latin typeface="Tahoma" panose="020B0604030504040204" pitchFamily="34" charset="0"/>
              </a:rPr>
              <a:t>..but which is best?</a:t>
            </a:r>
          </a:p>
        </p:txBody>
      </p:sp>
      <p:sp>
        <p:nvSpPr>
          <p:cNvPr id="9269" name="Line 53">
            <a:extLst>
              <a:ext uri="{FF2B5EF4-FFF2-40B4-BE49-F238E27FC236}">
                <a16:creationId xmlns:a16="http://schemas.microsoft.com/office/drawing/2014/main" id="{8F205C70-5D9E-0B46-1B3C-D31491886ED9}"/>
              </a:ext>
            </a:extLst>
          </p:cNvPr>
          <p:cNvSpPr>
            <a:spLocks noChangeShapeType="1"/>
          </p:cNvSpPr>
          <p:nvPr/>
        </p:nvSpPr>
        <p:spPr bwMode="auto">
          <a:xfrm flipV="1">
            <a:off x="2286000" y="2362200"/>
            <a:ext cx="4038600" cy="2590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0" name="Line 54">
            <a:extLst>
              <a:ext uri="{FF2B5EF4-FFF2-40B4-BE49-F238E27FC236}">
                <a16:creationId xmlns:a16="http://schemas.microsoft.com/office/drawing/2014/main" id="{2BCA1626-E736-27E1-0DB1-11520FE0DAD6}"/>
              </a:ext>
            </a:extLst>
          </p:cNvPr>
          <p:cNvSpPr>
            <a:spLocks noChangeShapeType="1"/>
          </p:cNvSpPr>
          <p:nvPr/>
        </p:nvSpPr>
        <p:spPr bwMode="auto">
          <a:xfrm flipV="1">
            <a:off x="2590800" y="2209800"/>
            <a:ext cx="3124200" cy="3048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1" name="Line 55">
            <a:extLst>
              <a:ext uri="{FF2B5EF4-FFF2-40B4-BE49-F238E27FC236}">
                <a16:creationId xmlns:a16="http://schemas.microsoft.com/office/drawing/2014/main" id="{207C644E-0B4E-FB11-66EA-3DEE239C2D89}"/>
              </a:ext>
            </a:extLst>
          </p:cNvPr>
          <p:cNvSpPr>
            <a:spLocks noChangeShapeType="1"/>
          </p:cNvSpPr>
          <p:nvPr/>
        </p:nvSpPr>
        <p:spPr bwMode="auto">
          <a:xfrm flipV="1">
            <a:off x="2057400" y="2438400"/>
            <a:ext cx="4800600" cy="2209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2" name="Line 56">
            <a:extLst>
              <a:ext uri="{FF2B5EF4-FFF2-40B4-BE49-F238E27FC236}">
                <a16:creationId xmlns:a16="http://schemas.microsoft.com/office/drawing/2014/main" id="{2639416E-6DB0-6792-C771-20D22BB839DD}"/>
              </a:ext>
            </a:extLst>
          </p:cNvPr>
          <p:cNvSpPr>
            <a:spLocks noChangeShapeType="1"/>
          </p:cNvSpPr>
          <p:nvPr/>
        </p:nvSpPr>
        <p:spPr bwMode="auto">
          <a:xfrm flipV="1">
            <a:off x="2438400" y="2209800"/>
            <a:ext cx="3810000" cy="281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3" name="Line 57">
            <a:extLst>
              <a:ext uri="{FF2B5EF4-FFF2-40B4-BE49-F238E27FC236}">
                <a16:creationId xmlns:a16="http://schemas.microsoft.com/office/drawing/2014/main" id="{E295FF11-CA2C-FA13-946C-D01B850D0AF5}"/>
              </a:ext>
            </a:extLst>
          </p:cNvPr>
          <p:cNvSpPr>
            <a:spLocks noChangeShapeType="1"/>
          </p:cNvSpPr>
          <p:nvPr/>
        </p:nvSpPr>
        <p:spPr bwMode="auto">
          <a:xfrm flipV="1">
            <a:off x="2362200" y="1905000"/>
            <a:ext cx="3886200" cy="3352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4" name="Line 58">
            <a:extLst>
              <a:ext uri="{FF2B5EF4-FFF2-40B4-BE49-F238E27FC236}">
                <a16:creationId xmlns:a16="http://schemas.microsoft.com/office/drawing/2014/main" id="{D999FE2D-A868-79A1-606E-645410F98BB8}"/>
              </a:ext>
            </a:extLst>
          </p:cNvPr>
          <p:cNvSpPr>
            <a:spLocks noChangeShapeType="1"/>
          </p:cNvSpPr>
          <p:nvPr/>
        </p:nvSpPr>
        <p:spPr bwMode="auto">
          <a:xfrm flipV="1">
            <a:off x="2590800" y="1752600"/>
            <a:ext cx="3429000" cy="3352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5" name="Line 59">
            <a:extLst>
              <a:ext uri="{FF2B5EF4-FFF2-40B4-BE49-F238E27FC236}">
                <a16:creationId xmlns:a16="http://schemas.microsoft.com/office/drawing/2014/main" id="{2D952DD4-A78F-5E4A-0B15-F0A169583ECF}"/>
              </a:ext>
            </a:extLst>
          </p:cNvPr>
          <p:cNvSpPr>
            <a:spLocks noChangeShapeType="1"/>
          </p:cNvSpPr>
          <p:nvPr/>
        </p:nvSpPr>
        <p:spPr bwMode="auto">
          <a:xfrm flipV="1">
            <a:off x="2819400" y="2133600"/>
            <a:ext cx="2743200" cy="3505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9276" name="Line 60">
            <a:extLst>
              <a:ext uri="{FF2B5EF4-FFF2-40B4-BE49-F238E27FC236}">
                <a16:creationId xmlns:a16="http://schemas.microsoft.com/office/drawing/2014/main" id="{B5FFB43A-ED89-D82B-06A4-1E0DC0B698DD}"/>
              </a:ext>
            </a:extLst>
          </p:cNvPr>
          <p:cNvSpPr>
            <a:spLocks noChangeShapeType="1"/>
          </p:cNvSpPr>
          <p:nvPr/>
        </p:nvSpPr>
        <p:spPr bwMode="auto">
          <a:xfrm flipV="1">
            <a:off x="2362200" y="2209800"/>
            <a:ext cx="4114800" cy="2819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C10BC79-F8F7-BC5B-E18E-BEFD4532C3C3}"/>
              </a:ext>
            </a:extLst>
          </p:cNvPr>
          <p:cNvSpPr>
            <a:spLocks noGrp="1" noChangeArrowheads="1"/>
          </p:cNvSpPr>
          <p:nvPr>
            <p:ph type="title"/>
          </p:nvPr>
        </p:nvSpPr>
        <p:spPr/>
        <p:txBody>
          <a:bodyPr/>
          <a:lstStyle/>
          <a:p>
            <a:r>
              <a:rPr lang="en-US" altLang="en-US"/>
              <a:t>Examples of Bad Decision Boundaries</a:t>
            </a:r>
          </a:p>
        </p:txBody>
      </p:sp>
      <p:sp>
        <p:nvSpPr>
          <p:cNvPr id="8195" name="Line 3">
            <a:extLst>
              <a:ext uri="{FF2B5EF4-FFF2-40B4-BE49-F238E27FC236}">
                <a16:creationId xmlns:a16="http://schemas.microsoft.com/office/drawing/2014/main" id="{F59361A5-ED3F-46F4-B55A-7AB8D744B8DC}"/>
              </a:ext>
            </a:extLst>
          </p:cNvPr>
          <p:cNvSpPr>
            <a:spLocks noChangeShapeType="1"/>
          </p:cNvSpPr>
          <p:nvPr/>
        </p:nvSpPr>
        <p:spPr bwMode="auto">
          <a:xfrm flipV="1">
            <a:off x="533400" y="2209800"/>
            <a:ext cx="0" cy="32004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8196" name="Line 4">
            <a:extLst>
              <a:ext uri="{FF2B5EF4-FFF2-40B4-BE49-F238E27FC236}">
                <a16:creationId xmlns:a16="http://schemas.microsoft.com/office/drawing/2014/main" id="{E3DFA842-226E-824D-F7DD-C9EA1677CA25}"/>
              </a:ext>
            </a:extLst>
          </p:cNvPr>
          <p:cNvSpPr>
            <a:spLocks noChangeShapeType="1"/>
          </p:cNvSpPr>
          <p:nvPr/>
        </p:nvSpPr>
        <p:spPr bwMode="auto">
          <a:xfrm flipV="1">
            <a:off x="533400" y="5410200"/>
            <a:ext cx="30480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8197" name="Oval 5">
            <a:extLst>
              <a:ext uri="{FF2B5EF4-FFF2-40B4-BE49-F238E27FC236}">
                <a16:creationId xmlns:a16="http://schemas.microsoft.com/office/drawing/2014/main" id="{03F2C206-27CC-795A-27BD-B3B3F439470D}"/>
              </a:ext>
            </a:extLst>
          </p:cNvPr>
          <p:cNvSpPr>
            <a:spLocks noChangeArrowheads="1"/>
          </p:cNvSpPr>
          <p:nvPr/>
        </p:nvSpPr>
        <p:spPr bwMode="auto">
          <a:xfrm>
            <a:off x="2590800" y="28194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198" name="Oval 6">
            <a:extLst>
              <a:ext uri="{FF2B5EF4-FFF2-40B4-BE49-F238E27FC236}">
                <a16:creationId xmlns:a16="http://schemas.microsoft.com/office/drawing/2014/main" id="{962B7755-7447-D3E8-7D0E-659C6556BC67}"/>
              </a:ext>
            </a:extLst>
          </p:cNvPr>
          <p:cNvSpPr>
            <a:spLocks noChangeArrowheads="1"/>
          </p:cNvSpPr>
          <p:nvPr/>
        </p:nvSpPr>
        <p:spPr bwMode="auto">
          <a:xfrm>
            <a:off x="2819400" y="3429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199" name="Oval 7">
            <a:extLst>
              <a:ext uri="{FF2B5EF4-FFF2-40B4-BE49-F238E27FC236}">
                <a16:creationId xmlns:a16="http://schemas.microsoft.com/office/drawing/2014/main" id="{22ABAB5A-0BAB-5FC6-FDB4-357A8D9682BC}"/>
              </a:ext>
            </a:extLst>
          </p:cNvPr>
          <p:cNvSpPr>
            <a:spLocks noChangeArrowheads="1"/>
          </p:cNvSpPr>
          <p:nvPr/>
        </p:nvSpPr>
        <p:spPr bwMode="auto">
          <a:xfrm>
            <a:off x="3657600" y="3657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0" name="Oval 8">
            <a:extLst>
              <a:ext uri="{FF2B5EF4-FFF2-40B4-BE49-F238E27FC236}">
                <a16:creationId xmlns:a16="http://schemas.microsoft.com/office/drawing/2014/main" id="{FB0AF2A3-2640-9995-5581-FF64F17BA8BF}"/>
              </a:ext>
            </a:extLst>
          </p:cNvPr>
          <p:cNvSpPr>
            <a:spLocks noChangeArrowheads="1"/>
          </p:cNvSpPr>
          <p:nvPr/>
        </p:nvSpPr>
        <p:spPr bwMode="auto">
          <a:xfrm>
            <a:off x="2133600" y="2971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1" name="Oval 9">
            <a:extLst>
              <a:ext uri="{FF2B5EF4-FFF2-40B4-BE49-F238E27FC236}">
                <a16:creationId xmlns:a16="http://schemas.microsoft.com/office/drawing/2014/main" id="{2D5B1331-B931-F3DF-68F3-4404213F37DF}"/>
              </a:ext>
            </a:extLst>
          </p:cNvPr>
          <p:cNvSpPr>
            <a:spLocks noChangeArrowheads="1"/>
          </p:cNvSpPr>
          <p:nvPr/>
        </p:nvSpPr>
        <p:spPr bwMode="auto">
          <a:xfrm>
            <a:off x="3124200" y="39624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2" name="Rectangle 10">
            <a:extLst>
              <a:ext uri="{FF2B5EF4-FFF2-40B4-BE49-F238E27FC236}">
                <a16:creationId xmlns:a16="http://schemas.microsoft.com/office/drawing/2014/main" id="{9492E25E-0327-4EAC-BA6E-AF9373EE3898}"/>
              </a:ext>
            </a:extLst>
          </p:cNvPr>
          <p:cNvSpPr>
            <a:spLocks noChangeArrowheads="1"/>
          </p:cNvSpPr>
          <p:nvPr/>
        </p:nvSpPr>
        <p:spPr bwMode="auto">
          <a:xfrm>
            <a:off x="838200" y="38862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3" name="Rectangle 11">
            <a:extLst>
              <a:ext uri="{FF2B5EF4-FFF2-40B4-BE49-F238E27FC236}">
                <a16:creationId xmlns:a16="http://schemas.microsoft.com/office/drawing/2014/main" id="{63465977-DC17-B0F6-06FC-8BE16D99FBFD}"/>
              </a:ext>
            </a:extLst>
          </p:cNvPr>
          <p:cNvSpPr>
            <a:spLocks noChangeArrowheads="1"/>
          </p:cNvSpPr>
          <p:nvPr/>
        </p:nvSpPr>
        <p:spPr bwMode="auto">
          <a:xfrm>
            <a:off x="205740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4" name="Rectangle 12">
            <a:extLst>
              <a:ext uri="{FF2B5EF4-FFF2-40B4-BE49-F238E27FC236}">
                <a16:creationId xmlns:a16="http://schemas.microsoft.com/office/drawing/2014/main" id="{B7BB34C9-D1DC-2CFB-EDDA-4B38395B9120}"/>
              </a:ext>
            </a:extLst>
          </p:cNvPr>
          <p:cNvSpPr>
            <a:spLocks noChangeArrowheads="1"/>
          </p:cNvSpPr>
          <p:nvPr/>
        </p:nvSpPr>
        <p:spPr bwMode="auto">
          <a:xfrm>
            <a:off x="19050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5" name="Rectangle 13">
            <a:extLst>
              <a:ext uri="{FF2B5EF4-FFF2-40B4-BE49-F238E27FC236}">
                <a16:creationId xmlns:a16="http://schemas.microsoft.com/office/drawing/2014/main" id="{0237EA4F-AF87-76EA-434F-C43021D49576}"/>
              </a:ext>
            </a:extLst>
          </p:cNvPr>
          <p:cNvSpPr>
            <a:spLocks noChangeArrowheads="1"/>
          </p:cNvSpPr>
          <p:nvPr/>
        </p:nvSpPr>
        <p:spPr bwMode="auto">
          <a:xfrm>
            <a:off x="129540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6" name="Rectangle 14">
            <a:extLst>
              <a:ext uri="{FF2B5EF4-FFF2-40B4-BE49-F238E27FC236}">
                <a16:creationId xmlns:a16="http://schemas.microsoft.com/office/drawing/2014/main" id="{2C82C7A2-CB28-5CB8-63D3-AF8BDFC338B4}"/>
              </a:ext>
            </a:extLst>
          </p:cNvPr>
          <p:cNvSpPr>
            <a:spLocks noChangeArrowheads="1"/>
          </p:cNvSpPr>
          <p:nvPr/>
        </p:nvSpPr>
        <p:spPr bwMode="auto">
          <a:xfrm>
            <a:off x="990600" y="4724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7" name="Rectangle 15">
            <a:extLst>
              <a:ext uri="{FF2B5EF4-FFF2-40B4-BE49-F238E27FC236}">
                <a16:creationId xmlns:a16="http://schemas.microsoft.com/office/drawing/2014/main" id="{2E990D1B-2837-6DC5-5C84-6E21FF8265E6}"/>
              </a:ext>
            </a:extLst>
          </p:cNvPr>
          <p:cNvSpPr>
            <a:spLocks noChangeArrowheads="1"/>
          </p:cNvSpPr>
          <p:nvPr/>
        </p:nvSpPr>
        <p:spPr bwMode="auto">
          <a:xfrm>
            <a:off x="1219200" y="35052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08" name="Text Box 16">
            <a:extLst>
              <a:ext uri="{FF2B5EF4-FFF2-40B4-BE49-F238E27FC236}">
                <a16:creationId xmlns:a16="http://schemas.microsoft.com/office/drawing/2014/main" id="{5FD8913D-8B5B-380C-A552-512C993FBE27}"/>
              </a:ext>
            </a:extLst>
          </p:cNvPr>
          <p:cNvSpPr txBox="1">
            <a:spLocks noChangeArrowheads="1"/>
          </p:cNvSpPr>
          <p:nvPr/>
        </p:nvSpPr>
        <p:spPr bwMode="auto">
          <a:xfrm>
            <a:off x="838200" y="4926013"/>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1</a:t>
            </a:r>
          </a:p>
        </p:txBody>
      </p:sp>
      <p:sp>
        <p:nvSpPr>
          <p:cNvPr id="8209" name="Text Box 17">
            <a:extLst>
              <a:ext uri="{FF2B5EF4-FFF2-40B4-BE49-F238E27FC236}">
                <a16:creationId xmlns:a16="http://schemas.microsoft.com/office/drawing/2014/main" id="{1B8D313A-D6BB-C849-158F-271FBB376820}"/>
              </a:ext>
            </a:extLst>
          </p:cNvPr>
          <p:cNvSpPr txBox="1">
            <a:spLocks noChangeArrowheads="1"/>
          </p:cNvSpPr>
          <p:nvPr/>
        </p:nvSpPr>
        <p:spPr bwMode="auto">
          <a:xfrm>
            <a:off x="3048000" y="26670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8210" name="Line 18">
            <a:extLst>
              <a:ext uri="{FF2B5EF4-FFF2-40B4-BE49-F238E27FC236}">
                <a16:creationId xmlns:a16="http://schemas.microsoft.com/office/drawing/2014/main" id="{527105CB-4AB4-6555-A9CF-927BB718A535}"/>
              </a:ext>
            </a:extLst>
          </p:cNvPr>
          <p:cNvSpPr>
            <a:spLocks noChangeShapeType="1"/>
          </p:cNvSpPr>
          <p:nvPr/>
        </p:nvSpPr>
        <p:spPr bwMode="auto">
          <a:xfrm>
            <a:off x="762000" y="2514600"/>
            <a:ext cx="2362200" cy="27432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8211" name="Line 19">
            <a:extLst>
              <a:ext uri="{FF2B5EF4-FFF2-40B4-BE49-F238E27FC236}">
                <a16:creationId xmlns:a16="http://schemas.microsoft.com/office/drawing/2014/main" id="{9D0F0AB8-3DB2-58D1-4164-432489BE1464}"/>
              </a:ext>
            </a:extLst>
          </p:cNvPr>
          <p:cNvSpPr>
            <a:spLocks noChangeShapeType="1"/>
          </p:cNvSpPr>
          <p:nvPr/>
        </p:nvSpPr>
        <p:spPr bwMode="auto">
          <a:xfrm flipV="1">
            <a:off x="5353050" y="2209800"/>
            <a:ext cx="0" cy="32004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8212" name="Line 20">
            <a:extLst>
              <a:ext uri="{FF2B5EF4-FFF2-40B4-BE49-F238E27FC236}">
                <a16:creationId xmlns:a16="http://schemas.microsoft.com/office/drawing/2014/main" id="{4A2D2B6E-44CE-991C-4A27-1F2A55FF8721}"/>
              </a:ext>
            </a:extLst>
          </p:cNvPr>
          <p:cNvSpPr>
            <a:spLocks noChangeShapeType="1"/>
          </p:cNvSpPr>
          <p:nvPr/>
        </p:nvSpPr>
        <p:spPr bwMode="auto">
          <a:xfrm flipV="1">
            <a:off x="5353050" y="5410200"/>
            <a:ext cx="30480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8213" name="Oval 21">
            <a:extLst>
              <a:ext uri="{FF2B5EF4-FFF2-40B4-BE49-F238E27FC236}">
                <a16:creationId xmlns:a16="http://schemas.microsoft.com/office/drawing/2014/main" id="{1F051BC6-3BC6-3382-5D83-C48B595CED6F}"/>
              </a:ext>
            </a:extLst>
          </p:cNvPr>
          <p:cNvSpPr>
            <a:spLocks noChangeArrowheads="1"/>
          </p:cNvSpPr>
          <p:nvPr/>
        </p:nvSpPr>
        <p:spPr bwMode="auto">
          <a:xfrm>
            <a:off x="7410450" y="28194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4" name="Oval 22">
            <a:extLst>
              <a:ext uri="{FF2B5EF4-FFF2-40B4-BE49-F238E27FC236}">
                <a16:creationId xmlns:a16="http://schemas.microsoft.com/office/drawing/2014/main" id="{DB66F3B0-30FF-5FF5-F63D-982B20923FDC}"/>
              </a:ext>
            </a:extLst>
          </p:cNvPr>
          <p:cNvSpPr>
            <a:spLocks noChangeArrowheads="1"/>
          </p:cNvSpPr>
          <p:nvPr/>
        </p:nvSpPr>
        <p:spPr bwMode="auto">
          <a:xfrm>
            <a:off x="7639050" y="3429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5" name="Oval 23">
            <a:extLst>
              <a:ext uri="{FF2B5EF4-FFF2-40B4-BE49-F238E27FC236}">
                <a16:creationId xmlns:a16="http://schemas.microsoft.com/office/drawing/2014/main" id="{2866AF49-D664-17FE-9FEC-465DAD319864}"/>
              </a:ext>
            </a:extLst>
          </p:cNvPr>
          <p:cNvSpPr>
            <a:spLocks noChangeArrowheads="1"/>
          </p:cNvSpPr>
          <p:nvPr/>
        </p:nvSpPr>
        <p:spPr bwMode="auto">
          <a:xfrm>
            <a:off x="8477250" y="3657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6" name="Oval 24">
            <a:extLst>
              <a:ext uri="{FF2B5EF4-FFF2-40B4-BE49-F238E27FC236}">
                <a16:creationId xmlns:a16="http://schemas.microsoft.com/office/drawing/2014/main" id="{1BBE753B-9C5E-D9C2-5C65-6307C782A781}"/>
              </a:ext>
            </a:extLst>
          </p:cNvPr>
          <p:cNvSpPr>
            <a:spLocks noChangeArrowheads="1"/>
          </p:cNvSpPr>
          <p:nvPr/>
        </p:nvSpPr>
        <p:spPr bwMode="auto">
          <a:xfrm>
            <a:off x="6953250" y="2971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7" name="Oval 25">
            <a:extLst>
              <a:ext uri="{FF2B5EF4-FFF2-40B4-BE49-F238E27FC236}">
                <a16:creationId xmlns:a16="http://schemas.microsoft.com/office/drawing/2014/main" id="{669FFDCD-BAF3-4EEC-4F0A-2D3F1D93C59D}"/>
              </a:ext>
            </a:extLst>
          </p:cNvPr>
          <p:cNvSpPr>
            <a:spLocks noChangeArrowheads="1"/>
          </p:cNvSpPr>
          <p:nvPr/>
        </p:nvSpPr>
        <p:spPr bwMode="auto">
          <a:xfrm>
            <a:off x="7943850" y="39624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8" name="Rectangle 26">
            <a:extLst>
              <a:ext uri="{FF2B5EF4-FFF2-40B4-BE49-F238E27FC236}">
                <a16:creationId xmlns:a16="http://schemas.microsoft.com/office/drawing/2014/main" id="{E2B926AF-7032-71DF-8844-AE19F17DC3DC}"/>
              </a:ext>
            </a:extLst>
          </p:cNvPr>
          <p:cNvSpPr>
            <a:spLocks noChangeArrowheads="1"/>
          </p:cNvSpPr>
          <p:nvPr/>
        </p:nvSpPr>
        <p:spPr bwMode="auto">
          <a:xfrm>
            <a:off x="5657850" y="38862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19" name="Rectangle 27">
            <a:extLst>
              <a:ext uri="{FF2B5EF4-FFF2-40B4-BE49-F238E27FC236}">
                <a16:creationId xmlns:a16="http://schemas.microsoft.com/office/drawing/2014/main" id="{E805165C-B114-FDFC-C38D-B1B4E3C39671}"/>
              </a:ext>
            </a:extLst>
          </p:cNvPr>
          <p:cNvSpPr>
            <a:spLocks noChangeArrowheads="1"/>
          </p:cNvSpPr>
          <p:nvPr/>
        </p:nvSpPr>
        <p:spPr bwMode="auto">
          <a:xfrm>
            <a:off x="687705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20" name="Rectangle 28">
            <a:extLst>
              <a:ext uri="{FF2B5EF4-FFF2-40B4-BE49-F238E27FC236}">
                <a16:creationId xmlns:a16="http://schemas.microsoft.com/office/drawing/2014/main" id="{E52E9665-2866-5050-D82C-69FFD39CAC52}"/>
              </a:ext>
            </a:extLst>
          </p:cNvPr>
          <p:cNvSpPr>
            <a:spLocks noChangeArrowheads="1"/>
          </p:cNvSpPr>
          <p:nvPr/>
        </p:nvSpPr>
        <p:spPr bwMode="auto">
          <a:xfrm>
            <a:off x="672465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21" name="Rectangle 29">
            <a:extLst>
              <a:ext uri="{FF2B5EF4-FFF2-40B4-BE49-F238E27FC236}">
                <a16:creationId xmlns:a16="http://schemas.microsoft.com/office/drawing/2014/main" id="{9863EDA2-1988-CB24-6A36-1AA8775D4EA5}"/>
              </a:ext>
            </a:extLst>
          </p:cNvPr>
          <p:cNvSpPr>
            <a:spLocks noChangeArrowheads="1"/>
          </p:cNvSpPr>
          <p:nvPr/>
        </p:nvSpPr>
        <p:spPr bwMode="auto">
          <a:xfrm>
            <a:off x="611505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22" name="Rectangle 30">
            <a:extLst>
              <a:ext uri="{FF2B5EF4-FFF2-40B4-BE49-F238E27FC236}">
                <a16:creationId xmlns:a16="http://schemas.microsoft.com/office/drawing/2014/main" id="{DF69AE14-2A8B-A334-3A8B-BEA93473E660}"/>
              </a:ext>
            </a:extLst>
          </p:cNvPr>
          <p:cNvSpPr>
            <a:spLocks noChangeArrowheads="1"/>
          </p:cNvSpPr>
          <p:nvPr/>
        </p:nvSpPr>
        <p:spPr bwMode="auto">
          <a:xfrm>
            <a:off x="5810250" y="4724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23" name="Rectangle 31">
            <a:extLst>
              <a:ext uri="{FF2B5EF4-FFF2-40B4-BE49-F238E27FC236}">
                <a16:creationId xmlns:a16="http://schemas.microsoft.com/office/drawing/2014/main" id="{67BCF68F-E79B-F716-6D7F-ADB51CEF1313}"/>
              </a:ext>
            </a:extLst>
          </p:cNvPr>
          <p:cNvSpPr>
            <a:spLocks noChangeArrowheads="1"/>
          </p:cNvSpPr>
          <p:nvPr/>
        </p:nvSpPr>
        <p:spPr bwMode="auto">
          <a:xfrm>
            <a:off x="6038850" y="35052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8224" name="Text Box 32">
            <a:extLst>
              <a:ext uri="{FF2B5EF4-FFF2-40B4-BE49-F238E27FC236}">
                <a16:creationId xmlns:a16="http://schemas.microsoft.com/office/drawing/2014/main" id="{CDEC82EE-FE7B-EEE3-B557-859AE32145A6}"/>
              </a:ext>
            </a:extLst>
          </p:cNvPr>
          <p:cNvSpPr txBox="1">
            <a:spLocks noChangeArrowheads="1"/>
          </p:cNvSpPr>
          <p:nvPr/>
        </p:nvSpPr>
        <p:spPr bwMode="auto">
          <a:xfrm>
            <a:off x="5657850" y="4926013"/>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1</a:t>
            </a:r>
          </a:p>
        </p:txBody>
      </p:sp>
      <p:sp>
        <p:nvSpPr>
          <p:cNvPr id="8225" name="Text Box 33">
            <a:extLst>
              <a:ext uri="{FF2B5EF4-FFF2-40B4-BE49-F238E27FC236}">
                <a16:creationId xmlns:a16="http://schemas.microsoft.com/office/drawing/2014/main" id="{0F840418-E7EC-4E10-38C0-24446785F2CE}"/>
              </a:ext>
            </a:extLst>
          </p:cNvPr>
          <p:cNvSpPr txBox="1">
            <a:spLocks noChangeArrowheads="1"/>
          </p:cNvSpPr>
          <p:nvPr/>
        </p:nvSpPr>
        <p:spPr bwMode="auto">
          <a:xfrm>
            <a:off x="7867650" y="26670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8226" name="Line 34">
            <a:extLst>
              <a:ext uri="{FF2B5EF4-FFF2-40B4-BE49-F238E27FC236}">
                <a16:creationId xmlns:a16="http://schemas.microsoft.com/office/drawing/2014/main" id="{557E8BD3-5CB0-323C-E0C6-761225442EF5}"/>
              </a:ext>
            </a:extLst>
          </p:cNvPr>
          <p:cNvSpPr>
            <a:spLocks noChangeShapeType="1"/>
          </p:cNvSpPr>
          <p:nvPr/>
        </p:nvSpPr>
        <p:spPr bwMode="auto">
          <a:xfrm>
            <a:off x="6705600" y="2286000"/>
            <a:ext cx="609600" cy="2971800"/>
          </a:xfrm>
          <a:prstGeom prst="line">
            <a:avLst/>
          </a:prstGeom>
          <a:noFill/>
          <a:ln w="38100">
            <a:solidFill>
              <a:schemeClr val="tx2"/>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2">
            <a:extLst>
              <a:ext uri="{FF2B5EF4-FFF2-40B4-BE49-F238E27FC236}">
                <a16:creationId xmlns:a16="http://schemas.microsoft.com/office/drawing/2014/main" id="{4F311735-301E-CE12-7F63-04326FA508E1}"/>
              </a:ext>
            </a:extLst>
          </p:cNvPr>
          <p:cNvGrpSpPr>
            <a:grpSpLocks/>
          </p:cNvGrpSpPr>
          <p:nvPr/>
        </p:nvGrpSpPr>
        <p:grpSpPr bwMode="auto">
          <a:xfrm rot="-4217956">
            <a:off x="1205707" y="4075906"/>
            <a:ext cx="5562600" cy="1587"/>
            <a:chOff x="960" y="3888"/>
            <a:chExt cx="3504" cy="0"/>
          </a:xfrm>
        </p:grpSpPr>
        <p:sp>
          <p:nvSpPr>
            <p:cNvPr id="10243" name="Line 3">
              <a:extLst>
                <a:ext uri="{FF2B5EF4-FFF2-40B4-BE49-F238E27FC236}">
                  <a16:creationId xmlns:a16="http://schemas.microsoft.com/office/drawing/2014/main" id="{1C5FC3C9-718F-008D-B23D-443F26F801F7}"/>
                </a:ext>
              </a:extLst>
            </p:cNvPr>
            <p:cNvSpPr>
              <a:spLocks noChangeShapeType="1"/>
            </p:cNvSpPr>
            <p:nvPr/>
          </p:nvSpPr>
          <p:spPr bwMode="auto">
            <a:xfrm>
              <a:off x="1008" y="3888"/>
              <a:ext cx="3408" cy="0"/>
            </a:xfrm>
            <a:prstGeom prst="line">
              <a:avLst/>
            </a:prstGeom>
            <a:noFill/>
            <a:ln w="1047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0244" name="Line 4">
              <a:extLst>
                <a:ext uri="{FF2B5EF4-FFF2-40B4-BE49-F238E27FC236}">
                  <a16:creationId xmlns:a16="http://schemas.microsoft.com/office/drawing/2014/main" id="{DBFF16C5-9A62-01C6-1FF5-144BF70D6A2E}"/>
                </a:ext>
              </a:extLst>
            </p:cNvPr>
            <p:cNvSpPr>
              <a:spLocks noChangeShapeType="1"/>
            </p:cNvSpPr>
            <p:nvPr/>
          </p:nvSpPr>
          <p:spPr bwMode="auto">
            <a:xfrm>
              <a:off x="960" y="3888"/>
              <a:ext cx="350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grpSp>
      <p:sp>
        <p:nvSpPr>
          <p:cNvPr id="10245" name="Rectangle 5">
            <a:extLst>
              <a:ext uri="{FF2B5EF4-FFF2-40B4-BE49-F238E27FC236}">
                <a16:creationId xmlns:a16="http://schemas.microsoft.com/office/drawing/2014/main" id="{260F030E-A888-70C4-3238-3AAD1609C46E}"/>
              </a:ext>
            </a:extLst>
          </p:cNvPr>
          <p:cNvSpPr>
            <a:spLocks noGrp="1" noChangeArrowheads="1"/>
          </p:cNvSpPr>
          <p:nvPr>
            <p:ph type="title"/>
          </p:nvPr>
        </p:nvSpPr>
        <p:spPr>
          <a:xfrm>
            <a:off x="152400" y="304800"/>
            <a:ext cx="4648200" cy="685800"/>
          </a:xfrm>
        </p:spPr>
        <p:txBody>
          <a:bodyPr/>
          <a:lstStyle/>
          <a:p>
            <a:r>
              <a:rPr lang="en-US" altLang="en-US"/>
              <a:t>Classifier Margin</a:t>
            </a:r>
          </a:p>
        </p:txBody>
      </p:sp>
      <p:sp>
        <p:nvSpPr>
          <p:cNvPr id="10246" name="Rectangle 6">
            <a:extLst>
              <a:ext uri="{FF2B5EF4-FFF2-40B4-BE49-F238E27FC236}">
                <a16:creationId xmlns:a16="http://schemas.microsoft.com/office/drawing/2014/main" id="{0EAB5456-077E-3F46-A9E4-8C62B593503B}"/>
              </a:ext>
            </a:extLst>
          </p:cNvPr>
          <p:cNvSpPr>
            <a:spLocks noChangeArrowheads="1"/>
          </p:cNvSpPr>
          <p:nvPr/>
        </p:nvSpPr>
        <p:spPr bwMode="auto">
          <a:xfrm>
            <a:off x="5334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en-US" sz="3600" i="1">
                <a:latin typeface="Tahoma" panose="020B0604030504040204" pitchFamily="34" charset="0"/>
              </a:rPr>
              <a:t>f </a:t>
            </a:r>
            <a:r>
              <a:rPr lang="en-US" altLang="en-US" sz="2000">
                <a:latin typeface="Tahoma" panose="020B0604030504040204" pitchFamily="34" charset="0"/>
              </a:rPr>
              <a:t>        </a:t>
            </a:r>
          </a:p>
        </p:txBody>
      </p:sp>
      <p:sp>
        <p:nvSpPr>
          <p:cNvPr id="10247" name="Line 7">
            <a:extLst>
              <a:ext uri="{FF2B5EF4-FFF2-40B4-BE49-F238E27FC236}">
                <a16:creationId xmlns:a16="http://schemas.microsoft.com/office/drawing/2014/main" id="{1142D457-3C05-B92F-05AC-EF255051A0EC}"/>
              </a:ext>
            </a:extLst>
          </p:cNvPr>
          <p:cNvSpPr>
            <a:spLocks noChangeShapeType="1"/>
          </p:cNvSpPr>
          <p:nvPr/>
        </p:nvSpPr>
        <p:spPr bwMode="auto">
          <a:xfrm>
            <a:off x="3962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0248" name="Text Box 8">
            <a:extLst>
              <a:ext uri="{FF2B5EF4-FFF2-40B4-BE49-F238E27FC236}">
                <a16:creationId xmlns:a16="http://schemas.microsoft.com/office/drawing/2014/main" id="{0853D592-9CE7-B6FC-56C2-E78B3B059192}"/>
              </a:ext>
            </a:extLst>
          </p:cNvPr>
          <p:cNvSpPr txBox="1">
            <a:spLocks noChangeArrowheads="1"/>
          </p:cNvSpPr>
          <p:nvPr/>
        </p:nvSpPr>
        <p:spPr bwMode="auto">
          <a:xfrm>
            <a:off x="3505200" y="762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800" b="1" i="1">
                <a:latin typeface="Tahoma" panose="020B0604030504040204" pitchFamily="34" charset="0"/>
              </a:rPr>
              <a:t>x</a:t>
            </a:r>
          </a:p>
        </p:txBody>
      </p:sp>
      <p:sp>
        <p:nvSpPr>
          <p:cNvPr id="10249" name="Line 9">
            <a:extLst>
              <a:ext uri="{FF2B5EF4-FFF2-40B4-BE49-F238E27FC236}">
                <a16:creationId xmlns:a16="http://schemas.microsoft.com/office/drawing/2014/main" id="{15DA8738-86BF-E62A-3503-9F8623617C3A}"/>
              </a:ext>
            </a:extLst>
          </p:cNvPr>
          <p:cNvSpPr>
            <a:spLocks noChangeShapeType="1"/>
          </p:cNvSpPr>
          <p:nvPr/>
        </p:nvSpPr>
        <p:spPr bwMode="auto">
          <a:xfrm>
            <a:off x="6019800" y="3810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0250" name="Text Box 10">
            <a:extLst>
              <a:ext uri="{FF2B5EF4-FFF2-40B4-BE49-F238E27FC236}">
                <a16:creationId xmlns:a16="http://schemas.microsoft.com/office/drawing/2014/main" id="{FDA94F31-25B5-EAD7-129E-1916A4F16898}"/>
              </a:ext>
            </a:extLst>
          </p:cNvPr>
          <p:cNvSpPr txBox="1">
            <a:spLocks noChangeArrowheads="1"/>
          </p:cNvSpPr>
          <p:nvPr/>
        </p:nvSpPr>
        <p:spPr bwMode="auto">
          <a:xfrm>
            <a:off x="5791200" y="0"/>
            <a:ext cx="3810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3200">
                <a:solidFill>
                  <a:srgbClr val="00CC00"/>
                </a:solidFill>
                <a:latin typeface="Symbol" panose="05050102010706020507" pitchFamily="18" charset="2"/>
              </a:rPr>
              <a:t>a</a:t>
            </a:r>
          </a:p>
        </p:txBody>
      </p:sp>
      <p:sp>
        <p:nvSpPr>
          <p:cNvPr id="10251" name="Line 11">
            <a:extLst>
              <a:ext uri="{FF2B5EF4-FFF2-40B4-BE49-F238E27FC236}">
                <a16:creationId xmlns:a16="http://schemas.microsoft.com/office/drawing/2014/main" id="{0490ACF5-2C4A-2715-B80D-D2D2D52E2A9B}"/>
              </a:ext>
            </a:extLst>
          </p:cNvPr>
          <p:cNvSpPr>
            <a:spLocks noChangeShapeType="1"/>
          </p:cNvSpPr>
          <p:nvPr/>
        </p:nvSpPr>
        <p:spPr bwMode="auto">
          <a:xfrm>
            <a:off x="6934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0252" name="Text Box 12">
            <a:extLst>
              <a:ext uri="{FF2B5EF4-FFF2-40B4-BE49-F238E27FC236}">
                <a16:creationId xmlns:a16="http://schemas.microsoft.com/office/drawing/2014/main" id="{DEC4CBA3-3025-F6EF-6253-1E80517E2888}"/>
              </a:ext>
            </a:extLst>
          </p:cNvPr>
          <p:cNvSpPr txBox="1">
            <a:spLocks noChangeArrowheads="1"/>
          </p:cNvSpPr>
          <p:nvPr/>
        </p:nvSpPr>
        <p:spPr bwMode="auto">
          <a:xfrm>
            <a:off x="8305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en-US" sz="3200">
                <a:latin typeface="Tahoma" panose="020B0604030504040204" pitchFamily="34" charset="0"/>
              </a:rPr>
              <a:t>y</a:t>
            </a:r>
            <a:r>
              <a:rPr lang="en-US" altLang="en-US" sz="3200" baseline="30000">
                <a:latin typeface="Tahoma" panose="020B0604030504040204" pitchFamily="34" charset="0"/>
              </a:rPr>
              <a:t>est</a:t>
            </a:r>
          </a:p>
        </p:txBody>
      </p:sp>
      <p:sp>
        <p:nvSpPr>
          <p:cNvPr id="10253" name="Text Box 13">
            <a:extLst>
              <a:ext uri="{FF2B5EF4-FFF2-40B4-BE49-F238E27FC236}">
                <a16:creationId xmlns:a16="http://schemas.microsoft.com/office/drawing/2014/main" id="{765AC81E-0571-C6CB-2682-1DD369914853}"/>
              </a:ext>
            </a:extLst>
          </p:cNvPr>
          <p:cNvSpPr txBox="1">
            <a:spLocks noChangeArrowheads="1"/>
          </p:cNvSpPr>
          <p:nvPr/>
        </p:nvSpPr>
        <p:spPr bwMode="auto">
          <a:xfrm>
            <a:off x="838200" y="19050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a:latin typeface="Tahoma" panose="020B0604030504040204" pitchFamily="34" charset="0"/>
              </a:rPr>
              <a:t>denotes +1</a:t>
            </a:r>
          </a:p>
          <a:p>
            <a:pPr algn="ctr">
              <a:spcBef>
                <a:spcPct val="50000"/>
              </a:spcBef>
              <a:buClr>
                <a:schemeClr val="tx1"/>
              </a:buClr>
            </a:pPr>
            <a:r>
              <a:rPr lang="en-US" altLang="en-US" sz="2000">
                <a:latin typeface="Tahoma" panose="020B0604030504040204" pitchFamily="34" charset="0"/>
              </a:rPr>
              <a:t>denotes -1</a:t>
            </a:r>
          </a:p>
        </p:txBody>
      </p:sp>
      <p:sp>
        <p:nvSpPr>
          <p:cNvPr id="10254" name="Oval 14">
            <a:extLst>
              <a:ext uri="{FF2B5EF4-FFF2-40B4-BE49-F238E27FC236}">
                <a16:creationId xmlns:a16="http://schemas.microsoft.com/office/drawing/2014/main" id="{05A50064-8483-7435-BE91-BDFA3BA19F83}"/>
              </a:ext>
            </a:extLst>
          </p:cNvPr>
          <p:cNvSpPr>
            <a:spLocks noChangeAspect="1" noChangeArrowheads="1"/>
          </p:cNvSpPr>
          <p:nvPr/>
        </p:nvSpPr>
        <p:spPr bwMode="auto">
          <a:xfrm rot="4777107">
            <a:off x="915194" y="20566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55" name="Oval 15">
            <a:extLst>
              <a:ext uri="{FF2B5EF4-FFF2-40B4-BE49-F238E27FC236}">
                <a16:creationId xmlns:a16="http://schemas.microsoft.com/office/drawing/2014/main" id="{2B412B23-10A8-1D52-45F3-9AA543DF29CE}"/>
              </a:ext>
            </a:extLst>
          </p:cNvPr>
          <p:cNvSpPr>
            <a:spLocks noChangeAspect="1" noChangeArrowheads="1"/>
          </p:cNvSpPr>
          <p:nvPr/>
        </p:nvSpPr>
        <p:spPr bwMode="auto">
          <a:xfrm rot="5895381">
            <a:off x="915988" y="25130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56" name="Line 16">
            <a:extLst>
              <a:ext uri="{FF2B5EF4-FFF2-40B4-BE49-F238E27FC236}">
                <a16:creationId xmlns:a16="http://schemas.microsoft.com/office/drawing/2014/main" id="{E94F6A3F-B80C-A309-D44C-23E129D83C1B}"/>
              </a:ext>
            </a:extLst>
          </p:cNvPr>
          <p:cNvSpPr>
            <a:spLocks noChangeShapeType="1"/>
          </p:cNvSpPr>
          <p:nvPr/>
        </p:nvSpPr>
        <p:spPr bwMode="auto">
          <a:xfrm>
            <a:off x="2590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0257" name="Line 17">
            <a:extLst>
              <a:ext uri="{FF2B5EF4-FFF2-40B4-BE49-F238E27FC236}">
                <a16:creationId xmlns:a16="http://schemas.microsoft.com/office/drawing/2014/main" id="{E022759E-30E7-C3AA-991A-20685509BBB9}"/>
              </a:ext>
            </a:extLst>
          </p:cNvPr>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10258" name="Oval 18">
            <a:extLst>
              <a:ext uri="{FF2B5EF4-FFF2-40B4-BE49-F238E27FC236}">
                <a16:creationId xmlns:a16="http://schemas.microsoft.com/office/drawing/2014/main" id="{3C66907C-E3AD-C9D3-4277-9205046BC435}"/>
              </a:ext>
            </a:extLst>
          </p:cNvPr>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59" name="Oval 19">
            <a:extLst>
              <a:ext uri="{FF2B5EF4-FFF2-40B4-BE49-F238E27FC236}">
                <a16:creationId xmlns:a16="http://schemas.microsoft.com/office/drawing/2014/main" id="{F925E95C-16EA-51BD-8138-495306273051}"/>
              </a:ext>
            </a:extLst>
          </p:cNvPr>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0" name="Oval 20">
            <a:extLst>
              <a:ext uri="{FF2B5EF4-FFF2-40B4-BE49-F238E27FC236}">
                <a16:creationId xmlns:a16="http://schemas.microsoft.com/office/drawing/2014/main" id="{C0D7A492-B572-B09A-8305-192D5901E50E}"/>
              </a:ext>
            </a:extLst>
          </p:cNvPr>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1" name="Oval 21">
            <a:extLst>
              <a:ext uri="{FF2B5EF4-FFF2-40B4-BE49-F238E27FC236}">
                <a16:creationId xmlns:a16="http://schemas.microsoft.com/office/drawing/2014/main" id="{9C1649BA-2156-4FF0-C7F7-46BD625652A5}"/>
              </a:ext>
            </a:extLst>
          </p:cNvPr>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2" name="Oval 22">
            <a:extLst>
              <a:ext uri="{FF2B5EF4-FFF2-40B4-BE49-F238E27FC236}">
                <a16:creationId xmlns:a16="http://schemas.microsoft.com/office/drawing/2014/main" id="{4E4858E3-BE4B-CB95-9976-30605E42419F}"/>
              </a:ext>
            </a:extLst>
          </p:cNvPr>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3" name="Oval 23">
            <a:extLst>
              <a:ext uri="{FF2B5EF4-FFF2-40B4-BE49-F238E27FC236}">
                <a16:creationId xmlns:a16="http://schemas.microsoft.com/office/drawing/2014/main" id="{797AD8ED-E273-745D-2503-BCFD8A1453FA}"/>
              </a:ext>
            </a:extLst>
          </p:cNvPr>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4" name="Oval 24">
            <a:extLst>
              <a:ext uri="{FF2B5EF4-FFF2-40B4-BE49-F238E27FC236}">
                <a16:creationId xmlns:a16="http://schemas.microsoft.com/office/drawing/2014/main" id="{4ECB99B2-EA52-771D-FD68-C251C6F71CDA}"/>
              </a:ext>
            </a:extLst>
          </p:cNvPr>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5" name="Oval 25">
            <a:extLst>
              <a:ext uri="{FF2B5EF4-FFF2-40B4-BE49-F238E27FC236}">
                <a16:creationId xmlns:a16="http://schemas.microsoft.com/office/drawing/2014/main" id="{ECF7F700-C551-67CB-B204-D0455B3828F9}"/>
              </a:ext>
            </a:extLst>
          </p:cNvPr>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6" name="Oval 26">
            <a:extLst>
              <a:ext uri="{FF2B5EF4-FFF2-40B4-BE49-F238E27FC236}">
                <a16:creationId xmlns:a16="http://schemas.microsoft.com/office/drawing/2014/main" id="{E29234B7-C6A8-4BC1-177F-33A967FC8646}"/>
              </a:ext>
            </a:extLst>
          </p:cNvPr>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7" name="Oval 27">
            <a:extLst>
              <a:ext uri="{FF2B5EF4-FFF2-40B4-BE49-F238E27FC236}">
                <a16:creationId xmlns:a16="http://schemas.microsoft.com/office/drawing/2014/main" id="{9F4846A9-379A-DEED-FEA0-C9183DE9A044}"/>
              </a:ext>
            </a:extLst>
          </p:cNvPr>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8" name="Oval 28">
            <a:extLst>
              <a:ext uri="{FF2B5EF4-FFF2-40B4-BE49-F238E27FC236}">
                <a16:creationId xmlns:a16="http://schemas.microsoft.com/office/drawing/2014/main" id="{8105B0EB-CACA-5F54-4453-E7B89C4B27BC}"/>
              </a:ext>
            </a:extLst>
          </p:cNvPr>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69" name="Oval 29">
            <a:extLst>
              <a:ext uri="{FF2B5EF4-FFF2-40B4-BE49-F238E27FC236}">
                <a16:creationId xmlns:a16="http://schemas.microsoft.com/office/drawing/2014/main" id="{BB4F2164-0859-109C-8A54-41FAD32EB78E}"/>
              </a:ext>
            </a:extLst>
          </p:cNvPr>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0" name="Oval 30">
            <a:extLst>
              <a:ext uri="{FF2B5EF4-FFF2-40B4-BE49-F238E27FC236}">
                <a16:creationId xmlns:a16="http://schemas.microsoft.com/office/drawing/2014/main" id="{D137FE04-A4FE-5619-3861-293C37C2FDB8}"/>
              </a:ext>
            </a:extLst>
          </p:cNvPr>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1" name="Oval 31">
            <a:extLst>
              <a:ext uri="{FF2B5EF4-FFF2-40B4-BE49-F238E27FC236}">
                <a16:creationId xmlns:a16="http://schemas.microsoft.com/office/drawing/2014/main" id="{FA592695-2A2F-D79B-E686-1E593104172C}"/>
              </a:ext>
            </a:extLst>
          </p:cNvPr>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2" name="Oval 32">
            <a:extLst>
              <a:ext uri="{FF2B5EF4-FFF2-40B4-BE49-F238E27FC236}">
                <a16:creationId xmlns:a16="http://schemas.microsoft.com/office/drawing/2014/main" id="{C3B67926-4CE2-D7A0-BB9D-914491BABFDF}"/>
              </a:ext>
            </a:extLst>
          </p:cNvPr>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3" name="Oval 33">
            <a:extLst>
              <a:ext uri="{FF2B5EF4-FFF2-40B4-BE49-F238E27FC236}">
                <a16:creationId xmlns:a16="http://schemas.microsoft.com/office/drawing/2014/main" id="{1D32992A-F4CC-FAC3-4A14-CEF6CD279A1B}"/>
              </a:ext>
            </a:extLst>
          </p:cNvPr>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4" name="Oval 34">
            <a:extLst>
              <a:ext uri="{FF2B5EF4-FFF2-40B4-BE49-F238E27FC236}">
                <a16:creationId xmlns:a16="http://schemas.microsoft.com/office/drawing/2014/main" id="{51E2E7F5-6C28-F7C2-15E6-44AEA3B4BDAE}"/>
              </a:ext>
            </a:extLst>
          </p:cNvPr>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5" name="Oval 35">
            <a:extLst>
              <a:ext uri="{FF2B5EF4-FFF2-40B4-BE49-F238E27FC236}">
                <a16:creationId xmlns:a16="http://schemas.microsoft.com/office/drawing/2014/main" id="{628E4943-2415-9198-22F8-5DB10863EC41}"/>
              </a:ext>
            </a:extLst>
          </p:cNvPr>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6" name="Oval 36">
            <a:extLst>
              <a:ext uri="{FF2B5EF4-FFF2-40B4-BE49-F238E27FC236}">
                <a16:creationId xmlns:a16="http://schemas.microsoft.com/office/drawing/2014/main" id="{B9723E9B-067E-64FD-679D-C5A197CBB566}"/>
              </a:ext>
            </a:extLst>
          </p:cNvPr>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7" name="Oval 37">
            <a:extLst>
              <a:ext uri="{FF2B5EF4-FFF2-40B4-BE49-F238E27FC236}">
                <a16:creationId xmlns:a16="http://schemas.microsoft.com/office/drawing/2014/main" id="{9B73204E-0991-58A0-7697-1680996D0D5B}"/>
              </a:ext>
            </a:extLst>
          </p:cNvPr>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8" name="Oval 38">
            <a:extLst>
              <a:ext uri="{FF2B5EF4-FFF2-40B4-BE49-F238E27FC236}">
                <a16:creationId xmlns:a16="http://schemas.microsoft.com/office/drawing/2014/main" id="{0CA3A476-030B-EC2D-CF45-CEC02D368247}"/>
              </a:ext>
            </a:extLst>
          </p:cNvPr>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79" name="Oval 39">
            <a:extLst>
              <a:ext uri="{FF2B5EF4-FFF2-40B4-BE49-F238E27FC236}">
                <a16:creationId xmlns:a16="http://schemas.microsoft.com/office/drawing/2014/main" id="{943F34FA-AAC4-F89D-A0BE-6CF1217F8DB1}"/>
              </a:ext>
            </a:extLst>
          </p:cNvPr>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0" name="Oval 40">
            <a:extLst>
              <a:ext uri="{FF2B5EF4-FFF2-40B4-BE49-F238E27FC236}">
                <a16:creationId xmlns:a16="http://schemas.microsoft.com/office/drawing/2014/main" id="{2B1CDC36-8A1C-3542-832C-84D9345A197E}"/>
              </a:ext>
            </a:extLst>
          </p:cNvPr>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1" name="Oval 41">
            <a:extLst>
              <a:ext uri="{FF2B5EF4-FFF2-40B4-BE49-F238E27FC236}">
                <a16:creationId xmlns:a16="http://schemas.microsoft.com/office/drawing/2014/main" id="{499D25CB-4BA8-CFB0-ACD2-975F707F2C65}"/>
              </a:ext>
            </a:extLst>
          </p:cNvPr>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2" name="Oval 42">
            <a:extLst>
              <a:ext uri="{FF2B5EF4-FFF2-40B4-BE49-F238E27FC236}">
                <a16:creationId xmlns:a16="http://schemas.microsoft.com/office/drawing/2014/main" id="{772DA936-1026-275D-BBE4-D0AAA021CB9D}"/>
              </a:ext>
            </a:extLst>
          </p:cNvPr>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3" name="Oval 43">
            <a:extLst>
              <a:ext uri="{FF2B5EF4-FFF2-40B4-BE49-F238E27FC236}">
                <a16:creationId xmlns:a16="http://schemas.microsoft.com/office/drawing/2014/main" id="{F2EC4466-4EFE-E842-3F5F-8A0DB00F2E15}"/>
              </a:ext>
            </a:extLst>
          </p:cNvPr>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4" name="Oval 44">
            <a:extLst>
              <a:ext uri="{FF2B5EF4-FFF2-40B4-BE49-F238E27FC236}">
                <a16:creationId xmlns:a16="http://schemas.microsoft.com/office/drawing/2014/main" id="{A2A3F110-D4EC-DC3E-9EE0-436D12BA3B3A}"/>
              </a:ext>
            </a:extLst>
          </p:cNvPr>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5" name="Oval 45">
            <a:extLst>
              <a:ext uri="{FF2B5EF4-FFF2-40B4-BE49-F238E27FC236}">
                <a16:creationId xmlns:a16="http://schemas.microsoft.com/office/drawing/2014/main" id="{FEC5E88D-33C8-08C0-44A0-EAB2F0E8D4BD}"/>
              </a:ext>
            </a:extLst>
          </p:cNvPr>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6" name="Oval 46">
            <a:extLst>
              <a:ext uri="{FF2B5EF4-FFF2-40B4-BE49-F238E27FC236}">
                <a16:creationId xmlns:a16="http://schemas.microsoft.com/office/drawing/2014/main" id="{DEE9171C-B7D3-5D72-2E44-0500BA395F89}"/>
              </a:ext>
            </a:extLst>
          </p:cNvPr>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7" name="Oval 47">
            <a:extLst>
              <a:ext uri="{FF2B5EF4-FFF2-40B4-BE49-F238E27FC236}">
                <a16:creationId xmlns:a16="http://schemas.microsoft.com/office/drawing/2014/main" id="{EC372519-4BAF-CEAB-4489-AC9FE8B4AF79}"/>
              </a:ext>
            </a:extLst>
          </p:cNvPr>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8" name="Oval 48">
            <a:extLst>
              <a:ext uri="{FF2B5EF4-FFF2-40B4-BE49-F238E27FC236}">
                <a16:creationId xmlns:a16="http://schemas.microsoft.com/office/drawing/2014/main" id="{2F86AC07-A1BD-59F4-75D5-FB88753EDD20}"/>
              </a:ext>
            </a:extLst>
          </p:cNvPr>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89" name="Oval 49">
            <a:extLst>
              <a:ext uri="{FF2B5EF4-FFF2-40B4-BE49-F238E27FC236}">
                <a16:creationId xmlns:a16="http://schemas.microsoft.com/office/drawing/2014/main" id="{417DC0E1-8D52-43EE-AC30-FCC03CA19AC7}"/>
              </a:ext>
            </a:extLst>
          </p:cNvPr>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90" name="Oval 50">
            <a:extLst>
              <a:ext uri="{FF2B5EF4-FFF2-40B4-BE49-F238E27FC236}">
                <a16:creationId xmlns:a16="http://schemas.microsoft.com/office/drawing/2014/main" id="{069392CE-7EDD-5EC9-C9E0-DD8EB9259380}"/>
              </a:ext>
            </a:extLst>
          </p:cNvPr>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91" name="Oval 51">
            <a:extLst>
              <a:ext uri="{FF2B5EF4-FFF2-40B4-BE49-F238E27FC236}">
                <a16:creationId xmlns:a16="http://schemas.microsoft.com/office/drawing/2014/main" id="{D2461E9C-90CF-694C-4D33-4AF5DF296379}"/>
              </a:ext>
            </a:extLst>
          </p:cNvPr>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0292" name="Text Box 52">
            <a:extLst>
              <a:ext uri="{FF2B5EF4-FFF2-40B4-BE49-F238E27FC236}">
                <a16:creationId xmlns:a16="http://schemas.microsoft.com/office/drawing/2014/main" id="{0A80EB96-93E0-B75F-3949-751886C8948F}"/>
              </a:ext>
            </a:extLst>
          </p:cNvPr>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b="1" i="1">
                <a:latin typeface="Tahoma" panose="020B0604030504040204" pitchFamily="34" charset="0"/>
              </a:rPr>
              <a:t>f</a:t>
            </a:r>
            <a:r>
              <a:rPr lang="en-US" altLang="en-US" sz="2000" i="1">
                <a:latin typeface="Tahoma" panose="020B0604030504040204" pitchFamily="34" charset="0"/>
              </a:rPr>
              <a:t>(</a:t>
            </a:r>
            <a:r>
              <a:rPr lang="en-US" altLang="en-US" sz="2000" b="1" i="1">
                <a:latin typeface="Tahoma" panose="020B0604030504040204" pitchFamily="34" charset="0"/>
              </a:rPr>
              <a:t>x</a:t>
            </a:r>
            <a:r>
              <a:rPr lang="en-US" altLang="en-US" sz="2000" i="1">
                <a:latin typeface="Tahoma" panose="020B0604030504040204" pitchFamily="34" charset="0"/>
              </a:rPr>
              <a:t>,</a:t>
            </a:r>
            <a:r>
              <a:rPr lang="en-US" altLang="en-US" sz="2000" b="1" i="1">
                <a:solidFill>
                  <a:srgbClr val="00CC00"/>
                </a:solidFill>
                <a:latin typeface="Tahoma" panose="020B0604030504040204" pitchFamily="34" charset="0"/>
              </a:rPr>
              <a:t>w</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 = sign(</a:t>
            </a:r>
            <a:r>
              <a:rPr lang="en-US" altLang="en-US" sz="2000" b="1" i="1">
                <a:solidFill>
                  <a:srgbClr val="00CC00"/>
                </a:solidFill>
                <a:latin typeface="Tahoma" panose="020B0604030504040204" pitchFamily="34" charset="0"/>
              </a:rPr>
              <a:t>w</a:t>
            </a:r>
            <a:r>
              <a:rPr lang="en-US" altLang="en-US" sz="2000" b="1" i="1">
                <a:latin typeface="Tahoma" panose="020B0604030504040204" pitchFamily="34" charset="0"/>
              </a:rPr>
              <a:t>. x</a:t>
            </a:r>
            <a:r>
              <a:rPr lang="en-US" altLang="en-US" sz="2000" i="1">
                <a:solidFill>
                  <a:srgbClr val="00CC00"/>
                </a:solidFill>
                <a:latin typeface="Tahoma" panose="020B0604030504040204" pitchFamily="34" charset="0"/>
              </a:rPr>
              <a:t> </a:t>
            </a:r>
            <a:r>
              <a:rPr lang="en-US" altLang="en-US" sz="2000" i="1">
                <a:latin typeface="Tahoma" panose="020B0604030504040204" pitchFamily="34" charset="0"/>
              </a:rPr>
              <a:t>+ </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a:t>
            </a:r>
          </a:p>
        </p:txBody>
      </p:sp>
      <p:sp>
        <p:nvSpPr>
          <p:cNvPr id="10293" name="Text Box 53">
            <a:extLst>
              <a:ext uri="{FF2B5EF4-FFF2-40B4-BE49-F238E27FC236}">
                <a16:creationId xmlns:a16="http://schemas.microsoft.com/office/drawing/2014/main" id="{9CF59527-D0B2-3074-AF64-7B69DD8DC927}"/>
              </a:ext>
            </a:extLst>
          </p:cNvPr>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en-US" altLang="en-US" sz="2000">
              <a:latin typeface="Tahoma" panose="020B0604030504040204" pitchFamily="34" charset="0"/>
            </a:endParaRPr>
          </a:p>
        </p:txBody>
      </p:sp>
      <p:sp>
        <p:nvSpPr>
          <p:cNvPr id="10294" name="Text Box 54">
            <a:extLst>
              <a:ext uri="{FF2B5EF4-FFF2-40B4-BE49-F238E27FC236}">
                <a16:creationId xmlns:a16="http://schemas.microsoft.com/office/drawing/2014/main" id="{5DE7E86E-7140-F9AB-E6FA-913F907B9D12}"/>
              </a:ext>
            </a:extLst>
          </p:cNvPr>
          <p:cNvSpPr txBox="1">
            <a:spLocks noChangeArrowheads="1"/>
          </p:cNvSpPr>
          <p:nvPr/>
        </p:nvSpPr>
        <p:spPr bwMode="auto">
          <a:xfrm>
            <a:off x="6400800" y="2286000"/>
            <a:ext cx="2743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en-US" sz="2400">
                <a:latin typeface="Tahoma" panose="020B0604030504040204" pitchFamily="34" charset="0"/>
              </a:rPr>
              <a:t>Define the </a:t>
            </a:r>
            <a:r>
              <a:rPr lang="en-US" altLang="en-US" sz="2400">
                <a:solidFill>
                  <a:schemeClr val="hlink"/>
                </a:solidFill>
                <a:latin typeface="Tahoma" panose="020B0604030504040204" pitchFamily="34" charset="0"/>
              </a:rPr>
              <a:t>margin</a:t>
            </a:r>
            <a:r>
              <a:rPr lang="en-US" altLang="en-US" sz="2400">
                <a:latin typeface="Tahoma" panose="020B0604030504040204" pitchFamily="34" charset="0"/>
              </a:rPr>
              <a:t> of a linear classifier as the width that the boundary could be increased by before hitting a datapoint.</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a:extLst>
              <a:ext uri="{FF2B5EF4-FFF2-40B4-BE49-F238E27FC236}">
                <a16:creationId xmlns:a16="http://schemas.microsoft.com/office/drawing/2014/main" id="{3C7AED9C-6EC5-7AAC-1F00-7AE9018BF743}"/>
              </a:ext>
            </a:extLst>
          </p:cNvPr>
          <p:cNvSpPr>
            <a:spLocks noChangeShapeType="1"/>
          </p:cNvSpPr>
          <p:nvPr/>
        </p:nvSpPr>
        <p:spPr bwMode="auto">
          <a:xfrm rot="-3472419">
            <a:off x="1239838" y="4076700"/>
            <a:ext cx="5410200" cy="0"/>
          </a:xfrm>
          <a:prstGeom prst="line">
            <a:avLst/>
          </a:prstGeom>
          <a:noFill/>
          <a:ln w="3619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267" name="Line 3">
            <a:extLst>
              <a:ext uri="{FF2B5EF4-FFF2-40B4-BE49-F238E27FC236}">
                <a16:creationId xmlns:a16="http://schemas.microsoft.com/office/drawing/2014/main" id="{C7A12D2D-189B-1E9D-3E2D-90306EF65220}"/>
              </a:ext>
            </a:extLst>
          </p:cNvPr>
          <p:cNvSpPr>
            <a:spLocks noChangeShapeType="1"/>
          </p:cNvSpPr>
          <p:nvPr/>
        </p:nvSpPr>
        <p:spPr bwMode="auto">
          <a:xfrm rot="-3472419">
            <a:off x="1163638" y="4076700"/>
            <a:ext cx="5562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1268" name="Rectangle 4">
            <a:extLst>
              <a:ext uri="{FF2B5EF4-FFF2-40B4-BE49-F238E27FC236}">
                <a16:creationId xmlns:a16="http://schemas.microsoft.com/office/drawing/2014/main" id="{1E498369-6493-3ABE-7A80-3C24D7595A5D}"/>
              </a:ext>
            </a:extLst>
          </p:cNvPr>
          <p:cNvSpPr>
            <a:spLocks noGrp="1" noChangeArrowheads="1"/>
          </p:cNvSpPr>
          <p:nvPr>
            <p:ph type="title"/>
          </p:nvPr>
        </p:nvSpPr>
        <p:spPr>
          <a:xfrm>
            <a:off x="152400" y="304800"/>
            <a:ext cx="4648200" cy="685800"/>
          </a:xfrm>
        </p:spPr>
        <p:txBody>
          <a:bodyPr/>
          <a:lstStyle/>
          <a:p>
            <a:r>
              <a:rPr lang="en-US" altLang="en-US"/>
              <a:t>Maximum Margin</a:t>
            </a:r>
          </a:p>
        </p:txBody>
      </p:sp>
      <p:sp>
        <p:nvSpPr>
          <p:cNvPr id="11269" name="Rectangle 5">
            <a:extLst>
              <a:ext uri="{FF2B5EF4-FFF2-40B4-BE49-F238E27FC236}">
                <a16:creationId xmlns:a16="http://schemas.microsoft.com/office/drawing/2014/main" id="{DAB378D8-9429-B6CB-B24E-2E7F208FCB65}"/>
              </a:ext>
            </a:extLst>
          </p:cNvPr>
          <p:cNvSpPr>
            <a:spLocks noChangeArrowheads="1"/>
          </p:cNvSpPr>
          <p:nvPr/>
        </p:nvSpPr>
        <p:spPr bwMode="auto">
          <a:xfrm>
            <a:off x="5334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en-US" sz="3600" i="1">
                <a:latin typeface="Tahoma" panose="020B0604030504040204" pitchFamily="34" charset="0"/>
              </a:rPr>
              <a:t>f </a:t>
            </a:r>
            <a:r>
              <a:rPr lang="en-US" altLang="en-US" sz="2000">
                <a:latin typeface="Tahoma" panose="020B0604030504040204" pitchFamily="34" charset="0"/>
              </a:rPr>
              <a:t>        </a:t>
            </a:r>
          </a:p>
        </p:txBody>
      </p:sp>
      <p:sp>
        <p:nvSpPr>
          <p:cNvPr id="11270" name="Line 6">
            <a:extLst>
              <a:ext uri="{FF2B5EF4-FFF2-40B4-BE49-F238E27FC236}">
                <a16:creationId xmlns:a16="http://schemas.microsoft.com/office/drawing/2014/main" id="{240DB3F9-803B-EB90-D273-F11E37947984}"/>
              </a:ext>
            </a:extLst>
          </p:cNvPr>
          <p:cNvSpPr>
            <a:spLocks noChangeShapeType="1"/>
          </p:cNvSpPr>
          <p:nvPr/>
        </p:nvSpPr>
        <p:spPr bwMode="auto">
          <a:xfrm>
            <a:off x="3962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1271" name="Text Box 7">
            <a:extLst>
              <a:ext uri="{FF2B5EF4-FFF2-40B4-BE49-F238E27FC236}">
                <a16:creationId xmlns:a16="http://schemas.microsoft.com/office/drawing/2014/main" id="{91F74670-34C9-B3CA-5445-AC7C18AE37A5}"/>
              </a:ext>
            </a:extLst>
          </p:cNvPr>
          <p:cNvSpPr txBox="1">
            <a:spLocks noChangeArrowheads="1"/>
          </p:cNvSpPr>
          <p:nvPr/>
        </p:nvSpPr>
        <p:spPr bwMode="auto">
          <a:xfrm>
            <a:off x="3505200" y="762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800" b="1" i="1">
                <a:latin typeface="Tahoma" panose="020B0604030504040204" pitchFamily="34" charset="0"/>
              </a:rPr>
              <a:t>x</a:t>
            </a:r>
          </a:p>
        </p:txBody>
      </p:sp>
      <p:sp>
        <p:nvSpPr>
          <p:cNvPr id="11272" name="Line 8">
            <a:extLst>
              <a:ext uri="{FF2B5EF4-FFF2-40B4-BE49-F238E27FC236}">
                <a16:creationId xmlns:a16="http://schemas.microsoft.com/office/drawing/2014/main" id="{A0016987-FCFC-2EB5-AFFF-D51F6A89C91D}"/>
              </a:ext>
            </a:extLst>
          </p:cNvPr>
          <p:cNvSpPr>
            <a:spLocks noChangeShapeType="1"/>
          </p:cNvSpPr>
          <p:nvPr/>
        </p:nvSpPr>
        <p:spPr bwMode="auto">
          <a:xfrm>
            <a:off x="6019800" y="3810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1273" name="Text Box 9">
            <a:extLst>
              <a:ext uri="{FF2B5EF4-FFF2-40B4-BE49-F238E27FC236}">
                <a16:creationId xmlns:a16="http://schemas.microsoft.com/office/drawing/2014/main" id="{EFF60178-8886-E147-A6DB-B692D9C067CB}"/>
              </a:ext>
            </a:extLst>
          </p:cNvPr>
          <p:cNvSpPr txBox="1">
            <a:spLocks noChangeArrowheads="1"/>
          </p:cNvSpPr>
          <p:nvPr/>
        </p:nvSpPr>
        <p:spPr bwMode="auto">
          <a:xfrm>
            <a:off x="5791200" y="0"/>
            <a:ext cx="3810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3200">
                <a:solidFill>
                  <a:srgbClr val="00CC00"/>
                </a:solidFill>
                <a:latin typeface="Symbol" panose="05050102010706020507" pitchFamily="18" charset="2"/>
              </a:rPr>
              <a:t>a</a:t>
            </a:r>
          </a:p>
        </p:txBody>
      </p:sp>
      <p:sp>
        <p:nvSpPr>
          <p:cNvPr id="11274" name="Line 10">
            <a:extLst>
              <a:ext uri="{FF2B5EF4-FFF2-40B4-BE49-F238E27FC236}">
                <a16:creationId xmlns:a16="http://schemas.microsoft.com/office/drawing/2014/main" id="{51F7FAF2-3875-0B1A-9DDD-0782333D03DE}"/>
              </a:ext>
            </a:extLst>
          </p:cNvPr>
          <p:cNvSpPr>
            <a:spLocks noChangeShapeType="1"/>
          </p:cNvSpPr>
          <p:nvPr/>
        </p:nvSpPr>
        <p:spPr bwMode="auto">
          <a:xfrm>
            <a:off x="6934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1275" name="Text Box 11">
            <a:extLst>
              <a:ext uri="{FF2B5EF4-FFF2-40B4-BE49-F238E27FC236}">
                <a16:creationId xmlns:a16="http://schemas.microsoft.com/office/drawing/2014/main" id="{787CEF4B-09AA-F96B-A0B6-10137819AEC3}"/>
              </a:ext>
            </a:extLst>
          </p:cNvPr>
          <p:cNvSpPr txBox="1">
            <a:spLocks noChangeArrowheads="1"/>
          </p:cNvSpPr>
          <p:nvPr/>
        </p:nvSpPr>
        <p:spPr bwMode="auto">
          <a:xfrm>
            <a:off x="8305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en-US" sz="3200">
                <a:latin typeface="Tahoma" panose="020B0604030504040204" pitchFamily="34" charset="0"/>
              </a:rPr>
              <a:t>y</a:t>
            </a:r>
            <a:r>
              <a:rPr lang="en-US" altLang="en-US" sz="3200" baseline="30000">
                <a:latin typeface="Tahoma" panose="020B0604030504040204" pitchFamily="34" charset="0"/>
              </a:rPr>
              <a:t>est</a:t>
            </a:r>
          </a:p>
        </p:txBody>
      </p:sp>
      <p:sp>
        <p:nvSpPr>
          <p:cNvPr id="11276" name="Text Box 12">
            <a:extLst>
              <a:ext uri="{FF2B5EF4-FFF2-40B4-BE49-F238E27FC236}">
                <a16:creationId xmlns:a16="http://schemas.microsoft.com/office/drawing/2014/main" id="{8485E1FD-5975-85C7-C7AE-C69DEEC3EC9A}"/>
              </a:ext>
            </a:extLst>
          </p:cNvPr>
          <p:cNvSpPr txBox="1">
            <a:spLocks noChangeArrowheads="1"/>
          </p:cNvSpPr>
          <p:nvPr/>
        </p:nvSpPr>
        <p:spPr bwMode="auto">
          <a:xfrm>
            <a:off x="838200" y="19050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a:latin typeface="Tahoma" panose="020B0604030504040204" pitchFamily="34" charset="0"/>
              </a:rPr>
              <a:t>denotes +1</a:t>
            </a:r>
          </a:p>
          <a:p>
            <a:pPr algn="ctr">
              <a:spcBef>
                <a:spcPct val="50000"/>
              </a:spcBef>
              <a:buClr>
                <a:schemeClr val="tx1"/>
              </a:buClr>
            </a:pPr>
            <a:r>
              <a:rPr lang="en-US" altLang="en-US" sz="2000">
                <a:latin typeface="Tahoma" panose="020B0604030504040204" pitchFamily="34" charset="0"/>
              </a:rPr>
              <a:t>denotes -1</a:t>
            </a:r>
          </a:p>
        </p:txBody>
      </p:sp>
      <p:sp>
        <p:nvSpPr>
          <p:cNvPr id="11277" name="Oval 13">
            <a:extLst>
              <a:ext uri="{FF2B5EF4-FFF2-40B4-BE49-F238E27FC236}">
                <a16:creationId xmlns:a16="http://schemas.microsoft.com/office/drawing/2014/main" id="{4FF49E16-FAA5-B2C0-992A-16DF89FEE3EB}"/>
              </a:ext>
            </a:extLst>
          </p:cNvPr>
          <p:cNvSpPr>
            <a:spLocks noChangeAspect="1" noChangeArrowheads="1"/>
          </p:cNvSpPr>
          <p:nvPr/>
        </p:nvSpPr>
        <p:spPr bwMode="auto">
          <a:xfrm rot="4777107">
            <a:off x="915194" y="20566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78" name="Oval 14">
            <a:extLst>
              <a:ext uri="{FF2B5EF4-FFF2-40B4-BE49-F238E27FC236}">
                <a16:creationId xmlns:a16="http://schemas.microsoft.com/office/drawing/2014/main" id="{AE2C0076-62E9-601F-8170-6FB2EDB6E91F}"/>
              </a:ext>
            </a:extLst>
          </p:cNvPr>
          <p:cNvSpPr>
            <a:spLocks noChangeAspect="1" noChangeArrowheads="1"/>
          </p:cNvSpPr>
          <p:nvPr/>
        </p:nvSpPr>
        <p:spPr bwMode="auto">
          <a:xfrm rot="5895381">
            <a:off x="915988" y="25130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79" name="Line 15">
            <a:extLst>
              <a:ext uri="{FF2B5EF4-FFF2-40B4-BE49-F238E27FC236}">
                <a16:creationId xmlns:a16="http://schemas.microsoft.com/office/drawing/2014/main" id="{3ABC2B34-AB6C-0EDB-1BFA-3B8ECE508FD0}"/>
              </a:ext>
            </a:extLst>
          </p:cNvPr>
          <p:cNvSpPr>
            <a:spLocks noChangeShapeType="1"/>
          </p:cNvSpPr>
          <p:nvPr/>
        </p:nvSpPr>
        <p:spPr bwMode="auto">
          <a:xfrm>
            <a:off x="2590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1280" name="Line 16">
            <a:extLst>
              <a:ext uri="{FF2B5EF4-FFF2-40B4-BE49-F238E27FC236}">
                <a16:creationId xmlns:a16="http://schemas.microsoft.com/office/drawing/2014/main" id="{BC04145E-239A-6364-006F-872C4DA6CE7F}"/>
              </a:ext>
            </a:extLst>
          </p:cNvPr>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11281" name="Oval 17">
            <a:extLst>
              <a:ext uri="{FF2B5EF4-FFF2-40B4-BE49-F238E27FC236}">
                <a16:creationId xmlns:a16="http://schemas.microsoft.com/office/drawing/2014/main" id="{C4E1AD3B-099B-4277-4D3F-5CA856BF3014}"/>
              </a:ext>
            </a:extLst>
          </p:cNvPr>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2" name="Oval 18">
            <a:extLst>
              <a:ext uri="{FF2B5EF4-FFF2-40B4-BE49-F238E27FC236}">
                <a16:creationId xmlns:a16="http://schemas.microsoft.com/office/drawing/2014/main" id="{CE3E8E6D-E0DA-4EC0-D53F-CE50F56479FA}"/>
              </a:ext>
            </a:extLst>
          </p:cNvPr>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3" name="Oval 19">
            <a:extLst>
              <a:ext uri="{FF2B5EF4-FFF2-40B4-BE49-F238E27FC236}">
                <a16:creationId xmlns:a16="http://schemas.microsoft.com/office/drawing/2014/main" id="{06190022-FEA8-ECFE-9998-913C827419A8}"/>
              </a:ext>
            </a:extLst>
          </p:cNvPr>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4" name="Oval 20">
            <a:extLst>
              <a:ext uri="{FF2B5EF4-FFF2-40B4-BE49-F238E27FC236}">
                <a16:creationId xmlns:a16="http://schemas.microsoft.com/office/drawing/2014/main" id="{7C067DD6-DDE9-5A95-A9E3-8E8378BD947A}"/>
              </a:ext>
            </a:extLst>
          </p:cNvPr>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5" name="Oval 21">
            <a:extLst>
              <a:ext uri="{FF2B5EF4-FFF2-40B4-BE49-F238E27FC236}">
                <a16:creationId xmlns:a16="http://schemas.microsoft.com/office/drawing/2014/main" id="{04D73FF8-7F94-77DD-21B4-D8D8AB5F5DEC}"/>
              </a:ext>
            </a:extLst>
          </p:cNvPr>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6" name="Oval 22">
            <a:extLst>
              <a:ext uri="{FF2B5EF4-FFF2-40B4-BE49-F238E27FC236}">
                <a16:creationId xmlns:a16="http://schemas.microsoft.com/office/drawing/2014/main" id="{0F7710CE-3E9C-3976-C420-E5D2780BC375}"/>
              </a:ext>
            </a:extLst>
          </p:cNvPr>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7" name="Oval 23">
            <a:extLst>
              <a:ext uri="{FF2B5EF4-FFF2-40B4-BE49-F238E27FC236}">
                <a16:creationId xmlns:a16="http://schemas.microsoft.com/office/drawing/2014/main" id="{42DB0B2B-DC5A-715B-4DE9-9409EAE8064D}"/>
              </a:ext>
            </a:extLst>
          </p:cNvPr>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8" name="Oval 24">
            <a:extLst>
              <a:ext uri="{FF2B5EF4-FFF2-40B4-BE49-F238E27FC236}">
                <a16:creationId xmlns:a16="http://schemas.microsoft.com/office/drawing/2014/main" id="{D1B4A305-FD09-A588-2203-B989AE75D62E}"/>
              </a:ext>
            </a:extLst>
          </p:cNvPr>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89" name="Oval 25">
            <a:extLst>
              <a:ext uri="{FF2B5EF4-FFF2-40B4-BE49-F238E27FC236}">
                <a16:creationId xmlns:a16="http://schemas.microsoft.com/office/drawing/2014/main" id="{C04E4748-A779-F540-8F8D-BF989A1B38A0}"/>
              </a:ext>
            </a:extLst>
          </p:cNvPr>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0" name="Oval 26">
            <a:extLst>
              <a:ext uri="{FF2B5EF4-FFF2-40B4-BE49-F238E27FC236}">
                <a16:creationId xmlns:a16="http://schemas.microsoft.com/office/drawing/2014/main" id="{C12B0E18-2106-C39A-4441-0BB570621966}"/>
              </a:ext>
            </a:extLst>
          </p:cNvPr>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1" name="Oval 27">
            <a:extLst>
              <a:ext uri="{FF2B5EF4-FFF2-40B4-BE49-F238E27FC236}">
                <a16:creationId xmlns:a16="http://schemas.microsoft.com/office/drawing/2014/main" id="{9CA15B08-AE8F-28C3-FB9D-666A41E11C13}"/>
              </a:ext>
            </a:extLst>
          </p:cNvPr>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2" name="Oval 28">
            <a:extLst>
              <a:ext uri="{FF2B5EF4-FFF2-40B4-BE49-F238E27FC236}">
                <a16:creationId xmlns:a16="http://schemas.microsoft.com/office/drawing/2014/main" id="{A2F4B8D7-3C74-0FA1-6282-DF78E0BA7C3F}"/>
              </a:ext>
            </a:extLst>
          </p:cNvPr>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3" name="Oval 29">
            <a:extLst>
              <a:ext uri="{FF2B5EF4-FFF2-40B4-BE49-F238E27FC236}">
                <a16:creationId xmlns:a16="http://schemas.microsoft.com/office/drawing/2014/main" id="{D442A93D-A029-E64E-A18E-0867C658CFA2}"/>
              </a:ext>
            </a:extLst>
          </p:cNvPr>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4" name="Oval 30">
            <a:extLst>
              <a:ext uri="{FF2B5EF4-FFF2-40B4-BE49-F238E27FC236}">
                <a16:creationId xmlns:a16="http://schemas.microsoft.com/office/drawing/2014/main" id="{4A19E7B7-E2D9-BC6A-0C34-6E01280ABEEE}"/>
              </a:ext>
            </a:extLst>
          </p:cNvPr>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5" name="Oval 31">
            <a:extLst>
              <a:ext uri="{FF2B5EF4-FFF2-40B4-BE49-F238E27FC236}">
                <a16:creationId xmlns:a16="http://schemas.microsoft.com/office/drawing/2014/main" id="{268F8D65-848D-007C-02A5-86DC9EADE052}"/>
              </a:ext>
            </a:extLst>
          </p:cNvPr>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6" name="Oval 32">
            <a:extLst>
              <a:ext uri="{FF2B5EF4-FFF2-40B4-BE49-F238E27FC236}">
                <a16:creationId xmlns:a16="http://schemas.microsoft.com/office/drawing/2014/main" id="{8C61A166-8E8A-E5BE-176E-CE7224D1BD1E}"/>
              </a:ext>
            </a:extLst>
          </p:cNvPr>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7" name="Oval 33">
            <a:extLst>
              <a:ext uri="{FF2B5EF4-FFF2-40B4-BE49-F238E27FC236}">
                <a16:creationId xmlns:a16="http://schemas.microsoft.com/office/drawing/2014/main" id="{87D3274E-4203-937A-2AD1-0A24AD0473DC}"/>
              </a:ext>
            </a:extLst>
          </p:cNvPr>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8" name="Oval 34">
            <a:extLst>
              <a:ext uri="{FF2B5EF4-FFF2-40B4-BE49-F238E27FC236}">
                <a16:creationId xmlns:a16="http://schemas.microsoft.com/office/drawing/2014/main" id="{D831B84A-1B66-95D4-DD7F-071E7CF98615}"/>
              </a:ext>
            </a:extLst>
          </p:cNvPr>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299" name="Oval 35">
            <a:extLst>
              <a:ext uri="{FF2B5EF4-FFF2-40B4-BE49-F238E27FC236}">
                <a16:creationId xmlns:a16="http://schemas.microsoft.com/office/drawing/2014/main" id="{5FA6E92B-4B0C-2F8C-CE31-D7516B46AC0D}"/>
              </a:ext>
            </a:extLst>
          </p:cNvPr>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0" name="Oval 36">
            <a:extLst>
              <a:ext uri="{FF2B5EF4-FFF2-40B4-BE49-F238E27FC236}">
                <a16:creationId xmlns:a16="http://schemas.microsoft.com/office/drawing/2014/main" id="{971EB72C-2FF6-346D-09D5-434827FBB4F8}"/>
              </a:ext>
            </a:extLst>
          </p:cNvPr>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1" name="Oval 37">
            <a:extLst>
              <a:ext uri="{FF2B5EF4-FFF2-40B4-BE49-F238E27FC236}">
                <a16:creationId xmlns:a16="http://schemas.microsoft.com/office/drawing/2014/main" id="{49B8558D-1862-84D1-FF89-B942E298DF50}"/>
              </a:ext>
            </a:extLst>
          </p:cNvPr>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2" name="Oval 38">
            <a:extLst>
              <a:ext uri="{FF2B5EF4-FFF2-40B4-BE49-F238E27FC236}">
                <a16:creationId xmlns:a16="http://schemas.microsoft.com/office/drawing/2014/main" id="{6FB0F1CC-5553-C86D-B7E2-539CE42B8D95}"/>
              </a:ext>
            </a:extLst>
          </p:cNvPr>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3" name="Oval 39">
            <a:extLst>
              <a:ext uri="{FF2B5EF4-FFF2-40B4-BE49-F238E27FC236}">
                <a16:creationId xmlns:a16="http://schemas.microsoft.com/office/drawing/2014/main" id="{F92C6206-E687-B812-02A3-B00B5A24CDDD}"/>
              </a:ext>
            </a:extLst>
          </p:cNvPr>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4" name="Oval 40">
            <a:extLst>
              <a:ext uri="{FF2B5EF4-FFF2-40B4-BE49-F238E27FC236}">
                <a16:creationId xmlns:a16="http://schemas.microsoft.com/office/drawing/2014/main" id="{F5AF6270-B4D1-0593-6BAC-D0111B1CD1E7}"/>
              </a:ext>
            </a:extLst>
          </p:cNvPr>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5" name="Oval 41">
            <a:extLst>
              <a:ext uri="{FF2B5EF4-FFF2-40B4-BE49-F238E27FC236}">
                <a16:creationId xmlns:a16="http://schemas.microsoft.com/office/drawing/2014/main" id="{631DAD2A-5211-A38B-DED9-A5EDA6A6DB28}"/>
              </a:ext>
            </a:extLst>
          </p:cNvPr>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6" name="Oval 42">
            <a:extLst>
              <a:ext uri="{FF2B5EF4-FFF2-40B4-BE49-F238E27FC236}">
                <a16:creationId xmlns:a16="http://schemas.microsoft.com/office/drawing/2014/main" id="{95AC84AF-024B-3AA3-1338-EB193ACB73E7}"/>
              </a:ext>
            </a:extLst>
          </p:cNvPr>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7" name="Oval 43">
            <a:extLst>
              <a:ext uri="{FF2B5EF4-FFF2-40B4-BE49-F238E27FC236}">
                <a16:creationId xmlns:a16="http://schemas.microsoft.com/office/drawing/2014/main" id="{F7FF8B4D-CC6A-A983-73A0-DE8C3B1DB32C}"/>
              </a:ext>
            </a:extLst>
          </p:cNvPr>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8" name="Oval 44">
            <a:extLst>
              <a:ext uri="{FF2B5EF4-FFF2-40B4-BE49-F238E27FC236}">
                <a16:creationId xmlns:a16="http://schemas.microsoft.com/office/drawing/2014/main" id="{6BC87CD1-BD4D-2F60-4E46-9310FDE868D6}"/>
              </a:ext>
            </a:extLst>
          </p:cNvPr>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09" name="Oval 45">
            <a:extLst>
              <a:ext uri="{FF2B5EF4-FFF2-40B4-BE49-F238E27FC236}">
                <a16:creationId xmlns:a16="http://schemas.microsoft.com/office/drawing/2014/main" id="{17FDAD8A-4B36-2103-2938-88A588DDB8AC}"/>
              </a:ext>
            </a:extLst>
          </p:cNvPr>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0" name="Oval 46">
            <a:extLst>
              <a:ext uri="{FF2B5EF4-FFF2-40B4-BE49-F238E27FC236}">
                <a16:creationId xmlns:a16="http://schemas.microsoft.com/office/drawing/2014/main" id="{F0E1C2E2-4825-7E2B-BA21-0E65CFC4BD4E}"/>
              </a:ext>
            </a:extLst>
          </p:cNvPr>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1" name="Oval 47">
            <a:extLst>
              <a:ext uri="{FF2B5EF4-FFF2-40B4-BE49-F238E27FC236}">
                <a16:creationId xmlns:a16="http://schemas.microsoft.com/office/drawing/2014/main" id="{2731D3C0-206F-A758-A01B-9FBF54BEF865}"/>
              </a:ext>
            </a:extLst>
          </p:cNvPr>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2" name="Oval 48">
            <a:extLst>
              <a:ext uri="{FF2B5EF4-FFF2-40B4-BE49-F238E27FC236}">
                <a16:creationId xmlns:a16="http://schemas.microsoft.com/office/drawing/2014/main" id="{6B8B1246-2CDB-F1C4-DA96-C2F0CE32B0A6}"/>
              </a:ext>
            </a:extLst>
          </p:cNvPr>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3" name="Oval 49">
            <a:extLst>
              <a:ext uri="{FF2B5EF4-FFF2-40B4-BE49-F238E27FC236}">
                <a16:creationId xmlns:a16="http://schemas.microsoft.com/office/drawing/2014/main" id="{5F5EC5B7-9FFE-9008-5695-F0C1D30287FF}"/>
              </a:ext>
            </a:extLst>
          </p:cNvPr>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4" name="Oval 50">
            <a:extLst>
              <a:ext uri="{FF2B5EF4-FFF2-40B4-BE49-F238E27FC236}">
                <a16:creationId xmlns:a16="http://schemas.microsoft.com/office/drawing/2014/main" id="{B6898823-1101-7AB6-0E0D-F94F2DA0BBC5}"/>
              </a:ext>
            </a:extLst>
          </p:cNvPr>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1315" name="Text Box 51">
            <a:extLst>
              <a:ext uri="{FF2B5EF4-FFF2-40B4-BE49-F238E27FC236}">
                <a16:creationId xmlns:a16="http://schemas.microsoft.com/office/drawing/2014/main" id="{615B4A79-A2FF-5EBD-9549-F85C0FC2DE6E}"/>
              </a:ext>
            </a:extLst>
          </p:cNvPr>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b="1" i="1">
                <a:latin typeface="Tahoma" panose="020B0604030504040204" pitchFamily="34" charset="0"/>
              </a:rPr>
              <a:t>f</a:t>
            </a:r>
            <a:r>
              <a:rPr lang="en-US" altLang="en-US" sz="2000" i="1">
                <a:latin typeface="Tahoma" panose="020B0604030504040204" pitchFamily="34" charset="0"/>
              </a:rPr>
              <a:t>(</a:t>
            </a:r>
            <a:r>
              <a:rPr lang="en-US" altLang="en-US" sz="2000" b="1" i="1">
                <a:latin typeface="Tahoma" panose="020B0604030504040204" pitchFamily="34" charset="0"/>
              </a:rPr>
              <a:t>x</a:t>
            </a:r>
            <a:r>
              <a:rPr lang="en-US" altLang="en-US" sz="2000" i="1">
                <a:latin typeface="Tahoma" panose="020B0604030504040204" pitchFamily="34" charset="0"/>
              </a:rPr>
              <a:t>,</a:t>
            </a:r>
            <a:r>
              <a:rPr lang="en-US" altLang="en-US" sz="2000" b="1" i="1">
                <a:solidFill>
                  <a:srgbClr val="00CC00"/>
                </a:solidFill>
                <a:latin typeface="Tahoma" panose="020B0604030504040204" pitchFamily="34" charset="0"/>
              </a:rPr>
              <a:t>w</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 = sign(</a:t>
            </a:r>
            <a:r>
              <a:rPr lang="en-US" altLang="en-US" sz="2000" b="1" i="1">
                <a:solidFill>
                  <a:srgbClr val="00CC00"/>
                </a:solidFill>
                <a:latin typeface="Tahoma" panose="020B0604030504040204" pitchFamily="34" charset="0"/>
              </a:rPr>
              <a:t>w</a:t>
            </a:r>
            <a:r>
              <a:rPr lang="en-US" altLang="en-US" sz="2000" b="1" i="1">
                <a:latin typeface="Tahoma" panose="020B0604030504040204" pitchFamily="34" charset="0"/>
              </a:rPr>
              <a:t>. x</a:t>
            </a:r>
            <a:r>
              <a:rPr lang="en-US" altLang="en-US" sz="2000" i="1">
                <a:solidFill>
                  <a:srgbClr val="00CC00"/>
                </a:solidFill>
                <a:latin typeface="Tahoma" panose="020B0604030504040204" pitchFamily="34" charset="0"/>
              </a:rPr>
              <a:t> </a:t>
            </a:r>
            <a:r>
              <a:rPr lang="en-US" altLang="en-US" sz="2000" i="1">
                <a:latin typeface="Tahoma" panose="020B0604030504040204" pitchFamily="34" charset="0"/>
              </a:rPr>
              <a:t>+ </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a:t>
            </a:r>
          </a:p>
        </p:txBody>
      </p:sp>
      <p:sp>
        <p:nvSpPr>
          <p:cNvPr id="11316" name="Text Box 52">
            <a:extLst>
              <a:ext uri="{FF2B5EF4-FFF2-40B4-BE49-F238E27FC236}">
                <a16:creationId xmlns:a16="http://schemas.microsoft.com/office/drawing/2014/main" id="{DFEAAAF3-76E0-F7EB-3989-19A2D668BA17}"/>
              </a:ext>
            </a:extLst>
          </p:cNvPr>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en-US" altLang="en-US" sz="2000">
              <a:latin typeface="Tahoma" panose="020B0604030504040204" pitchFamily="34" charset="0"/>
            </a:endParaRPr>
          </a:p>
        </p:txBody>
      </p:sp>
      <p:sp>
        <p:nvSpPr>
          <p:cNvPr id="11317" name="Text Box 53">
            <a:extLst>
              <a:ext uri="{FF2B5EF4-FFF2-40B4-BE49-F238E27FC236}">
                <a16:creationId xmlns:a16="http://schemas.microsoft.com/office/drawing/2014/main" id="{21E192DB-CBE3-FE35-0C4D-5A82058DD3D3}"/>
              </a:ext>
            </a:extLst>
          </p:cNvPr>
          <p:cNvSpPr txBox="1">
            <a:spLocks noChangeArrowheads="1"/>
          </p:cNvSpPr>
          <p:nvPr/>
        </p:nvSpPr>
        <p:spPr bwMode="auto">
          <a:xfrm>
            <a:off x="6400800" y="2286000"/>
            <a:ext cx="2743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en-US" sz="2400" dirty="0">
                <a:latin typeface="Tahoma" panose="020B0604030504040204" pitchFamily="34" charset="0"/>
              </a:rPr>
              <a:t>The </a:t>
            </a:r>
            <a:r>
              <a:rPr lang="en-US" altLang="en-US" sz="2400" dirty="0">
                <a:solidFill>
                  <a:schemeClr val="hlink"/>
                </a:solidFill>
                <a:latin typeface="Tahoma" panose="020B0604030504040204" pitchFamily="34" charset="0"/>
              </a:rPr>
              <a:t>maximum margin linear classifier</a:t>
            </a:r>
            <a:r>
              <a:rPr lang="en-US" altLang="en-US" sz="2400" dirty="0">
                <a:latin typeface="Tahoma" panose="020B0604030504040204" pitchFamily="34" charset="0"/>
              </a:rPr>
              <a:t> is the linear classifier with the maximum margin.</a:t>
            </a:r>
          </a:p>
          <a:p>
            <a:pPr>
              <a:spcBef>
                <a:spcPct val="50000"/>
              </a:spcBef>
              <a:buClr>
                <a:schemeClr val="tx1"/>
              </a:buClr>
            </a:pPr>
            <a:r>
              <a:rPr lang="en-US" altLang="en-US" sz="2400" dirty="0">
                <a:latin typeface="Tahoma" panose="020B0604030504040204" pitchFamily="34" charset="0"/>
              </a:rPr>
              <a:t>This is the simplest kind of SVM (Called an LSVM)</a:t>
            </a:r>
          </a:p>
        </p:txBody>
      </p:sp>
      <p:sp>
        <p:nvSpPr>
          <p:cNvPr id="11318" name="AutoShape 54">
            <a:extLst>
              <a:ext uri="{FF2B5EF4-FFF2-40B4-BE49-F238E27FC236}">
                <a16:creationId xmlns:a16="http://schemas.microsoft.com/office/drawing/2014/main" id="{FD30F78F-0337-F59F-EAA4-0A7195D64870}"/>
              </a:ext>
            </a:extLst>
          </p:cNvPr>
          <p:cNvSpPr>
            <a:spLocks noChangeArrowheads="1"/>
          </p:cNvSpPr>
          <p:nvPr/>
        </p:nvSpPr>
        <p:spPr bwMode="auto">
          <a:xfrm>
            <a:off x="4441825" y="6097588"/>
            <a:ext cx="1758950" cy="381000"/>
          </a:xfrm>
          <a:prstGeom prst="wedgeRectCallout">
            <a:avLst>
              <a:gd name="adj1" fmla="val 64713"/>
              <a:gd name="adj2" fmla="val -86250"/>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50000"/>
              </a:spcBef>
              <a:buClr>
                <a:schemeClr val="tx1"/>
              </a:buClr>
            </a:pPr>
            <a:r>
              <a:rPr lang="en-US" altLang="en-US" sz="2000">
                <a:latin typeface="Tahoma" panose="020B0604030504040204" pitchFamily="34" charset="0"/>
              </a:rPr>
              <a:t>Linear SVM</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a:extLst>
              <a:ext uri="{FF2B5EF4-FFF2-40B4-BE49-F238E27FC236}">
                <a16:creationId xmlns:a16="http://schemas.microsoft.com/office/drawing/2014/main" id="{C2D589B1-9042-23CE-9207-9075C2185ADF}"/>
              </a:ext>
            </a:extLst>
          </p:cNvPr>
          <p:cNvSpPr>
            <a:spLocks noChangeShapeType="1"/>
          </p:cNvSpPr>
          <p:nvPr/>
        </p:nvSpPr>
        <p:spPr bwMode="auto">
          <a:xfrm rot="-3472419">
            <a:off x="1239838" y="4076700"/>
            <a:ext cx="5410200" cy="0"/>
          </a:xfrm>
          <a:prstGeom prst="line">
            <a:avLst/>
          </a:prstGeom>
          <a:noFill/>
          <a:ln w="3619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39" name="Line 3">
            <a:extLst>
              <a:ext uri="{FF2B5EF4-FFF2-40B4-BE49-F238E27FC236}">
                <a16:creationId xmlns:a16="http://schemas.microsoft.com/office/drawing/2014/main" id="{D19E3C6F-D275-F3D0-D07B-4327CBC7E1E5}"/>
              </a:ext>
            </a:extLst>
          </p:cNvPr>
          <p:cNvSpPr>
            <a:spLocks noChangeShapeType="1"/>
          </p:cNvSpPr>
          <p:nvPr/>
        </p:nvSpPr>
        <p:spPr bwMode="auto">
          <a:xfrm rot="-3472419">
            <a:off x="1163638" y="4076700"/>
            <a:ext cx="5562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40" name="Rectangle 4">
            <a:extLst>
              <a:ext uri="{FF2B5EF4-FFF2-40B4-BE49-F238E27FC236}">
                <a16:creationId xmlns:a16="http://schemas.microsoft.com/office/drawing/2014/main" id="{BB7BEA1C-E601-506B-C1A2-4D8E86880BE4}"/>
              </a:ext>
            </a:extLst>
          </p:cNvPr>
          <p:cNvSpPr>
            <a:spLocks noGrp="1" noChangeArrowheads="1"/>
          </p:cNvSpPr>
          <p:nvPr>
            <p:ph type="title"/>
          </p:nvPr>
        </p:nvSpPr>
        <p:spPr>
          <a:xfrm>
            <a:off x="152400" y="304800"/>
            <a:ext cx="4648200" cy="685800"/>
          </a:xfrm>
        </p:spPr>
        <p:txBody>
          <a:bodyPr/>
          <a:lstStyle/>
          <a:p>
            <a:r>
              <a:rPr lang="en-US" altLang="en-US"/>
              <a:t>Maximum Margin</a:t>
            </a:r>
          </a:p>
        </p:txBody>
      </p:sp>
      <p:sp>
        <p:nvSpPr>
          <p:cNvPr id="14341" name="Rectangle 5">
            <a:extLst>
              <a:ext uri="{FF2B5EF4-FFF2-40B4-BE49-F238E27FC236}">
                <a16:creationId xmlns:a16="http://schemas.microsoft.com/office/drawing/2014/main" id="{0AF0C04A-A2D6-4508-8663-227C88DBF31D}"/>
              </a:ext>
            </a:extLst>
          </p:cNvPr>
          <p:cNvSpPr>
            <a:spLocks noChangeArrowheads="1"/>
          </p:cNvSpPr>
          <p:nvPr/>
        </p:nvSpPr>
        <p:spPr bwMode="auto">
          <a:xfrm>
            <a:off x="5334000" y="776288"/>
            <a:ext cx="1600200" cy="654050"/>
          </a:xfrm>
          <a:prstGeom prst="rect">
            <a:avLst/>
          </a:prstGeom>
          <a:solidFill>
            <a:srgbClr val="FFC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spcBef>
                <a:spcPct val="50000"/>
              </a:spcBef>
              <a:buClr>
                <a:schemeClr val="tx1"/>
              </a:buClr>
            </a:pPr>
            <a:r>
              <a:rPr lang="en-US" altLang="en-US" sz="3600" i="1">
                <a:latin typeface="Tahoma" panose="020B0604030504040204" pitchFamily="34" charset="0"/>
              </a:rPr>
              <a:t>f </a:t>
            </a:r>
            <a:r>
              <a:rPr lang="en-US" altLang="en-US" sz="2000">
                <a:latin typeface="Tahoma" panose="020B0604030504040204" pitchFamily="34" charset="0"/>
              </a:rPr>
              <a:t>        </a:t>
            </a:r>
          </a:p>
        </p:txBody>
      </p:sp>
      <p:sp>
        <p:nvSpPr>
          <p:cNvPr id="14342" name="Line 6">
            <a:extLst>
              <a:ext uri="{FF2B5EF4-FFF2-40B4-BE49-F238E27FC236}">
                <a16:creationId xmlns:a16="http://schemas.microsoft.com/office/drawing/2014/main" id="{E5824C6F-C345-CF68-F8C2-24CA3A55CCD3}"/>
              </a:ext>
            </a:extLst>
          </p:cNvPr>
          <p:cNvSpPr>
            <a:spLocks noChangeShapeType="1"/>
          </p:cNvSpPr>
          <p:nvPr/>
        </p:nvSpPr>
        <p:spPr bwMode="auto">
          <a:xfrm>
            <a:off x="39624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43" name="Text Box 7">
            <a:extLst>
              <a:ext uri="{FF2B5EF4-FFF2-40B4-BE49-F238E27FC236}">
                <a16:creationId xmlns:a16="http://schemas.microsoft.com/office/drawing/2014/main" id="{33F08EB6-4104-F378-E94D-4A98A167663C}"/>
              </a:ext>
            </a:extLst>
          </p:cNvPr>
          <p:cNvSpPr txBox="1">
            <a:spLocks noChangeArrowheads="1"/>
          </p:cNvSpPr>
          <p:nvPr/>
        </p:nvSpPr>
        <p:spPr bwMode="auto">
          <a:xfrm>
            <a:off x="3505200" y="762000"/>
            <a:ext cx="6096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800" b="1" i="1">
                <a:latin typeface="Tahoma" panose="020B0604030504040204" pitchFamily="34" charset="0"/>
              </a:rPr>
              <a:t>x</a:t>
            </a:r>
          </a:p>
        </p:txBody>
      </p:sp>
      <p:sp>
        <p:nvSpPr>
          <p:cNvPr id="14344" name="Line 8">
            <a:extLst>
              <a:ext uri="{FF2B5EF4-FFF2-40B4-BE49-F238E27FC236}">
                <a16:creationId xmlns:a16="http://schemas.microsoft.com/office/drawing/2014/main" id="{D6F840AB-2393-1401-6C1F-293FBE6DD011}"/>
              </a:ext>
            </a:extLst>
          </p:cNvPr>
          <p:cNvSpPr>
            <a:spLocks noChangeShapeType="1"/>
          </p:cNvSpPr>
          <p:nvPr/>
        </p:nvSpPr>
        <p:spPr bwMode="auto">
          <a:xfrm>
            <a:off x="6019800" y="381000"/>
            <a:ext cx="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45" name="Text Box 9">
            <a:extLst>
              <a:ext uri="{FF2B5EF4-FFF2-40B4-BE49-F238E27FC236}">
                <a16:creationId xmlns:a16="http://schemas.microsoft.com/office/drawing/2014/main" id="{79CD0929-A562-D0F5-3D57-718294A50D75}"/>
              </a:ext>
            </a:extLst>
          </p:cNvPr>
          <p:cNvSpPr txBox="1">
            <a:spLocks noChangeArrowheads="1"/>
          </p:cNvSpPr>
          <p:nvPr/>
        </p:nvSpPr>
        <p:spPr bwMode="auto">
          <a:xfrm>
            <a:off x="5791200" y="0"/>
            <a:ext cx="3810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3200">
                <a:solidFill>
                  <a:srgbClr val="00CC00"/>
                </a:solidFill>
                <a:latin typeface="Symbol" panose="05050102010706020507" pitchFamily="18" charset="2"/>
              </a:rPr>
              <a:t>a</a:t>
            </a:r>
          </a:p>
        </p:txBody>
      </p:sp>
      <p:sp>
        <p:nvSpPr>
          <p:cNvPr id="14346" name="Line 10">
            <a:extLst>
              <a:ext uri="{FF2B5EF4-FFF2-40B4-BE49-F238E27FC236}">
                <a16:creationId xmlns:a16="http://schemas.microsoft.com/office/drawing/2014/main" id="{C36E8A4C-FBEC-CB3C-FDE9-7FADAD091832}"/>
              </a:ext>
            </a:extLst>
          </p:cNvPr>
          <p:cNvSpPr>
            <a:spLocks noChangeShapeType="1"/>
          </p:cNvSpPr>
          <p:nvPr/>
        </p:nvSpPr>
        <p:spPr bwMode="auto">
          <a:xfrm>
            <a:off x="6934200" y="1066800"/>
            <a:ext cx="1371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47" name="Text Box 11">
            <a:extLst>
              <a:ext uri="{FF2B5EF4-FFF2-40B4-BE49-F238E27FC236}">
                <a16:creationId xmlns:a16="http://schemas.microsoft.com/office/drawing/2014/main" id="{852F3B78-F0C3-8D2D-3167-ACC1B4B80669}"/>
              </a:ext>
            </a:extLst>
          </p:cNvPr>
          <p:cNvSpPr txBox="1">
            <a:spLocks noChangeArrowheads="1"/>
          </p:cNvSpPr>
          <p:nvPr/>
        </p:nvSpPr>
        <p:spPr bwMode="auto">
          <a:xfrm>
            <a:off x="8305800" y="838200"/>
            <a:ext cx="838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tx1"/>
              </a:buClr>
            </a:pPr>
            <a:r>
              <a:rPr lang="en-US" altLang="en-US" sz="3200">
                <a:latin typeface="Tahoma" panose="020B0604030504040204" pitchFamily="34" charset="0"/>
              </a:rPr>
              <a:t>y</a:t>
            </a:r>
            <a:r>
              <a:rPr lang="en-US" altLang="en-US" sz="3200" baseline="30000">
                <a:latin typeface="Tahoma" panose="020B0604030504040204" pitchFamily="34" charset="0"/>
              </a:rPr>
              <a:t>est</a:t>
            </a:r>
          </a:p>
        </p:txBody>
      </p:sp>
      <p:sp>
        <p:nvSpPr>
          <p:cNvPr id="14348" name="Text Box 12">
            <a:extLst>
              <a:ext uri="{FF2B5EF4-FFF2-40B4-BE49-F238E27FC236}">
                <a16:creationId xmlns:a16="http://schemas.microsoft.com/office/drawing/2014/main" id="{FA966858-FA69-1157-C2B8-DAD3BF2B7221}"/>
              </a:ext>
            </a:extLst>
          </p:cNvPr>
          <p:cNvSpPr txBox="1">
            <a:spLocks noChangeArrowheads="1"/>
          </p:cNvSpPr>
          <p:nvPr/>
        </p:nvSpPr>
        <p:spPr bwMode="auto">
          <a:xfrm>
            <a:off x="838200" y="1905000"/>
            <a:ext cx="1905000"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a:latin typeface="Tahoma" panose="020B0604030504040204" pitchFamily="34" charset="0"/>
              </a:rPr>
              <a:t>denotes +1</a:t>
            </a:r>
          </a:p>
          <a:p>
            <a:pPr algn="ctr">
              <a:spcBef>
                <a:spcPct val="50000"/>
              </a:spcBef>
              <a:buClr>
                <a:schemeClr val="tx1"/>
              </a:buClr>
            </a:pPr>
            <a:r>
              <a:rPr lang="en-US" altLang="en-US" sz="2000">
                <a:latin typeface="Tahoma" panose="020B0604030504040204" pitchFamily="34" charset="0"/>
              </a:rPr>
              <a:t>denotes -1</a:t>
            </a:r>
          </a:p>
        </p:txBody>
      </p:sp>
      <p:sp>
        <p:nvSpPr>
          <p:cNvPr id="14349" name="Oval 13">
            <a:extLst>
              <a:ext uri="{FF2B5EF4-FFF2-40B4-BE49-F238E27FC236}">
                <a16:creationId xmlns:a16="http://schemas.microsoft.com/office/drawing/2014/main" id="{1E84BB5F-3BA6-6E69-A643-F9391A7236F0}"/>
              </a:ext>
            </a:extLst>
          </p:cNvPr>
          <p:cNvSpPr>
            <a:spLocks noChangeAspect="1" noChangeArrowheads="1"/>
          </p:cNvSpPr>
          <p:nvPr/>
        </p:nvSpPr>
        <p:spPr bwMode="auto">
          <a:xfrm rot="4777107">
            <a:off x="915194" y="2056606"/>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0" name="Oval 14">
            <a:extLst>
              <a:ext uri="{FF2B5EF4-FFF2-40B4-BE49-F238E27FC236}">
                <a16:creationId xmlns:a16="http://schemas.microsoft.com/office/drawing/2014/main" id="{5040FFF6-1390-9CD5-9DF9-AD45335B8743}"/>
              </a:ext>
            </a:extLst>
          </p:cNvPr>
          <p:cNvSpPr>
            <a:spLocks noChangeAspect="1" noChangeArrowheads="1"/>
          </p:cNvSpPr>
          <p:nvPr/>
        </p:nvSpPr>
        <p:spPr bwMode="auto">
          <a:xfrm rot="5895381">
            <a:off x="915988" y="2513012"/>
            <a:ext cx="50800"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1" name="Line 15">
            <a:extLst>
              <a:ext uri="{FF2B5EF4-FFF2-40B4-BE49-F238E27FC236}">
                <a16:creationId xmlns:a16="http://schemas.microsoft.com/office/drawing/2014/main" id="{248806A4-DAF9-C06D-E484-E83A54FFE120}"/>
              </a:ext>
            </a:extLst>
          </p:cNvPr>
          <p:cNvSpPr>
            <a:spLocks noChangeShapeType="1"/>
          </p:cNvSpPr>
          <p:nvPr/>
        </p:nvSpPr>
        <p:spPr bwMode="auto">
          <a:xfrm>
            <a:off x="2590800" y="2209800"/>
            <a:ext cx="0" cy="35052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52" name="Line 16">
            <a:extLst>
              <a:ext uri="{FF2B5EF4-FFF2-40B4-BE49-F238E27FC236}">
                <a16:creationId xmlns:a16="http://schemas.microsoft.com/office/drawing/2014/main" id="{EEA5C331-E23A-D5FE-1787-FA0BBBDCA796}"/>
              </a:ext>
            </a:extLst>
          </p:cNvPr>
          <p:cNvSpPr>
            <a:spLocks noChangeShapeType="1"/>
          </p:cNvSpPr>
          <p:nvPr/>
        </p:nvSpPr>
        <p:spPr bwMode="auto">
          <a:xfrm flipV="1">
            <a:off x="2438400" y="5562600"/>
            <a:ext cx="36576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CA"/>
          </a:p>
        </p:txBody>
      </p:sp>
      <p:sp>
        <p:nvSpPr>
          <p:cNvPr id="14353" name="Oval 17">
            <a:extLst>
              <a:ext uri="{FF2B5EF4-FFF2-40B4-BE49-F238E27FC236}">
                <a16:creationId xmlns:a16="http://schemas.microsoft.com/office/drawing/2014/main" id="{EE64E279-BE9F-4733-1828-42A5FF59FD91}"/>
              </a:ext>
            </a:extLst>
          </p:cNvPr>
          <p:cNvSpPr>
            <a:spLocks noChangeAspect="1" noChangeArrowheads="1"/>
          </p:cNvSpPr>
          <p:nvPr/>
        </p:nvSpPr>
        <p:spPr bwMode="auto">
          <a:xfrm>
            <a:off x="3717925" y="5032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4" name="Oval 18">
            <a:extLst>
              <a:ext uri="{FF2B5EF4-FFF2-40B4-BE49-F238E27FC236}">
                <a16:creationId xmlns:a16="http://schemas.microsoft.com/office/drawing/2014/main" id="{B1957AAD-3A2F-33F1-22E7-07A9D68C471E}"/>
              </a:ext>
            </a:extLst>
          </p:cNvPr>
          <p:cNvSpPr>
            <a:spLocks noChangeAspect="1" noChangeArrowheads="1"/>
          </p:cNvSpPr>
          <p:nvPr/>
        </p:nvSpPr>
        <p:spPr bwMode="auto">
          <a:xfrm>
            <a:off x="2486025" y="3903663"/>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5" name="Oval 19">
            <a:extLst>
              <a:ext uri="{FF2B5EF4-FFF2-40B4-BE49-F238E27FC236}">
                <a16:creationId xmlns:a16="http://schemas.microsoft.com/office/drawing/2014/main" id="{C528D100-B5AA-DCE5-EEEB-577F6F613BC3}"/>
              </a:ext>
            </a:extLst>
          </p:cNvPr>
          <p:cNvSpPr>
            <a:spLocks noChangeAspect="1" noChangeArrowheads="1"/>
          </p:cNvSpPr>
          <p:nvPr/>
        </p:nvSpPr>
        <p:spPr bwMode="auto">
          <a:xfrm>
            <a:off x="4340225" y="28146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6" name="Oval 20">
            <a:extLst>
              <a:ext uri="{FF2B5EF4-FFF2-40B4-BE49-F238E27FC236}">
                <a16:creationId xmlns:a16="http://schemas.microsoft.com/office/drawing/2014/main" id="{B5763B0E-5B4F-F8DF-A5E7-14931F6C4756}"/>
              </a:ext>
            </a:extLst>
          </p:cNvPr>
          <p:cNvSpPr>
            <a:spLocks noChangeAspect="1" noChangeArrowheads="1"/>
          </p:cNvSpPr>
          <p:nvPr/>
        </p:nvSpPr>
        <p:spPr bwMode="auto">
          <a:xfrm>
            <a:off x="4403725" y="3635375"/>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7" name="Oval 21">
            <a:extLst>
              <a:ext uri="{FF2B5EF4-FFF2-40B4-BE49-F238E27FC236}">
                <a16:creationId xmlns:a16="http://schemas.microsoft.com/office/drawing/2014/main" id="{710B8EF6-3B1F-41B3-7411-1A8370B78A29}"/>
              </a:ext>
            </a:extLst>
          </p:cNvPr>
          <p:cNvSpPr>
            <a:spLocks noChangeAspect="1" noChangeArrowheads="1"/>
          </p:cNvSpPr>
          <p:nvPr/>
        </p:nvSpPr>
        <p:spPr bwMode="auto">
          <a:xfrm>
            <a:off x="3409950" y="2663825"/>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8" name="Oval 22">
            <a:extLst>
              <a:ext uri="{FF2B5EF4-FFF2-40B4-BE49-F238E27FC236}">
                <a16:creationId xmlns:a16="http://schemas.microsoft.com/office/drawing/2014/main" id="{96A4BD9E-44C9-1DDD-20DD-03AA88230FFC}"/>
              </a:ext>
            </a:extLst>
          </p:cNvPr>
          <p:cNvSpPr>
            <a:spLocks noChangeAspect="1" noChangeArrowheads="1"/>
          </p:cNvSpPr>
          <p:nvPr/>
        </p:nvSpPr>
        <p:spPr bwMode="auto">
          <a:xfrm>
            <a:off x="3886200" y="3733800"/>
            <a:ext cx="5397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59" name="Oval 23">
            <a:extLst>
              <a:ext uri="{FF2B5EF4-FFF2-40B4-BE49-F238E27FC236}">
                <a16:creationId xmlns:a16="http://schemas.microsoft.com/office/drawing/2014/main" id="{D8986917-D35A-9308-A600-71BF73F5A9CA}"/>
              </a:ext>
            </a:extLst>
          </p:cNvPr>
          <p:cNvSpPr>
            <a:spLocks noChangeAspect="1" noChangeArrowheads="1"/>
          </p:cNvSpPr>
          <p:nvPr/>
        </p:nvSpPr>
        <p:spPr bwMode="auto">
          <a:xfrm>
            <a:off x="3048000" y="3124200"/>
            <a:ext cx="60325" cy="58738"/>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0" name="Oval 24">
            <a:extLst>
              <a:ext uri="{FF2B5EF4-FFF2-40B4-BE49-F238E27FC236}">
                <a16:creationId xmlns:a16="http://schemas.microsoft.com/office/drawing/2014/main" id="{17100F8D-D7D3-4D7D-A063-D25A3EC49A6F}"/>
              </a:ext>
            </a:extLst>
          </p:cNvPr>
          <p:cNvSpPr>
            <a:spLocks noChangeAspect="1" noChangeArrowheads="1"/>
          </p:cNvSpPr>
          <p:nvPr/>
        </p:nvSpPr>
        <p:spPr bwMode="auto">
          <a:xfrm>
            <a:off x="5105400" y="4114800"/>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1" name="Oval 25">
            <a:extLst>
              <a:ext uri="{FF2B5EF4-FFF2-40B4-BE49-F238E27FC236}">
                <a16:creationId xmlns:a16="http://schemas.microsoft.com/office/drawing/2014/main" id="{B004DFCC-6D05-32DE-47B5-011E68EB116F}"/>
              </a:ext>
            </a:extLst>
          </p:cNvPr>
          <p:cNvSpPr>
            <a:spLocks noChangeAspect="1" noChangeArrowheads="1"/>
          </p:cNvSpPr>
          <p:nvPr/>
        </p:nvSpPr>
        <p:spPr bwMode="auto">
          <a:xfrm rot="-1118274">
            <a:off x="3887788" y="4443413"/>
            <a:ext cx="5397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2" name="Oval 26">
            <a:extLst>
              <a:ext uri="{FF2B5EF4-FFF2-40B4-BE49-F238E27FC236}">
                <a16:creationId xmlns:a16="http://schemas.microsoft.com/office/drawing/2014/main" id="{6BFFB794-A3E9-4393-FDFF-BA97C4B99297}"/>
              </a:ext>
            </a:extLst>
          </p:cNvPr>
          <p:cNvSpPr>
            <a:spLocks noChangeAspect="1" noChangeArrowheads="1"/>
          </p:cNvSpPr>
          <p:nvPr/>
        </p:nvSpPr>
        <p:spPr bwMode="auto">
          <a:xfrm rot="-1118274">
            <a:off x="6003925" y="32289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3" name="Oval 27">
            <a:extLst>
              <a:ext uri="{FF2B5EF4-FFF2-40B4-BE49-F238E27FC236}">
                <a16:creationId xmlns:a16="http://schemas.microsoft.com/office/drawing/2014/main" id="{42BDD8AE-FDCE-CFE8-8ACE-D928EF67E090}"/>
              </a:ext>
            </a:extLst>
          </p:cNvPr>
          <p:cNvSpPr>
            <a:spLocks noChangeAspect="1" noChangeArrowheads="1"/>
          </p:cNvSpPr>
          <p:nvPr/>
        </p:nvSpPr>
        <p:spPr bwMode="auto">
          <a:xfrm rot="-1118274">
            <a:off x="5295900" y="4545013"/>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4" name="Oval 28">
            <a:extLst>
              <a:ext uri="{FF2B5EF4-FFF2-40B4-BE49-F238E27FC236}">
                <a16:creationId xmlns:a16="http://schemas.microsoft.com/office/drawing/2014/main" id="{0452B640-CDA3-069E-DB72-B68F67707380}"/>
              </a:ext>
            </a:extLst>
          </p:cNvPr>
          <p:cNvSpPr>
            <a:spLocks noChangeAspect="1" noChangeArrowheads="1"/>
          </p:cNvSpPr>
          <p:nvPr/>
        </p:nvSpPr>
        <p:spPr bwMode="auto">
          <a:xfrm rot="-1118274">
            <a:off x="3124200" y="2667000"/>
            <a:ext cx="60325" cy="50800"/>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5" name="Oval 29">
            <a:extLst>
              <a:ext uri="{FF2B5EF4-FFF2-40B4-BE49-F238E27FC236}">
                <a16:creationId xmlns:a16="http://schemas.microsoft.com/office/drawing/2014/main" id="{6EDFF685-4B1F-322D-1320-7D756B58A340}"/>
              </a:ext>
            </a:extLst>
          </p:cNvPr>
          <p:cNvSpPr>
            <a:spLocks noChangeAspect="1" noChangeArrowheads="1"/>
          </p:cNvSpPr>
          <p:nvPr/>
        </p:nvSpPr>
        <p:spPr bwMode="auto">
          <a:xfrm rot="-1118274">
            <a:off x="4711700" y="3584575"/>
            <a:ext cx="60325" cy="50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6" name="Oval 30">
            <a:extLst>
              <a:ext uri="{FF2B5EF4-FFF2-40B4-BE49-F238E27FC236}">
                <a16:creationId xmlns:a16="http://schemas.microsoft.com/office/drawing/2014/main" id="{ACD39536-9812-B0EC-219F-0A868AF4C168}"/>
              </a:ext>
            </a:extLst>
          </p:cNvPr>
          <p:cNvSpPr>
            <a:spLocks noChangeAspect="1" noChangeArrowheads="1"/>
          </p:cNvSpPr>
          <p:nvPr/>
        </p:nvSpPr>
        <p:spPr bwMode="auto">
          <a:xfrm rot="-1118274">
            <a:off x="5867400" y="4495800"/>
            <a:ext cx="60325" cy="476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7" name="Oval 31">
            <a:extLst>
              <a:ext uri="{FF2B5EF4-FFF2-40B4-BE49-F238E27FC236}">
                <a16:creationId xmlns:a16="http://schemas.microsoft.com/office/drawing/2014/main" id="{199A14EF-AB95-224E-19E8-71CB8942E999}"/>
              </a:ext>
            </a:extLst>
          </p:cNvPr>
          <p:cNvSpPr>
            <a:spLocks noChangeAspect="1" noChangeArrowheads="1"/>
          </p:cNvSpPr>
          <p:nvPr/>
        </p:nvSpPr>
        <p:spPr bwMode="auto">
          <a:xfrm rot="-1118274">
            <a:off x="3114675" y="3640138"/>
            <a:ext cx="60325" cy="476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8" name="Oval 32">
            <a:extLst>
              <a:ext uri="{FF2B5EF4-FFF2-40B4-BE49-F238E27FC236}">
                <a16:creationId xmlns:a16="http://schemas.microsoft.com/office/drawing/2014/main" id="{EA0DC100-3182-6CB2-4A11-23037FE0B03F}"/>
              </a:ext>
            </a:extLst>
          </p:cNvPr>
          <p:cNvSpPr>
            <a:spLocks noChangeAspect="1" noChangeArrowheads="1"/>
          </p:cNvSpPr>
          <p:nvPr/>
        </p:nvSpPr>
        <p:spPr bwMode="auto">
          <a:xfrm rot="5895381">
            <a:off x="3867150" y="3057525"/>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69" name="Oval 33">
            <a:extLst>
              <a:ext uri="{FF2B5EF4-FFF2-40B4-BE49-F238E27FC236}">
                <a16:creationId xmlns:a16="http://schemas.microsoft.com/office/drawing/2014/main" id="{FFF2B010-2670-10B7-BA89-31D1CA619FCE}"/>
              </a:ext>
            </a:extLst>
          </p:cNvPr>
          <p:cNvSpPr>
            <a:spLocks noChangeAspect="1" noChangeArrowheads="1"/>
          </p:cNvSpPr>
          <p:nvPr/>
        </p:nvSpPr>
        <p:spPr bwMode="auto">
          <a:xfrm rot="5895381">
            <a:off x="4136231" y="5242719"/>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0" name="Oval 34">
            <a:extLst>
              <a:ext uri="{FF2B5EF4-FFF2-40B4-BE49-F238E27FC236}">
                <a16:creationId xmlns:a16="http://schemas.microsoft.com/office/drawing/2014/main" id="{09DCB224-1261-4980-7C6B-CCBFEE3081B9}"/>
              </a:ext>
            </a:extLst>
          </p:cNvPr>
          <p:cNvSpPr>
            <a:spLocks noChangeAspect="1" noChangeArrowheads="1"/>
          </p:cNvSpPr>
          <p:nvPr/>
        </p:nvSpPr>
        <p:spPr bwMode="auto">
          <a:xfrm rot="5895381">
            <a:off x="3114675" y="40989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1" name="Oval 35">
            <a:extLst>
              <a:ext uri="{FF2B5EF4-FFF2-40B4-BE49-F238E27FC236}">
                <a16:creationId xmlns:a16="http://schemas.microsoft.com/office/drawing/2014/main" id="{1716706F-2E12-DB9C-D06D-66B99585BCDB}"/>
              </a:ext>
            </a:extLst>
          </p:cNvPr>
          <p:cNvSpPr>
            <a:spLocks noChangeAspect="1" noChangeArrowheads="1"/>
          </p:cNvSpPr>
          <p:nvPr/>
        </p:nvSpPr>
        <p:spPr bwMode="auto">
          <a:xfrm rot="5895381">
            <a:off x="4343400" y="2393950"/>
            <a:ext cx="47625"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2" name="Oval 36">
            <a:extLst>
              <a:ext uri="{FF2B5EF4-FFF2-40B4-BE49-F238E27FC236}">
                <a16:creationId xmlns:a16="http://schemas.microsoft.com/office/drawing/2014/main" id="{4995EA65-5D99-D902-7405-1A2D204260C0}"/>
              </a:ext>
            </a:extLst>
          </p:cNvPr>
          <p:cNvSpPr>
            <a:spLocks noChangeAspect="1" noChangeArrowheads="1"/>
          </p:cNvSpPr>
          <p:nvPr/>
        </p:nvSpPr>
        <p:spPr bwMode="auto">
          <a:xfrm rot="5895381">
            <a:off x="5304632" y="4144169"/>
            <a:ext cx="58737"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3" name="Oval 37">
            <a:extLst>
              <a:ext uri="{FF2B5EF4-FFF2-40B4-BE49-F238E27FC236}">
                <a16:creationId xmlns:a16="http://schemas.microsoft.com/office/drawing/2014/main" id="{BC5CE600-0781-4A22-0CED-5E534D31C373}"/>
              </a:ext>
            </a:extLst>
          </p:cNvPr>
          <p:cNvSpPr>
            <a:spLocks noChangeAspect="1" noChangeArrowheads="1"/>
          </p:cNvSpPr>
          <p:nvPr/>
        </p:nvSpPr>
        <p:spPr bwMode="auto">
          <a:xfrm rot="5895381">
            <a:off x="4370388" y="407987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4" name="Oval 38">
            <a:extLst>
              <a:ext uri="{FF2B5EF4-FFF2-40B4-BE49-F238E27FC236}">
                <a16:creationId xmlns:a16="http://schemas.microsoft.com/office/drawing/2014/main" id="{BFF4F7DC-24FB-8B09-B3E3-4B0C9474629E}"/>
              </a:ext>
            </a:extLst>
          </p:cNvPr>
          <p:cNvSpPr>
            <a:spLocks noChangeAspect="1" noChangeArrowheads="1"/>
          </p:cNvSpPr>
          <p:nvPr/>
        </p:nvSpPr>
        <p:spPr bwMode="auto">
          <a:xfrm rot="5895381">
            <a:off x="5619750" y="3365500"/>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5" name="Oval 39">
            <a:extLst>
              <a:ext uri="{FF2B5EF4-FFF2-40B4-BE49-F238E27FC236}">
                <a16:creationId xmlns:a16="http://schemas.microsoft.com/office/drawing/2014/main" id="{4D775B0A-B5EC-E166-5496-E70C0BFEDC5C}"/>
              </a:ext>
            </a:extLst>
          </p:cNvPr>
          <p:cNvSpPr>
            <a:spLocks noChangeAspect="1" noChangeArrowheads="1"/>
          </p:cNvSpPr>
          <p:nvPr/>
        </p:nvSpPr>
        <p:spPr bwMode="auto">
          <a:xfrm rot="5895381">
            <a:off x="3087688" y="2346325"/>
            <a:ext cx="47625"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6" name="Oval 40">
            <a:extLst>
              <a:ext uri="{FF2B5EF4-FFF2-40B4-BE49-F238E27FC236}">
                <a16:creationId xmlns:a16="http://schemas.microsoft.com/office/drawing/2014/main" id="{6B25E9D2-1739-FFFF-B447-53B4AEC1C47F}"/>
              </a:ext>
            </a:extLst>
          </p:cNvPr>
          <p:cNvSpPr>
            <a:spLocks noChangeAspect="1" noChangeArrowheads="1"/>
          </p:cNvSpPr>
          <p:nvPr/>
        </p:nvSpPr>
        <p:spPr bwMode="auto">
          <a:xfrm rot="5895381">
            <a:off x="5260975" y="32734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7" name="Oval 41">
            <a:extLst>
              <a:ext uri="{FF2B5EF4-FFF2-40B4-BE49-F238E27FC236}">
                <a16:creationId xmlns:a16="http://schemas.microsoft.com/office/drawing/2014/main" id="{7DF87035-82F3-0768-EE38-259B6CD3BF90}"/>
              </a:ext>
            </a:extLst>
          </p:cNvPr>
          <p:cNvSpPr>
            <a:spLocks noChangeAspect="1" noChangeArrowheads="1"/>
          </p:cNvSpPr>
          <p:nvPr/>
        </p:nvSpPr>
        <p:spPr bwMode="auto">
          <a:xfrm rot="5895381">
            <a:off x="5117307" y="4718844"/>
            <a:ext cx="58737"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8" name="Oval 42">
            <a:extLst>
              <a:ext uri="{FF2B5EF4-FFF2-40B4-BE49-F238E27FC236}">
                <a16:creationId xmlns:a16="http://schemas.microsoft.com/office/drawing/2014/main" id="{9DC36F56-70A9-1EA7-8AA2-37DC65EB800C}"/>
              </a:ext>
            </a:extLst>
          </p:cNvPr>
          <p:cNvSpPr>
            <a:spLocks noChangeAspect="1" noChangeArrowheads="1"/>
          </p:cNvSpPr>
          <p:nvPr/>
        </p:nvSpPr>
        <p:spPr bwMode="auto">
          <a:xfrm rot="4777107">
            <a:off x="3498057" y="3534569"/>
            <a:ext cx="58737"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79" name="Oval 43">
            <a:extLst>
              <a:ext uri="{FF2B5EF4-FFF2-40B4-BE49-F238E27FC236}">
                <a16:creationId xmlns:a16="http://schemas.microsoft.com/office/drawing/2014/main" id="{8EAB7DD4-CE98-A081-B09C-FB7E68E56577}"/>
              </a:ext>
            </a:extLst>
          </p:cNvPr>
          <p:cNvSpPr>
            <a:spLocks noChangeAspect="1" noChangeArrowheads="1"/>
          </p:cNvSpPr>
          <p:nvPr/>
        </p:nvSpPr>
        <p:spPr bwMode="auto">
          <a:xfrm rot="4777107">
            <a:off x="4651375" y="5254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0" name="Oval 44">
            <a:extLst>
              <a:ext uri="{FF2B5EF4-FFF2-40B4-BE49-F238E27FC236}">
                <a16:creationId xmlns:a16="http://schemas.microsoft.com/office/drawing/2014/main" id="{F38A3072-DE62-2B33-14ED-FD1C57983941}"/>
              </a:ext>
            </a:extLst>
          </p:cNvPr>
          <p:cNvSpPr>
            <a:spLocks noChangeAspect="1" noChangeArrowheads="1"/>
          </p:cNvSpPr>
          <p:nvPr/>
        </p:nvSpPr>
        <p:spPr bwMode="auto">
          <a:xfrm rot="4777107">
            <a:off x="4346575" y="4873625"/>
            <a:ext cx="47625" cy="539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1" name="Oval 45">
            <a:extLst>
              <a:ext uri="{FF2B5EF4-FFF2-40B4-BE49-F238E27FC236}">
                <a16:creationId xmlns:a16="http://schemas.microsoft.com/office/drawing/2014/main" id="{70B2FB04-BC08-0980-0898-CA3B300867A8}"/>
              </a:ext>
            </a:extLst>
          </p:cNvPr>
          <p:cNvSpPr>
            <a:spLocks noChangeAspect="1" noChangeArrowheads="1"/>
          </p:cNvSpPr>
          <p:nvPr/>
        </p:nvSpPr>
        <p:spPr bwMode="auto">
          <a:xfrm rot="4777107">
            <a:off x="2817019" y="3736181"/>
            <a:ext cx="58738"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2" name="Oval 46">
            <a:extLst>
              <a:ext uri="{FF2B5EF4-FFF2-40B4-BE49-F238E27FC236}">
                <a16:creationId xmlns:a16="http://schemas.microsoft.com/office/drawing/2014/main" id="{16F280D5-56B3-4CD0-73CB-71F35FA1C8B2}"/>
              </a:ext>
            </a:extLst>
          </p:cNvPr>
          <p:cNvSpPr>
            <a:spLocks noChangeAspect="1" noChangeArrowheads="1"/>
          </p:cNvSpPr>
          <p:nvPr/>
        </p:nvSpPr>
        <p:spPr bwMode="auto">
          <a:xfrm rot="4777107">
            <a:off x="3713163" y="2776537"/>
            <a:ext cx="50800" cy="5397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3" name="Oval 47">
            <a:extLst>
              <a:ext uri="{FF2B5EF4-FFF2-40B4-BE49-F238E27FC236}">
                <a16:creationId xmlns:a16="http://schemas.microsoft.com/office/drawing/2014/main" id="{5B029781-622C-0788-197F-1FA4127C99E2}"/>
              </a:ext>
            </a:extLst>
          </p:cNvPr>
          <p:cNvSpPr>
            <a:spLocks noChangeAspect="1" noChangeArrowheads="1"/>
          </p:cNvSpPr>
          <p:nvPr/>
        </p:nvSpPr>
        <p:spPr bwMode="auto">
          <a:xfrm rot="4777107">
            <a:off x="4356101" y="4364037"/>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4" name="Oval 48">
            <a:extLst>
              <a:ext uri="{FF2B5EF4-FFF2-40B4-BE49-F238E27FC236}">
                <a16:creationId xmlns:a16="http://schemas.microsoft.com/office/drawing/2014/main" id="{83273A30-881A-B17E-76CF-38B897CF1F27}"/>
              </a:ext>
            </a:extLst>
          </p:cNvPr>
          <p:cNvSpPr>
            <a:spLocks noChangeAspect="1" noChangeArrowheads="1"/>
          </p:cNvSpPr>
          <p:nvPr/>
        </p:nvSpPr>
        <p:spPr bwMode="auto">
          <a:xfrm rot="4777107">
            <a:off x="2504282" y="3082131"/>
            <a:ext cx="58738" cy="60325"/>
          </a:xfrm>
          <a:prstGeom prst="ellipse">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5" name="Oval 49">
            <a:extLst>
              <a:ext uri="{FF2B5EF4-FFF2-40B4-BE49-F238E27FC236}">
                <a16:creationId xmlns:a16="http://schemas.microsoft.com/office/drawing/2014/main" id="{52CDDC6A-2851-B2B2-C5C6-13BA24A0C3F3}"/>
              </a:ext>
            </a:extLst>
          </p:cNvPr>
          <p:cNvSpPr>
            <a:spLocks noChangeAspect="1" noChangeArrowheads="1"/>
          </p:cNvSpPr>
          <p:nvPr/>
        </p:nvSpPr>
        <p:spPr bwMode="auto">
          <a:xfrm rot="4777107">
            <a:off x="3937794" y="5049044"/>
            <a:ext cx="55563"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6" name="Oval 50">
            <a:extLst>
              <a:ext uri="{FF2B5EF4-FFF2-40B4-BE49-F238E27FC236}">
                <a16:creationId xmlns:a16="http://schemas.microsoft.com/office/drawing/2014/main" id="{0DD6B3A8-4A64-79E7-6274-DF942CC9F4EC}"/>
              </a:ext>
            </a:extLst>
          </p:cNvPr>
          <p:cNvSpPr>
            <a:spLocks noChangeAspect="1" noChangeArrowheads="1"/>
          </p:cNvSpPr>
          <p:nvPr/>
        </p:nvSpPr>
        <p:spPr bwMode="auto">
          <a:xfrm rot="4777107">
            <a:off x="5303838" y="4756150"/>
            <a:ext cx="50800" cy="6032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4387" name="Text Box 51">
            <a:extLst>
              <a:ext uri="{FF2B5EF4-FFF2-40B4-BE49-F238E27FC236}">
                <a16:creationId xmlns:a16="http://schemas.microsoft.com/office/drawing/2014/main" id="{C9E6770B-6FEE-0084-35A4-1A17991203BB}"/>
              </a:ext>
            </a:extLst>
          </p:cNvPr>
          <p:cNvSpPr txBox="1">
            <a:spLocks noChangeArrowheads="1"/>
          </p:cNvSpPr>
          <p:nvPr/>
        </p:nvSpPr>
        <p:spPr bwMode="auto">
          <a:xfrm>
            <a:off x="5486400" y="1676400"/>
            <a:ext cx="320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tx1"/>
              </a:buClr>
            </a:pPr>
            <a:r>
              <a:rPr lang="en-US" altLang="en-US" sz="2000" b="1" i="1">
                <a:latin typeface="Tahoma" panose="020B0604030504040204" pitchFamily="34" charset="0"/>
              </a:rPr>
              <a:t>f</a:t>
            </a:r>
            <a:r>
              <a:rPr lang="en-US" altLang="en-US" sz="2000" i="1">
                <a:latin typeface="Tahoma" panose="020B0604030504040204" pitchFamily="34" charset="0"/>
              </a:rPr>
              <a:t>(</a:t>
            </a:r>
            <a:r>
              <a:rPr lang="en-US" altLang="en-US" sz="2000" b="1" i="1">
                <a:latin typeface="Tahoma" panose="020B0604030504040204" pitchFamily="34" charset="0"/>
              </a:rPr>
              <a:t>x</a:t>
            </a:r>
            <a:r>
              <a:rPr lang="en-US" altLang="en-US" sz="2000" i="1">
                <a:latin typeface="Tahoma" panose="020B0604030504040204" pitchFamily="34" charset="0"/>
              </a:rPr>
              <a:t>,</a:t>
            </a:r>
            <a:r>
              <a:rPr lang="en-US" altLang="en-US" sz="2000" b="1" i="1">
                <a:solidFill>
                  <a:srgbClr val="00CC00"/>
                </a:solidFill>
                <a:latin typeface="Tahoma" panose="020B0604030504040204" pitchFamily="34" charset="0"/>
              </a:rPr>
              <a:t>w</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 = sign(</a:t>
            </a:r>
            <a:r>
              <a:rPr lang="en-US" altLang="en-US" sz="2000" b="1" i="1">
                <a:solidFill>
                  <a:srgbClr val="00CC00"/>
                </a:solidFill>
                <a:latin typeface="Tahoma" panose="020B0604030504040204" pitchFamily="34" charset="0"/>
              </a:rPr>
              <a:t>w</a:t>
            </a:r>
            <a:r>
              <a:rPr lang="en-US" altLang="en-US" sz="2000" b="1" i="1">
                <a:latin typeface="Tahoma" panose="020B0604030504040204" pitchFamily="34" charset="0"/>
              </a:rPr>
              <a:t>. x</a:t>
            </a:r>
            <a:r>
              <a:rPr lang="en-US" altLang="en-US" sz="2000" i="1">
                <a:solidFill>
                  <a:srgbClr val="00CC00"/>
                </a:solidFill>
                <a:latin typeface="Tahoma" panose="020B0604030504040204" pitchFamily="34" charset="0"/>
              </a:rPr>
              <a:t> </a:t>
            </a:r>
            <a:r>
              <a:rPr lang="en-US" altLang="en-US" sz="2000" i="1">
                <a:latin typeface="Tahoma" panose="020B0604030504040204" pitchFamily="34" charset="0"/>
              </a:rPr>
              <a:t>- </a:t>
            </a:r>
            <a:r>
              <a:rPr lang="en-US" altLang="en-US" sz="2000" i="1">
                <a:solidFill>
                  <a:srgbClr val="00CC00"/>
                </a:solidFill>
                <a:latin typeface="Tahoma" panose="020B0604030504040204" pitchFamily="34" charset="0"/>
              </a:rPr>
              <a:t>b</a:t>
            </a:r>
            <a:r>
              <a:rPr lang="en-US" altLang="en-US" sz="2000" i="1">
                <a:latin typeface="Tahoma" panose="020B0604030504040204" pitchFamily="34" charset="0"/>
              </a:rPr>
              <a:t>)</a:t>
            </a:r>
          </a:p>
        </p:txBody>
      </p:sp>
      <p:sp>
        <p:nvSpPr>
          <p:cNvPr id="14388" name="Text Box 52">
            <a:extLst>
              <a:ext uri="{FF2B5EF4-FFF2-40B4-BE49-F238E27FC236}">
                <a16:creationId xmlns:a16="http://schemas.microsoft.com/office/drawing/2014/main" id="{C24E378C-9DF2-5A24-E6DA-72C17728078B}"/>
              </a:ext>
            </a:extLst>
          </p:cNvPr>
          <p:cNvSpPr txBox="1">
            <a:spLocks noChangeArrowheads="1"/>
          </p:cNvSpPr>
          <p:nvPr/>
        </p:nvSpPr>
        <p:spPr bwMode="auto">
          <a:xfrm>
            <a:off x="6248400" y="3200400"/>
            <a:ext cx="2438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endParaRPr lang="en-US" altLang="en-US" sz="2000">
              <a:latin typeface="Tahoma" panose="020B0604030504040204" pitchFamily="34" charset="0"/>
            </a:endParaRPr>
          </a:p>
        </p:txBody>
      </p:sp>
      <p:sp>
        <p:nvSpPr>
          <p:cNvPr id="14389" name="Text Box 53">
            <a:extLst>
              <a:ext uri="{FF2B5EF4-FFF2-40B4-BE49-F238E27FC236}">
                <a16:creationId xmlns:a16="http://schemas.microsoft.com/office/drawing/2014/main" id="{A10E060D-D5B8-E1AB-25C9-8E55FBAE77B7}"/>
              </a:ext>
            </a:extLst>
          </p:cNvPr>
          <p:cNvSpPr txBox="1">
            <a:spLocks noChangeArrowheads="1"/>
          </p:cNvSpPr>
          <p:nvPr/>
        </p:nvSpPr>
        <p:spPr bwMode="auto">
          <a:xfrm>
            <a:off x="6400800" y="2286000"/>
            <a:ext cx="2743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en-US" sz="2400" dirty="0">
                <a:latin typeface="Tahoma" panose="020B0604030504040204" pitchFamily="34" charset="0"/>
              </a:rPr>
              <a:t>The </a:t>
            </a:r>
            <a:r>
              <a:rPr lang="en-US" altLang="en-US" sz="2400" dirty="0">
                <a:solidFill>
                  <a:schemeClr val="hlink"/>
                </a:solidFill>
                <a:latin typeface="Tahoma" panose="020B0604030504040204" pitchFamily="34" charset="0"/>
              </a:rPr>
              <a:t>maximum margin linear classifier</a:t>
            </a:r>
            <a:r>
              <a:rPr lang="en-US" altLang="en-US" sz="2400" dirty="0">
                <a:latin typeface="Tahoma" panose="020B0604030504040204" pitchFamily="34" charset="0"/>
              </a:rPr>
              <a:t> is the linear classifier with the maximum margin.</a:t>
            </a:r>
          </a:p>
          <a:p>
            <a:pPr>
              <a:spcBef>
                <a:spcPct val="50000"/>
              </a:spcBef>
              <a:buClr>
                <a:schemeClr val="tx1"/>
              </a:buClr>
            </a:pPr>
            <a:r>
              <a:rPr lang="en-US" altLang="en-US" sz="2400" dirty="0">
                <a:latin typeface="Tahoma" panose="020B0604030504040204" pitchFamily="34" charset="0"/>
              </a:rPr>
              <a:t>This is the simplest kind of SVM (Called an LSVM)</a:t>
            </a:r>
          </a:p>
        </p:txBody>
      </p:sp>
      <p:sp>
        <p:nvSpPr>
          <p:cNvPr id="14390" name="Text Box 54">
            <a:extLst>
              <a:ext uri="{FF2B5EF4-FFF2-40B4-BE49-F238E27FC236}">
                <a16:creationId xmlns:a16="http://schemas.microsoft.com/office/drawing/2014/main" id="{811B9BCE-7EF0-0455-2BB1-5D017143D7E5}"/>
              </a:ext>
            </a:extLst>
          </p:cNvPr>
          <p:cNvSpPr txBox="1">
            <a:spLocks noChangeArrowheads="1"/>
          </p:cNvSpPr>
          <p:nvPr/>
        </p:nvSpPr>
        <p:spPr bwMode="auto">
          <a:xfrm>
            <a:off x="173038" y="3675063"/>
            <a:ext cx="2120900" cy="192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1"/>
              </a:buClr>
            </a:pPr>
            <a:r>
              <a:rPr lang="en-US" altLang="en-US" sz="2000">
                <a:solidFill>
                  <a:srgbClr val="00CC00"/>
                </a:solidFill>
                <a:latin typeface="Tahoma" panose="020B0604030504040204" pitchFamily="34" charset="0"/>
              </a:rPr>
              <a:t>Support Vectors </a:t>
            </a:r>
            <a:r>
              <a:rPr lang="en-US" altLang="en-US" sz="2000">
                <a:latin typeface="Tahoma" panose="020B0604030504040204" pitchFamily="34" charset="0"/>
              </a:rPr>
              <a:t>are those datapoints that the margin pushes up against</a:t>
            </a:r>
          </a:p>
        </p:txBody>
      </p:sp>
      <p:sp>
        <p:nvSpPr>
          <p:cNvPr id="14391" name="Freeform 55">
            <a:extLst>
              <a:ext uri="{FF2B5EF4-FFF2-40B4-BE49-F238E27FC236}">
                <a16:creationId xmlns:a16="http://schemas.microsoft.com/office/drawing/2014/main" id="{EE3C6943-6C97-DD56-E9C6-110099600513}"/>
              </a:ext>
            </a:extLst>
          </p:cNvPr>
          <p:cNvSpPr>
            <a:spLocks/>
          </p:cNvSpPr>
          <p:nvPr/>
        </p:nvSpPr>
        <p:spPr bwMode="auto">
          <a:xfrm>
            <a:off x="2112963" y="3725863"/>
            <a:ext cx="1708150" cy="155575"/>
          </a:xfrm>
          <a:custGeom>
            <a:avLst/>
            <a:gdLst>
              <a:gd name="T0" fmla="*/ 0 w 1076"/>
              <a:gd name="T1" fmla="*/ 98 h 98"/>
              <a:gd name="T2" fmla="*/ 104 w 1076"/>
              <a:gd name="T3" fmla="*/ 39 h 98"/>
              <a:gd name="T4" fmla="*/ 212 w 1076"/>
              <a:gd name="T5" fmla="*/ 0 h 98"/>
              <a:gd name="T6" fmla="*/ 326 w 1076"/>
              <a:gd name="T7" fmla="*/ 11 h 98"/>
              <a:gd name="T8" fmla="*/ 386 w 1076"/>
              <a:gd name="T9" fmla="*/ 39 h 98"/>
              <a:gd name="T10" fmla="*/ 386 w 1076"/>
              <a:gd name="T11" fmla="*/ 39 h 98"/>
              <a:gd name="T12" fmla="*/ 511 w 1076"/>
              <a:gd name="T13" fmla="*/ 82 h 98"/>
              <a:gd name="T14" fmla="*/ 989 w 1076"/>
              <a:gd name="T15" fmla="*/ 55 h 98"/>
              <a:gd name="T16" fmla="*/ 1076 w 1076"/>
              <a:gd name="T1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76" h="98">
                <a:moveTo>
                  <a:pt x="0" y="98"/>
                </a:moveTo>
                <a:cubicBezTo>
                  <a:pt x="38" y="87"/>
                  <a:pt x="66" y="53"/>
                  <a:pt x="104" y="39"/>
                </a:cubicBezTo>
                <a:cubicBezTo>
                  <a:pt x="132" y="9"/>
                  <a:pt x="172" y="6"/>
                  <a:pt x="212" y="0"/>
                </a:cubicBezTo>
                <a:cubicBezTo>
                  <a:pt x="262" y="3"/>
                  <a:pt x="286" y="0"/>
                  <a:pt x="326" y="11"/>
                </a:cubicBezTo>
                <a:lnTo>
                  <a:pt x="386" y="39"/>
                </a:lnTo>
                <a:cubicBezTo>
                  <a:pt x="386" y="39"/>
                  <a:pt x="386" y="39"/>
                  <a:pt x="386" y="39"/>
                </a:cubicBezTo>
                <a:cubicBezTo>
                  <a:pt x="428" y="52"/>
                  <a:pt x="469" y="69"/>
                  <a:pt x="511" y="82"/>
                </a:cubicBezTo>
                <a:cubicBezTo>
                  <a:pt x="670" y="74"/>
                  <a:pt x="829" y="60"/>
                  <a:pt x="989" y="55"/>
                </a:cubicBezTo>
                <a:cubicBezTo>
                  <a:pt x="1017" y="51"/>
                  <a:pt x="1048" y="44"/>
                  <a:pt x="1076" y="44"/>
                </a:cubicBezTo>
              </a:path>
            </a:pathLst>
          </a:custGeom>
          <a:noFill/>
          <a:ln w="38100" cap="flat" cmpd="sng">
            <a:solidFill>
              <a:srgbClr val="00CC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2" name="Freeform 56">
            <a:extLst>
              <a:ext uri="{FF2B5EF4-FFF2-40B4-BE49-F238E27FC236}">
                <a16:creationId xmlns:a16="http://schemas.microsoft.com/office/drawing/2014/main" id="{B80FB990-3F0A-5D69-BDA1-909F5A394C22}"/>
              </a:ext>
            </a:extLst>
          </p:cNvPr>
          <p:cNvSpPr>
            <a:spLocks/>
          </p:cNvSpPr>
          <p:nvPr/>
        </p:nvSpPr>
        <p:spPr bwMode="auto">
          <a:xfrm>
            <a:off x="2079625" y="3317875"/>
            <a:ext cx="2293938" cy="485775"/>
          </a:xfrm>
          <a:custGeom>
            <a:avLst/>
            <a:gdLst>
              <a:gd name="T0" fmla="*/ 0 w 1445"/>
              <a:gd name="T1" fmla="*/ 306 h 306"/>
              <a:gd name="T2" fmla="*/ 16 w 1445"/>
              <a:gd name="T3" fmla="*/ 301 h 306"/>
              <a:gd name="T4" fmla="*/ 27 w 1445"/>
              <a:gd name="T5" fmla="*/ 268 h 306"/>
              <a:gd name="T6" fmla="*/ 48 w 1445"/>
              <a:gd name="T7" fmla="*/ 236 h 306"/>
              <a:gd name="T8" fmla="*/ 125 w 1445"/>
              <a:gd name="T9" fmla="*/ 171 h 306"/>
              <a:gd name="T10" fmla="*/ 228 w 1445"/>
              <a:gd name="T11" fmla="*/ 105 h 306"/>
              <a:gd name="T12" fmla="*/ 298 w 1445"/>
              <a:gd name="T13" fmla="*/ 73 h 306"/>
              <a:gd name="T14" fmla="*/ 635 w 1445"/>
              <a:gd name="T15" fmla="*/ 2 h 306"/>
              <a:gd name="T16" fmla="*/ 1043 w 1445"/>
              <a:gd name="T17" fmla="*/ 18 h 306"/>
              <a:gd name="T18" fmla="*/ 1119 w 1445"/>
              <a:gd name="T19" fmla="*/ 40 h 306"/>
              <a:gd name="T20" fmla="*/ 1217 w 1445"/>
              <a:gd name="T21" fmla="*/ 84 h 306"/>
              <a:gd name="T22" fmla="*/ 1336 w 1445"/>
              <a:gd name="T23" fmla="*/ 132 h 306"/>
              <a:gd name="T24" fmla="*/ 1445 w 1445"/>
              <a:gd name="T25" fmla="*/ 16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5" h="306">
                <a:moveTo>
                  <a:pt x="0" y="306"/>
                </a:moveTo>
                <a:cubicBezTo>
                  <a:pt x="5" y="304"/>
                  <a:pt x="12" y="305"/>
                  <a:pt x="16" y="301"/>
                </a:cubicBezTo>
                <a:cubicBezTo>
                  <a:pt x="24" y="293"/>
                  <a:pt x="21" y="278"/>
                  <a:pt x="27" y="268"/>
                </a:cubicBezTo>
                <a:cubicBezTo>
                  <a:pt x="33" y="257"/>
                  <a:pt x="41" y="247"/>
                  <a:pt x="48" y="236"/>
                </a:cubicBezTo>
                <a:cubicBezTo>
                  <a:pt x="58" y="221"/>
                  <a:pt x="117" y="177"/>
                  <a:pt x="125" y="171"/>
                </a:cubicBezTo>
                <a:cubicBezTo>
                  <a:pt x="159" y="146"/>
                  <a:pt x="186" y="117"/>
                  <a:pt x="228" y="105"/>
                </a:cubicBezTo>
                <a:cubicBezTo>
                  <a:pt x="249" y="91"/>
                  <a:pt x="273" y="79"/>
                  <a:pt x="298" y="73"/>
                </a:cubicBezTo>
                <a:cubicBezTo>
                  <a:pt x="394" y="11"/>
                  <a:pt x="526" y="10"/>
                  <a:pt x="635" y="2"/>
                </a:cubicBezTo>
                <a:cubicBezTo>
                  <a:pt x="773" y="5"/>
                  <a:pt x="907" y="0"/>
                  <a:pt x="1043" y="18"/>
                </a:cubicBezTo>
                <a:cubicBezTo>
                  <a:pt x="1068" y="27"/>
                  <a:pt x="1093" y="34"/>
                  <a:pt x="1119" y="40"/>
                </a:cubicBezTo>
                <a:cubicBezTo>
                  <a:pt x="1150" y="63"/>
                  <a:pt x="1183" y="68"/>
                  <a:pt x="1217" y="84"/>
                </a:cubicBezTo>
                <a:cubicBezTo>
                  <a:pt x="1257" y="104"/>
                  <a:pt x="1293" y="119"/>
                  <a:pt x="1336" y="132"/>
                </a:cubicBezTo>
                <a:cubicBezTo>
                  <a:pt x="1370" y="142"/>
                  <a:pt x="1410" y="165"/>
                  <a:pt x="1445" y="165"/>
                </a:cubicBezTo>
              </a:path>
            </a:pathLst>
          </a:custGeom>
          <a:noFill/>
          <a:ln w="38100" cap="flat" cmpd="sng">
            <a:solidFill>
              <a:srgbClr val="00CC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3" name="Freeform 57">
            <a:extLst>
              <a:ext uri="{FF2B5EF4-FFF2-40B4-BE49-F238E27FC236}">
                <a16:creationId xmlns:a16="http://schemas.microsoft.com/office/drawing/2014/main" id="{600568A5-A430-CCE9-B5D1-0806FB8711E3}"/>
              </a:ext>
            </a:extLst>
          </p:cNvPr>
          <p:cNvSpPr>
            <a:spLocks/>
          </p:cNvSpPr>
          <p:nvPr/>
        </p:nvSpPr>
        <p:spPr bwMode="auto">
          <a:xfrm>
            <a:off x="2105025" y="3994150"/>
            <a:ext cx="1733550" cy="449263"/>
          </a:xfrm>
          <a:custGeom>
            <a:avLst/>
            <a:gdLst>
              <a:gd name="T0" fmla="*/ 0 w 1092"/>
              <a:gd name="T1" fmla="*/ 0 h 283"/>
              <a:gd name="T2" fmla="*/ 130 w 1092"/>
              <a:gd name="T3" fmla="*/ 54 h 283"/>
              <a:gd name="T4" fmla="*/ 326 w 1092"/>
              <a:gd name="T5" fmla="*/ 147 h 283"/>
              <a:gd name="T6" fmla="*/ 397 w 1092"/>
              <a:gd name="T7" fmla="*/ 174 h 283"/>
              <a:gd name="T8" fmla="*/ 527 w 1092"/>
              <a:gd name="T9" fmla="*/ 217 h 283"/>
              <a:gd name="T10" fmla="*/ 1092 w 1092"/>
              <a:gd name="T11" fmla="*/ 272 h 283"/>
            </a:gdLst>
            <a:ahLst/>
            <a:cxnLst>
              <a:cxn ang="0">
                <a:pos x="T0" y="T1"/>
              </a:cxn>
              <a:cxn ang="0">
                <a:pos x="T2" y="T3"/>
              </a:cxn>
              <a:cxn ang="0">
                <a:pos x="T4" y="T5"/>
              </a:cxn>
              <a:cxn ang="0">
                <a:pos x="T6" y="T7"/>
              </a:cxn>
              <a:cxn ang="0">
                <a:pos x="T8" y="T9"/>
              </a:cxn>
              <a:cxn ang="0">
                <a:pos x="T10" y="T11"/>
              </a:cxn>
            </a:cxnLst>
            <a:rect l="0" t="0" r="r" b="b"/>
            <a:pathLst>
              <a:path w="1092" h="283">
                <a:moveTo>
                  <a:pt x="0" y="0"/>
                </a:moveTo>
                <a:cubicBezTo>
                  <a:pt x="47" y="9"/>
                  <a:pt x="84" y="40"/>
                  <a:pt x="130" y="54"/>
                </a:cubicBezTo>
                <a:cubicBezTo>
                  <a:pt x="184" y="96"/>
                  <a:pt x="261" y="129"/>
                  <a:pt x="326" y="147"/>
                </a:cubicBezTo>
                <a:cubicBezTo>
                  <a:pt x="348" y="162"/>
                  <a:pt x="373" y="163"/>
                  <a:pt x="397" y="174"/>
                </a:cubicBezTo>
                <a:cubicBezTo>
                  <a:pt x="439" y="193"/>
                  <a:pt x="481" y="209"/>
                  <a:pt x="527" y="217"/>
                </a:cubicBezTo>
                <a:cubicBezTo>
                  <a:pt x="704" y="283"/>
                  <a:pt x="907" y="272"/>
                  <a:pt x="1092" y="272"/>
                </a:cubicBezTo>
              </a:path>
            </a:pathLst>
          </a:custGeom>
          <a:noFill/>
          <a:ln w="38100" cap="flat" cmpd="sng">
            <a:solidFill>
              <a:srgbClr val="00CC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CA"/>
          </a:p>
        </p:txBody>
      </p:sp>
      <p:sp>
        <p:nvSpPr>
          <p:cNvPr id="14394" name="Oval 58">
            <a:extLst>
              <a:ext uri="{FF2B5EF4-FFF2-40B4-BE49-F238E27FC236}">
                <a16:creationId xmlns:a16="http://schemas.microsoft.com/office/drawing/2014/main" id="{33589CAC-E491-720A-1614-5D73BDF74302}"/>
              </a:ext>
            </a:extLst>
          </p:cNvPr>
          <p:cNvSpPr>
            <a:spLocks noChangeArrowheads="1"/>
          </p:cNvSpPr>
          <p:nvPr/>
        </p:nvSpPr>
        <p:spPr bwMode="auto">
          <a:xfrm>
            <a:off x="4341813" y="3579813"/>
            <a:ext cx="152400" cy="152400"/>
          </a:xfrm>
          <a:prstGeom prst="ellipse">
            <a:avLst/>
          </a:prstGeom>
          <a:noFill/>
          <a:ln w="38100">
            <a:solidFill>
              <a:srgbClr val="00CC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95" name="Oval 59">
            <a:extLst>
              <a:ext uri="{FF2B5EF4-FFF2-40B4-BE49-F238E27FC236}">
                <a16:creationId xmlns:a16="http://schemas.microsoft.com/office/drawing/2014/main" id="{B0D3616A-A177-2C34-DC24-4A00EC947986}"/>
              </a:ext>
            </a:extLst>
          </p:cNvPr>
          <p:cNvSpPr>
            <a:spLocks noChangeArrowheads="1"/>
          </p:cNvSpPr>
          <p:nvPr/>
        </p:nvSpPr>
        <p:spPr bwMode="auto">
          <a:xfrm>
            <a:off x="3844925" y="3689350"/>
            <a:ext cx="152400" cy="152400"/>
          </a:xfrm>
          <a:prstGeom prst="ellipse">
            <a:avLst/>
          </a:prstGeom>
          <a:noFill/>
          <a:ln w="38100">
            <a:solidFill>
              <a:srgbClr val="00CC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96" name="Oval 60">
            <a:extLst>
              <a:ext uri="{FF2B5EF4-FFF2-40B4-BE49-F238E27FC236}">
                <a16:creationId xmlns:a16="http://schemas.microsoft.com/office/drawing/2014/main" id="{9C817C88-DD02-04E2-5C1D-CDD474552A99}"/>
              </a:ext>
            </a:extLst>
          </p:cNvPr>
          <p:cNvSpPr>
            <a:spLocks noChangeArrowheads="1"/>
          </p:cNvSpPr>
          <p:nvPr/>
        </p:nvSpPr>
        <p:spPr bwMode="auto">
          <a:xfrm>
            <a:off x="3833813" y="4384675"/>
            <a:ext cx="152400" cy="152400"/>
          </a:xfrm>
          <a:prstGeom prst="ellipse">
            <a:avLst/>
          </a:prstGeom>
          <a:noFill/>
          <a:ln w="38100">
            <a:solidFill>
              <a:srgbClr val="00CC00"/>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CA"/>
          </a:p>
        </p:txBody>
      </p:sp>
      <p:sp>
        <p:nvSpPr>
          <p:cNvPr id="14397" name="AutoShape 61">
            <a:extLst>
              <a:ext uri="{FF2B5EF4-FFF2-40B4-BE49-F238E27FC236}">
                <a16:creationId xmlns:a16="http://schemas.microsoft.com/office/drawing/2014/main" id="{812DBA19-FFA3-BD64-D9D7-8D98B3590B92}"/>
              </a:ext>
            </a:extLst>
          </p:cNvPr>
          <p:cNvSpPr>
            <a:spLocks noChangeArrowheads="1"/>
          </p:cNvSpPr>
          <p:nvPr/>
        </p:nvSpPr>
        <p:spPr bwMode="auto">
          <a:xfrm>
            <a:off x="4441825" y="6097588"/>
            <a:ext cx="1758950" cy="381000"/>
          </a:xfrm>
          <a:prstGeom prst="wedgeRectCallout">
            <a:avLst>
              <a:gd name="adj1" fmla="val 64713"/>
              <a:gd name="adj2" fmla="val -86250"/>
            </a:avLst>
          </a:prstGeom>
          <a:solidFill>
            <a:srgbClr val="CC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spcBef>
                <a:spcPct val="50000"/>
              </a:spcBef>
              <a:buClr>
                <a:schemeClr val="tx1"/>
              </a:buClr>
            </a:pPr>
            <a:r>
              <a:rPr lang="en-US" altLang="en-US" sz="2000">
                <a:latin typeface="Tahoma" panose="020B0604030504040204" pitchFamily="34" charset="0"/>
              </a:rPr>
              <a:t>Linear SVM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FD00AB1-526E-6D59-1D43-1E8FC02AC6B5}"/>
              </a:ext>
            </a:extLst>
          </p:cNvPr>
          <p:cNvSpPr>
            <a:spLocks noGrp="1" noChangeArrowheads="1"/>
          </p:cNvSpPr>
          <p:nvPr>
            <p:ph type="title"/>
          </p:nvPr>
        </p:nvSpPr>
        <p:spPr/>
        <p:txBody>
          <a:bodyPr/>
          <a:lstStyle/>
          <a:p>
            <a:r>
              <a:rPr lang="en-US" altLang="en-US"/>
              <a:t>Large-margin Decision Boundary</a:t>
            </a:r>
          </a:p>
        </p:txBody>
      </p:sp>
      <p:sp>
        <p:nvSpPr>
          <p:cNvPr id="12291" name="Rectangle 3">
            <a:extLst>
              <a:ext uri="{FF2B5EF4-FFF2-40B4-BE49-F238E27FC236}">
                <a16:creationId xmlns:a16="http://schemas.microsoft.com/office/drawing/2014/main" id="{C8B96D15-A045-9037-C729-13A20AD5744D}"/>
              </a:ext>
            </a:extLst>
          </p:cNvPr>
          <p:cNvSpPr>
            <a:spLocks noGrp="1" noChangeArrowheads="1"/>
          </p:cNvSpPr>
          <p:nvPr>
            <p:ph type="body" idx="1"/>
          </p:nvPr>
        </p:nvSpPr>
        <p:spPr/>
        <p:txBody>
          <a:bodyPr/>
          <a:lstStyle/>
          <a:p>
            <a:r>
              <a:rPr lang="en-US" altLang="en-US" sz="2000" dirty="0"/>
              <a:t>The decision boundary should be as far away from the data of both classes as possible</a:t>
            </a:r>
          </a:p>
          <a:p>
            <a:pPr lvl="1"/>
            <a:r>
              <a:rPr lang="en-US" altLang="en-US" sz="2000" dirty="0"/>
              <a:t>We should maximize </a:t>
            </a:r>
            <a:r>
              <a:rPr lang="en-US" altLang="en-US" sz="2000" b="1" dirty="0">
                <a:highlight>
                  <a:srgbClr val="FFFF00"/>
                </a:highlight>
              </a:rPr>
              <a:t>the margin, </a:t>
            </a:r>
            <a:r>
              <a:rPr lang="en-US" altLang="en-US" sz="2000" b="1" i="1" dirty="0">
                <a:highlight>
                  <a:srgbClr val="FFFF00"/>
                </a:highlight>
              </a:rPr>
              <a:t>m</a:t>
            </a:r>
            <a:endParaRPr lang="en-US" altLang="en-US" sz="2000" b="1" dirty="0">
              <a:highlight>
                <a:srgbClr val="FFFF00"/>
              </a:highlight>
            </a:endParaRPr>
          </a:p>
          <a:p>
            <a:pPr lvl="1"/>
            <a:r>
              <a:rPr lang="en-US" altLang="en-US" sz="2000" dirty="0"/>
              <a:t>Distance between the origin and the line </a:t>
            </a:r>
            <a:r>
              <a:rPr lang="en-US" altLang="en-US" sz="2000" b="1" dirty="0" err="1"/>
              <a:t>w</a:t>
            </a:r>
            <a:r>
              <a:rPr lang="en-US" altLang="en-US" sz="2000" baseline="30000" dirty="0" err="1"/>
              <a:t>t</a:t>
            </a:r>
            <a:r>
              <a:rPr lang="en-US" altLang="en-US" sz="2000" b="1" dirty="0" err="1"/>
              <a:t>x</a:t>
            </a:r>
            <a:r>
              <a:rPr lang="en-US" altLang="en-US" sz="2000" dirty="0"/>
              <a:t>=k is k/||</a:t>
            </a:r>
            <a:r>
              <a:rPr lang="en-US" altLang="en-US" sz="2000" b="1" dirty="0"/>
              <a:t>w</a:t>
            </a:r>
            <a:r>
              <a:rPr lang="en-US" altLang="en-US" sz="2000" dirty="0"/>
              <a:t>||</a:t>
            </a:r>
          </a:p>
        </p:txBody>
      </p:sp>
      <p:sp>
        <p:nvSpPr>
          <p:cNvPr id="12292" name="Line 4">
            <a:extLst>
              <a:ext uri="{FF2B5EF4-FFF2-40B4-BE49-F238E27FC236}">
                <a16:creationId xmlns:a16="http://schemas.microsoft.com/office/drawing/2014/main" id="{038CBAFA-ACCB-C6A4-9C81-DFC6DAA30451}"/>
              </a:ext>
            </a:extLst>
          </p:cNvPr>
          <p:cNvSpPr>
            <a:spLocks noChangeShapeType="1"/>
          </p:cNvSpPr>
          <p:nvPr/>
        </p:nvSpPr>
        <p:spPr bwMode="auto">
          <a:xfrm flipV="1">
            <a:off x="838200" y="2667000"/>
            <a:ext cx="0" cy="32004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12293" name="Line 5">
            <a:extLst>
              <a:ext uri="{FF2B5EF4-FFF2-40B4-BE49-F238E27FC236}">
                <a16:creationId xmlns:a16="http://schemas.microsoft.com/office/drawing/2014/main" id="{C08EBA9D-F610-C95E-6A63-59E9D74643B5}"/>
              </a:ext>
            </a:extLst>
          </p:cNvPr>
          <p:cNvSpPr>
            <a:spLocks noChangeShapeType="1"/>
          </p:cNvSpPr>
          <p:nvPr/>
        </p:nvSpPr>
        <p:spPr bwMode="auto">
          <a:xfrm flipV="1">
            <a:off x="838200" y="5867400"/>
            <a:ext cx="30480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12294" name="Oval 6">
            <a:extLst>
              <a:ext uri="{FF2B5EF4-FFF2-40B4-BE49-F238E27FC236}">
                <a16:creationId xmlns:a16="http://schemas.microsoft.com/office/drawing/2014/main" id="{0F54BE12-EB87-D227-2675-991A3E151E9C}"/>
              </a:ext>
            </a:extLst>
          </p:cNvPr>
          <p:cNvSpPr>
            <a:spLocks noChangeArrowheads="1"/>
          </p:cNvSpPr>
          <p:nvPr/>
        </p:nvSpPr>
        <p:spPr bwMode="auto">
          <a:xfrm>
            <a:off x="2895600" y="3276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95" name="Oval 7">
            <a:extLst>
              <a:ext uri="{FF2B5EF4-FFF2-40B4-BE49-F238E27FC236}">
                <a16:creationId xmlns:a16="http://schemas.microsoft.com/office/drawing/2014/main" id="{57E0B56C-2705-B421-0C9F-8F4269456A0F}"/>
              </a:ext>
            </a:extLst>
          </p:cNvPr>
          <p:cNvSpPr>
            <a:spLocks noChangeArrowheads="1"/>
          </p:cNvSpPr>
          <p:nvPr/>
        </p:nvSpPr>
        <p:spPr bwMode="auto">
          <a:xfrm>
            <a:off x="3124200" y="38862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96" name="Oval 8">
            <a:extLst>
              <a:ext uri="{FF2B5EF4-FFF2-40B4-BE49-F238E27FC236}">
                <a16:creationId xmlns:a16="http://schemas.microsoft.com/office/drawing/2014/main" id="{E0E3B49D-DD51-6277-F373-359E013C2CB5}"/>
              </a:ext>
            </a:extLst>
          </p:cNvPr>
          <p:cNvSpPr>
            <a:spLocks noChangeArrowheads="1"/>
          </p:cNvSpPr>
          <p:nvPr/>
        </p:nvSpPr>
        <p:spPr bwMode="auto">
          <a:xfrm>
            <a:off x="3962400" y="41148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97" name="Oval 9">
            <a:extLst>
              <a:ext uri="{FF2B5EF4-FFF2-40B4-BE49-F238E27FC236}">
                <a16:creationId xmlns:a16="http://schemas.microsoft.com/office/drawing/2014/main" id="{DB4FCA11-B551-9C64-F5F6-163D58B0DE4C}"/>
              </a:ext>
            </a:extLst>
          </p:cNvPr>
          <p:cNvSpPr>
            <a:spLocks noChangeArrowheads="1"/>
          </p:cNvSpPr>
          <p:nvPr/>
        </p:nvSpPr>
        <p:spPr bwMode="auto">
          <a:xfrm>
            <a:off x="2438400" y="34290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98" name="Oval 10">
            <a:extLst>
              <a:ext uri="{FF2B5EF4-FFF2-40B4-BE49-F238E27FC236}">
                <a16:creationId xmlns:a16="http://schemas.microsoft.com/office/drawing/2014/main" id="{99895322-F51F-75A4-089C-07288593710D}"/>
              </a:ext>
            </a:extLst>
          </p:cNvPr>
          <p:cNvSpPr>
            <a:spLocks noChangeArrowheads="1"/>
          </p:cNvSpPr>
          <p:nvPr/>
        </p:nvSpPr>
        <p:spPr bwMode="auto">
          <a:xfrm>
            <a:off x="3429000" y="4419600"/>
            <a:ext cx="152400" cy="1524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299" name="Rectangle 11">
            <a:extLst>
              <a:ext uri="{FF2B5EF4-FFF2-40B4-BE49-F238E27FC236}">
                <a16:creationId xmlns:a16="http://schemas.microsoft.com/office/drawing/2014/main" id="{3295807E-377E-AE17-1189-274E5FA705DF}"/>
              </a:ext>
            </a:extLst>
          </p:cNvPr>
          <p:cNvSpPr>
            <a:spLocks noChangeArrowheads="1"/>
          </p:cNvSpPr>
          <p:nvPr/>
        </p:nvSpPr>
        <p:spPr bwMode="auto">
          <a:xfrm>
            <a:off x="1143000" y="43434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0" name="Rectangle 12">
            <a:extLst>
              <a:ext uri="{FF2B5EF4-FFF2-40B4-BE49-F238E27FC236}">
                <a16:creationId xmlns:a16="http://schemas.microsoft.com/office/drawing/2014/main" id="{2789EF46-9296-6AEF-19EB-945A26C2A2F4}"/>
              </a:ext>
            </a:extLst>
          </p:cNvPr>
          <p:cNvSpPr>
            <a:spLocks noChangeArrowheads="1"/>
          </p:cNvSpPr>
          <p:nvPr/>
        </p:nvSpPr>
        <p:spPr bwMode="auto">
          <a:xfrm>
            <a:off x="2362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1" name="Rectangle 13">
            <a:extLst>
              <a:ext uri="{FF2B5EF4-FFF2-40B4-BE49-F238E27FC236}">
                <a16:creationId xmlns:a16="http://schemas.microsoft.com/office/drawing/2014/main" id="{6BE45064-839E-4B3C-B83B-EE6ACF6D7BFC}"/>
              </a:ext>
            </a:extLst>
          </p:cNvPr>
          <p:cNvSpPr>
            <a:spLocks noChangeArrowheads="1"/>
          </p:cNvSpPr>
          <p:nvPr/>
        </p:nvSpPr>
        <p:spPr bwMode="auto">
          <a:xfrm>
            <a:off x="2209800" y="52578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2" name="Rectangle 14">
            <a:extLst>
              <a:ext uri="{FF2B5EF4-FFF2-40B4-BE49-F238E27FC236}">
                <a16:creationId xmlns:a16="http://schemas.microsoft.com/office/drawing/2014/main" id="{18FD9D3D-B455-3C1D-C4F4-E2DD771F21E5}"/>
              </a:ext>
            </a:extLst>
          </p:cNvPr>
          <p:cNvSpPr>
            <a:spLocks noChangeArrowheads="1"/>
          </p:cNvSpPr>
          <p:nvPr/>
        </p:nvSpPr>
        <p:spPr bwMode="auto">
          <a:xfrm>
            <a:off x="1600200" y="4800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3" name="Rectangle 15">
            <a:extLst>
              <a:ext uri="{FF2B5EF4-FFF2-40B4-BE49-F238E27FC236}">
                <a16:creationId xmlns:a16="http://schemas.microsoft.com/office/drawing/2014/main" id="{2E51731D-9B73-8265-40C2-CE2EAE34649F}"/>
              </a:ext>
            </a:extLst>
          </p:cNvPr>
          <p:cNvSpPr>
            <a:spLocks noChangeArrowheads="1"/>
          </p:cNvSpPr>
          <p:nvPr/>
        </p:nvSpPr>
        <p:spPr bwMode="auto">
          <a:xfrm>
            <a:off x="1295400" y="5181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4" name="Rectangle 16">
            <a:extLst>
              <a:ext uri="{FF2B5EF4-FFF2-40B4-BE49-F238E27FC236}">
                <a16:creationId xmlns:a16="http://schemas.microsoft.com/office/drawing/2014/main" id="{FDF7B92D-23F7-6984-0160-43E235C5CA9D}"/>
              </a:ext>
            </a:extLst>
          </p:cNvPr>
          <p:cNvSpPr>
            <a:spLocks noChangeArrowheads="1"/>
          </p:cNvSpPr>
          <p:nvPr/>
        </p:nvSpPr>
        <p:spPr bwMode="auto">
          <a:xfrm>
            <a:off x="1447800" y="4038600"/>
            <a:ext cx="152400" cy="1524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12305" name="Text Box 17">
            <a:extLst>
              <a:ext uri="{FF2B5EF4-FFF2-40B4-BE49-F238E27FC236}">
                <a16:creationId xmlns:a16="http://schemas.microsoft.com/office/drawing/2014/main" id="{CD5A1189-B305-ACF5-E9DC-C2CCFF06A1D1}"/>
              </a:ext>
            </a:extLst>
          </p:cNvPr>
          <p:cNvSpPr txBox="1">
            <a:spLocks noChangeArrowheads="1"/>
          </p:cNvSpPr>
          <p:nvPr/>
        </p:nvSpPr>
        <p:spPr bwMode="auto">
          <a:xfrm>
            <a:off x="1143000" y="5383213"/>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1</a:t>
            </a:r>
          </a:p>
        </p:txBody>
      </p:sp>
      <p:sp>
        <p:nvSpPr>
          <p:cNvPr id="12306" name="Text Box 18">
            <a:extLst>
              <a:ext uri="{FF2B5EF4-FFF2-40B4-BE49-F238E27FC236}">
                <a16:creationId xmlns:a16="http://schemas.microsoft.com/office/drawing/2014/main" id="{740B43F4-3BE0-3D3B-8B39-6E8EA0B4833F}"/>
              </a:ext>
            </a:extLst>
          </p:cNvPr>
          <p:cNvSpPr txBox="1">
            <a:spLocks noChangeArrowheads="1"/>
          </p:cNvSpPr>
          <p:nvPr/>
        </p:nvSpPr>
        <p:spPr bwMode="auto">
          <a:xfrm>
            <a:off x="3581400" y="41910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12307" name="Line 19">
            <a:extLst>
              <a:ext uri="{FF2B5EF4-FFF2-40B4-BE49-F238E27FC236}">
                <a16:creationId xmlns:a16="http://schemas.microsoft.com/office/drawing/2014/main" id="{C0789E2C-64FE-ED8D-AAA5-30F4A8C3DD88}"/>
              </a:ext>
            </a:extLst>
          </p:cNvPr>
          <p:cNvSpPr>
            <a:spLocks noChangeShapeType="1"/>
          </p:cNvSpPr>
          <p:nvPr/>
        </p:nvSpPr>
        <p:spPr bwMode="auto">
          <a:xfrm>
            <a:off x="1905000" y="2895600"/>
            <a:ext cx="2514600" cy="25146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12308" name="Line 20">
            <a:extLst>
              <a:ext uri="{FF2B5EF4-FFF2-40B4-BE49-F238E27FC236}">
                <a16:creationId xmlns:a16="http://schemas.microsoft.com/office/drawing/2014/main" id="{D5A3323F-8875-9CB2-5646-135D08DB1BE1}"/>
              </a:ext>
            </a:extLst>
          </p:cNvPr>
          <p:cNvSpPr>
            <a:spLocks noChangeShapeType="1"/>
          </p:cNvSpPr>
          <p:nvPr/>
        </p:nvSpPr>
        <p:spPr bwMode="auto">
          <a:xfrm>
            <a:off x="914400" y="3276600"/>
            <a:ext cx="2971800" cy="2971800"/>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12309" name="Line 21">
            <a:extLst>
              <a:ext uri="{FF2B5EF4-FFF2-40B4-BE49-F238E27FC236}">
                <a16:creationId xmlns:a16="http://schemas.microsoft.com/office/drawing/2014/main" id="{390F0BCF-0B1D-B26A-D97B-4EC94E5F9041}"/>
              </a:ext>
            </a:extLst>
          </p:cNvPr>
          <p:cNvSpPr>
            <a:spLocks noChangeShapeType="1"/>
          </p:cNvSpPr>
          <p:nvPr/>
        </p:nvSpPr>
        <p:spPr bwMode="auto">
          <a:xfrm>
            <a:off x="914400" y="2590800"/>
            <a:ext cx="3886200" cy="3886200"/>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12310" name="Picture 22">
            <a:extLst>
              <a:ext uri="{FF2B5EF4-FFF2-40B4-BE49-F238E27FC236}">
                <a16:creationId xmlns:a16="http://schemas.microsoft.com/office/drawing/2014/main" id="{EE92A09B-C885-AF3D-ECC0-394B0695FED7}"/>
              </a:ext>
            </a:extLst>
          </p:cNvPr>
          <p:cNvPicPr>
            <a:picLocks noChangeAspect="1" noChangeArrowheads="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4648200" y="5943600"/>
            <a:ext cx="20574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11" name="Picture 23">
            <a:extLst>
              <a:ext uri="{FF2B5EF4-FFF2-40B4-BE49-F238E27FC236}">
                <a16:creationId xmlns:a16="http://schemas.microsoft.com/office/drawing/2014/main" id="{1567016A-5907-6E84-AC5B-BFFFABC2DAA7}"/>
              </a:ext>
            </a:extLst>
          </p:cNvPr>
          <p:cNvPicPr>
            <a:picLocks noChangeAspect="1" noChangeArrowheads="1"/>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4343400" y="4800600"/>
            <a:ext cx="203993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12" name="Picture 24">
            <a:extLst>
              <a:ext uri="{FF2B5EF4-FFF2-40B4-BE49-F238E27FC236}">
                <a16:creationId xmlns:a16="http://schemas.microsoft.com/office/drawing/2014/main" id="{FCBD4E4F-CC18-08ED-4211-A387AFBD6EEA}"/>
              </a:ext>
            </a:extLst>
          </p:cNvPr>
          <p:cNvPicPr>
            <a:picLocks noChangeAspect="1" noChangeArrowheads="1"/>
          </p:cNvPicPr>
          <p:nvPr>
            <p:custDataLst>
              <p:tags r:id="rId3"/>
            </p:custDataLst>
          </p:nvPr>
        </p:nvPicPr>
        <p:blipFill>
          <a:blip r:embed="rId10">
            <a:extLst>
              <a:ext uri="{28A0092B-C50C-407E-A947-70E740481C1C}">
                <a14:useLocalDpi xmlns:a14="http://schemas.microsoft.com/office/drawing/2010/main" val="0"/>
              </a:ext>
            </a:extLst>
          </a:blip>
          <a:srcRect/>
          <a:stretch>
            <a:fillRect/>
          </a:stretch>
        </p:blipFill>
        <p:spPr bwMode="auto">
          <a:xfrm>
            <a:off x="1295400" y="6019800"/>
            <a:ext cx="23082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13" name="Line 25">
            <a:extLst>
              <a:ext uri="{FF2B5EF4-FFF2-40B4-BE49-F238E27FC236}">
                <a16:creationId xmlns:a16="http://schemas.microsoft.com/office/drawing/2014/main" id="{B7557C1B-AB93-6E17-D991-55A43CA11343}"/>
              </a:ext>
            </a:extLst>
          </p:cNvPr>
          <p:cNvSpPr>
            <a:spLocks noChangeShapeType="1"/>
          </p:cNvSpPr>
          <p:nvPr/>
        </p:nvSpPr>
        <p:spPr bwMode="auto">
          <a:xfrm flipH="1">
            <a:off x="3352800" y="5057775"/>
            <a:ext cx="723900" cy="733425"/>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12314" name="Picture 26">
            <a:extLst>
              <a:ext uri="{FF2B5EF4-FFF2-40B4-BE49-F238E27FC236}">
                <a16:creationId xmlns:a16="http://schemas.microsoft.com/office/drawing/2014/main" id="{B509B5D5-2E5A-E824-6437-EDBB1D9689F0}"/>
              </a:ext>
            </a:extLst>
          </p:cNvPr>
          <p:cNvPicPr>
            <a:picLocks noChangeAspect="1" noChangeArrowheads="1"/>
          </p:cNvPicPr>
          <p:nvPr>
            <p:custDataLst>
              <p:tags r:id="rId4"/>
            </p:custDataLst>
          </p:nvPr>
        </p:nvPicPr>
        <p:blipFill>
          <a:blip r:embed="rId11">
            <a:extLst>
              <a:ext uri="{28A0092B-C50C-407E-A947-70E740481C1C}">
                <a14:useLocalDpi xmlns:a14="http://schemas.microsoft.com/office/drawing/2010/main" val="0"/>
              </a:ext>
            </a:extLst>
          </a:blip>
          <a:srcRect/>
          <a:stretch>
            <a:fillRect/>
          </a:stretch>
        </p:blipFill>
        <p:spPr bwMode="auto">
          <a:xfrm>
            <a:off x="6172200" y="3276600"/>
            <a:ext cx="1752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15" name="Text Box 27">
            <a:extLst>
              <a:ext uri="{FF2B5EF4-FFF2-40B4-BE49-F238E27FC236}">
                <a16:creationId xmlns:a16="http://schemas.microsoft.com/office/drawing/2014/main" id="{77E8CF09-D292-0EFC-8B27-BD6316444E62}"/>
              </a:ext>
            </a:extLst>
          </p:cNvPr>
          <p:cNvSpPr txBox="1">
            <a:spLocks noChangeArrowheads="1"/>
          </p:cNvSpPr>
          <p:nvPr/>
        </p:nvSpPr>
        <p:spPr bwMode="auto">
          <a:xfrm>
            <a:off x="3276600" y="5181600"/>
            <a:ext cx="43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i="1">
                <a:solidFill>
                  <a:srgbClr val="CC00CC"/>
                </a:solidFill>
                <a:latin typeface="Tahoma" panose="020B0604030504040204" pitchFamily="34" charset="0"/>
              </a:rPr>
              <a:t>m</a:t>
            </a:r>
          </a:p>
        </p:txBody>
      </p:sp>
      <p:sp>
        <p:nvSpPr>
          <p:cNvPr id="12316" name="Line 28">
            <a:extLst>
              <a:ext uri="{FF2B5EF4-FFF2-40B4-BE49-F238E27FC236}">
                <a16:creationId xmlns:a16="http://schemas.microsoft.com/office/drawing/2014/main" id="{07CCF48E-4007-6F61-6997-116AD34855A4}"/>
              </a:ext>
            </a:extLst>
          </p:cNvPr>
          <p:cNvSpPr>
            <a:spLocks noChangeShapeType="1"/>
          </p:cNvSpPr>
          <p:nvPr/>
        </p:nvSpPr>
        <p:spPr bwMode="auto">
          <a:xfrm flipV="1">
            <a:off x="2057400" y="3276600"/>
            <a:ext cx="1600200" cy="1676400"/>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12317" name="Picture 29">
            <a:extLst>
              <a:ext uri="{FF2B5EF4-FFF2-40B4-BE49-F238E27FC236}">
                <a16:creationId xmlns:a16="http://schemas.microsoft.com/office/drawing/2014/main" id="{1330A185-CE46-3093-9B5B-90E89CE2E83D}"/>
              </a:ext>
            </a:extLst>
          </p:cNvPr>
          <p:cNvPicPr>
            <a:picLocks noChangeAspect="1" noChangeArrowheads="1"/>
          </p:cNvPicPr>
          <p:nvPr>
            <p:custDataLst>
              <p:tags r:id="rId5"/>
            </p:custDataLst>
          </p:nvPr>
        </p:nvPicPr>
        <p:blipFill>
          <a:blip r:embed="rId12">
            <a:extLst>
              <a:ext uri="{28A0092B-C50C-407E-A947-70E740481C1C}">
                <a14:useLocalDpi xmlns:a14="http://schemas.microsoft.com/office/drawing/2010/main" val="0"/>
              </a:ext>
            </a:extLst>
          </a:blip>
          <a:srcRect/>
          <a:stretch>
            <a:fillRect/>
          </a:stretch>
        </p:blipFill>
        <p:spPr bwMode="auto">
          <a:xfrm>
            <a:off x="3581400" y="3124200"/>
            <a:ext cx="284163"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BD9154C-01CB-2AAF-B611-51716D42DC8E}"/>
              </a:ext>
            </a:extLst>
          </p:cNvPr>
          <p:cNvSpPr>
            <a:spLocks noGrp="1" noChangeArrowheads="1"/>
          </p:cNvSpPr>
          <p:nvPr>
            <p:ph type="title"/>
          </p:nvPr>
        </p:nvSpPr>
        <p:spPr>
          <a:xfrm>
            <a:off x="685800" y="228600"/>
            <a:ext cx="7772400" cy="1143000"/>
          </a:xfrm>
        </p:spPr>
        <p:txBody>
          <a:bodyPr/>
          <a:lstStyle/>
          <a:p>
            <a:r>
              <a:rPr lang="en-US" altLang="en-US" u="sng"/>
              <a:t>Maximizing the margin</a:t>
            </a:r>
          </a:p>
        </p:txBody>
      </p:sp>
      <p:grpSp>
        <p:nvGrpSpPr>
          <p:cNvPr id="27651" name="Group 3">
            <a:extLst>
              <a:ext uri="{FF2B5EF4-FFF2-40B4-BE49-F238E27FC236}">
                <a16:creationId xmlns:a16="http://schemas.microsoft.com/office/drawing/2014/main" id="{842B6632-7E91-56B1-F4BA-1CA83F65B52F}"/>
              </a:ext>
            </a:extLst>
          </p:cNvPr>
          <p:cNvGrpSpPr>
            <a:grpSpLocks/>
          </p:cNvGrpSpPr>
          <p:nvPr/>
        </p:nvGrpSpPr>
        <p:grpSpPr bwMode="auto">
          <a:xfrm>
            <a:off x="5029200" y="1828800"/>
            <a:ext cx="3886200" cy="3200400"/>
            <a:chOff x="2304" y="960"/>
            <a:chExt cx="3600" cy="2832"/>
          </a:xfrm>
        </p:grpSpPr>
        <p:grpSp>
          <p:nvGrpSpPr>
            <p:cNvPr id="27652" name="Group 4">
              <a:extLst>
                <a:ext uri="{FF2B5EF4-FFF2-40B4-BE49-F238E27FC236}">
                  <a16:creationId xmlns:a16="http://schemas.microsoft.com/office/drawing/2014/main" id="{AE6E574F-E19F-BF9F-3718-0359E9ECD27A}"/>
                </a:ext>
              </a:extLst>
            </p:cNvPr>
            <p:cNvGrpSpPr>
              <a:grpSpLocks/>
            </p:cNvGrpSpPr>
            <p:nvPr/>
          </p:nvGrpSpPr>
          <p:grpSpPr bwMode="auto">
            <a:xfrm>
              <a:off x="2304" y="960"/>
              <a:ext cx="3600" cy="2832"/>
              <a:chOff x="672" y="576"/>
              <a:chExt cx="4272" cy="3295"/>
            </a:xfrm>
          </p:grpSpPr>
          <p:pic>
            <p:nvPicPr>
              <p:cNvPr id="27653" name="Picture 5">
                <a:extLst>
                  <a:ext uri="{FF2B5EF4-FFF2-40B4-BE49-F238E27FC236}">
                    <a16:creationId xmlns:a16="http://schemas.microsoft.com/office/drawing/2014/main" id="{FCCD8741-6652-97BE-2CD1-5488FE405A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 y="576"/>
                <a:ext cx="4272" cy="3295"/>
              </a:xfrm>
              <a:prstGeom prst="rect">
                <a:avLst/>
              </a:prstGeom>
              <a:noFill/>
              <a:extLst>
                <a:ext uri="{909E8E84-426E-40DD-AFC4-6F175D3DCCD1}">
                  <a14:hiddenFill xmlns:a14="http://schemas.microsoft.com/office/drawing/2010/main">
                    <a:solidFill>
                      <a:srgbClr val="FFFFFF"/>
                    </a:solidFill>
                  </a14:hiddenFill>
                </a:ext>
              </a:extLst>
            </p:spPr>
          </p:pic>
          <p:sp>
            <p:nvSpPr>
              <p:cNvPr id="27654" name="Oval 6">
                <a:extLst>
                  <a:ext uri="{FF2B5EF4-FFF2-40B4-BE49-F238E27FC236}">
                    <a16:creationId xmlns:a16="http://schemas.microsoft.com/office/drawing/2014/main" id="{0A84F1BC-10A8-2665-AB74-8DA3FA4B39AD}"/>
                  </a:ext>
                </a:extLst>
              </p:cNvPr>
              <p:cNvSpPr>
                <a:spLocks noChangeArrowheads="1"/>
              </p:cNvSpPr>
              <p:nvPr/>
            </p:nvSpPr>
            <p:spPr bwMode="auto">
              <a:xfrm>
                <a:off x="1440" y="2064"/>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55" name="Oval 7">
                <a:extLst>
                  <a:ext uri="{FF2B5EF4-FFF2-40B4-BE49-F238E27FC236}">
                    <a16:creationId xmlns:a16="http://schemas.microsoft.com/office/drawing/2014/main" id="{0D703765-83DF-3710-856B-472A4524F716}"/>
                  </a:ext>
                </a:extLst>
              </p:cNvPr>
              <p:cNvSpPr>
                <a:spLocks noChangeArrowheads="1"/>
              </p:cNvSpPr>
              <p:nvPr/>
            </p:nvSpPr>
            <p:spPr bwMode="auto">
              <a:xfrm>
                <a:off x="1488" y="2352"/>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56" name="Oval 8">
                <a:extLst>
                  <a:ext uri="{FF2B5EF4-FFF2-40B4-BE49-F238E27FC236}">
                    <a16:creationId xmlns:a16="http://schemas.microsoft.com/office/drawing/2014/main" id="{BD767F14-12E3-BD3E-CD4B-8D21CF0D9847}"/>
                  </a:ext>
                </a:extLst>
              </p:cNvPr>
              <p:cNvSpPr>
                <a:spLocks noChangeArrowheads="1"/>
              </p:cNvSpPr>
              <p:nvPr/>
            </p:nvSpPr>
            <p:spPr bwMode="auto">
              <a:xfrm>
                <a:off x="2784" y="2976"/>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57" name="Oval 9">
                <a:extLst>
                  <a:ext uri="{FF2B5EF4-FFF2-40B4-BE49-F238E27FC236}">
                    <a16:creationId xmlns:a16="http://schemas.microsoft.com/office/drawing/2014/main" id="{C1CBE7E9-9186-9ACD-6BE7-7DA05FA17E9D}"/>
                  </a:ext>
                </a:extLst>
              </p:cNvPr>
              <p:cNvSpPr>
                <a:spLocks noChangeArrowheads="1"/>
              </p:cNvSpPr>
              <p:nvPr/>
            </p:nvSpPr>
            <p:spPr bwMode="auto">
              <a:xfrm>
                <a:off x="2208" y="2544"/>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58" name="Oval 10">
                <a:extLst>
                  <a:ext uri="{FF2B5EF4-FFF2-40B4-BE49-F238E27FC236}">
                    <a16:creationId xmlns:a16="http://schemas.microsoft.com/office/drawing/2014/main" id="{E69E4B84-963D-E6DB-D61C-03DE1346E11E}"/>
                  </a:ext>
                </a:extLst>
              </p:cNvPr>
              <p:cNvSpPr>
                <a:spLocks noChangeArrowheads="1"/>
              </p:cNvSpPr>
              <p:nvPr/>
            </p:nvSpPr>
            <p:spPr bwMode="auto">
              <a:xfrm>
                <a:off x="2400" y="3120"/>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59" name="Oval 11">
                <a:extLst>
                  <a:ext uri="{FF2B5EF4-FFF2-40B4-BE49-F238E27FC236}">
                    <a16:creationId xmlns:a16="http://schemas.microsoft.com/office/drawing/2014/main" id="{FF09E0C3-3C57-859D-FFF0-D4B08302902C}"/>
                  </a:ext>
                </a:extLst>
              </p:cNvPr>
              <p:cNvSpPr>
                <a:spLocks noChangeArrowheads="1"/>
              </p:cNvSpPr>
              <p:nvPr/>
            </p:nvSpPr>
            <p:spPr bwMode="auto">
              <a:xfrm>
                <a:off x="2640" y="3216"/>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0" name="Oval 12">
                <a:extLst>
                  <a:ext uri="{FF2B5EF4-FFF2-40B4-BE49-F238E27FC236}">
                    <a16:creationId xmlns:a16="http://schemas.microsoft.com/office/drawing/2014/main" id="{9B88A345-BD01-67D5-F908-36F8AA8104E0}"/>
                  </a:ext>
                </a:extLst>
              </p:cNvPr>
              <p:cNvSpPr>
                <a:spLocks noChangeArrowheads="1"/>
              </p:cNvSpPr>
              <p:nvPr/>
            </p:nvSpPr>
            <p:spPr bwMode="auto">
              <a:xfrm>
                <a:off x="1392" y="2688"/>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1" name="Oval 13">
                <a:extLst>
                  <a:ext uri="{FF2B5EF4-FFF2-40B4-BE49-F238E27FC236}">
                    <a16:creationId xmlns:a16="http://schemas.microsoft.com/office/drawing/2014/main" id="{B07D09F0-1949-EBAC-9910-8F625B4AF6DA}"/>
                  </a:ext>
                </a:extLst>
              </p:cNvPr>
              <p:cNvSpPr>
                <a:spLocks noChangeArrowheads="1"/>
              </p:cNvSpPr>
              <p:nvPr/>
            </p:nvSpPr>
            <p:spPr bwMode="auto">
              <a:xfrm>
                <a:off x="2064" y="2832"/>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2" name="Oval 14">
                <a:extLst>
                  <a:ext uri="{FF2B5EF4-FFF2-40B4-BE49-F238E27FC236}">
                    <a16:creationId xmlns:a16="http://schemas.microsoft.com/office/drawing/2014/main" id="{75146A73-2DAD-FC7B-45BF-FD1B292EC454}"/>
                  </a:ext>
                </a:extLst>
              </p:cNvPr>
              <p:cNvSpPr>
                <a:spLocks noChangeArrowheads="1"/>
              </p:cNvSpPr>
              <p:nvPr/>
            </p:nvSpPr>
            <p:spPr bwMode="auto">
              <a:xfrm>
                <a:off x="2976" y="3696"/>
                <a:ext cx="144" cy="144"/>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3" name="Oval 15">
                <a:extLst>
                  <a:ext uri="{FF2B5EF4-FFF2-40B4-BE49-F238E27FC236}">
                    <a16:creationId xmlns:a16="http://schemas.microsoft.com/office/drawing/2014/main" id="{8E4B231A-4747-4738-36F6-AEB0A28780C7}"/>
                  </a:ext>
                </a:extLst>
              </p:cNvPr>
              <p:cNvSpPr>
                <a:spLocks noChangeArrowheads="1"/>
              </p:cNvSpPr>
              <p:nvPr/>
            </p:nvSpPr>
            <p:spPr bwMode="auto">
              <a:xfrm>
                <a:off x="2304" y="576"/>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4" name="Oval 16">
                <a:extLst>
                  <a:ext uri="{FF2B5EF4-FFF2-40B4-BE49-F238E27FC236}">
                    <a16:creationId xmlns:a16="http://schemas.microsoft.com/office/drawing/2014/main" id="{E9B6470C-2A4E-29C9-548E-455A01587F6F}"/>
                  </a:ext>
                </a:extLst>
              </p:cNvPr>
              <p:cNvSpPr>
                <a:spLocks noChangeArrowheads="1"/>
              </p:cNvSpPr>
              <p:nvPr/>
            </p:nvSpPr>
            <p:spPr bwMode="auto">
              <a:xfrm>
                <a:off x="3168" y="1056"/>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5" name="Oval 17">
                <a:extLst>
                  <a:ext uri="{FF2B5EF4-FFF2-40B4-BE49-F238E27FC236}">
                    <a16:creationId xmlns:a16="http://schemas.microsoft.com/office/drawing/2014/main" id="{8801A6D6-A498-A8E2-983A-24D4AA9D0DFD}"/>
                  </a:ext>
                </a:extLst>
              </p:cNvPr>
              <p:cNvSpPr>
                <a:spLocks noChangeArrowheads="1"/>
              </p:cNvSpPr>
              <p:nvPr/>
            </p:nvSpPr>
            <p:spPr bwMode="auto">
              <a:xfrm>
                <a:off x="3984" y="144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6" name="Oval 18">
                <a:extLst>
                  <a:ext uri="{FF2B5EF4-FFF2-40B4-BE49-F238E27FC236}">
                    <a16:creationId xmlns:a16="http://schemas.microsoft.com/office/drawing/2014/main" id="{08DB75FF-8925-6590-5A8A-A92C680DC668}"/>
                  </a:ext>
                </a:extLst>
              </p:cNvPr>
              <p:cNvSpPr>
                <a:spLocks noChangeArrowheads="1"/>
              </p:cNvSpPr>
              <p:nvPr/>
            </p:nvSpPr>
            <p:spPr bwMode="auto">
              <a:xfrm>
                <a:off x="3840" y="2208"/>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7" name="Oval 19">
                <a:extLst>
                  <a:ext uri="{FF2B5EF4-FFF2-40B4-BE49-F238E27FC236}">
                    <a16:creationId xmlns:a16="http://schemas.microsoft.com/office/drawing/2014/main" id="{C92CF9D5-E1FB-CF65-7E21-80E31B2D7852}"/>
                  </a:ext>
                </a:extLst>
              </p:cNvPr>
              <p:cNvSpPr>
                <a:spLocks noChangeArrowheads="1"/>
              </p:cNvSpPr>
              <p:nvPr/>
            </p:nvSpPr>
            <p:spPr bwMode="auto">
              <a:xfrm>
                <a:off x="2400" y="1248"/>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8" name="Oval 20">
                <a:extLst>
                  <a:ext uri="{FF2B5EF4-FFF2-40B4-BE49-F238E27FC236}">
                    <a16:creationId xmlns:a16="http://schemas.microsoft.com/office/drawing/2014/main" id="{025BF38A-9AD9-4CA5-DCF9-FB4E4F1251B4}"/>
                  </a:ext>
                </a:extLst>
              </p:cNvPr>
              <p:cNvSpPr>
                <a:spLocks noChangeArrowheads="1"/>
              </p:cNvSpPr>
              <p:nvPr/>
            </p:nvSpPr>
            <p:spPr bwMode="auto">
              <a:xfrm>
                <a:off x="2976" y="1680"/>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69" name="Oval 21">
                <a:extLst>
                  <a:ext uri="{FF2B5EF4-FFF2-40B4-BE49-F238E27FC236}">
                    <a16:creationId xmlns:a16="http://schemas.microsoft.com/office/drawing/2014/main" id="{91959AB3-CE32-F693-5273-3DDAB2F0D2A8}"/>
                  </a:ext>
                </a:extLst>
              </p:cNvPr>
              <p:cNvSpPr>
                <a:spLocks noChangeArrowheads="1"/>
              </p:cNvSpPr>
              <p:nvPr/>
            </p:nvSpPr>
            <p:spPr bwMode="auto">
              <a:xfrm>
                <a:off x="3648" y="1968"/>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70" name="Oval 22">
                <a:extLst>
                  <a:ext uri="{FF2B5EF4-FFF2-40B4-BE49-F238E27FC236}">
                    <a16:creationId xmlns:a16="http://schemas.microsoft.com/office/drawing/2014/main" id="{DEBF2015-7BE2-CF45-D928-9619A9D2A53C}"/>
                  </a:ext>
                </a:extLst>
              </p:cNvPr>
              <p:cNvSpPr>
                <a:spLocks noChangeArrowheads="1"/>
              </p:cNvSpPr>
              <p:nvPr/>
            </p:nvSpPr>
            <p:spPr bwMode="auto">
              <a:xfrm>
                <a:off x="2832" y="1392"/>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7671" name="Oval 23">
                <a:extLst>
                  <a:ext uri="{FF2B5EF4-FFF2-40B4-BE49-F238E27FC236}">
                    <a16:creationId xmlns:a16="http://schemas.microsoft.com/office/drawing/2014/main" id="{87476C62-F7C3-CD6A-B834-F3BEE14ECAF9}"/>
                  </a:ext>
                </a:extLst>
              </p:cNvPr>
              <p:cNvSpPr>
                <a:spLocks noChangeArrowheads="1"/>
              </p:cNvSpPr>
              <p:nvPr/>
            </p:nvSpPr>
            <p:spPr bwMode="auto">
              <a:xfrm>
                <a:off x="2448" y="912"/>
                <a:ext cx="144" cy="14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sp>
          <p:nvSpPr>
            <p:cNvPr id="27672" name="Line 24">
              <a:extLst>
                <a:ext uri="{FF2B5EF4-FFF2-40B4-BE49-F238E27FC236}">
                  <a16:creationId xmlns:a16="http://schemas.microsoft.com/office/drawing/2014/main" id="{F1862F2A-9624-4DD0-B0F5-C5A667232F44}"/>
                </a:ext>
              </a:extLst>
            </p:cNvPr>
            <p:cNvSpPr>
              <a:spLocks noChangeShapeType="1"/>
            </p:cNvSpPr>
            <p:nvPr/>
          </p:nvSpPr>
          <p:spPr bwMode="auto">
            <a:xfrm flipV="1">
              <a:off x="3600" y="1680"/>
              <a:ext cx="33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7673" name="Line 25">
              <a:extLst>
                <a:ext uri="{FF2B5EF4-FFF2-40B4-BE49-F238E27FC236}">
                  <a16:creationId xmlns:a16="http://schemas.microsoft.com/office/drawing/2014/main" id="{9B3E01B0-E13D-B8AF-C3E7-9DDD398FFD04}"/>
                </a:ext>
              </a:extLst>
            </p:cNvPr>
            <p:cNvSpPr>
              <a:spLocks noChangeShapeType="1"/>
            </p:cNvSpPr>
            <p:nvPr/>
          </p:nvSpPr>
          <p:spPr bwMode="auto">
            <a:xfrm flipH="1">
              <a:off x="3312" y="2064"/>
              <a:ext cx="336"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7674" name="Rectangle 26">
              <a:extLst>
                <a:ext uri="{FF2B5EF4-FFF2-40B4-BE49-F238E27FC236}">
                  <a16:creationId xmlns:a16="http://schemas.microsoft.com/office/drawing/2014/main" id="{ABA0F6A2-ECAC-BC6C-58D1-E031B07709DC}"/>
                </a:ext>
              </a:extLst>
            </p:cNvPr>
            <p:cNvSpPr>
              <a:spLocks noChangeArrowheads="1"/>
            </p:cNvSpPr>
            <p:nvPr/>
          </p:nvSpPr>
          <p:spPr bwMode="auto">
            <a:xfrm>
              <a:off x="3697" y="1876"/>
              <a:ext cx="411" cy="30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a:t>
              </a:r>
            </a:p>
          </p:txBody>
        </p:sp>
        <p:sp>
          <p:nvSpPr>
            <p:cNvPr id="27675" name="Rectangle 27">
              <a:extLst>
                <a:ext uri="{FF2B5EF4-FFF2-40B4-BE49-F238E27FC236}">
                  <a16:creationId xmlns:a16="http://schemas.microsoft.com/office/drawing/2014/main" id="{3EB4C5D0-B673-1A40-BAAC-0497C60254A2}"/>
                </a:ext>
              </a:extLst>
            </p:cNvPr>
            <p:cNvSpPr>
              <a:spLocks noChangeArrowheads="1"/>
            </p:cNvSpPr>
            <p:nvPr/>
          </p:nvSpPr>
          <p:spPr bwMode="auto">
            <a:xfrm>
              <a:off x="3457" y="2212"/>
              <a:ext cx="359" cy="3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a:t>
              </a:r>
            </a:p>
          </p:txBody>
        </p:sp>
      </p:grpSp>
      <p:sp>
        <p:nvSpPr>
          <p:cNvPr id="27677" name="Text Box 29">
            <a:extLst>
              <a:ext uri="{FF2B5EF4-FFF2-40B4-BE49-F238E27FC236}">
                <a16:creationId xmlns:a16="http://schemas.microsoft.com/office/drawing/2014/main" id="{BF6384F1-2F51-EFAC-9BF2-77BBDB9716D8}"/>
              </a:ext>
            </a:extLst>
          </p:cNvPr>
          <p:cNvSpPr txBox="1">
            <a:spLocks noChangeArrowheads="1"/>
          </p:cNvSpPr>
          <p:nvPr/>
        </p:nvSpPr>
        <p:spPr bwMode="auto">
          <a:xfrm>
            <a:off x="0" y="1149350"/>
            <a:ext cx="721836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2400"/>
              <a:t>We want a classifier with as big margin as possible. </a:t>
            </a:r>
          </a:p>
          <a:p>
            <a:endParaRPr lang="en-US" altLang="en-US" sz="2400">
              <a:solidFill>
                <a:schemeClr val="tx2"/>
              </a:solidFill>
              <a:cs typeface="Arial" panose="020B0604020202020204" pitchFamily="34" charset="0"/>
              <a:sym typeface="Symbol" panose="05050102010706020507" pitchFamily="18" charset="2"/>
            </a:endParaRPr>
          </a:p>
        </p:txBody>
      </p:sp>
      <p:sp>
        <p:nvSpPr>
          <p:cNvPr id="27678" name="Text Box 30">
            <a:extLst>
              <a:ext uri="{FF2B5EF4-FFF2-40B4-BE49-F238E27FC236}">
                <a16:creationId xmlns:a16="http://schemas.microsoft.com/office/drawing/2014/main" id="{6353331C-60E1-6BD3-89EC-9C3C2CB934A6}"/>
              </a:ext>
            </a:extLst>
          </p:cNvPr>
          <p:cNvSpPr txBox="1">
            <a:spLocks noChangeArrowheads="1"/>
          </p:cNvSpPr>
          <p:nvPr/>
        </p:nvSpPr>
        <p:spPr bwMode="auto">
          <a:xfrm>
            <a:off x="0" y="2900363"/>
            <a:ext cx="4924425"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a:t>Recall the distance from a point(x</a:t>
            </a:r>
            <a:r>
              <a:rPr lang="en-US" altLang="en-US" baseline="-25000"/>
              <a:t>0</a:t>
            </a:r>
            <a:r>
              <a:rPr lang="en-US" altLang="en-US"/>
              <a:t>,y</a:t>
            </a:r>
            <a:r>
              <a:rPr lang="en-US" altLang="en-US" baseline="-25000"/>
              <a:t>0</a:t>
            </a:r>
            <a:r>
              <a:rPr lang="en-US" altLang="en-US"/>
              <a:t>) to a line:</a:t>
            </a:r>
          </a:p>
          <a:p>
            <a:r>
              <a:rPr lang="en-US" altLang="en-US"/>
              <a:t>Ax+By+c = 0 is|A x</a:t>
            </a:r>
            <a:r>
              <a:rPr lang="en-US" altLang="en-US" baseline="-25000"/>
              <a:t>0</a:t>
            </a:r>
            <a:r>
              <a:rPr lang="en-US" altLang="en-US"/>
              <a:t> +B y</a:t>
            </a:r>
            <a:r>
              <a:rPr lang="en-US" altLang="en-US" baseline="-25000"/>
              <a:t>0</a:t>
            </a:r>
            <a:r>
              <a:rPr lang="en-US" altLang="en-US"/>
              <a:t> +c|/sqrt(A</a:t>
            </a:r>
            <a:r>
              <a:rPr lang="en-US" altLang="en-US" baseline="30000"/>
              <a:t>2</a:t>
            </a:r>
            <a:r>
              <a:rPr lang="en-US" altLang="en-US"/>
              <a:t>+B</a:t>
            </a:r>
            <a:r>
              <a:rPr lang="en-US" altLang="en-US" baseline="30000"/>
              <a:t>2</a:t>
            </a:r>
            <a:r>
              <a:rPr lang="en-US" altLang="en-US"/>
              <a:t>)</a:t>
            </a:r>
          </a:p>
        </p:txBody>
      </p:sp>
      <p:sp>
        <p:nvSpPr>
          <p:cNvPr id="27679" name="Text Box 31">
            <a:extLst>
              <a:ext uri="{FF2B5EF4-FFF2-40B4-BE49-F238E27FC236}">
                <a16:creationId xmlns:a16="http://schemas.microsoft.com/office/drawing/2014/main" id="{75FDDA1F-9C74-3792-6E2F-8897E44CDE42}"/>
              </a:ext>
            </a:extLst>
          </p:cNvPr>
          <p:cNvSpPr txBox="1">
            <a:spLocks noChangeArrowheads="1"/>
          </p:cNvSpPr>
          <p:nvPr/>
        </p:nvSpPr>
        <p:spPr bwMode="auto">
          <a:xfrm>
            <a:off x="0" y="3738563"/>
            <a:ext cx="184150"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endParaRPr lang="en-US" altLang="en-US"/>
          </a:p>
        </p:txBody>
      </p:sp>
      <p:sp>
        <p:nvSpPr>
          <p:cNvPr id="27680" name="Text Box 32">
            <a:extLst>
              <a:ext uri="{FF2B5EF4-FFF2-40B4-BE49-F238E27FC236}">
                <a16:creationId xmlns:a16="http://schemas.microsoft.com/office/drawing/2014/main" id="{4C51A0EC-7E81-259C-9D45-BEA6567DD16E}"/>
              </a:ext>
            </a:extLst>
          </p:cNvPr>
          <p:cNvSpPr txBox="1">
            <a:spLocks noChangeArrowheads="1"/>
          </p:cNvSpPr>
          <p:nvPr/>
        </p:nvSpPr>
        <p:spPr bwMode="auto">
          <a:xfrm>
            <a:off x="0" y="3586163"/>
            <a:ext cx="3740150" cy="642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dirty="0"/>
              <a:t>The distance between H and H1 is:</a:t>
            </a:r>
          </a:p>
          <a:p>
            <a:r>
              <a:rPr lang="en-US" altLang="en-US" dirty="0"/>
              <a:t>|</a:t>
            </a:r>
            <a:r>
              <a:rPr lang="en-US" altLang="en-US" b="1" dirty="0" err="1"/>
              <a:t>w</a:t>
            </a:r>
            <a:r>
              <a:rPr lang="en-US" altLang="en-US" b="1" dirty="0" err="1">
                <a:cs typeface="Arial" panose="020B0604020202020204" pitchFamily="34" charset="0"/>
              </a:rPr>
              <a:t>•x</a:t>
            </a:r>
            <a:r>
              <a:rPr lang="en-US" altLang="en-US" dirty="0" err="1">
                <a:cs typeface="Arial" panose="020B0604020202020204" pitchFamily="34" charset="0"/>
              </a:rPr>
              <a:t>+b</a:t>
            </a:r>
            <a:r>
              <a:rPr lang="en-US" altLang="en-US" dirty="0">
                <a:cs typeface="Arial" panose="020B0604020202020204" pitchFamily="34" charset="0"/>
              </a:rPr>
              <a:t>|/||w||=1/||w||</a:t>
            </a:r>
            <a:endParaRPr lang="en-US" altLang="en-US" dirty="0"/>
          </a:p>
        </p:txBody>
      </p:sp>
      <p:sp>
        <p:nvSpPr>
          <p:cNvPr id="27682" name="Text Box 34">
            <a:extLst>
              <a:ext uri="{FF2B5EF4-FFF2-40B4-BE49-F238E27FC236}">
                <a16:creationId xmlns:a16="http://schemas.microsoft.com/office/drawing/2014/main" id="{337B0B33-BDD9-27F5-CB0B-18425BA50690}"/>
              </a:ext>
            </a:extLst>
          </p:cNvPr>
          <p:cNvSpPr txBox="1">
            <a:spLocks noChangeArrowheads="1"/>
          </p:cNvSpPr>
          <p:nvPr/>
        </p:nvSpPr>
        <p:spPr bwMode="auto">
          <a:xfrm>
            <a:off x="0" y="4348163"/>
            <a:ext cx="4521200"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a:t>The distance between H1 and H2 is: 2/||w||</a:t>
            </a:r>
          </a:p>
        </p:txBody>
      </p:sp>
      <p:sp>
        <p:nvSpPr>
          <p:cNvPr id="27683" name="Text Box 35">
            <a:extLst>
              <a:ext uri="{FF2B5EF4-FFF2-40B4-BE49-F238E27FC236}">
                <a16:creationId xmlns:a16="http://schemas.microsoft.com/office/drawing/2014/main" id="{5D2CE08E-9906-C8C1-29D5-A7CD2E087951}"/>
              </a:ext>
            </a:extLst>
          </p:cNvPr>
          <p:cNvSpPr txBox="1">
            <a:spLocks noChangeArrowheads="1"/>
          </p:cNvSpPr>
          <p:nvPr/>
        </p:nvSpPr>
        <p:spPr bwMode="auto">
          <a:xfrm>
            <a:off x="0" y="5262563"/>
            <a:ext cx="7575550" cy="1552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b="1">
                <a:sym typeface="Symbol" panose="05050102010706020507" pitchFamily="18" charset="2"/>
              </a:rPr>
              <a:t>In order to maximize the margin, we need to minimize ||w||. With the </a:t>
            </a:r>
          </a:p>
          <a:p>
            <a:r>
              <a:rPr lang="en-US" altLang="en-US" b="1">
                <a:sym typeface="Symbol" panose="05050102010706020507" pitchFamily="18" charset="2"/>
              </a:rPr>
              <a:t>condition that there are no datapoints between H1 and H2:</a:t>
            </a:r>
          </a:p>
          <a:p>
            <a:r>
              <a:rPr lang="en-US" altLang="en-US" b="1">
                <a:solidFill>
                  <a:schemeClr val="tx2"/>
                </a:solidFill>
              </a:rPr>
              <a:t>x</a:t>
            </a:r>
            <a:r>
              <a:rPr lang="en-US" altLang="en-US" baseline="-25000">
                <a:solidFill>
                  <a:schemeClr val="tx2"/>
                </a:solidFill>
              </a:rPr>
              <a:t>i</a:t>
            </a:r>
            <a:r>
              <a:rPr lang="en-US" altLang="en-US">
                <a:solidFill>
                  <a:schemeClr val="tx2"/>
                </a:solidFill>
                <a:cs typeface="Arial" panose="020B0604020202020204" pitchFamily="34" charset="0"/>
              </a:rPr>
              <a:t>•</a:t>
            </a:r>
            <a:r>
              <a:rPr lang="en-US" altLang="en-US" b="1">
                <a:solidFill>
                  <a:schemeClr val="tx2"/>
                </a:solidFill>
                <a:cs typeface="Arial" panose="020B0604020202020204" pitchFamily="34" charset="0"/>
              </a:rPr>
              <a:t>w</a:t>
            </a:r>
            <a:r>
              <a:rPr lang="en-US" altLang="en-US">
                <a:solidFill>
                  <a:schemeClr val="tx2"/>
                </a:solidFill>
                <a:cs typeface="Arial" panose="020B0604020202020204" pitchFamily="34" charset="0"/>
              </a:rPr>
              <a:t>+b </a:t>
            </a:r>
            <a:r>
              <a:rPr lang="en-US" altLang="en-US">
                <a:solidFill>
                  <a:schemeClr val="tx2"/>
                </a:solidFill>
                <a:cs typeface="Arial" panose="020B0604020202020204" pitchFamily="34" charset="0"/>
                <a:sym typeface="Symbol" panose="05050102010706020507" pitchFamily="18" charset="2"/>
              </a:rPr>
              <a:t> +1 when </a:t>
            </a:r>
            <a:r>
              <a:rPr lang="en-US" altLang="en-US">
                <a:solidFill>
                  <a:schemeClr val="tx2"/>
                </a:solidFill>
              </a:rPr>
              <a:t>y</a:t>
            </a:r>
            <a:r>
              <a:rPr lang="en-US" altLang="en-US" baseline="-25000">
                <a:solidFill>
                  <a:schemeClr val="tx2"/>
                </a:solidFill>
              </a:rPr>
              <a:t>i</a:t>
            </a:r>
            <a:r>
              <a:rPr lang="en-US" altLang="en-US">
                <a:solidFill>
                  <a:schemeClr val="tx2"/>
                </a:solidFill>
                <a:cs typeface="Arial" panose="020B0604020202020204" pitchFamily="34" charset="0"/>
                <a:sym typeface="Symbol" panose="05050102010706020507" pitchFamily="18" charset="2"/>
              </a:rPr>
              <a:t> =+1 </a:t>
            </a:r>
          </a:p>
          <a:p>
            <a:r>
              <a:rPr lang="en-US" altLang="en-US" b="1">
                <a:solidFill>
                  <a:schemeClr val="tx2"/>
                </a:solidFill>
              </a:rPr>
              <a:t>x</a:t>
            </a:r>
            <a:r>
              <a:rPr lang="en-US" altLang="en-US" baseline="-25000">
                <a:solidFill>
                  <a:schemeClr val="tx2"/>
                </a:solidFill>
              </a:rPr>
              <a:t>i</a:t>
            </a:r>
            <a:r>
              <a:rPr lang="en-US" altLang="en-US">
                <a:solidFill>
                  <a:schemeClr val="tx2"/>
                </a:solidFill>
                <a:cs typeface="Arial" panose="020B0604020202020204" pitchFamily="34" charset="0"/>
              </a:rPr>
              <a:t>•</a:t>
            </a:r>
            <a:r>
              <a:rPr lang="en-US" altLang="en-US" b="1">
                <a:solidFill>
                  <a:schemeClr val="tx2"/>
                </a:solidFill>
                <a:cs typeface="Arial" panose="020B0604020202020204" pitchFamily="34" charset="0"/>
              </a:rPr>
              <a:t>w</a:t>
            </a:r>
            <a:r>
              <a:rPr lang="en-US" altLang="en-US">
                <a:solidFill>
                  <a:schemeClr val="tx2"/>
                </a:solidFill>
                <a:cs typeface="Arial" panose="020B0604020202020204" pitchFamily="34" charset="0"/>
              </a:rPr>
              <a:t>+b </a:t>
            </a:r>
            <a:r>
              <a:rPr lang="en-US" altLang="en-US">
                <a:solidFill>
                  <a:schemeClr val="tx2"/>
                </a:solidFill>
                <a:cs typeface="Arial" panose="020B0604020202020204" pitchFamily="34" charset="0"/>
                <a:sym typeface="Symbol" panose="05050102010706020507" pitchFamily="18" charset="2"/>
              </a:rPr>
              <a:t> -1 when </a:t>
            </a:r>
            <a:r>
              <a:rPr lang="en-US" altLang="en-US">
                <a:solidFill>
                  <a:schemeClr val="tx2"/>
                </a:solidFill>
              </a:rPr>
              <a:t>y</a:t>
            </a:r>
            <a:r>
              <a:rPr lang="en-US" altLang="en-US" baseline="-25000">
                <a:solidFill>
                  <a:schemeClr val="tx2"/>
                </a:solidFill>
              </a:rPr>
              <a:t>i</a:t>
            </a:r>
            <a:r>
              <a:rPr lang="en-US" altLang="en-US">
                <a:solidFill>
                  <a:schemeClr val="tx2"/>
                </a:solidFill>
                <a:cs typeface="Arial" panose="020B0604020202020204" pitchFamily="34" charset="0"/>
                <a:sym typeface="Symbol" panose="05050102010706020507" pitchFamily="18" charset="2"/>
              </a:rPr>
              <a:t> =-1        </a:t>
            </a:r>
            <a:r>
              <a:rPr lang="en-US" altLang="en-US" b="1">
                <a:sym typeface="Symbol" panose="05050102010706020507" pitchFamily="18" charset="2"/>
              </a:rPr>
              <a:t>Can be combined into yi(</a:t>
            </a:r>
            <a:r>
              <a:rPr lang="en-US" altLang="en-US" b="1">
                <a:solidFill>
                  <a:schemeClr val="tx2"/>
                </a:solidFill>
              </a:rPr>
              <a:t>x</a:t>
            </a:r>
            <a:r>
              <a:rPr lang="en-US" altLang="en-US" baseline="-25000">
                <a:solidFill>
                  <a:schemeClr val="tx2"/>
                </a:solidFill>
              </a:rPr>
              <a:t>i</a:t>
            </a:r>
            <a:r>
              <a:rPr lang="en-US" altLang="en-US">
                <a:solidFill>
                  <a:schemeClr val="tx2"/>
                </a:solidFill>
                <a:cs typeface="Arial" panose="020B0604020202020204" pitchFamily="34" charset="0"/>
              </a:rPr>
              <a:t>•</a:t>
            </a:r>
            <a:r>
              <a:rPr lang="en-US" altLang="en-US" b="1">
                <a:solidFill>
                  <a:schemeClr val="tx2"/>
                </a:solidFill>
                <a:cs typeface="Arial" panose="020B0604020202020204" pitchFamily="34" charset="0"/>
              </a:rPr>
              <a:t>w) </a:t>
            </a:r>
            <a:r>
              <a:rPr lang="en-US" altLang="en-US" b="1">
                <a:solidFill>
                  <a:schemeClr val="tx2"/>
                </a:solidFill>
                <a:cs typeface="Arial" panose="020B0604020202020204" pitchFamily="34" charset="0"/>
                <a:sym typeface="Symbol" panose="05050102010706020507" pitchFamily="18" charset="2"/>
              </a:rPr>
              <a:t> 1 </a:t>
            </a:r>
            <a:endParaRPr lang="en-US" altLang="en-US" b="1">
              <a:sym typeface="Symbol" panose="05050102010706020507" pitchFamily="18" charset="2"/>
            </a:endParaRPr>
          </a:p>
          <a:p>
            <a:endParaRPr lang="en-US" altLang="en-US" b="1"/>
          </a:p>
        </p:txBody>
      </p:sp>
      <p:sp>
        <p:nvSpPr>
          <p:cNvPr id="27684" name="Rectangle 36">
            <a:extLst>
              <a:ext uri="{FF2B5EF4-FFF2-40B4-BE49-F238E27FC236}">
                <a16:creationId xmlns:a16="http://schemas.microsoft.com/office/drawing/2014/main" id="{A0ED0BCB-46AC-A70D-FE0F-A67B11B43180}"/>
              </a:ext>
            </a:extLst>
          </p:cNvPr>
          <p:cNvSpPr>
            <a:spLocks noChangeArrowheads="1"/>
          </p:cNvSpPr>
          <p:nvPr/>
        </p:nvSpPr>
        <p:spPr bwMode="auto">
          <a:xfrm>
            <a:off x="5791200" y="1758950"/>
            <a:ext cx="574675"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2400"/>
              <a:t>H1</a:t>
            </a:r>
          </a:p>
        </p:txBody>
      </p:sp>
      <p:sp>
        <p:nvSpPr>
          <p:cNvPr id="27685" name="Rectangle 37">
            <a:extLst>
              <a:ext uri="{FF2B5EF4-FFF2-40B4-BE49-F238E27FC236}">
                <a16:creationId xmlns:a16="http://schemas.microsoft.com/office/drawing/2014/main" id="{D6208110-7A51-D123-4D3D-25D2035B9270}"/>
              </a:ext>
            </a:extLst>
          </p:cNvPr>
          <p:cNvSpPr>
            <a:spLocks noChangeArrowheads="1"/>
          </p:cNvSpPr>
          <p:nvPr/>
        </p:nvSpPr>
        <p:spPr bwMode="auto">
          <a:xfrm>
            <a:off x="5029200" y="2597150"/>
            <a:ext cx="574675"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2400"/>
              <a:t>H2</a:t>
            </a:r>
          </a:p>
        </p:txBody>
      </p:sp>
      <p:sp>
        <p:nvSpPr>
          <p:cNvPr id="27686" name="Rectangle 38">
            <a:extLst>
              <a:ext uri="{FF2B5EF4-FFF2-40B4-BE49-F238E27FC236}">
                <a16:creationId xmlns:a16="http://schemas.microsoft.com/office/drawing/2014/main" id="{756F23DE-5EEF-1095-1CEF-D7E4EB0909B7}"/>
              </a:ext>
            </a:extLst>
          </p:cNvPr>
          <p:cNvSpPr>
            <a:spLocks noChangeArrowheads="1"/>
          </p:cNvSpPr>
          <p:nvPr/>
        </p:nvSpPr>
        <p:spPr bwMode="auto">
          <a:xfrm>
            <a:off x="5334000" y="2139950"/>
            <a:ext cx="40481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2400"/>
              <a:t>H</a:t>
            </a:r>
          </a:p>
        </p:txBody>
      </p:sp>
      <p:sp>
        <p:nvSpPr>
          <p:cNvPr id="27687" name="AutoShape 39">
            <a:extLst>
              <a:ext uri="{FF2B5EF4-FFF2-40B4-BE49-F238E27FC236}">
                <a16:creationId xmlns:a16="http://schemas.microsoft.com/office/drawing/2014/main" id="{2DAB21F4-41DC-3687-4DF8-89FE6E4BD75C}"/>
              </a:ext>
            </a:extLst>
          </p:cNvPr>
          <p:cNvSpPr>
            <a:spLocks/>
          </p:cNvSpPr>
          <p:nvPr/>
        </p:nvSpPr>
        <p:spPr bwMode="auto">
          <a:xfrm>
            <a:off x="2819400" y="5943600"/>
            <a:ext cx="228600" cy="457200"/>
          </a:xfrm>
          <a:prstGeom prst="rightBrace">
            <a:avLst>
              <a:gd name="adj1" fmla="val 1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06FB70A-1947-982B-2E26-140154B4DBE0}"/>
              </a:ext>
            </a:extLst>
          </p:cNvPr>
          <p:cNvSpPr>
            <a:spLocks noGrp="1" noChangeArrowheads="1"/>
          </p:cNvSpPr>
          <p:nvPr>
            <p:ph type="title"/>
          </p:nvPr>
        </p:nvSpPr>
        <p:spPr/>
        <p:txBody>
          <a:bodyPr/>
          <a:lstStyle/>
          <a:p>
            <a:r>
              <a:rPr lang="en-US" altLang="en-US" dirty="0"/>
              <a:t>Finding the Decision Boundary</a:t>
            </a:r>
          </a:p>
        </p:txBody>
      </p:sp>
      <p:sp>
        <p:nvSpPr>
          <p:cNvPr id="16387" name="Rectangle 3">
            <a:extLst>
              <a:ext uri="{FF2B5EF4-FFF2-40B4-BE49-F238E27FC236}">
                <a16:creationId xmlns:a16="http://schemas.microsoft.com/office/drawing/2014/main" id="{E6BE4BA8-C9C2-90B9-93D5-AE57C432845C}"/>
              </a:ext>
            </a:extLst>
          </p:cNvPr>
          <p:cNvSpPr>
            <a:spLocks noGrp="1" noChangeArrowheads="1"/>
          </p:cNvSpPr>
          <p:nvPr>
            <p:ph type="body" idx="1"/>
          </p:nvPr>
        </p:nvSpPr>
        <p:spPr/>
        <p:txBody>
          <a:bodyPr/>
          <a:lstStyle/>
          <a:p>
            <a:r>
              <a:rPr lang="en-US" altLang="en-US" sz="2000" dirty="0"/>
              <a:t>Let {</a:t>
            </a:r>
            <a:r>
              <a:rPr lang="en-US" altLang="en-US" sz="2000" i="1" dirty="0"/>
              <a:t>x</a:t>
            </a:r>
            <a:r>
              <a:rPr lang="en-US" altLang="en-US" sz="2000" baseline="-25000" dirty="0"/>
              <a:t>1</a:t>
            </a:r>
            <a:r>
              <a:rPr lang="en-US" altLang="en-US" sz="2000" dirty="0"/>
              <a:t>, ..., </a:t>
            </a:r>
            <a:r>
              <a:rPr lang="en-US" altLang="en-US" sz="2000" i="1" dirty="0" err="1"/>
              <a:t>x</a:t>
            </a:r>
            <a:r>
              <a:rPr lang="en-US" altLang="en-US" sz="2000" baseline="-25000" dirty="0" err="1"/>
              <a:t>n</a:t>
            </a:r>
            <a:r>
              <a:rPr lang="en-US" altLang="en-US" sz="2000" dirty="0"/>
              <a:t>} be our data set and let </a:t>
            </a:r>
            <a:r>
              <a:rPr lang="en-US" altLang="en-US" sz="2000" i="1" dirty="0" err="1"/>
              <a:t>y</a:t>
            </a:r>
            <a:r>
              <a:rPr lang="en-US" altLang="en-US" sz="2000" baseline="-25000" dirty="0" err="1"/>
              <a:t>i</a:t>
            </a:r>
            <a:r>
              <a:rPr lang="en-US" altLang="en-US" sz="2000" dirty="0"/>
              <a:t> </a:t>
            </a:r>
            <a:r>
              <a:rPr lang="en-US" altLang="en-US" sz="2000" dirty="0">
                <a:latin typeface="Symbol" panose="05050102010706020507" pitchFamily="18" charset="2"/>
              </a:rPr>
              <a:t>Î</a:t>
            </a:r>
            <a:r>
              <a:rPr lang="en-US" altLang="en-US" sz="2000" dirty="0"/>
              <a:t>   {1,-1} be the class label of </a:t>
            </a:r>
            <a:r>
              <a:rPr lang="en-US" altLang="en-US" sz="2000" i="1" dirty="0"/>
              <a:t>x</a:t>
            </a:r>
            <a:r>
              <a:rPr lang="en-US" altLang="en-US" sz="2000" baseline="-25000" dirty="0"/>
              <a:t>i</a:t>
            </a:r>
            <a:endParaRPr lang="en-US" altLang="en-US" sz="2000" dirty="0"/>
          </a:p>
          <a:p>
            <a:r>
              <a:rPr lang="en-US" altLang="en-US" sz="2000" dirty="0"/>
              <a:t>The decision boundary should classify all points correctly </a:t>
            </a:r>
            <a:r>
              <a:rPr lang="en-US" altLang="en-US" sz="2000" dirty="0">
                <a:latin typeface="Symbol" panose="05050102010706020507" pitchFamily="18" charset="2"/>
              </a:rPr>
              <a:t>Þ</a:t>
            </a:r>
          </a:p>
          <a:p>
            <a:endParaRPr lang="en-US" altLang="en-US" sz="2000" dirty="0"/>
          </a:p>
          <a:p>
            <a:endParaRPr lang="en-US" altLang="en-US" sz="2000" dirty="0"/>
          </a:p>
          <a:p>
            <a:r>
              <a:rPr lang="en-US" altLang="en-US" sz="2000" dirty="0"/>
              <a:t>The decision boundary can be found by solving the following constrained optimization problem</a:t>
            </a:r>
          </a:p>
          <a:p>
            <a:endParaRPr lang="en-US" altLang="en-US" sz="2000" dirty="0"/>
          </a:p>
          <a:p>
            <a:endParaRPr lang="en-US" altLang="en-US" sz="2000" dirty="0"/>
          </a:p>
          <a:p>
            <a:endParaRPr lang="en-US" altLang="en-US" sz="2000" dirty="0"/>
          </a:p>
          <a:p>
            <a:r>
              <a:rPr lang="en-US" altLang="en-US" sz="2000" dirty="0"/>
              <a:t>This is a constrained optimization problem. Solving it requires some new tools</a:t>
            </a:r>
          </a:p>
        </p:txBody>
      </p:sp>
      <p:pic>
        <p:nvPicPr>
          <p:cNvPr id="16388" name="Picture 4">
            <a:extLst>
              <a:ext uri="{FF2B5EF4-FFF2-40B4-BE49-F238E27FC236}">
                <a16:creationId xmlns:a16="http://schemas.microsoft.com/office/drawing/2014/main" id="{F425B00E-2696-F0BE-F356-649D34BD12A1}"/>
              </a:ext>
            </a:extLst>
          </p:cNvPr>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1600200" y="2667000"/>
            <a:ext cx="3962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391" name="Group 7">
            <a:extLst>
              <a:ext uri="{FF2B5EF4-FFF2-40B4-BE49-F238E27FC236}">
                <a16:creationId xmlns:a16="http://schemas.microsoft.com/office/drawing/2014/main" id="{8347C5E0-9D55-3585-8029-A5CF236743AE}"/>
              </a:ext>
            </a:extLst>
          </p:cNvPr>
          <p:cNvGrpSpPr>
            <a:grpSpLocks/>
          </p:cNvGrpSpPr>
          <p:nvPr/>
        </p:nvGrpSpPr>
        <p:grpSpPr bwMode="auto">
          <a:xfrm>
            <a:off x="1447800" y="4038600"/>
            <a:ext cx="5638800" cy="1084263"/>
            <a:chOff x="1344" y="2256"/>
            <a:chExt cx="3552" cy="683"/>
          </a:xfrm>
        </p:grpSpPr>
        <p:pic>
          <p:nvPicPr>
            <p:cNvPr id="16389" name="Picture 5">
              <a:extLst>
                <a:ext uri="{FF2B5EF4-FFF2-40B4-BE49-F238E27FC236}">
                  <a16:creationId xmlns:a16="http://schemas.microsoft.com/office/drawing/2014/main" id="{62315CCA-373A-1826-2F37-E4619D52E4FB}"/>
                </a:ext>
              </a:extLst>
            </p:cNvPr>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1344" y="2256"/>
              <a:ext cx="1609"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90" name="Picture 6">
              <a:extLst>
                <a:ext uri="{FF2B5EF4-FFF2-40B4-BE49-F238E27FC236}">
                  <a16:creationId xmlns:a16="http://schemas.microsoft.com/office/drawing/2014/main" id="{FE2AB28A-52B7-FAC6-E5F8-4C56D5D08AFC}"/>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1344" y="2688"/>
              <a:ext cx="3552"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0DA76E8-D0D2-0EAF-AFD2-6C74D26548AA}"/>
              </a:ext>
            </a:extLst>
          </p:cNvPr>
          <p:cNvSpPr>
            <a:spLocks noGrp="1" noChangeArrowheads="1"/>
          </p:cNvSpPr>
          <p:nvPr>
            <p:ph type="title"/>
          </p:nvPr>
        </p:nvSpPr>
        <p:spPr/>
        <p:txBody>
          <a:bodyPr/>
          <a:lstStyle/>
          <a:p>
            <a:r>
              <a:rPr lang="en-US" altLang="en-US" sz="4000" dirty="0"/>
              <a:t>Finding the Decision Boundary</a:t>
            </a:r>
          </a:p>
        </p:txBody>
      </p:sp>
      <p:sp>
        <p:nvSpPr>
          <p:cNvPr id="20483" name="Rectangle 3">
            <a:extLst>
              <a:ext uri="{FF2B5EF4-FFF2-40B4-BE49-F238E27FC236}">
                <a16:creationId xmlns:a16="http://schemas.microsoft.com/office/drawing/2014/main" id="{81F269D5-EC5B-799C-8A99-8F00F3FF75B3}"/>
              </a:ext>
            </a:extLst>
          </p:cNvPr>
          <p:cNvSpPr>
            <a:spLocks noGrp="1" noChangeArrowheads="1"/>
          </p:cNvSpPr>
          <p:nvPr>
            <p:ph type="body" idx="1"/>
          </p:nvPr>
        </p:nvSpPr>
        <p:spPr>
          <a:xfrm>
            <a:off x="457200" y="2763838"/>
            <a:ext cx="8229600" cy="3168650"/>
          </a:xfrm>
        </p:spPr>
        <p:txBody>
          <a:bodyPr/>
          <a:lstStyle/>
          <a:p>
            <a:r>
              <a:rPr lang="en-US" altLang="en-US" sz="2000" dirty="0"/>
              <a:t>The </a:t>
            </a:r>
            <a:r>
              <a:rPr lang="en-US" altLang="en-US" sz="2000" dirty="0" err="1"/>
              <a:t>Lagrangian</a:t>
            </a:r>
            <a:r>
              <a:rPr lang="en-US" altLang="en-US" sz="2000" dirty="0"/>
              <a:t> is</a:t>
            </a:r>
          </a:p>
          <a:p>
            <a:pPr marL="0" indent="0">
              <a:buNone/>
            </a:pPr>
            <a:endParaRPr lang="en-US" altLang="en-US" sz="2000" dirty="0"/>
          </a:p>
          <a:p>
            <a:pPr lvl="1"/>
            <a:r>
              <a:rPr lang="en-US" altLang="en-US" sz="2000" dirty="0"/>
              <a:t>Note that ||</a:t>
            </a:r>
            <a:r>
              <a:rPr lang="en-US" altLang="en-US" sz="2000" b="1" dirty="0"/>
              <a:t>w</a:t>
            </a:r>
            <a:r>
              <a:rPr lang="en-US" altLang="en-US" sz="2000" dirty="0"/>
              <a:t>||</a:t>
            </a:r>
            <a:r>
              <a:rPr lang="en-US" altLang="en-US" sz="2000" baseline="30000" dirty="0"/>
              <a:t>2</a:t>
            </a:r>
            <a:r>
              <a:rPr lang="en-US" altLang="en-US" sz="2000" dirty="0"/>
              <a:t> = </a:t>
            </a:r>
            <a:r>
              <a:rPr lang="en-US" altLang="en-US" sz="2000" b="1" dirty="0" err="1"/>
              <a:t>w</a:t>
            </a:r>
            <a:r>
              <a:rPr lang="en-US" altLang="en-US" sz="2000" baseline="30000" dirty="0" err="1"/>
              <a:t>T</a:t>
            </a:r>
            <a:r>
              <a:rPr lang="en-US" altLang="en-US" sz="2000" b="1" dirty="0" err="1"/>
              <a:t>w</a:t>
            </a:r>
            <a:endParaRPr lang="en-US" altLang="en-US" sz="2000" b="1" dirty="0"/>
          </a:p>
          <a:p>
            <a:pPr lvl="1"/>
            <a:r>
              <a:rPr lang="en-US" altLang="en-US" sz="2000" dirty="0"/>
              <a:t>Introduce a Lagrange multiplier </a:t>
            </a:r>
            <a:r>
              <a:rPr lang="en-US" altLang="en-US" sz="2000" dirty="0">
                <a:latin typeface="Symbol" panose="05050102010706020507" pitchFamily="18" charset="2"/>
              </a:rPr>
              <a:t>a</a:t>
            </a:r>
            <a:r>
              <a:rPr lang="en-US" altLang="en-US" sz="2000" baseline="-25000" dirty="0"/>
              <a:t>i</a:t>
            </a:r>
            <a:r>
              <a:rPr lang="en-US" altLang="en-US" sz="2000" dirty="0"/>
              <a:t> for each of the constraints</a:t>
            </a:r>
            <a:endParaRPr lang="en-US" altLang="en-US" sz="2000" b="1" dirty="0"/>
          </a:p>
          <a:p>
            <a:r>
              <a:rPr lang="en-US" altLang="en-US" sz="2000" dirty="0"/>
              <a:t> Setting the gradient of     </a:t>
            </a:r>
            <a:r>
              <a:rPr lang="en-US" altLang="en-US" sz="2000" dirty="0" err="1"/>
              <a:t>w.r.t.</a:t>
            </a:r>
            <a:r>
              <a:rPr lang="en-US" altLang="en-US" sz="2000" dirty="0"/>
              <a:t> </a:t>
            </a:r>
            <a:r>
              <a:rPr lang="en-US" altLang="en-US" sz="2000" b="1" dirty="0"/>
              <a:t>w</a:t>
            </a:r>
            <a:r>
              <a:rPr lang="en-US" altLang="en-US" sz="2000" dirty="0"/>
              <a:t> and b to zero, we have</a:t>
            </a:r>
            <a:endParaRPr lang="en-US" altLang="en-US" sz="2000" b="1" dirty="0"/>
          </a:p>
        </p:txBody>
      </p:sp>
      <p:pic>
        <p:nvPicPr>
          <p:cNvPr id="20484" name="Picture 4">
            <a:extLst>
              <a:ext uri="{FF2B5EF4-FFF2-40B4-BE49-F238E27FC236}">
                <a16:creationId xmlns:a16="http://schemas.microsoft.com/office/drawing/2014/main" id="{2F7D818B-78F9-708A-4DD7-3A8C6C76FD21}"/>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2209800" y="1295400"/>
            <a:ext cx="21764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5" name="Picture 5">
            <a:extLst>
              <a:ext uri="{FF2B5EF4-FFF2-40B4-BE49-F238E27FC236}">
                <a16:creationId xmlns:a16="http://schemas.microsoft.com/office/drawing/2014/main" id="{18CF4E77-01B3-8408-6D8C-1278972EC611}"/>
              </a:ext>
            </a:extLst>
          </p:cNvPr>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1063625" y="1968500"/>
            <a:ext cx="69977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6" name="Picture 6">
            <a:extLst>
              <a:ext uri="{FF2B5EF4-FFF2-40B4-BE49-F238E27FC236}">
                <a16:creationId xmlns:a16="http://schemas.microsoft.com/office/drawing/2014/main" id="{FEEA7AC9-BFB6-478C-7A82-0905F4532E15}"/>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3311525" y="2693987"/>
            <a:ext cx="5092700" cy="73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7" name="Picture 7">
            <a:extLst>
              <a:ext uri="{FF2B5EF4-FFF2-40B4-BE49-F238E27FC236}">
                <a16:creationId xmlns:a16="http://schemas.microsoft.com/office/drawing/2014/main" id="{E1CCE575-288F-074A-7860-ABCC52F8DD67}"/>
              </a:ext>
            </a:extLst>
          </p:cNvPr>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3556000" y="4318001"/>
            <a:ext cx="1778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8" name="Picture 8">
            <a:extLst>
              <a:ext uri="{FF2B5EF4-FFF2-40B4-BE49-F238E27FC236}">
                <a16:creationId xmlns:a16="http://schemas.microsoft.com/office/drawing/2014/main" id="{DC0E3C7A-E609-B887-37B0-61EE6208AB13}"/>
              </a:ext>
            </a:extLst>
          </p:cNvPr>
          <p:cNvPicPr>
            <a:picLocks noChangeAspect="1" noChangeArrowheads="1"/>
          </p:cNvPicPr>
          <p:nvPr>
            <p:custDataLst>
              <p:tags r:id="rId5"/>
            </p:custDataLst>
          </p:nvPr>
        </p:nvPicPr>
        <p:blipFill>
          <a:blip r:embed="rId11">
            <a:extLst>
              <a:ext uri="{28A0092B-C50C-407E-A947-70E740481C1C}">
                <a14:useLocalDpi xmlns:a14="http://schemas.microsoft.com/office/drawing/2010/main" val="0"/>
              </a:ext>
            </a:extLst>
          </a:blip>
          <a:srcRect/>
          <a:stretch>
            <a:fillRect/>
          </a:stretch>
        </p:blipFill>
        <p:spPr bwMode="auto">
          <a:xfrm>
            <a:off x="1465262" y="4949826"/>
            <a:ext cx="619442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2B00160-1833-C33B-58DA-89AE6B489967}"/>
              </a:ext>
            </a:extLst>
          </p:cNvPr>
          <p:cNvSpPr>
            <a:spLocks noGrp="1" noChangeArrowheads="1"/>
          </p:cNvSpPr>
          <p:nvPr>
            <p:ph type="title"/>
          </p:nvPr>
        </p:nvSpPr>
        <p:spPr>
          <a:xfrm>
            <a:off x="457200" y="46037"/>
            <a:ext cx="8229600" cy="1143000"/>
          </a:xfrm>
        </p:spPr>
        <p:txBody>
          <a:bodyPr/>
          <a:lstStyle/>
          <a:p>
            <a:r>
              <a:rPr lang="en-US" altLang="en-US" dirty="0"/>
              <a:t>The Dual Problem</a:t>
            </a:r>
          </a:p>
        </p:txBody>
      </p:sp>
      <p:sp>
        <p:nvSpPr>
          <p:cNvPr id="21507" name="Rectangle 3">
            <a:extLst>
              <a:ext uri="{FF2B5EF4-FFF2-40B4-BE49-F238E27FC236}">
                <a16:creationId xmlns:a16="http://schemas.microsoft.com/office/drawing/2014/main" id="{C3B997F2-88D7-359A-B22F-CF4658EC7547}"/>
              </a:ext>
            </a:extLst>
          </p:cNvPr>
          <p:cNvSpPr>
            <a:spLocks noGrp="1" noChangeArrowheads="1"/>
          </p:cNvSpPr>
          <p:nvPr>
            <p:ph type="body" idx="1"/>
          </p:nvPr>
        </p:nvSpPr>
        <p:spPr>
          <a:xfrm>
            <a:off x="457200" y="1135855"/>
            <a:ext cx="8229600" cy="5676108"/>
          </a:xfrm>
        </p:spPr>
        <p:txBody>
          <a:bodyPr/>
          <a:lstStyle/>
          <a:p>
            <a:r>
              <a:rPr lang="en-US" altLang="en-US" sz="2400" dirty="0"/>
              <a:t>If we substitute                        to     , we have </a:t>
            </a:r>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2400" dirty="0"/>
          </a:p>
          <a:p>
            <a:endParaRPr lang="en-US" altLang="en-US" sz="2400" dirty="0"/>
          </a:p>
          <a:p>
            <a:r>
              <a:rPr lang="en-US" altLang="en-US" sz="2400" dirty="0"/>
              <a:t>Note that </a:t>
            </a:r>
          </a:p>
          <a:p>
            <a:endParaRPr lang="en-US" altLang="en-US" sz="2400" dirty="0"/>
          </a:p>
          <a:p>
            <a:r>
              <a:rPr lang="en-US" altLang="en-US" sz="2400" dirty="0"/>
              <a:t>This is a function of </a:t>
            </a:r>
            <a:r>
              <a:rPr lang="en-US" altLang="en-US" sz="2400" dirty="0">
                <a:latin typeface="Symbol" panose="05050102010706020507" pitchFamily="18" charset="2"/>
              </a:rPr>
              <a:t>a</a:t>
            </a:r>
            <a:r>
              <a:rPr lang="en-US" altLang="en-US" sz="2400" baseline="-25000" dirty="0"/>
              <a:t>i</a:t>
            </a:r>
            <a:r>
              <a:rPr lang="en-US" altLang="en-US" sz="2400" dirty="0"/>
              <a:t> only</a:t>
            </a:r>
          </a:p>
          <a:p>
            <a:r>
              <a:rPr lang="en-US" altLang="en-US" sz="2400" dirty="0"/>
              <a:t> </a:t>
            </a:r>
            <a:r>
              <a:rPr lang="en-US" altLang="en-US" sz="2400" dirty="0">
                <a:latin typeface="Symbol" panose="05050102010706020507" pitchFamily="18" charset="2"/>
              </a:rPr>
              <a:t>a</a:t>
            </a:r>
            <a:r>
              <a:rPr lang="en-US" altLang="en-US" sz="2400" baseline="-25000" dirty="0"/>
              <a:t>i</a:t>
            </a:r>
            <a:r>
              <a:rPr lang="en-US" altLang="en-US" sz="2400" dirty="0"/>
              <a:t>  &gt;=0</a:t>
            </a:r>
          </a:p>
        </p:txBody>
      </p:sp>
      <p:pic>
        <p:nvPicPr>
          <p:cNvPr id="21508" name="Picture 4">
            <a:extLst>
              <a:ext uri="{FF2B5EF4-FFF2-40B4-BE49-F238E27FC236}">
                <a16:creationId xmlns:a16="http://schemas.microsoft.com/office/drawing/2014/main" id="{F0824E0A-AA54-8D29-09CF-C1A3463CD1FF}"/>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3086100" y="1122215"/>
            <a:ext cx="1752600"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9" name="Picture 5">
            <a:extLst>
              <a:ext uri="{FF2B5EF4-FFF2-40B4-BE49-F238E27FC236}">
                <a16:creationId xmlns:a16="http://schemas.microsoft.com/office/drawing/2014/main" id="{CEDA20F5-35AC-5C2F-4A5D-62F81F149BC2}"/>
              </a:ext>
            </a:extLst>
          </p:cNvPr>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5334000" y="1302903"/>
            <a:ext cx="1778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10" name="Picture 6">
            <a:extLst>
              <a:ext uri="{FF2B5EF4-FFF2-40B4-BE49-F238E27FC236}">
                <a16:creationId xmlns:a16="http://schemas.microsoft.com/office/drawing/2014/main" id="{A204179E-DFEA-F58C-5FE4-7FDDB4EE402F}"/>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457200" y="1881445"/>
            <a:ext cx="8394700" cy="234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11" name="Picture 7">
            <a:extLst>
              <a:ext uri="{FF2B5EF4-FFF2-40B4-BE49-F238E27FC236}">
                <a16:creationId xmlns:a16="http://schemas.microsoft.com/office/drawing/2014/main" id="{5762D2D7-45FD-10D7-B4C3-5D7AA8CB551C}"/>
              </a:ext>
            </a:extLst>
          </p:cNvPr>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2394956" y="4598350"/>
            <a:ext cx="1296988" cy="608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1514" name="Group 10">
            <a:extLst>
              <a:ext uri="{FF2B5EF4-FFF2-40B4-BE49-F238E27FC236}">
                <a16:creationId xmlns:a16="http://schemas.microsoft.com/office/drawing/2014/main" id="{90EE7206-D5DD-63C5-658D-167436915186}"/>
              </a:ext>
            </a:extLst>
          </p:cNvPr>
          <p:cNvGrpSpPr>
            <a:grpSpLocks/>
          </p:cNvGrpSpPr>
          <p:nvPr/>
        </p:nvGrpSpPr>
        <p:grpSpPr bwMode="auto">
          <a:xfrm>
            <a:off x="3276600" y="3348700"/>
            <a:ext cx="4114800" cy="1905000"/>
            <a:chOff x="2112" y="2496"/>
            <a:chExt cx="2592" cy="1200"/>
          </a:xfrm>
        </p:grpSpPr>
        <p:sp>
          <p:nvSpPr>
            <p:cNvPr id="21512" name="Oval 8">
              <a:extLst>
                <a:ext uri="{FF2B5EF4-FFF2-40B4-BE49-F238E27FC236}">
                  <a16:creationId xmlns:a16="http://schemas.microsoft.com/office/drawing/2014/main" id="{5E64ADDC-73CB-2BD0-650D-E97084EE349F}"/>
                </a:ext>
              </a:extLst>
            </p:cNvPr>
            <p:cNvSpPr>
              <a:spLocks noChangeArrowheads="1"/>
            </p:cNvSpPr>
            <p:nvPr/>
          </p:nvSpPr>
          <p:spPr bwMode="auto">
            <a:xfrm>
              <a:off x="2112" y="2496"/>
              <a:ext cx="432" cy="576"/>
            </a:xfrm>
            <a:prstGeom prst="ellipse">
              <a:avLst/>
            </a:prstGeom>
            <a:solidFill>
              <a:srgbClr val="FF0000">
                <a:alpha val="14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1513" name="AutoShape 9">
              <a:extLst>
                <a:ext uri="{FF2B5EF4-FFF2-40B4-BE49-F238E27FC236}">
                  <a16:creationId xmlns:a16="http://schemas.microsoft.com/office/drawing/2014/main" id="{6148600A-A6EC-447C-7601-37905A99DBAB}"/>
                </a:ext>
              </a:extLst>
            </p:cNvPr>
            <p:cNvSpPr>
              <a:spLocks noChangeArrowheads="1"/>
            </p:cNvSpPr>
            <p:nvPr/>
          </p:nvSpPr>
          <p:spPr bwMode="auto">
            <a:xfrm>
              <a:off x="3696" y="2928"/>
              <a:ext cx="1008" cy="768"/>
            </a:xfrm>
            <a:prstGeom prst="wedgeRoundRectCallout">
              <a:avLst>
                <a:gd name="adj1" fmla="val -182042"/>
                <a:gd name="adj2" fmla="val -35157"/>
                <a:gd name="adj3" fmla="val 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en-US"/>
                <a:t>Ready for the kernel trick!</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514"/>
                                        </p:tgtEl>
                                        <p:attrNameLst>
                                          <p:attrName>style.visibility</p:attrName>
                                        </p:attrNameLst>
                                      </p:cBhvr>
                                      <p:to>
                                        <p:strVal val="visible"/>
                                      </p:to>
                                    </p:set>
                                    <p:anim calcmode="lin" valueType="num">
                                      <p:cBhvr additive="base">
                                        <p:cTn id="7" dur="500" fill="hold"/>
                                        <p:tgtEl>
                                          <p:spTgt spid="21514"/>
                                        </p:tgtEl>
                                        <p:attrNameLst>
                                          <p:attrName>ppt_x</p:attrName>
                                        </p:attrNameLst>
                                      </p:cBhvr>
                                      <p:tavLst>
                                        <p:tav tm="0">
                                          <p:val>
                                            <p:strVal val="#ppt_x"/>
                                          </p:val>
                                        </p:tav>
                                        <p:tav tm="100000">
                                          <p:val>
                                            <p:strVal val="#ppt_x"/>
                                          </p:val>
                                        </p:tav>
                                      </p:tavLst>
                                    </p:anim>
                                    <p:anim calcmode="lin" valueType="num">
                                      <p:cBhvr additive="base">
                                        <p:cTn id="8" dur="500" fill="hold"/>
                                        <p:tgtEl>
                                          <p:spTgt spid="215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094C3913-F0D5-4945-702D-36C6801D6894}"/>
              </a:ext>
            </a:extLst>
          </p:cNvPr>
          <p:cNvSpPr>
            <a:spLocks noGrp="1" noChangeArrowheads="1"/>
          </p:cNvSpPr>
          <p:nvPr>
            <p:ph type="title"/>
          </p:nvPr>
        </p:nvSpPr>
        <p:spPr/>
        <p:txBody>
          <a:bodyPr/>
          <a:lstStyle/>
          <a:p>
            <a:r>
              <a:rPr lang="en-US" altLang="en-US"/>
              <a:t>The Dual Problem</a:t>
            </a:r>
          </a:p>
        </p:txBody>
      </p:sp>
      <p:sp>
        <p:nvSpPr>
          <p:cNvPr id="22532" name="Rectangle 4">
            <a:extLst>
              <a:ext uri="{FF2B5EF4-FFF2-40B4-BE49-F238E27FC236}">
                <a16:creationId xmlns:a16="http://schemas.microsoft.com/office/drawing/2014/main" id="{D9E70287-C479-8731-017F-2D8E7DAAF433}"/>
              </a:ext>
            </a:extLst>
          </p:cNvPr>
          <p:cNvSpPr>
            <a:spLocks noGrp="1" noChangeArrowheads="1"/>
          </p:cNvSpPr>
          <p:nvPr>
            <p:ph type="body" idx="1"/>
          </p:nvPr>
        </p:nvSpPr>
        <p:spPr>
          <a:xfrm>
            <a:off x="457200" y="1371600"/>
            <a:ext cx="8229600" cy="4525963"/>
          </a:xfrm>
        </p:spPr>
        <p:txBody>
          <a:bodyPr/>
          <a:lstStyle/>
          <a:p>
            <a:r>
              <a:rPr lang="en-US" altLang="en-US" sz="2400" dirty="0"/>
              <a:t>The new objective function is in terms of </a:t>
            </a:r>
            <a:r>
              <a:rPr lang="en-US" altLang="en-US" sz="2400" dirty="0">
                <a:latin typeface="Symbol" panose="05050102010706020507" pitchFamily="18" charset="2"/>
              </a:rPr>
              <a:t>a</a:t>
            </a:r>
            <a:r>
              <a:rPr lang="en-US" altLang="en-US" sz="2400" baseline="-25000" dirty="0"/>
              <a:t>i</a:t>
            </a:r>
            <a:r>
              <a:rPr lang="en-US" altLang="en-US" sz="2400" dirty="0"/>
              <a:t> only</a:t>
            </a:r>
          </a:p>
          <a:p>
            <a:r>
              <a:rPr lang="en-US" altLang="en-US" sz="2400" dirty="0"/>
              <a:t>It is known as the dual problem: if we know </a:t>
            </a:r>
            <a:r>
              <a:rPr lang="en-US" altLang="en-US" sz="2400" b="1" dirty="0"/>
              <a:t>w</a:t>
            </a:r>
            <a:r>
              <a:rPr lang="en-US" altLang="en-US" sz="2400" dirty="0"/>
              <a:t>, we know all </a:t>
            </a:r>
            <a:r>
              <a:rPr lang="en-US" altLang="en-US" sz="2400" dirty="0">
                <a:latin typeface="Symbol" panose="05050102010706020507" pitchFamily="18" charset="2"/>
              </a:rPr>
              <a:t>a</a:t>
            </a:r>
            <a:r>
              <a:rPr lang="en-US" altLang="en-US" sz="2400" baseline="-25000" dirty="0"/>
              <a:t>i</a:t>
            </a:r>
            <a:r>
              <a:rPr lang="en-US" altLang="en-US" sz="2400" dirty="0"/>
              <a:t>; if we know all </a:t>
            </a:r>
            <a:r>
              <a:rPr lang="en-US" altLang="en-US" sz="2400" dirty="0">
                <a:latin typeface="Symbol" panose="05050102010706020507" pitchFamily="18" charset="2"/>
              </a:rPr>
              <a:t>a</a:t>
            </a:r>
            <a:r>
              <a:rPr lang="en-US" altLang="en-US" sz="2400" baseline="-25000" dirty="0"/>
              <a:t>i</a:t>
            </a:r>
            <a:r>
              <a:rPr lang="en-US" altLang="en-US" sz="2400" dirty="0"/>
              <a:t>, we know </a:t>
            </a:r>
            <a:r>
              <a:rPr lang="en-US" altLang="en-US" sz="2400" b="1" dirty="0"/>
              <a:t>w</a:t>
            </a:r>
          </a:p>
          <a:p>
            <a:r>
              <a:rPr lang="en-US" altLang="en-US" sz="2400" dirty="0"/>
              <a:t>The original problem is known as the primal problem</a:t>
            </a:r>
          </a:p>
          <a:p>
            <a:r>
              <a:rPr lang="en-US" altLang="en-US" sz="2400" dirty="0"/>
              <a:t>The objective function of the dual problem needs to be maximized!</a:t>
            </a:r>
          </a:p>
          <a:p>
            <a:r>
              <a:rPr lang="en-US" altLang="en-US" sz="2400" dirty="0"/>
              <a:t>The dual problem is therefore:</a:t>
            </a:r>
          </a:p>
        </p:txBody>
      </p:sp>
      <p:grpSp>
        <p:nvGrpSpPr>
          <p:cNvPr id="22538" name="Group 10">
            <a:extLst>
              <a:ext uri="{FF2B5EF4-FFF2-40B4-BE49-F238E27FC236}">
                <a16:creationId xmlns:a16="http://schemas.microsoft.com/office/drawing/2014/main" id="{8D1FABD6-4FBB-528E-5D99-58B2E68848AD}"/>
              </a:ext>
            </a:extLst>
          </p:cNvPr>
          <p:cNvGrpSpPr>
            <a:grpSpLocks/>
          </p:cNvGrpSpPr>
          <p:nvPr/>
        </p:nvGrpSpPr>
        <p:grpSpPr bwMode="auto">
          <a:xfrm>
            <a:off x="903764" y="4267200"/>
            <a:ext cx="7694613" cy="1752600"/>
            <a:chOff x="721" y="2545"/>
            <a:chExt cx="4847" cy="1104"/>
          </a:xfrm>
        </p:grpSpPr>
        <p:pic>
          <p:nvPicPr>
            <p:cNvPr id="22530" name="Picture 2">
              <a:extLst>
                <a:ext uri="{FF2B5EF4-FFF2-40B4-BE49-F238E27FC236}">
                  <a16:creationId xmlns:a16="http://schemas.microsoft.com/office/drawing/2014/main" id="{5805A669-9A82-F6C2-A6F8-E179A98629B6}"/>
                </a:ext>
              </a:extLst>
            </p:cNvPr>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721" y="3122"/>
              <a:ext cx="3358" cy="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3" name="Picture 5">
              <a:extLst>
                <a:ext uri="{FF2B5EF4-FFF2-40B4-BE49-F238E27FC236}">
                  <a16:creationId xmlns:a16="http://schemas.microsoft.com/office/drawing/2014/main" id="{A62D3047-A415-4058-0ACF-835AD10C9EAD}"/>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960" y="2545"/>
              <a:ext cx="4608" cy="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2534" name="Text Box 6">
            <a:extLst>
              <a:ext uri="{FF2B5EF4-FFF2-40B4-BE49-F238E27FC236}">
                <a16:creationId xmlns:a16="http://schemas.microsoft.com/office/drawing/2014/main" id="{4ED0DE14-1234-6E4D-920F-1BD670D0314C}"/>
              </a:ext>
            </a:extLst>
          </p:cNvPr>
          <p:cNvSpPr txBox="1">
            <a:spLocks noChangeArrowheads="1"/>
          </p:cNvSpPr>
          <p:nvPr/>
        </p:nvSpPr>
        <p:spPr bwMode="auto">
          <a:xfrm>
            <a:off x="381000" y="6019800"/>
            <a:ext cx="397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ahoma" panose="020B0604030504040204" pitchFamily="34" charset="0"/>
              </a:rPr>
              <a:t>Properties of </a:t>
            </a:r>
            <a:r>
              <a:rPr lang="en-US" altLang="en-US">
                <a:latin typeface="Symbol" panose="05050102010706020507" pitchFamily="18" charset="2"/>
              </a:rPr>
              <a:t>a</a:t>
            </a:r>
            <a:r>
              <a:rPr lang="en-US" altLang="en-US" baseline="-25000">
                <a:latin typeface="Tahoma" panose="020B0604030504040204" pitchFamily="34" charset="0"/>
              </a:rPr>
              <a:t>i</a:t>
            </a:r>
            <a:r>
              <a:rPr lang="en-US" altLang="en-US">
                <a:latin typeface="Tahoma" panose="020B0604030504040204" pitchFamily="34" charset="0"/>
              </a:rPr>
              <a:t> when we introduce the Lagrange multipliers</a:t>
            </a:r>
          </a:p>
        </p:txBody>
      </p:sp>
      <p:sp>
        <p:nvSpPr>
          <p:cNvPr id="22535" name="Text Box 7">
            <a:extLst>
              <a:ext uri="{FF2B5EF4-FFF2-40B4-BE49-F238E27FC236}">
                <a16:creationId xmlns:a16="http://schemas.microsoft.com/office/drawing/2014/main" id="{6DED556D-9FC5-4DF3-C492-D93FB9157538}"/>
              </a:ext>
            </a:extLst>
          </p:cNvPr>
          <p:cNvSpPr txBox="1">
            <a:spLocks noChangeArrowheads="1"/>
          </p:cNvSpPr>
          <p:nvPr/>
        </p:nvSpPr>
        <p:spPr bwMode="auto">
          <a:xfrm>
            <a:off x="5165725" y="6172200"/>
            <a:ext cx="39782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latin typeface="Tahoma" panose="020B0604030504040204" pitchFamily="34" charset="0"/>
              </a:rPr>
              <a:t>The result when we differentiate the original </a:t>
            </a:r>
            <a:r>
              <a:rPr lang="en-US" altLang="en-US" dirty="0" err="1">
                <a:latin typeface="Tahoma" panose="020B0604030504040204" pitchFamily="34" charset="0"/>
              </a:rPr>
              <a:t>Lagrangian</a:t>
            </a:r>
            <a:r>
              <a:rPr lang="en-US" altLang="en-US" dirty="0">
                <a:latin typeface="Tahoma" panose="020B0604030504040204" pitchFamily="34" charset="0"/>
              </a:rPr>
              <a:t> </a:t>
            </a:r>
            <a:r>
              <a:rPr lang="en-US" altLang="en-US" dirty="0" err="1">
                <a:latin typeface="Tahoma" panose="020B0604030504040204" pitchFamily="34" charset="0"/>
              </a:rPr>
              <a:t>w.r.t.</a:t>
            </a:r>
            <a:r>
              <a:rPr lang="en-US" altLang="en-US" dirty="0">
                <a:latin typeface="Tahoma" panose="020B0604030504040204" pitchFamily="34" charset="0"/>
              </a:rPr>
              <a:t> b</a:t>
            </a:r>
          </a:p>
        </p:txBody>
      </p:sp>
      <p:sp>
        <p:nvSpPr>
          <p:cNvPr id="22536" name="AutoShape 8">
            <a:extLst>
              <a:ext uri="{FF2B5EF4-FFF2-40B4-BE49-F238E27FC236}">
                <a16:creationId xmlns:a16="http://schemas.microsoft.com/office/drawing/2014/main" id="{E78E44FB-90B2-4981-8907-275898856D89}"/>
              </a:ext>
            </a:extLst>
          </p:cNvPr>
          <p:cNvSpPr>
            <a:spLocks noChangeArrowheads="1"/>
          </p:cNvSpPr>
          <p:nvPr/>
        </p:nvSpPr>
        <p:spPr bwMode="auto">
          <a:xfrm rot="14356866">
            <a:off x="2330542" y="5720075"/>
            <a:ext cx="228600" cy="381000"/>
          </a:xfrm>
          <a:prstGeom prst="downArrow">
            <a:avLst>
              <a:gd name="adj1" fmla="val 50000"/>
              <a:gd name="adj2" fmla="val 41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2537" name="AutoShape 9">
            <a:extLst>
              <a:ext uri="{FF2B5EF4-FFF2-40B4-BE49-F238E27FC236}">
                <a16:creationId xmlns:a16="http://schemas.microsoft.com/office/drawing/2014/main" id="{6AE3CFA7-0814-887F-482A-9B83372EDAE8}"/>
              </a:ext>
            </a:extLst>
          </p:cNvPr>
          <p:cNvSpPr>
            <a:spLocks noChangeArrowheads="1"/>
          </p:cNvSpPr>
          <p:nvPr/>
        </p:nvSpPr>
        <p:spPr bwMode="auto">
          <a:xfrm rot="6370467">
            <a:off x="6501357" y="5455327"/>
            <a:ext cx="304800" cy="914400"/>
          </a:xfrm>
          <a:prstGeom prst="downArrow">
            <a:avLst>
              <a:gd name="adj1" fmla="val 50000"/>
              <a:gd name="adj2" fmla="val 7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BB8B5C6-8F50-4794-8AB7-7A1EF3A3DE13}"/>
              </a:ext>
            </a:extLst>
          </p:cNvPr>
          <p:cNvSpPr>
            <a:spLocks noGrp="1" noChangeArrowheads="1"/>
          </p:cNvSpPr>
          <p:nvPr>
            <p:ph type="title"/>
          </p:nvPr>
        </p:nvSpPr>
        <p:spPr/>
        <p:txBody>
          <a:bodyPr/>
          <a:lstStyle/>
          <a:p>
            <a:r>
              <a:rPr lang="en-US" altLang="en-US"/>
              <a:t>The Dual Problem</a:t>
            </a:r>
          </a:p>
        </p:txBody>
      </p:sp>
      <p:sp>
        <p:nvSpPr>
          <p:cNvPr id="23555" name="Rectangle 3">
            <a:extLst>
              <a:ext uri="{FF2B5EF4-FFF2-40B4-BE49-F238E27FC236}">
                <a16:creationId xmlns:a16="http://schemas.microsoft.com/office/drawing/2014/main" id="{9123526B-614A-B0D8-B3DC-2493342E33AE}"/>
              </a:ext>
            </a:extLst>
          </p:cNvPr>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pPr lvl="4"/>
            <a:endParaRPr lang="en-US" altLang="en-US" sz="900"/>
          </a:p>
          <a:p>
            <a:r>
              <a:rPr lang="en-US" altLang="en-US" sz="2400"/>
              <a:t>This is a quadratic programming (QP) problem</a:t>
            </a:r>
          </a:p>
          <a:p>
            <a:pPr lvl="1"/>
            <a:r>
              <a:rPr lang="en-US" altLang="en-US" sz="2400"/>
              <a:t>A global maximum of </a:t>
            </a:r>
            <a:r>
              <a:rPr lang="en-US" altLang="en-US" sz="2400">
                <a:latin typeface="Symbol" panose="05050102010706020507" pitchFamily="18" charset="2"/>
              </a:rPr>
              <a:t>a</a:t>
            </a:r>
            <a:r>
              <a:rPr lang="en-US" altLang="en-US" sz="2400" baseline="-25000"/>
              <a:t>i </a:t>
            </a:r>
            <a:r>
              <a:rPr lang="en-US" altLang="en-US" sz="2400"/>
              <a:t>can always be found</a:t>
            </a:r>
          </a:p>
          <a:p>
            <a:pPr lvl="4"/>
            <a:endParaRPr lang="en-US" altLang="en-US" sz="2400"/>
          </a:p>
          <a:p>
            <a:r>
              <a:rPr lang="en-US" altLang="en-US" sz="2400" b="1"/>
              <a:t>w</a:t>
            </a:r>
            <a:r>
              <a:rPr lang="en-US" altLang="en-US" sz="2400"/>
              <a:t> can be recovered by</a:t>
            </a:r>
          </a:p>
        </p:txBody>
      </p:sp>
      <p:grpSp>
        <p:nvGrpSpPr>
          <p:cNvPr id="23559" name="Group 7">
            <a:extLst>
              <a:ext uri="{FF2B5EF4-FFF2-40B4-BE49-F238E27FC236}">
                <a16:creationId xmlns:a16="http://schemas.microsoft.com/office/drawing/2014/main" id="{7CCDD199-FE04-5B3B-FE8B-2515BFCF8C7F}"/>
              </a:ext>
            </a:extLst>
          </p:cNvPr>
          <p:cNvGrpSpPr>
            <a:grpSpLocks/>
          </p:cNvGrpSpPr>
          <p:nvPr/>
        </p:nvGrpSpPr>
        <p:grpSpPr bwMode="auto">
          <a:xfrm>
            <a:off x="1219200" y="1828800"/>
            <a:ext cx="7315200" cy="1751013"/>
            <a:chOff x="864" y="769"/>
            <a:chExt cx="4608" cy="1103"/>
          </a:xfrm>
        </p:grpSpPr>
        <p:pic>
          <p:nvPicPr>
            <p:cNvPr id="23556" name="Picture 4">
              <a:extLst>
                <a:ext uri="{FF2B5EF4-FFF2-40B4-BE49-F238E27FC236}">
                  <a16:creationId xmlns:a16="http://schemas.microsoft.com/office/drawing/2014/main" id="{958B14AC-345A-A926-7E98-F0E96081C686}"/>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64" y="1345"/>
              <a:ext cx="2880" cy="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7" name="Picture 5">
              <a:extLst>
                <a:ext uri="{FF2B5EF4-FFF2-40B4-BE49-F238E27FC236}">
                  <a16:creationId xmlns:a16="http://schemas.microsoft.com/office/drawing/2014/main" id="{F744C62F-4EA5-31D7-4073-E2AEDC666CC4}"/>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864" y="769"/>
              <a:ext cx="4608" cy="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3558" name="Picture 6">
            <a:extLst>
              <a:ext uri="{FF2B5EF4-FFF2-40B4-BE49-F238E27FC236}">
                <a16:creationId xmlns:a16="http://schemas.microsoft.com/office/drawing/2014/main" id="{E719091A-AD7E-C59C-880E-FE3B9C9BDAE3}"/>
              </a:ext>
            </a:extLst>
          </p:cNvPr>
          <p:cNvPicPr>
            <a:picLocks noChangeAspect="1" noChangeArrowheads="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4419600" y="5257800"/>
            <a:ext cx="2743200"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F351B2C-3A50-3C44-D420-C1C28F13AF2E}"/>
              </a:ext>
            </a:extLst>
          </p:cNvPr>
          <p:cNvSpPr>
            <a:spLocks noGrp="1" noChangeArrowheads="1"/>
          </p:cNvSpPr>
          <p:nvPr>
            <p:ph type="title"/>
          </p:nvPr>
        </p:nvSpPr>
        <p:spPr/>
        <p:txBody>
          <a:bodyPr/>
          <a:lstStyle/>
          <a:p>
            <a:r>
              <a:rPr lang="en-US" altLang="en-US"/>
              <a:t>Consequently…</a:t>
            </a:r>
          </a:p>
        </p:txBody>
      </p:sp>
      <p:sp>
        <p:nvSpPr>
          <p:cNvPr id="30723" name="Rectangle 3">
            <a:extLst>
              <a:ext uri="{FF2B5EF4-FFF2-40B4-BE49-F238E27FC236}">
                <a16:creationId xmlns:a16="http://schemas.microsoft.com/office/drawing/2014/main" id="{FE6FB9B8-FD74-01AC-7312-F7315D6839A3}"/>
              </a:ext>
            </a:extLst>
          </p:cNvPr>
          <p:cNvSpPr>
            <a:spLocks noGrp="1" noChangeArrowheads="1"/>
          </p:cNvSpPr>
          <p:nvPr>
            <p:ph type="body" sz="half" idx="1"/>
          </p:nvPr>
        </p:nvSpPr>
        <p:spPr/>
        <p:txBody>
          <a:bodyPr/>
          <a:lstStyle/>
          <a:p>
            <a:pPr>
              <a:lnSpc>
                <a:spcPct val="90000"/>
              </a:lnSpc>
            </a:pPr>
            <a:r>
              <a:rPr lang="en-US" altLang="en-US" sz="2400"/>
              <a:t>The only points with positive Lagrange coefficients are support vectors</a:t>
            </a:r>
          </a:p>
          <a:p>
            <a:pPr>
              <a:lnSpc>
                <a:spcPct val="90000"/>
              </a:lnSpc>
            </a:pPr>
            <a:r>
              <a:rPr lang="en-US" altLang="en-US" sz="2400"/>
              <a:t>The other points play no role (they don’t add anything to the evaluation)</a:t>
            </a:r>
          </a:p>
          <a:p>
            <a:pPr>
              <a:lnSpc>
                <a:spcPct val="90000"/>
              </a:lnSpc>
            </a:pPr>
            <a:r>
              <a:rPr lang="en-US" altLang="en-US" sz="2400"/>
              <a:t>You only need to retain support vectors, once the model is trained! (Huge savings!)</a:t>
            </a:r>
          </a:p>
        </p:txBody>
      </p:sp>
      <p:graphicFrame>
        <p:nvGraphicFramePr>
          <p:cNvPr id="30724" name="Object 4">
            <a:extLst>
              <a:ext uri="{FF2B5EF4-FFF2-40B4-BE49-F238E27FC236}">
                <a16:creationId xmlns:a16="http://schemas.microsoft.com/office/drawing/2014/main" id="{07B5D27D-2A6C-04D4-4949-81A19ED4C2EE}"/>
              </a:ext>
            </a:extLst>
          </p:cNvPr>
          <p:cNvGraphicFramePr>
            <a:graphicFrameLocks noChangeAspect="1"/>
          </p:cNvGraphicFramePr>
          <p:nvPr>
            <p:ph sz="half" idx="2"/>
          </p:nvPr>
        </p:nvGraphicFramePr>
        <p:xfrm>
          <a:off x="4648200" y="2286000"/>
          <a:ext cx="4038600" cy="836613"/>
        </p:xfrm>
        <a:graphic>
          <a:graphicData uri="http://schemas.openxmlformats.org/presentationml/2006/ole">
            <mc:AlternateContent xmlns:mc="http://schemas.openxmlformats.org/markup-compatibility/2006">
              <mc:Choice xmlns:v="urn:schemas-microsoft-com:vml" Requires="v">
                <p:oleObj name="Equation" r:id="rId2" imgW="1777680" imgH="368280" progId="Equation.DSMT4">
                  <p:embed/>
                </p:oleObj>
              </mc:Choice>
              <mc:Fallback>
                <p:oleObj name="Equation" r:id="rId2" imgW="1777680" imgH="36828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86000"/>
                        <a:ext cx="4038600" cy="836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a:extLst>
              <a:ext uri="{FF2B5EF4-FFF2-40B4-BE49-F238E27FC236}">
                <a16:creationId xmlns:a16="http://schemas.microsoft.com/office/drawing/2014/main" id="{363BB69D-4993-A6A7-77D1-84BCE192AE46}"/>
              </a:ext>
            </a:extLst>
          </p:cNvPr>
          <p:cNvSpPr txBox="1">
            <a:spLocks noChangeArrowheads="1"/>
          </p:cNvSpPr>
          <p:nvPr/>
        </p:nvSpPr>
        <p:spPr bwMode="auto">
          <a:xfrm>
            <a:off x="3352800" y="4495800"/>
            <a:ext cx="1135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6</a:t>
            </a:r>
            <a:r>
              <a:rPr lang="en-US" altLang="en-US" sz="2400">
                <a:latin typeface="Tahoma" panose="020B0604030504040204" pitchFamily="34" charset="0"/>
              </a:rPr>
              <a:t>=1.4</a:t>
            </a:r>
          </a:p>
        </p:txBody>
      </p:sp>
      <p:sp>
        <p:nvSpPr>
          <p:cNvPr id="33795" name="Rectangle 3">
            <a:extLst>
              <a:ext uri="{FF2B5EF4-FFF2-40B4-BE49-F238E27FC236}">
                <a16:creationId xmlns:a16="http://schemas.microsoft.com/office/drawing/2014/main" id="{59B500E5-FE04-132F-B048-B274A9E69E06}"/>
              </a:ext>
            </a:extLst>
          </p:cNvPr>
          <p:cNvSpPr>
            <a:spLocks noGrp="1" noChangeArrowheads="1"/>
          </p:cNvSpPr>
          <p:nvPr>
            <p:ph type="title"/>
          </p:nvPr>
        </p:nvSpPr>
        <p:spPr/>
        <p:txBody>
          <a:bodyPr/>
          <a:lstStyle/>
          <a:p>
            <a:r>
              <a:rPr lang="en-US" altLang="en-US"/>
              <a:t>A Geometrical Interpretation</a:t>
            </a:r>
          </a:p>
        </p:txBody>
      </p:sp>
      <p:sp>
        <p:nvSpPr>
          <p:cNvPr id="33796" name="Line 4">
            <a:extLst>
              <a:ext uri="{FF2B5EF4-FFF2-40B4-BE49-F238E27FC236}">
                <a16:creationId xmlns:a16="http://schemas.microsoft.com/office/drawing/2014/main" id="{D4CE04EF-0A02-9884-08F6-59DF796022C7}"/>
              </a:ext>
            </a:extLst>
          </p:cNvPr>
          <p:cNvSpPr>
            <a:spLocks noChangeShapeType="1"/>
          </p:cNvSpPr>
          <p:nvPr/>
        </p:nvSpPr>
        <p:spPr bwMode="auto">
          <a:xfrm flipV="1">
            <a:off x="1219200" y="1611313"/>
            <a:ext cx="0" cy="427990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3797" name="Line 5">
            <a:extLst>
              <a:ext uri="{FF2B5EF4-FFF2-40B4-BE49-F238E27FC236}">
                <a16:creationId xmlns:a16="http://schemas.microsoft.com/office/drawing/2014/main" id="{AF376E14-4304-26B1-EC7E-4B0465C19C4E}"/>
              </a:ext>
            </a:extLst>
          </p:cNvPr>
          <p:cNvSpPr>
            <a:spLocks noChangeShapeType="1"/>
          </p:cNvSpPr>
          <p:nvPr/>
        </p:nvSpPr>
        <p:spPr bwMode="auto">
          <a:xfrm flipV="1">
            <a:off x="1219200" y="5891213"/>
            <a:ext cx="4076700"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3798" name="Oval 6">
            <a:extLst>
              <a:ext uri="{FF2B5EF4-FFF2-40B4-BE49-F238E27FC236}">
                <a16:creationId xmlns:a16="http://schemas.microsoft.com/office/drawing/2014/main" id="{FF3A90B4-0817-DC76-FC95-55F21FB7192A}"/>
              </a:ext>
            </a:extLst>
          </p:cNvPr>
          <p:cNvSpPr>
            <a:spLocks noChangeArrowheads="1"/>
          </p:cNvSpPr>
          <p:nvPr/>
        </p:nvSpPr>
        <p:spPr bwMode="auto">
          <a:xfrm>
            <a:off x="3971925" y="2427288"/>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799" name="Oval 7">
            <a:extLst>
              <a:ext uri="{FF2B5EF4-FFF2-40B4-BE49-F238E27FC236}">
                <a16:creationId xmlns:a16="http://schemas.microsoft.com/office/drawing/2014/main" id="{E3567CBC-5F29-05E1-17CA-FE96B21A4EB7}"/>
              </a:ext>
            </a:extLst>
          </p:cNvPr>
          <p:cNvSpPr>
            <a:spLocks noChangeArrowheads="1"/>
          </p:cNvSpPr>
          <p:nvPr/>
        </p:nvSpPr>
        <p:spPr bwMode="auto">
          <a:xfrm>
            <a:off x="4648200" y="3276600"/>
            <a:ext cx="204788" cy="2047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0" name="Oval 8">
            <a:extLst>
              <a:ext uri="{FF2B5EF4-FFF2-40B4-BE49-F238E27FC236}">
                <a16:creationId xmlns:a16="http://schemas.microsoft.com/office/drawing/2014/main" id="{5DEBC979-C209-3FA4-8FB0-C3830BD4F69E}"/>
              </a:ext>
            </a:extLst>
          </p:cNvPr>
          <p:cNvSpPr>
            <a:spLocks noChangeArrowheads="1"/>
          </p:cNvSpPr>
          <p:nvPr/>
        </p:nvSpPr>
        <p:spPr bwMode="auto">
          <a:xfrm>
            <a:off x="5399088" y="3548063"/>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1" name="Oval 9">
            <a:extLst>
              <a:ext uri="{FF2B5EF4-FFF2-40B4-BE49-F238E27FC236}">
                <a16:creationId xmlns:a16="http://schemas.microsoft.com/office/drawing/2014/main" id="{19013BB8-3726-6921-139B-35942CB7F2E8}"/>
              </a:ext>
            </a:extLst>
          </p:cNvPr>
          <p:cNvSpPr>
            <a:spLocks noChangeArrowheads="1"/>
          </p:cNvSpPr>
          <p:nvPr/>
        </p:nvSpPr>
        <p:spPr bwMode="auto">
          <a:xfrm>
            <a:off x="3359150" y="2630488"/>
            <a:ext cx="204788" cy="204787"/>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2" name="Oval 10">
            <a:extLst>
              <a:ext uri="{FF2B5EF4-FFF2-40B4-BE49-F238E27FC236}">
                <a16:creationId xmlns:a16="http://schemas.microsoft.com/office/drawing/2014/main" id="{73D7A39A-8273-A308-054B-C2CE6BE30763}"/>
              </a:ext>
            </a:extLst>
          </p:cNvPr>
          <p:cNvSpPr>
            <a:spLocks noChangeArrowheads="1"/>
          </p:cNvSpPr>
          <p:nvPr/>
        </p:nvSpPr>
        <p:spPr bwMode="auto">
          <a:xfrm>
            <a:off x="4684713" y="3956050"/>
            <a:ext cx="203200" cy="203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3" name="Rectangle 11">
            <a:extLst>
              <a:ext uri="{FF2B5EF4-FFF2-40B4-BE49-F238E27FC236}">
                <a16:creationId xmlns:a16="http://schemas.microsoft.com/office/drawing/2014/main" id="{D9CE9509-E612-558A-E2AD-8FFF85D8B2A7}"/>
              </a:ext>
            </a:extLst>
          </p:cNvPr>
          <p:cNvSpPr>
            <a:spLocks noChangeArrowheads="1"/>
          </p:cNvSpPr>
          <p:nvPr/>
        </p:nvSpPr>
        <p:spPr bwMode="auto">
          <a:xfrm>
            <a:off x="1676400" y="4038600"/>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4" name="Rectangle 12">
            <a:extLst>
              <a:ext uri="{FF2B5EF4-FFF2-40B4-BE49-F238E27FC236}">
                <a16:creationId xmlns:a16="http://schemas.microsoft.com/office/drawing/2014/main" id="{059EB6D8-5AD8-F295-005B-91B1302C0F6E}"/>
              </a:ext>
            </a:extLst>
          </p:cNvPr>
          <p:cNvSpPr>
            <a:spLocks noChangeArrowheads="1"/>
          </p:cNvSpPr>
          <p:nvPr/>
        </p:nvSpPr>
        <p:spPr bwMode="auto">
          <a:xfrm>
            <a:off x="3352800" y="4419600"/>
            <a:ext cx="204788"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5" name="Rectangle 13">
            <a:extLst>
              <a:ext uri="{FF2B5EF4-FFF2-40B4-BE49-F238E27FC236}">
                <a16:creationId xmlns:a16="http://schemas.microsoft.com/office/drawing/2014/main" id="{80FBE272-C917-7923-0FD9-10DA592F3BD0}"/>
              </a:ext>
            </a:extLst>
          </p:cNvPr>
          <p:cNvSpPr>
            <a:spLocks noChangeArrowheads="1"/>
          </p:cNvSpPr>
          <p:nvPr/>
        </p:nvSpPr>
        <p:spPr bwMode="auto">
          <a:xfrm>
            <a:off x="3054350" y="5076825"/>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6" name="Rectangle 14">
            <a:extLst>
              <a:ext uri="{FF2B5EF4-FFF2-40B4-BE49-F238E27FC236}">
                <a16:creationId xmlns:a16="http://schemas.microsoft.com/office/drawing/2014/main" id="{B08B5088-459F-8E66-5349-67EAC2A8177F}"/>
              </a:ext>
            </a:extLst>
          </p:cNvPr>
          <p:cNvSpPr>
            <a:spLocks noChangeArrowheads="1"/>
          </p:cNvSpPr>
          <p:nvPr/>
        </p:nvSpPr>
        <p:spPr bwMode="auto">
          <a:xfrm>
            <a:off x="1830388" y="4975225"/>
            <a:ext cx="204787"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7" name="Rectangle 15">
            <a:extLst>
              <a:ext uri="{FF2B5EF4-FFF2-40B4-BE49-F238E27FC236}">
                <a16:creationId xmlns:a16="http://schemas.microsoft.com/office/drawing/2014/main" id="{EF145E48-CCC5-AFD3-1BBC-BA981FE76219}"/>
              </a:ext>
            </a:extLst>
          </p:cNvPr>
          <p:cNvSpPr>
            <a:spLocks noChangeArrowheads="1"/>
          </p:cNvSpPr>
          <p:nvPr/>
        </p:nvSpPr>
        <p:spPr bwMode="auto">
          <a:xfrm>
            <a:off x="2035175" y="3446463"/>
            <a:ext cx="203200" cy="2032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3808" name="Text Box 16">
            <a:extLst>
              <a:ext uri="{FF2B5EF4-FFF2-40B4-BE49-F238E27FC236}">
                <a16:creationId xmlns:a16="http://schemas.microsoft.com/office/drawing/2014/main" id="{E9D3F607-C777-C22A-3554-D8A3E0ADCB74}"/>
              </a:ext>
            </a:extLst>
          </p:cNvPr>
          <p:cNvSpPr txBox="1">
            <a:spLocks noChangeArrowheads="1"/>
          </p:cNvSpPr>
          <p:nvPr/>
        </p:nvSpPr>
        <p:spPr bwMode="auto">
          <a:xfrm>
            <a:off x="1752600" y="54864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1</a:t>
            </a:r>
          </a:p>
        </p:txBody>
      </p:sp>
      <p:sp>
        <p:nvSpPr>
          <p:cNvPr id="33809" name="Text Box 17">
            <a:extLst>
              <a:ext uri="{FF2B5EF4-FFF2-40B4-BE49-F238E27FC236}">
                <a16:creationId xmlns:a16="http://schemas.microsoft.com/office/drawing/2014/main" id="{D00A9C72-5997-8807-9CC1-073E6DD715D5}"/>
              </a:ext>
            </a:extLst>
          </p:cNvPr>
          <p:cNvSpPr txBox="1">
            <a:spLocks noChangeArrowheads="1"/>
          </p:cNvSpPr>
          <p:nvPr/>
        </p:nvSpPr>
        <p:spPr bwMode="auto">
          <a:xfrm>
            <a:off x="3048000" y="1447800"/>
            <a:ext cx="971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33810" name="Line 18">
            <a:extLst>
              <a:ext uri="{FF2B5EF4-FFF2-40B4-BE49-F238E27FC236}">
                <a16:creationId xmlns:a16="http://schemas.microsoft.com/office/drawing/2014/main" id="{FE51C11E-91F1-F250-3436-4DDD9AAA8B60}"/>
              </a:ext>
            </a:extLst>
          </p:cNvPr>
          <p:cNvSpPr>
            <a:spLocks noChangeShapeType="1"/>
          </p:cNvSpPr>
          <p:nvPr/>
        </p:nvSpPr>
        <p:spPr bwMode="auto">
          <a:xfrm>
            <a:off x="2646363" y="1917700"/>
            <a:ext cx="3363912" cy="3362325"/>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3811" name="Line 19">
            <a:extLst>
              <a:ext uri="{FF2B5EF4-FFF2-40B4-BE49-F238E27FC236}">
                <a16:creationId xmlns:a16="http://schemas.microsoft.com/office/drawing/2014/main" id="{B7954031-CEC3-0233-0114-AD535BB30375}"/>
              </a:ext>
            </a:extLst>
          </p:cNvPr>
          <p:cNvSpPr>
            <a:spLocks noChangeShapeType="1"/>
          </p:cNvSpPr>
          <p:nvPr/>
        </p:nvSpPr>
        <p:spPr bwMode="auto">
          <a:xfrm>
            <a:off x="1320800" y="2427288"/>
            <a:ext cx="3632200" cy="3590925"/>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3812" name="Line 20">
            <a:extLst>
              <a:ext uri="{FF2B5EF4-FFF2-40B4-BE49-F238E27FC236}">
                <a16:creationId xmlns:a16="http://schemas.microsoft.com/office/drawing/2014/main" id="{558BCD05-FBE7-D2B6-C628-6655529A7D8F}"/>
              </a:ext>
            </a:extLst>
          </p:cNvPr>
          <p:cNvSpPr>
            <a:spLocks noChangeShapeType="1"/>
          </p:cNvSpPr>
          <p:nvPr/>
        </p:nvSpPr>
        <p:spPr bwMode="auto">
          <a:xfrm>
            <a:off x="1320800" y="1509713"/>
            <a:ext cx="4165600" cy="4129087"/>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3813" name="Picture 21">
            <a:extLst>
              <a:ext uri="{FF2B5EF4-FFF2-40B4-BE49-F238E27FC236}">
                <a16:creationId xmlns:a16="http://schemas.microsoft.com/office/drawing/2014/main" id="{CA662856-143B-3E25-DC7E-B0601CE49C54}"/>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5334000" y="5410200"/>
            <a:ext cx="190500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4" name="Picture 22">
            <a:extLst>
              <a:ext uri="{FF2B5EF4-FFF2-40B4-BE49-F238E27FC236}">
                <a16:creationId xmlns:a16="http://schemas.microsoft.com/office/drawing/2014/main" id="{B0B9D2EB-F1F4-EACC-1486-5D90A8EFB3B9}"/>
              </a:ext>
            </a:extLst>
          </p:cNvPr>
          <p:cNvPicPr>
            <a:picLocks noChangeAspect="1" noChangeArrowheads="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5867400" y="4800600"/>
            <a:ext cx="1828800" cy="344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15" name="Picture 23">
            <a:extLst>
              <a:ext uri="{FF2B5EF4-FFF2-40B4-BE49-F238E27FC236}">
                <a16:creationId xmlns:a16="http://schemas.microsoft.com/office/drawing/2014/main" id="{E7E7148D-695A-1223-009B-E581B61E38A4}"/>
              </a:ext>
            </a:extLst>
          </p:cNvPr>
          <p:cNvPicPr>
            <a:picLocks noChangeAspect="1" noChangeArrowheads="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4191000" y="5943600"/>
            <a:ext cx="21336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816" name="Line 24">
            <a:extLst>
              <a:ext uri="{FF2B5EF4-FFF2-40B4-BE49-F238E27FC236}">
                <a16:creationId xmlns:a16="http://schemas.microsoft.com/office/drawing/2014/main" id="{AFAD509D-9A2F-010F-2AAF-84C92ABF5D0E}"/>
              </a:ext>
            </a:extLst>
          </p:cNvPr>
          <p:cNvSpPr>
            <a:spLocks noChangeShapeType="1"/>
          </p:cNvSpPr>
          <p:nvPr/>
        </p:nvSpPr>
        <p:spPr bwMode="auto">
          <a:xfrm flipV="1">
            <a:off x="2849563" y="2427288"/>
            <a:ext cx="2141537" cy="2241550"/>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3817" name="Picture 25">
            <a:extLst>
              <a:ext uri="{FF2B5EF4-FFF2-40B4-BE49-F238E27FC236}">
                <a16:creationId xmlns:a16="http://schemas.microsoft.com/office/drawing/2014/main" id="{B9E86DAE-9546-502A-43EA-7F241016908B}"/>
              </a:ext>
            </a:extLst>
          </p:cNvPr>
          <p:cNvPicPr>
            <a:picLocks noChangeAspect="1" noChangeArrowheads="1"/>
          </p:cNvPicPr>
          <p:nvPr>
            <p:custDataLst>
              <p:tags r:id="rId4"/>
            </p:custDataLst>
          </p:nvPr>
        </p:nvPicPr>
        <p:blipFill>
          <a:blip r:embed="rId10">
            <a:extLst>
              <a:ext uri="{28A0092B-C50C-407E-A947-70E740481C1C}">
                <a14:useLocalDpi xmlns:a14="http://schemas.microsoft.com/office/drawing/2010/main" val="0"/>
              </a:ext>
            </a:extLst>
          </a:blip>
          <a:srcRect/>
          <a:stretch>
            <a:fillRect/>
          </a:stretch>
        </p:blipFill>
        <p:spPr bwMode="auto">
          <a:xfrm>
            <a:off x="3962400" y="2971800"/>
            <a:ext cx="3810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818" name="Text Box 26">
            <a:extLst>
              <a:ext uri="{FF2B5EF4-FFF2-40B4-BE49-F238E27FC236}">
                <a16:creationId xmlns:a16="http://schemas.microsoft.com/office/drawing/2014/main" id="{723CBA29-AFC6-4DC5-E17E-426DE3AA8CCB}"/>
              </a:ext>
            </a:extLst>
          </p:cNvPr>
          <p:cNvSpPr txBox="1">
            <a:spLocks noChangeArrowheads="1"/>
          </p:cNvSpPr>
          <p:nvPr/>
        </p:nvSpPr>
        <p:spPr bwMode="auto">
          <a:xfrm>
            <a:off x="4876800" y="3886200"/>
            <a:ext cx="1135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1</a:t>
            </a:r>
            <a:r>
              <a:rPr lang="en-US" altLang="en-US" sz="2400">
                <a:latin typeface="Tahoma" panose="020B0604030504040204" pitchFamily="34" charset="0"/>
              </a:rPr>
              <a:t>=0.8</a:t>
            </a:r>
          </a:p>
        </p:txBody>
      </p:sp>
      <p:sp>
        <p:nvSpPr>
          <p:cNvPr id="33819" name="Text Box 27">
            <a:extLst>
              <a:ext uri="{FF2B5EF4-FFF2-40B4-BE49-F238E27FC236}">
                <a16:creationId xmlns:a16="http://schemas.microsoft.com/office/drawing/2014/main" id="{255011EF-7858-D9DB-1174-831A524EA531}"/>
              </a:ext>
            </a:extLst>
          </p:cNvPr>
          <p:cNvSpPr txBox="1">
            <a:spLocks noChangeArrowheads="1"/>
          </p:cNvSpPr>
          <p:nvPr/>
        </p:nvSpPr>
        <p:spPr bwMode="auto">
          <a:xfrm>
            <a:off x="5410200" y="31242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2</a:t>
            </a:r>
            <a:r>
              <a:rPr lang="en-US" altLang="en-US" sz="2400">
                <a:latin typeface="Tahoma" panose="020B0604030504040204" pitchFamily="34" charset="0"/>
              </a:rPr>
              <a:t>=0</a:t>
            </a:r>
          </a:p>
        </p:txBody>
      </p:sp>
      <p:sp>
        <p:nvSpPr>
          <p:cNvPr id="33820" name="Text Box 28">
            <a:extLst>
              <a:ext uri="{FF2B5EF4-FFF2-40B4-BE49-F238E27FC236}">
                <a16:creationId xmlns:a16="http://schemas.microsoft.com/office/drawing/2014/main" id="{BE73B754-19FE-D43B-9EEB-6032D7A9B0B3}"/>
              </a:ext>
            </a:extLst>
          </p:cNvPr>
          <p:cNvSpPr txBox="1">
            <a:spLocks noChangeArrowheads="1"/>
          </p:cNvSpPr>
          <p:nvPr/>
        </p:nvSpPr>
        <p:spPr bwMode="auto">
          <a:xfrm>
            <a:off x="2971800" y="52578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3</a:t>
            </a:r>
            <a:r>
              <a:rPr lang="en-US" altLang="en-US" sz="2400">
                <a:latin typeface="Tahoma" panose="020B0604030504040204" pitchFamily="34" charset="0"/>
              </a:rPr>
              <a:t>=0</a:t>
            </a:r>
          </a:p>
        </p:txBody>
      </p:sp>
      <p:sp>
        <p:nvSpPr>
          <p:cNvPr id="33821" name="Text Box 29">
            <a:extLst>
              <a:ext uri="{FF2B5EF4-FFF2-40B4-BE49-F238E27FC236}">
                <a16:creationId xmlns:a16="http://schemas.microsoft.com/office/drawing/2014/main" id="{5CE947B0-4111-2D18-7EC0-9963B27688D0}"/>
              </a:ext>
            </a:extLst>
          </p:cNvPr>
          <p:cNvSpPr txBox="1">
            <a:spLocks noChangeArrowheads="1"/>
          </p:cNvSpPr>
          <p:nvPr/>
        </p:nvSpPr>
        <p:spPr bwMode="auto">
          <a:xfrm>
            <a:off x="1295400" y="41148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4</a:t>
            </a:r>
            <a:r>
              <a:rPr lang="en-US" altLang="en-US" sz="2400">
                <a:latin typeface="Tahoma" panose="020B0604030504040204" pitchFamily="34" charset="0"/>
              </a:rPr>
              <a:t>=0</a:t>
            </a:r>
          </a:p>
        </p:txBody>
      </p:sp>
      <p:sp>
        <p:nvSpPr>
          <p:cNvPr id="33822" name="Text Box 30">
            <a:extLst>
              <a:ext uri="{FF2B5EF4-FFF2-40B4-BE49-F238E27FC236}">
                <a16:creationId xmlns:a16="http://schemas.microsoft.com/office/drawing/2014/main" id="{B859608D-E88F-A37C-05E1-7BA151779B90}"/>
              </a:ext>
            </a:extLst>
          </p:cNvPr>
          <p:cNvSpPr txBox="1">
            <a:spLocks noChangeArrowheads="1"/>
          </p:cNvSpPr>
          <p:nvPr/>
        </p:nvSpPr>
        <p:spPr bwMode="auto">
          <a:xfrm>
            <a:off x="1066800" y="32766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5</a:t>
            </a:r>
            <a:r>
              <a:rPr lang="en-US" altLang="en-US" sz="2400">
                <a:latin typeface="Tahoma" panose="020B0604030504040204" pitchFamily="34" charset="0"/>
              </a:rPr>
              <a:t>=0</a:t>
            </a:r>
          </a:p>
        </p:txBody>
      </p:sp>
      <p:sp>
        <p:nvSpPr>
          <p:cNvPr id="33823" name="Text Box 31">
            <a:extLst>
              <a:ext uri="{FF2B5EF4-FFF2-40B4-BE49-F238E27FC236}">
                <a16:creationId xmlns:a16="http://schemas.microsoft.com/office/drawing/2014/main" id="{092BC681-AA36-2799-E6D1-176F0154A445}"/>
              </a:ext>
            </a:extLst>
          </p:cNvPr>
          <p:cNvSpPr txBox="1">
            <a:spLocks noChangeArrowheads="1"/>
          </p:cNvSpPr>
          <p:nvPr/>
        </p:nvSpPr>
        <p:spPr bwMode="auto">
          <a:xfrm>
            <a:off x="4648200" y="28956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7</a:t>
            </a:r>
            <a:r>
              <a:rPr lang="en-US" altLang="en-US" sz="2400">
                <a:latin typeface="Tahoma" panose="020B0604030504040204" pitchFamily="34" charset="0"/>
              </a:rPr>
              <a:t>=0</a:t>
            </a:r>
          </a:p>
        </p:txBody>
      </p:sp>
      <p:sp>
        <p:nvSpPr>
          <p:cNvPr id="33824" name="Text Box 32">
            <a:extLst>
              <a:ext uri="{FF2B5EF4-FFF2-40B4-BE49-F238E27FC236}">
                <a16:creationId xmlns:a16="http://schemas.microsoft.com/office/drawing/2014/main" id="{A0408EB3-838D-39CE-6F6C-C260E7AFE3ED}"/>
              </a:ext>
            </a:extLst>
          </p:cNvPr>
          <p:cNvSpPr txBox="1">
            <a:spLocks noChangeArrowheads="1"/>
          </p:cNvSpPr>
          <p:nvPr/>
        </p:nvSpPr>
        <p:spPr bwMode="auto">
          <a:xfrm>
            <a:off x="2743200" y="2209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8</a:t>
            </a:r>
            <a:r>
              <a:rPr lang="en-US" altLang="en-US" sz="2400">
                <a:latin typeface="Tahoma" panose="020B0604030504040204" pitchFamily="34" charset="0"/>
              </a:rPr>
              <a:t>=0.6</a:t>
            </a:r>
          </a:p>
        </p:txBody>
      </p:sp>
      <p:sp>
        <p:nvSpPr>
          <p:cNvPr id="33825" name="Text Box 33">
            <a:extLst>
              <a:ext uri="{FF2B5EF4-FFF2-40B4-BE49-F238E27FC236}">
                <a16:creationId xmlns:a16="http://schemas.microsoft.com/office/drawing/2014/main" id="{73DFC2A0-A9D8-438B-0DD5-8393CD0425C0}"/>
              </a:ext>
            </a:extLst>
          </p:cNvPr>
          <p:cNvSpPr txBox="1">
            <a:spLocks noChangeArrowheads="1"/>
          </p:cNvSpPr>
          <p:nvPr/>
        </p:nvSpPr>
        <p:spPr bwMode="auto">
          <a:xfrm>
            <a:off x="1600200" y="5029200"/>
            <a:ext cx="876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9</a:t>
            </a:r>
            <a:r>
              <a:rPr lang="en-US" altLang="en-US" sz="2400">
                <a:latin typeface="Tahoma" panose="020B0604030504040204" pitchFamily="34" charset="0"/>
              </a:rPr>
              <a:t>=0</a:t>
            </a:r>
          </a:p>
        </p:txBody>
      </p:sp>
      <p:sp>
        <p:nvSpPr>
          <p:cNvPr id="33826" name="Text Box 34">
            <a:extLst>
              <a:ext uri="{FF2B5EF4-FFF2-40B4-BE49-F238E27FC236}">
                <a16:creationId xmlns:a16="http://schemas.microsoft.com/office/drawing/2014/main" id="{9E0E69AB-9BE2-033F-9C07-3D1D431158FB}"/>
              </a:ext>
            </a:extLst>
          </p:cNvPr>
          <p:cNvSpPr txBox="1">
            <a:spLocks noChangeArrowheads="1"/>
          </p:cNvSpPr>
          <p:nvPr/>
        </p:nvSpPr>
        <p:spPr bwMode="auto">
          <a:xfrm>
            <a:off x="3962400" y="2057400"/>
            <a:ext cx="987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Symbol" panose="05050102010706020507" pitchFamily="18" charset="2"/>
              </a:rPr>
              <a:t>a</a:t>
            </a:r>
            <a:r>
              <a:rPr lang="en-US" altLang="en-US" sz="2400" baseline="-25000">
                <a:latin typeface="Tahoma" panose="020B0604030504040204" pitchFamily="34" charset="0"/>
              </a:rPr>
              <a:t>10</a:t>
            </a:r>
            <a:r>
              <a:rPr lang="en-US" altLang="en-US" sz="2400">
                <a:latin typeface="Tahoma" panose="020B0604030504040204" pitchFamily="34" charset="0"/>
              </a:rPr>
              <a:t>=0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32EEB0B-3B6D-3887-2590-D63CEDD94AB8}"/>
              </a:ext>
            </a:extLst>
          </p:cNvPr>
          <p:cNvSpPr>
            <a:spLocks noGrp="1" noChangeArrowheads="1"/>
          </p:cNvSpPr>
          <p:nvPr>
            <p:ph type="title"/>
          </p:nvPr>
        </p:nvSpPr>
        <p:spPr/>
        <p:txBody>
          <a:bodyPr/>
          <a:lstStyle/>
          <a:p>
            <a:r>
              <a:rPr lang="en-US" altLang="en-US" sz="3600" dirty="0"/>
              <a:t>Overlapping: Non-linearly Separable Problems</a:t>
            </a:r>
          </a:p>
        </p:txBody>
      </p:sp>
      <p:sp>
        <p:nvSpPr>
          <p:cNvPr id="35843" name="Rectangle 3">
            <a:extLst>
              <a:ext uri="{FF2B5EF4-FFF2-40B4-BE49-F238E27FC236}">
                <a16:creationId xmlns:a16="http://schemas.microsoft.com/office/drawing/2014/main" id="{A254BFC5-7586-967C-C16D-67CFC4664F8B}"/>
              </a:ext>
            </a:extLst>
          </p:cNvPr>
          <p:cNvSpPr>
            <a:spLocks noGrp="1" noChangeArrowheads="1"/>
          </p:cNvSpPr>
          <p:nvPr>
            <p:ph type="body" idx="1"/>
          </p:nvPr>
        </p:nvSpPr>
        <p:spPr>
          <a:xfrm>
            <a:off x="457200" y="1524000"/>
            <a:ext cx="8229600" cy="4525963"/>
          </a:xfrm>
        </p:spPr>
        <p:txBody>
          <a:bodyPr/>
          <a:lstStyle/>
          <a:p>
            <a:r>
              <a:rPr lang="en-US" altLang="en-US" sz="2000" dirty="0"/>
              <a:t>We allow “error” </a:t>
            </a:r>
            <a:r>
              <a:rPr lang="en-US" altLang="en-US" sz="2000" dirty="0">
                <a:latin typeface="Symbol" panose="05050102010706020507" pitchFamily="18" charset="2"/>
              </a:rPr>
              <a:t>x</a:t>
            </a:r>
            <a:r>
              <a:rPr lang="en-US" altLang="en-US" sz="2000" baseline="-25000" dirty="0"/>
              <a:t>i</a:t>
            </a:r>
            <a:r>
              <a:rPr lang="en-US" altLang="en-US" sz="2000" dirty="0"/>
              <a:t> in classification; it is based on the output of the discriminant function </a:t>
            </a:r>
            <a:r>
              <a:rPr lang="en-US" altLang="en-US" sz="2000" b="1" dirty="0" err="1"/>
              <a:t>w</a:t>
            </a:r>
            <a:r>
              <a:rPr lang="en-US" altLang="en-US" sz="2000" baseline="30000" dirty="0" err="1"/>
              <a:t>T</a:t>
            </a:r>
            <a:r>
              <a:rPr lang="en-US" altLang="en-US" sz="2000" b="1" dirty="0" err="1"/>
              <a:t>x</a:t>
            </a:r>
            <a:r>
              <a:rPr lang="en-US" altLang="en-US" sz="2000" dirty="0" err="1"/>
              <a:t>+b</a:t>
            </a:r>
            <a:endParaRPr lang="en-US" altLang="en-US" sz="2000" dirty="0"/>
          </a:p>
          <a:p>
            <a:r>
              <a:rPr lang="en-US" altLang="en-US" sz="2000" dirty="0"/>
              <a:t> </a:t>
            </a:r>
            <a:r>
              <a:rPr lang="en-US" altLang="en-US" sz="2000" dirty="0">
                <a:latin typeface="Symbol" panose="05050102010706020507" pitchFamily="18" charset="2"/>
              </a:rPr>
              <a:t>x</a:t>
            </a:r>
            <a:r>
              <a:rPr lang="en-US" altLang="en-US" sz="2000" baseline="-25000" dirty="0"/>
              <a:t>i</a:t>
            </a:r>
            <a:r>
              <a:rPr lang="en-US" altLang="en-US" sz="2000" dirty="0"/>
              <a:t> approximates the number of misclassified samples</a:t>
            </a:r>
          </a:p>
        </p:txBody>
      </p:sp>
      <p:grpSp>
        <p:nvGrpSpPr>
          <p:cNvPr id="35844" name="Group 4">
            <a:extLst>
              <a:ext uri="{FF2B5EF4-FFF2-40B4-BE49-F238E27FC236}">
                <a16:creationId xmlns:a16="http://schemas.microsoft.com/office/drawing/2014/main" id="{4BDBB546-7F16-E16B-9766-D0B7B2EFAFE1}"/>
              </a:ext>
            </a:extLst>
          </p:cNvPr>
          <p:cNvGrpSpPr>
            <a:grpSpLocks/>
          </p:cNvGrpSpPr>
          <p:nvPr/>
        </p:nvGrpSpPr>
        <p:grpSpPr bwMode="auto">
          <a:xfrm>
            <a:off x="1371600" y="2482850"/>
            <a:ext cx="5943600" cy="4070350"/>
            <a:chOff x="1008" y="1056"/>
            <a:chExt cx="4416" cy="3024"/>
          </a:xfrm>
        </p:grpSpPr>
        <p:sp>
          <p:nvSpPr>
            <p:cNvPr id="35845" name="Line 5">
              <a:extLst>
                <a:ext uri="{FF2B5EF4-FFF2-40B4-BE49-F238E27FC236}">
                  <a16:creationId xmlns:a16="http://schemas.microsoft.com/office/drawing/2014/main" id="{D74F8320-FC22-33C3-687E-F777C2CD4DC3}"/>
                </a:ext>
              </a:extLst>
            </p:cNvPr>
            <p:cNvSpPr>
              <a:spLocks noChangeShapeType="1"/>
            </p:cNvSpPr>
            <p:nvPr/>
          </p:nvSpPr>
          <p:spPr bwMode="auto">
            <a:xfrm flipV="1">
              <a:off x="1344" y="1128"/>
              <a:ext cx="0" cy="2696"/>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5846" name="Line 6">
              <a:extLst>
                <a:ext uri="{FF2B5EF4-FFF2-40B4-BE49-F238E27FC236}">
                  <a16:creationId xmlns:a16="http://schemas.microsoft.com/office/drawing/2014/main" id="{83C926A8-3FB4-BE5F-AF3F-BB0936C9C434}"/>
                </a:ext>
              </a:extLst>
            </p:cNvPr>
            <p:cNvSpPr>
              <a:spLocks noChangeShapeType="1"/>
            </p:cNvSpPr>
            <p:nvPr/>
          </p:nvSpPr>
          <p:spPr bwMode="auto">
            <a:xfrm flipV="1">
              <a:off x="1344" y="3824"/>
              <a:ext cx="2568" cy="0"/>
            </a:xfrm>
            <a:prstGeom prst="line">
              <a:avLst/>
            </a:prstGeom>
            <a:noFill/>
            <a:ln w="127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5847" name="Oval 7">
              <a:extLst>
                <a:ext uri="{FF2B5EF4-FFF2-40B4-BE49-F238E27FC236}">
                  <a16:creationId xmlns:a16="http://schemas.microsoft.com/office/drawing/2014/main" id="{C8E26C91-D7CD-13C4-3CDF-8BA49AD1201B}"/>
                </a:ext>
              </a:extLst>
            </p:cNvPr>
            <p:cNvSpPr>
              <a:spLocks noChangeArrowheads="1"/>
            </p:cNvSpPr>
            <p:nvPr/>
          </p:nvSpPr>
          <p:spPr bwMode="auto">
            <a:xfrm>
              <a:off x="3078" y="1642"/>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48" name="Oval 8">
              <a:extLst>
                <a:ext uri="{FF2B5EF4-FFF2-40B4-BE49-F238E27FC236}">
                  <a16:creationId xmlns:a16="http://schemas.microsoft.com/office/drawing/2014/main" id="{2FFE9199-DCC7-6283-C4EC-5B17A2D6021A}"/>
                </a:ext>
              </a:extLst>
            </p:cNvPr>
            <p:cNvSpPr>
              <a:spLocks noChangeArrowheads="1"/>
            </p:cNvSpPr>
            <p:nvPr/>
          </p:nvSpPr>
          <p:spPr bwMode="auto">
            <a:xfrm>
              <a:off x="3600" y="1344"/>
              <a:ext cx="129" cy="129"/>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49" name="Oval 9">
              <a:extLst>
                <a:ext uri="{FF2B5EF4-FFF2-40B4-BE49-F238E27FC236}">
                  <a16:creationId xmlns:a16="http://schemas.microsoft.com/office/drawing/2014/main" id="{BF3D76D0-6AEA-B805-8BB6-64EE1B99897B}"/>
                </a:ext>
              </a:extLst>
            </p:cNvPr>
            <p:cNvSpPr>
              <a:spLocks noChangeArrowheads="1"/>
            </p:cNvSpPr>
            <p:nvPr/>
          </p:nvSpPr>
          <p:spPr bwMode="auto">
            <a:xfrm>
              <a:off x="3936" y="2496"/>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0" name="Oval 10">
              <a:extLst>
                <a:ext uri="{FF2B5EF4-FFF2-40B4-BE49-F238E27FC236}">
                  <a16:creationId xmlns:a16="http://schemas.microsoft.com/office/drawing/2014/main" id="{F04D4E75-7652-4967-0C3C-BAB1864C437F}"/>
                </a:ext>
              </a:extLst>
            </p:cNvPr>
            <p:cNvSpPr>
              <a:spLocks noChangeArrowheads="1"/>
            </p:cNvSpPr>
            <p:nvPr/>
          </p:nvSpPr>
          <p:spPr bwMode="auto">
            <a:xfrm>
              <a:off x="2400" y="1728"/>
              <a:ext cx="129" cy="129"/>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1" name="Oval 11">
              <a:extLst>
                <a:ext uri="{FF2B5EF4-FFF2-40B4-BE49-F238E27FC236}">
                  <a16:creationId xmlns:a16="http://schemas.microsoft.com/office/drawing/2014/main" id="{7E778AC9-05C6-D1A2-FA54-2886872C7F81}"/>
                </a:ext>
              </a:extLst>
            </p:cNvPr>
            <p:cNvSpPr>
              <a:spLocks noChangeArrowheads="1"/>
            </p:cNvSpPr>
            <p:nvPr/>
          </p:nvSpPr>
          <p:spPr bwMode="auto">
            <a:xfrm>
              <a:off x="4080" y="2064"/>
              <a:ext cx="128" cy="1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2" name="Rectangle 12">
              <a:extLst>
                <a:ext uri="{FF2B5EF4-FFF2-40B4-BE49-F238E27FC236}">
                  <a16:creationId xmlns:a16="http://schemas.microsoft.com/office/drawing/2014/main" id="{85252705-9BF9-9C09-8D46-4BBE45F34388}"/>
                </a:ext>
              </a:extLst>
            </p:cNvPr>
            <p:cNvSpPr>
              <a:spLocks noChangeArrowheads="1"/>
            </p:cNvSpPr>
            <p:nvPr/>
          </p:nvSpPr>
          <p:spPr bwMode="auto">
            <a:xfrm>
              <a:off x="1632" y="2657"/>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3" name="Rectangle 13">
              <a:extLst>
                <a:ext uri="{FF2B5EF4-FFF2-40B4-BE49-F238E27FC236}">
                  <a16:creationId xmlns:a16="http://schemas.microsoft.com/office/drawing/2014/main" id="{B67C5748-B302-75EF-8435-6A486D370D26}"/>
                </a:ext>
              </a:extLst>
            </p:cNvPr>
            <p:cNvSpPr>
              <a:spLocks noChangeArrowheads="1"/>
            </p:cNvSpPr>
            <p:nvPr/>
          </p:nvSpPr>
          <p:spPr bwMode="auto">
            <a:xfrm>
              <a:off x="3360" y="2448"/>
              <a:ext cx="129"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4" name="Rectangle 14">
              <a:extLst>
                <a:ext uri="{FF2B5EF4-FFF2-40B4-BE49-F238E27FC236}">
                  <a16:creationId xmlns:a16="http://schemas.microsoft.com/office/drawing/2014/main" id="{1DF93922-4AEB-94ED-6BBF-93E0492B8755}"/>
                </a:ext>
              </a:extLst>
            </p:cNvPr>
            <p:cNvSpPr>
              <a:spLocks noChangeArrowheads="1"/>
            </p:cNvSpPr>
            <p:nvPr/>
          </p:nvSpPr>
          <p:spPr bwMode="auto">
            <a:xfrm>
              <a:off x="2208" y="2928"/>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5" name="Rectangle 15">
              <a:extLst>
                <a:ext uri="{FF2B5EF4-FFF2-40B4-BE49-F238E27FC236}">
                  <a16:creationId xmlns:a16="http://schemas.microsoft.com/office/drawing/2014/main" id="{5FDCD844-D46D-1AEC-DB17-2F13E6567771}"/>
                </a:ext>
              </a:extLst>
            </p:cNvPr>
            <p:cNvSpPr>
              <a:spLocks noChangeArrowheads="1"/>
            </p:cNvSpPr>
            <p:nvPr/>
          </p:nvSpPr>
          <p:spPr bwMode="auto">
            <a:xfrm>
              <a:off x="1729" y="3247"/>
              <a:ext cx="129"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6" name="Rectangle 16">
              <a:extLst>
                <a:ext uri="{FF2B5EF4-FFF2-40B4-BE49-F238E27FC236}">
                  <a16:creationId xmlns:a16="http://schemas.microsoft.com/office/drawing/2014/main" id="{5C61CA3A-783A-162A-49A5-3C62C0740A8D}"/>
                </a:ext>
              </a:extLst>
            </p:cNvPr>
            <p:cNvSpPr>
              <a:spLocks noChangeArrowheads="1"/>
            </p:cNvSpPr>
            <p:nvPr/>
          </p:nvSpPr>
          <p:spPr bwMode="auto">
            <a:xfrm>
              <a:off x="1440" y="2832"/>
              <a:ext cx="128" cy="1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35857" name="Text Box 17">
              <a:extLst>
                <a:ext uri="{FF2B5EF4-FFF2-40B4-BE49-F238E27FC236}">
                  <a16:creationId xmlns:a16="http://schemas.microsoft.com/office/drawing/2014/main" id="{C3F591E4-3BED-6CC7-56F0-82D6AE1AEFED}"/>
                </a:ext>
              </a:extLst>
            </p:cNvPr>
            <p:cNvSpPr txBox="1">
              <a:spLocks noChangeArrowheads="1"/>
            </p:cNvSpPr>
            <p:nvPr/>
          </p:nvSpPr>
          <p:spPr bwMode="auto">
            <a:xfrm>
              <a:off x="1680" y="3569"/>
              <a:ext cx="722"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latin typeface="Tahoma" panose="020B0604030504040204" pitchFamily="34" charset="0"/>
                </a:rPr>
                <a:t>Class 1</a:t>
              </a:r>
            </a:p>
          </p:txBody>
        </p:sp>
        <p:sp>
          <p:nvSpPr>
            <p:cNvPr id="35858" name="Text Box 18">
              <a:extLst>
                <a:ext uri="{FF2B5EF4-FFF2-40B4-BE49-F238E27FC236}">
                  <a16:creationId xmlns:a16="http://schemas.microsoft.com/office/drawing/2014/main" id="{328ED87E-935E-3C9C-3FB0-30642CC08D75}"/>
                </a:ext>
              </a:extLst>
            </p:cNvPr>
            <p:cNvSpPr txBox="1">
              <a:spLocks noChangeArrowheads="1"/>
            </p:cNvSpPr>
            <p:nvPr/>
          </p:nvSpPr>
          <p:spPr bwMode="auto">
            <a:xfrm>
              <a:off x="3792" y="1488"/>
              <a:ext cx="721" cy="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ahoma" panose="020B0604030504040204" pitchFamily="34" charset="0"/>
                </a:rPr>
                <a:t>Class 2</a:t>
              </a:r>
            </a:p>
          </p:txBody>
        </p:sp>
        <p:sp>
          <p:nvSpPr>
            <p:cNvPr id="35859" name="Line 19">
              <a:extLst>
                <a:ext uri="{FF2B5EF4-FFF2-40B4-BE49-F238E27FC236}">
                  <a16:creationId xmlns:a16="http://schemas.microsoft.com/office/drawing/2014/main" id="{5A222E02-06D3-44D9-5B83-B58AC24BC3AE}"/>
                </a:ext>
              </a:extLst>
            </p:cNvPr>
            <p:cNvSpPr>
              <a:spLocks noChangeShapeType="1"/>
            </p:cNvSpPr>
            <p:nvPr/>
          </p:nvSpPr>
          <p:spPr bwMode="auto">
            <a:xfrm>
              <a:off x="2496" y="1056"/>
              <a:ext cx="2119" cy="2118"/>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5860" name="Line 20">
              <a:extLst>
                <a:ext uri="{FF2B5EF4-FFF2-40B4-BE49-F238E27FC236}">
                  <a16:creationId xmlns:a16="http://schemas.microsoft.com/office/drawing/2014/main" id="{F9CCCE91-6283-13D2-63DF-CBFD42ABD7C0}"/>
                </a:ext>
              </a:extLst>
            </p:cNvPr>
            <p:cNvSpPr>
              <a:spLocks noChangeShapeType="1"/>
            </p:cNvSpPr>
            <p:nvPr/>
          </p:nvSpPr>
          <p:spPr bwMode="auto">
            <a:xfrm>
              <a:off x="1008" y="1728"/>
              <a:ext cx="2288" cy="2262"/>
            </a:xfrm>
            <a:prstGeom prst="line">
              <a:avLst/>
            </a:prstGeom>
            <a:noFill/>
            <a:ln w="38100">
              <a:solidFill>
                <a:schemeClr val="folHlink"/>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35861" name="Line 21">
              <a:extLst>
                <a:ext uri="{FF2B5EF4-FFF2-40B4-BE49-F238E27FC236}">
                  <a16:creationId xmlns:a16="http://schemas.microsoft.com/office/drawing/2014/main" id="{9C2C2895-3D82-F06B-0D71-1910721999A9}"/>
                </a:ext>
              </a:extLst>
            </p:cNvPr>
            <p:cNvSpPr>
              <a:spLocks noChangeShapeType="1"/>
            </p:cNvSpPr>
            <p:nvPr/>
          </p:nvSpPr>
          <p:spPr bwMode="auto">
            <a:xfrm>
              <a:off x="1408" y="1064"/>
              <a:ext cx="2624" cy="2601"/>
            </a:xfrm>
            <a:prstGeom prst="line">
              <a:avLst/>
            </a:prstGeom>
            <a:noFill/>
            <a:ln w="38100">
              <a:solidFill>
                <a:schemeClr val="fo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5862" name="Picture 22">
              <a:extLst>
                <a:ext uri="{FF2B5EF4-FFF2-40B4-BE49-F238E27FC236}">
                  <a16:creationId xmlns:a16="http://schemas.microsoft.com/office/drawing/2014/main" id="{B059AEFD-C6D3-CED0-C3CE-CC1EA9795F14}"/>
                </a:ext>
              </a:extLst>
            </p:cNvPr>
            <p:cNvPicPr>
              <a:picLocks noChangeAspect="1" noChangeArrowheads="1"/>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3936" y="3521"/>
              <a:ext cx="12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63" name="Picture 23">
              <a:extLst>
                <a:ext uri="{FF2B5EF4-FFF2-40B4-BE49-F238E27FC236}">
                  <a16:creationId xmlns:a16="http://schemas.microsoft.com/office/drawing/2014/main" id="{99995CA3-9042-838D-D66F-2BB9EF90A94C}"/>
                </a:ext>
              </a:extLst>
            </p:cNvPr>
            <p:cNvPicPr>
              <a:picLocks noChangeAspect="1" noChangeArrowheads="1"/>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4272" y="3137"/>
              <a:ext cx="1152"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64" name="Picture 24">
              <a:extLst>
                <a:ext uri="{FF2B5EF4-FFF2-40B4-BE49-F238E27FC236}">
                  <a16:creationId xmlns:a16="http://schemas.microsoft.com/office/drawing/2014/main" id="{DC9929DE-9B4B-EE90-FFCD-014CC55481DF}"/>
                </a:ext>
              </a:extLst>
            </p:cNvPr>
            <p:cNvPicPr>
              <a:picLocks noChangeAspect="1" noChangeArrowheads="1"/>
            </p:cNvPicPr>
            <p:nvPr>
              <p:custDataLst>
                <p:tags r:id="rId3"/>
              </p:custDataLst>
            </p:nvPr>
          </p:nvPicPr>
          <p:blipFill>
            <a:blip r:embed="rId12">
              <a:extLst>
                <a:ext uri="{28A0092B-C50C-407E-A947-70E740481C1C}">
                  <a14:useLocalDpi xmlns:a14="http://schemas.microsoft.com/office/drawing/2010/main" val="0"/>
                </a:ext>
              </a:extLst>
            </a:blip>
            <a:srcRect/>
            <a:stretch>
              <a:fillRect/>
            </a:stretch>
          </p:blipFill>
          <p:spPr bwMode="auto">
            <a:xfrm>
              <a:off x="3216" y="3857"/>
              <a:ext cx="1344"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65" name="Line 25">
              <a:extLst>
                <a:ext uri="{FF2B5EF4-FFF2-40B4-BE49-F238E27FC236}">
                  <a16:creationId xmlns:a16="http://schemas.microsoft.com/office/drawing/2014/main" id="{C21DA328-3F53-FA4E-33CF-273B54C61EF7}"/>
                </a:ext>
              </a:extLst>
            </p:cNvPr>
            <p:cNvSpPr>
              <a:spLocks noChangeShapeType="1"/>
            </p:cNvSpPr>
            <p:nvPr/>
          </p:nvSpPr>
          <p:spPr bwMode="auto">
            <a:xfrm flipV="1">
              <a:off x="2371" y="1642"/>
              <a:ext cx="1349" cy="1412"/>
            </a:xfrm>
            <a:prstGeom prst="line">
              <a:avLst/>
            </a:prstGeom>
            <a:noFill/>
            <a:ln w="25400">
              <a:solidFill>
                <a:srgbClr val="993366"/>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5866" name="Picture 26">
              <a:extLst>
                <a:ext uri="{FF2B5EF4-FFF2-40B4-BE49-F238E27FC236}">
                  <a16:creationId xmlns:a16="http://schemas.microsoft.com/office/drawing/2014/main" id="{2DEF5A38-FA6A-71F5-4860-17EDE54122DF}"/>
                </a:ext>
              </a:extLst>
            </p:cNvPr>
            <p:cNvPicPr>
              <a:picLocks noChangeAspect="1" noChangeArrowheads="1"/>
            </p:cNvPicPr>
            <p:nvPr>
              <p:custDataLst>
                <p:tags r:id="rId4"/>
              </p:custDataLst>
            </p:nvPr>
          </p:nvPicPr>
          <p:blipFill>
            <a:blip r:embed="rId13">
              <a:extLst>
                <a:ext uri="{28A0092B-C50C-407E-A947-70E740481C1C}">
                  <a14:useLocalDpi xmlns:a14="http://schemas.microsoft.com/office/drawing/2010/main" val="0"/>
                </a:ext>
              </a:extLst>
            </a:blip>
            <a:srcRect/>
            <a:stretch>
              <a:fillRect/>
            </a:stretch>
          </p:blipFill>
          <p:spPr bwMode="auto">
            <a:xfrm>
              <a:off x="3024" y="1968"/>
              <a:ext cx="240" cy="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67" name="Line 27">
              <a:extLst>
                <a:ext uri="{FF2B5EF4-FFF2-40B4-BE49-F238E27FC236}">
                  <a16:creationId xmlns:a16="http://schemas.microsoft.com/office/drawing/2014/main" id="{AC06576D-21A7-5DE6-4213-3F0D1F7171A8}"/>
                </a:ext>
              </a:extLst>
            </p:cNvPr>
            <p:cNvSpPr>
              <a:spLocks noChangeShapeType="1"/>
            </p:cNvSpPr>
            <p:nvPr/>
          </p:nvSpPr>
          <p:spPr bwMode="auto">
            <a:xfrm flipH="1">
              <a:off x="2621" y="2554"/>
              <a:ext cx="768" cy="768"/>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5868" name="Picture 28">
              <a:extLst>
                <a:ext uri="{FF2B5EF4-FFF2-40B4-BE49-F238E27FC236}">
                  <a16:creationId xmlns:a16="http://schemas.microsoft.com/office/drawing/2014/main" id="{8AB737C4-BF96-5161-0B0B-32B2B4A96A2D}"/>
                </a:ext>
              </a:extLst>
            </p:cNvPr>
            <p:cNvPicPr>
              <a:picLocks noChangeAspect="1" noChangeArrowheads="1"/>
            </p:cNvPicPr>
            <p:nvPr>
              <p:custDataLst>
                <p:tags r:id="rId5"/>
              </p:custDataLst>
            </p:nvPr>
          </p:nvPicPr>
          <p:blipFill>
            <a:blip r:embed="rId14">
              <a:extLst>
                <a:ext uri="{28A0092B-C50C-407E-A947-70E740481C1C}">
                  <a14:useLocalDpi xmlns:a14="http://schemas.microsoft.com/office/drawing/2010/main" val="0"/>
                </a:ext>
              </a:extLst>
            </a:blip>
            <a:srcRect/>
            <a:stretch>
              <a:fillRect/>
            </a:stretch>
          </p:blipFill>
          <p:spPr bwMode="auto">
            <a:xfrm>
              <a:off x="2976" y="2976"/>
              <a:ext cx="19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69" name="Picture 29">
              <a:extLst>
                <a:ext uri="{FF2B5EF4-FFF2-40B4-BE49-F238E27FC236}">
                  <a16:creationId xmlns:a16="http://schemas.microsoft.com/office/drawing/2014/main" id="{1DFC650D-64DE-2B98-8633-A66D44042BCB}"/>
                </a:ext>
              </a:extLst>
            </p:cNvPr>
            <p:cNvPicPr>
              <a:picLocks noChangeAspect="1" noChangeArrowheads="1"/>
            </p:cNvPicPr>
            <p:nvPr>
              <p:custDataLst>
                <p:tags r:id="rId6"/>
              </p:custDataLst>
            </p:nvPr>
          </p:nvPicPr>
          <p:blipFill>
            <a:blip r:embed="rId15">
              <a:extLst>
                <a:ext uri="{28A0092B-C50C-407E-A947-70E740481C1C}">
                  <a14:useLocalDpi xmlns:a14="http://schemas.microsoft.com/office/drawing/2010/main" val="0"/>
                </a:ext>
              </a:extLst>
            </a:blip>
            <a:srcRect/>
            <a:stretch>
              <a:fillRect/>
            </a:stretch>
          </p:blipFill>
          <p:spPr bwMode="auto">
            <a:xfrm>
              <a:off x="3497" y="2592"/>
              <a:ext cx="199"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70" name="Line 30">
              <a:extLst>
                <a:ext uri="{FF2B5EF4-FFF2-40B4-BE49-F238E27FC236}">
                  <a16:creationId xmlns:a16="http://schemas.microsoft.com/office/drawing/2014/main" id="{4607728F-3520-8BA8-5B8A-152629CA48B4}"/>
                </a:ext>
              </a:extLst>
            </p:cNvPr>
            <p:cNvSpPr>
              <a:spLocks noChangeShapeType="1"/>
            </p:cNvSpPr>
            <p:nvPr/>
          </p:nvSpPr>
          <p:spPr bwMode="auto">
            <a:xfrm flipH="1">
              <a:off x="2496" y="1429"/>
              <a:ext cx="374" cy="347"/>
            </a:xfrm>
            <a:prstGeom prst="line">
              <a:avLst/>
            </a:prstGeom>
            <a:noFill/>
            <a:ln w="25400">
              <a:solidFill>
                <a:srgbClr val="FF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35871" name="Picture 31">
              <a:extLst>
                <a:ext uri="{FF2B5EF4-FFF2-40B4-BE49-F238E27FC236}">
                  <a16:creationId xmlns:a16="http://schemas.microsoft.com/office/drawing/2014/main" id="{7B413A58-B4F8-59CE-34FE-78D6C879203C}"/>
                </a:ext>
              </a:extLst>
            </p:cNvPr>
            <p:cNvPicPr>
              <a:picLocks noChangeAspect="1" noChangeArrowheads="1"/>
            </p:cNvPicPr>
            <p:nvPr>
              <p:custDataLst>
                <p:tags r:id="rId7"/>
              </p:custDataLst>
            </p:nvPr>
          </p:nvPicPr>
          <p:blipFill>
            <a:blip r:embed="rId16">
              <a:extLst>
                <a:ext uri="{28A0092B-C50C-407E-A947-70E740481C1C}">
                  <a14:useLocalDpi xmlns:a14="http://schemas.microsoft.com/office/drawing/2010/main" val="0"/>
                </a:ext>
              </a:extLst>
            </a:blip>
            <a:srcRect/>
            <a:stretch>
              <a:fillRect/>
            </a:stretch>
          </p:blipFill>
          <p:spPr bwMode="auto">
            <a:xfrm>
              <a:off x="2530" y="1802"/>
              <a:ext cx="221"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72" name="Picture 32">
              <a:extLst>
                <a:ext uri="{FF2B5EF4-FFF2-40B4-BE49-F238E27FC236}">
                  <a16:creationId xmlns:a16="http://schemas.microsoft.com/office/drawing/2014/main" id="{C7992D7D-7A68-98A7-2780-F7A73A6AC9A3}"/>
                </a:ext>
              </a:extLst>
            </p:cNvPr>
            <p:cNvPicPr>
              <a:picLocks noChangeAspect="1" noChangeArrowheads="1"/>
            </p:cNvPicPr>
            <p:nvPr>
              <p:custDataLst>
                <p:tags r:id="rId8"/>
              </p:custDataLst>
            </p:nvPr>
          </p:nvPicPr>
          <p:blipFill>
            <a:blip r:embed="rId17">
              <a:extLst>
                <a:ext uri="{28A0092B-C50C-407E-A947-70E740481C1C}">
                  <a14:useLocalDpi xmlns:a14="http://schemas.microsoft.com/office/drawing/2010/main" val="0"/>
                </a:ext>
              </a:extLst>
            </a:blip>
            <a:srcRect/>
            <a:stretch>
              <a:fillRect/>
            </a:stretch>
          </p:blipFill>
          <p:spPr bwMode="auto">
            <a:xfrm>
              <a:off x="2389" y="1373"/>
              <a:ext cx="215"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 name="TextBox 3">
            <a:extLst>
              <a:ext uri="{FF2B5EF4-FFF2-40B4-BE49-F238E27FC236}">
                <a16:creationId xmlns:a16="http://schemas.microsoft.com/office/drawing/2014/main" id="{2B6BE0BB-7D5A-4DB4-E8A4-ADCCD30780D0}"/>
              </a:ext>
            </a:extLst>
          </p:cNvPr>
          <p:cNvSpPr txBox="1"/>
          <p:nvPr/>
        </p:nvSpPr>
        <p:spPr>
          <a:xfrm>
            <a:off x="6781799" y="2870502"/>
            <a:ext cx="2034209" cy="646331"/>
          </a:xfrm>
          <a:prstGeom prst="rect">
            <a:avLst/>
          </a:prstGeom>
          <a:noFill/>
        </p:spPr>
        <p:txBody>
          <a:bodyPr wrap="square" rtlCol="0">
            <a:spAutoFit/>
          </a:bodyPr>
          <a:lstStyle/>
          <a:p>
            <a:r>
              <a:rPr lang="en-US" altLang="en-US" sz="1800" dirty="0">
                <a:latin typeface="Symbol" panose="05050102010706020507" pitchFamily="18" charset="2"/>
              </a:rPr>
              <a:t>x</a:t>
            </a:r>
            <a:r>
              <a:rPr lang="en-US" altLang="en-US" sz="1800" baseline="-25000" dirty="0"/>
              <a:t>i</a:t>
            </a:r>
            <a:r>
              <a:rPr lang="en-CA" dirty="0"/>
              <a:t>  &gt; 1 will be misclassified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D5B50FE-05C4-9270-43A8-9BD9D0D80F94}"/>
              </a:ext>
            </a:extLst>
          </p:cNvPr>
          <p:cNvSpPr>
            <a:spLocks noGrp="1" noChangeArrowheads="1"/>
          </p:cNvSpPr>
          <p:nvPr>
            <p:ph type="title"/>
          </p:nvPr>
        </p:nvSpPr>
        <p:spPr/>
        <p:txBody>
          <a:bodyPr/>
          <a:lstStyle/>
          <a:p>
            <a:r>
              <a:rPr lang="en-US" altLang="en-US"/>
              <a:t>Soft Margin Hyperplane</a:t>
            </a:r>
          </a:p>
        </p:txBody>
      </p:sp>
      <p:sp>
        <p:nvSpPr>
          <p:cNvPr id="36867" name="Rectangle 3">
            <a:extLst>
              <a:ext uri="{FF2B5EF4-FFF2-40B4-BE49-F238E27FC236}">
                <a16:creationId xmlns:a16="http://schemas.microsoft.com/office/drawing/2014/main" id="{326D523F-7ED1-59CC-DB5C-4CC73E62E40A}"/>
              </a:ext>
            </a:extLst>
          </p:cNvPr>
          <p:cNvSpPr>
            <a:spLocks noGrp="1" noChangeArrowheads="1"/>
          </p:cNvSpPr>
          <p:nvPr>
            <p:ph type="body" idx="1"/>
          </p:nvPr>
        </p:nvSpPr>
        <p:spPr>
          <a:xfrm>
            <a:off x="609600" y="1371600"/>
            <a:ext cx="8229600" cy="4525963"/>
          </a:xfrm>
        </p:spPr>
        <p:txBody>
          <a:bodyPr/>
          <a:lstStyle/>
          <a:p>
            <a:r>
              <a:rPr lang="en-US" altLang="en-US" sz="2000"/>
              <a:t>If we minimize </a:t>
            </a:r>
            <a:r>
              <a:rPr lang="en-US" altLang="en-US" sz="2000">
                <a:latin typeface="Symbol" panose="05050102010706020507" pitchFamily="18" charset="2"/>
              </a:rPr>
              <a:t>å</a:t>
            </a:r>
            <a:r>
              <a:rPr lang="en-US" altLang="en-US" sz="2000" baseline="-25000"/>
              <a:t>i</a:t>
            </a:r>
            <a:r>
              <a:rPr lang="en-US" altLang="en-US" sz="2000">
                <a:latin typeface="Symbol" panose="05050102010706020507" pitchFamily="18" charset="2"/>
              </a:rPr>
              <a:t>x</a:t>
            </a:r>
            <a:r>
              <a:rPr lang="en-US" altLang="en-US" sz="2000" baseline="-25000"/>
              <a:t>i</a:t>
            </a:r>
            <a:r>
              <a:rPr lang="en-US" altLang="en-US" sz="2000"/>
              <a:t>, </a:t>
            </a:r>
            <a:r>
              <a:rPr lang="en-US" altLang="en-US" sz="2000">
                <a:latin typeface="Symbol" panose="05050102010706020507" pitchFamily="18" charset="2"/>
              </a:rPr>
              <a:t>x</a:t>
            </a:r>
            <a:r>
              <a:rPr lang="en-US" altLang="en-US" sz="2000" baseline="-25000"/>
              <a:t>i</a:t>
            </a:r>
            <a:r>
              <a:rPr lang="en-US" altLang="en-US" sz="2000"/>
              <a:t> can be computed by</a:t>
            </a:r>
          </a:p>
          <a:p>
            <a:endParaRPr lang="en-US" altLang="en-US" sz="2000"/>
          </a:p>
          <a:p>
            <a:endParaRPr lang="en-US" altLang="en-US" sz="2000"/>
          </a:p>
          <a:p>
            <a:endParaRPr lang="en-US" altLang="en-US" sz="2000"/>
          </a:p>
          <a:p>
            <a:endParaRPr lang="en-US" altLang="en-US" sz="2000"/>
          </a:p>
          <a:p>
            <a:pPr lvl="1"/>
            <a:r>
              <a:rPr lang="en-US" altLang="en-US" sz="2000">
                <a:latin typeface="Symbol" panose="05050102010706020507" pitchFamily="18" charset="2"/>
              </a:rPr>
              <a:t>x</a:t>
            </a:r>
            <a:r>
              <a:rPr lang="en-US" altLang="en-US" sz="2000" baseline="-25000"/>
              <a:t>i</a:t>
            </a:r>
            <a:r>
              <a:rPr lang="en-US" altLang="en-US" sz="2000"/>
              <a:t> are “slack variables” in optimization</a:t>
            </a:r>
          </a:p>
          <a:p>
            <a:pPr lvl="1"/>
            <a:r>
              <a:rPr lang="en-US" altLang="en-US" sz="2000"/>
              <a:t>Note that </a:t>
            </a:r>
            <a:r>
              <a:rPr lang="en-US" altLang="en-US" sz="2000">
                <a:latin typeface="Symbol" panose="05050102010706020507" pitchFamily="18" charset="2"/>
              </a:rPr>
              <a:t>x</a:t>
            </a:r>
            <a:r>
              <a:rPr lang="en-US" altLang="en-US" sz="2000" baseline="-25000"/>
              <a:t>i</a:t>
            </a:r>
            <a:r>
              <a:rPr lang="en-US" altLang="en-US" sz="2000"/>
              <a:t>=0 if there is no error for </a:t>
            </a:r>
            <a:r>
              <a:rPr lang="en-US" altLang="en-US" sz="2000" b="1"/>
              <a:t>x</a:t>
            </a:r>
            <a:r>
              <a:rPr lang="en-US" altLang="en-US" sz="2000" baseline="-25000"/>
              <a:t>i</a:t>
            </a:r>
            <a:endParaRPr lang="en-US" altLang="en-US" sz="2000"/>
          </a:p>
          <a:p>
            <a:pPr lvl="1"/>
            <a:r>
              <a:rPr lang="en-US" altLang="en-US" sz="2000">
                <a:latin typeface="Symbol" panose="05050102010706020507" pitchFamily="18" charset="2"/>
              </a:rPr>
              <a:t>x</a:t>
            </a:r>
            <a:r>
              <a:rPr lang="en-US" altLang="en-US" sz="2000" baseline="-25000"/>
              <a:t>i</a:t>
            </a:r>
            <a:r>
              <a:rPr lang="en-US" altLang="en-US" sz="2000"/>
              <a:t> is an upper bound of the number of errors</a:t>
            </a:r>
          </a:p>
          <a:p>
            <a:r>
              <a:rPr lang="en-US" altLang="en-US" sz="2000"/>
              <a:t>We want to minimize</a:t>
            </a:r>
          </a:p>
          <a:p>
            <a:pPr lvl="1">
              <a:buFontTx/>
              <a:buNone/>
            </a:pPr>
            <a:r>
              <a:rPr lang="en-US" altLang="en-US" sz="2000" i="1"/>
              <a:t> </a:t>
            </a:r>
          </a:p>
          <a:p>
            <a:pPr lvl="1"/>
            <a:r>
              <a:rPr lang="en-US" altLang="en-US" sz="2000" i="1"/>
              <a:t>C</a:t>
            </a:r>
            <a:r>
              <a:rPr lang="en-US" altLang="en-US" sz="2000"/>
              <a:t> : tradeoff parameter between error and margin</a:t>
            </a:r>
          </a:p>
          <a:p>
            <a:r>
              <a:rPr lang="en-US" altLang="en-US" sz="2000"/>
              <a:t>The optimization problem becomes</a:t>
            </a:r>
          </a:p>
        </p:txBody>
      </p:sp>
      <p:pic>
        <p:nvPicPr>
          <p:cNvPr id="36868" name="Picture 4">
            <a:extLst>
              <a:ext uri="{FF2B5EF4-FFF2-40B4-BE49-F238E27FC236}">
                <a16:creationId xmlns:a16="http://schemas.microsoft.com/office/drawing/2014/main" id="{485412E1-2785-F494-B33A-E89DA24CB6DD}"/>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1905000" y="1981200"/>
            <a:ext cx="4157663"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6872" name="Group 8">
            <a:extLst>
              <a:ext uri="{FF2B5EF4-FFF2-40B4-BE49-F238E27FC236}">
                <a16:creationId xmlns:a16="http://schemas.microsoft.com/office/drawing/2014/main" id="{594B976D-794D-643C-4C25-849762F5AAD6}"/>
              </a:ext>
            </a:extLst>
          </p:cNvPr>
          <p:cNvGrpSpPr>
            <a:grpSpLocks/>
          </p:cNvGrpSpPr>
          <p:nvPr/>
        </p:nvGrpSpPr>
        <p:grpSpPr bwMode="auto">
          <a:xfrm>
            <a:off x="1981200" y="5897563"/>
            <a:ext cx="5943600" cy="665162"/>
            <a:chOff x="1200" y="3471"/>
            <a:chExt cx="4032" cy="534"/>
          </a:xfrm>
        </p:grpSpPr>
        <p:pic>
          <p:nvPicPr>
            <p:cNvPr id="36869" name="Picture 5">
              <a:extLst>
                <a:ext uri="{FF2B5EF4-FFF2-40B4-BE49-F238E27FC236}">
                  <a16:creationId xmlns:a16="http://schemas.microsoft.com/office/drawing/2014/main" id="{C900EB1D-9A93-CFA2-0BE2-D403E9332079}"/>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1200" y="3471"/>
              <a:ext cx="2712"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70" name="Picture 6">
              <a:extLst>
                <a:ext uri="{FF2B5EF4-FFF2-40B4-BE49-F238E27FC236}">
                  <a16:creationId xmlns:a16="http://schemas.microsoft.com/office/drawing/2014/main" id="{FD51E8A5-AA9A-9BA0-963A-FA7E4D879159}"/>
                </a:ext>
              </a:extLst>
            </p:cNvPr>
            <p:cNvPicPr>
              <a:picLocks noChangeAspect="1" noChangeArrowheads="1"/>
            </p:cNvPicPr>
            <p:nvPr>
              <p:custDataLst>
                <p:tags r:id="rId4"/>
              </p:custDataLst>
            </p:nvPr>
          </p:nvPicPr>
          <p:blipFill>
            <a:blip r:embed="rId9">
              <a:extLst>
                <a:ext uri="{28A0092B-C50C-407E-A947-70E740481C1C}">
                  <a14:useLocalDpi xmlns:a14="http://schemas.microsoft.com/office/drawing/2010/main" val="0"/>
                </a:ext>
              </a:extLst>
            </a:blip>
            <a:srcRect/>
            <a:stretch>
              <a:fillRect/>
            </a:stretch>
          </p:blipFill>
          <p:spPr bwMode="auto">
            <a:xfrm>
              <a:off x="1200" y="3774"/>
              <a:ext cx="40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6871" name="Picture 7">
            <a:extLst>
              <a:ext uri="{FF2B5EF4-FFF2-40B4-BE49-F238E27FC236}">
                <a16:creationId xmlns:a16="http://schemas.microsoft.com/office/drawing/2014/main" id="{6A5CB6E2-B139-723D-F858-3F764291E39C}"/>
              </a:ext>
            </a:extLst>
          </p:cNvPr>
          <p:cNvPicPr>
            <a:picLocks noChangeAspect="1" noChangeArrowheads="1"/>
          </p:cNvPicPr>
          <p:nvPr>
            <p:custDataLst>
              <p:tags r:id="rId2"/>
            </p:custDataLst>
          </p:nvPr>
        </p:nvPicPr>
        <p:blipFill>
          <a:blip r:embed="rId10">
            <a:extLst>
              <a:ext uri="{28A0092B-C50C-407E-A947-70E740481C1C}">
                <a14:useLocalDpi xmlns:a14="http://schemas.microsoft.com/office/drawing/2010/main" val="0"/>
              </a:ext>
            </a:extLst>
          </a:blip>
          <a:srcRect/>
          <a:stretch>
            <a:fillRect/>
          </a:stretch>
        </p:blipFill>
        <p:spPr bwMode="auto">
          <a:xfrm>
            <a:off x="3810000" y="4419600"/>
            <a:ext cx="29527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3EED64A3-A7A8-406E-AB4C-A7A9699EC6FD}"/>
              </a:ext>
            </a:extLst>
          </p:cNvPr>
          <p:cNvSpPr>
            <a:spLocks noGrp="1" noChangeArrowheads="1"/>
          </p:cNvSpPr>
          <p:nvPr>
            <p:ph type="title"/>
          </p:nvPr>
        </p:nvSpPr>
        <p:spPr/>
        <p:txBody>
          <a:bodyPr/>
          <a:lstStyle/>
          <a:p>
            <a:r>
              <a:rPr lang="en-US" altLang="en-US" u="sng"/>
              <a:t>Problems with linear SVM</a:t>
            </a:r>
          </a:p>
        </p:txBody>
      </p:sp>
      <p:grpSp>
        <p:nvGrpSpPr>
          <p:cNvPr id="28710" name="Group 38">
            <a:extLst>
              <a:ext uri="{FF2B5EF4-FFF2-40B4-BE49-F238E27FC236}">
                <a16:creationId xmlns:a16="http://schemas.microsoft.com/office/drawing/2014/main" id="{56FA77DE-38EB-D1FA-56A5-588E44F982DD}"/>
              </a:ext>
            </a:extLst>
          </p:cNvPr>
          <p:cNvGrpSpPr>
            <a:grpSpLocks/>
          </p:cNvGrpSpPr>
          <p:nvPr/>
        </p:nvGrpSpPr>
        <p:grpSpPr bwMode="auto">
          <a:xfrm>
            <a:off x="2057400" y="1600200"/>
            <a:ext cx="5538788" cy="4191000"/>
            <a:chOff x="1296" y="1008"/>
            <a:chExt cx="3489" cy="2640"/>
          </a:xfrm>
        </p:grpSpPr>
        <p:sp>
          <p:nvSpPr>
            <p:cNvPr id="28694" name="Line 22">
              <a:extLst>
                <a:ext uri="{FF2B5EF4-FFF2-40B4-BE49-F238E27FC236}">
                  <a16:creationId xmlns:a16="http://schemas.microsoft.com/office/drawing/2014/main" id="{88B8CDB0-7E43-8169-7A34-8D8C9C8C781A}"/>
                </a:ext>
              </a:extLst>
            </p:cNvPr>
            <p:cNvSpPr>
              <a:spLocks noChangeShapeType="1"/>
            </p:cNvSpPr>
            <p:nvPr/>
          </p:nvSpPr>
          <p:spPr bwMode="auto">
            <a:xfrm flipV="1">
              <a:off x="2640" y="1008"/>
              <a:ext cx="0" cy="26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grpSp>
          <p:nvGrpSpPr>
            <p:cNvPr id="28709" name="Group 37">
              <a:extLst>
                <a:ext uri="{FF2B5EF4-FFF2-40B4-BE49-F238E27FC236}">
                  <a16:creationId xmlns:a16="http://schemas.microsoft.com/office/drawing/2014/main" id="{9C37DB6F-3C6F-9944-5332-FD91D69DE594}"/>
                </a:ext>
              </a:extLst>
            </p:cNvPr>
            <p:cNvGrpSpPr>
              <a:grpSpLocks/>
            </p:cNvGrpSpPr>
            <p:nvPr/>
          </p:nvGrpSpPr>
          <p:grpSpPr bwMode="auto">
            <a:xfrm>
              <a:off x="1296" y="1248"/>
              <a:ext cx="3489" cy="2032"/>
              <a:chOff x="1296" y="1248"/>
              <a:chExt cx="3489" cy="2032"/>
            </a:xfrm>
          </p:grpSpPr>
          <p:sp>
            <p:nvSpPr>
              <p:cNvPr id="28707" name="Oval 35">
                <a:extLst>
                  <a:ext uri="{FF2B5EF4-FFF2-40B4-BE49-F238E27FC236}">
                    <a16:creationId xmlns:a16="http://schemas.microsoft.com/office/drawing/2014/main" id="{65D9D98C-ECC5-ECE8-15B1-FC43AE256BA8}"/>
                  </a:ext>
                </a:extLst>
              </p:cNvPr>
              <p:cNvSpPr>
                <a:spLocks noChangeArrowheads="1"/>
              </p:cNvSpPr>
              <p:nvPr/>
            </p:nvSpPr>
            <p:spPr bwMode="auto">
              <a:xfrm>
                <a:off x="2064" y="1680"/>
                <a:ext cx="1152" cy="1152"/>
              </a:xfrm>
              <a:prstGeom prst="ellipse">
                <a:avLst/>
              </a:prstGeom>
              <a:solidFill>
                <a:schemeClr val="bg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CA"/>
              </a:p>
            </p:txBody>
          </p:sp>
          <p:sp>
            <p:nvSpPr>
              <p:cNvPr id="28676" name="Oval 4">
                <a:extLst>
                  <a:ext uri="{FF2B5EF4-FFF2-40B4-BE49-F238E27FC236}">
                    <a16:creationId xmlns:a16="http://schemas.microsoft.com/office/drawing/2014/main" id="{9BEA65C8-FD0C-36F9-967A-306BB7C6A378}"/>
                  </a:ext>
                </a:extLst>
              </p:cNvPr>
              <p:cNvSpPr>
                <a:spLocks noChangeArrowheads="1"/>
              </p:cNvSpPr>
              <p:nvPr/>
            </p:nvSpPr>
            <p:spPr bwMode="auto">
              <a:xfrm>
                <a:off x="2544" y="1536"/>
                <a:ext cx="103" cy="111"/>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77" name="Oval 5">
                <a:extLst>
                  <a:ext uri="{FF2B5EF4-FFF2-40B4-BE49-F238E27FC236}">
                    <a16:creationId xmlns:a16="http://schemas.microsoft.com/office/drawing/2014/main" id="{E67D2A97-9573-B072-0CE8-669F3FAF05F9}"/>
                  </a:ext>
                </a:extLst>
              </p:cNvPr>
              <p:cNvSpPr>
                <a:spLocks noChangeArrowheads="1"/>
              </p:cNvSpPr>
              <p:nvPr/>
            </p:nvSpPr>
            <p:spPr bwMode="auto">
              <a:xfrm>
                <a:off x="2880" y="1488"/>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78" name="Oval 6">
                <a:extLst>
                  <a:ext uri="{FF2B5EF4-FFF2-40B4-BE49-F238E27FC236}">
                    <a16:creationId xmlns:a16="http://schemas.microsoft.com/office/drawing/2014/main" id="{B08B41C0-CACC-6626-39CA-74EA76E2618E}"/>
                  </a:ext>
                </a:extLst>
              </p:cNvPr>
              <p:cNvSpPr>
                <a:spLocks noChangeArrowheads="1"/>
              </p:cNvSpPr>
              <p:nvPr/>
            </p:nvSpPr>
            <p:spPr bwMode="auto">
              <a:xfrm>
                <a:off x="2832" y="2928"/>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79" name="Oval 7">
                <a:extLst>
                  <a:ext uri="{FF2B5EF4-FFF2-40B4-BE49-F238E27FC236}">
                    <a16:creationId xmlns:a16="http://schemas.microsoft.com/office/drawing/2014/main" id="{DF494475-0AD7-5227-D8C7-40D7A0414E25}"/>
                  </a:ext>
                </a:extLst>
              </p:cNvPr>
              <p:cNvSpPr>
                <a:spLocks noChangeArrowheads="1"/>
              </p:cNvSpPr>
              <p:nvPr/>
            </p:nvSpPr>
            <p:spPr bwMode="auto">
              <a:xfrm>
                <a:off x="1968" y="3072"/>
                <a:ext cx="103" cy="111"/>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0" name="Oval 8">
                <a:extLst>
                  <a:ext uri="{FF2B5EF4-FFF2-40B4-BE49-F238E27FC236}">
                    <a16:creationId xmlns:a16="http://schemas.microsoft.com/office/drawing/2014/main" id="{423A74AD-8EA3-06CB-F984-D97DF669B4F3}"/>
                  </a:ext>
                </a:extLst>
              </p:cNvPr>
              <p:cNvSpPr>
                <a:spLocks noChangeArrowheads="1"/>
              </p:cNvSpPr>
              <p:nvPr/>
            </p:nvSpPr>
            <p:spPr bwMode="auto">
              <a:xfrm>
                <a:off x="2304" y="3120"/>
                <a:ext cx="103" cy="111"/>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1" name="Oval 9">
                <a:extLst>
                  <a:ext uri="{FF2B5EF4-FFF2-40B4-BE49-F238E27FC236}">
                    <a16:creationId xmlns:a16="http://schemas.microsoft.com/office/drawing/2014/main" id="{05722964-ADDA-3B39-5AC0-2D2D57B012FF}"/>
                  </a:ext>
                </a:extLst>
              </p:cNvPr>
              <p:cNvSpPr>
                <a:spLocks noChangeArrowheads="1"/>
              </p:cNvSpPr>
              <p:nvPr/>
            </p:nvSpPr>
            <p:spPr bwMode="auto">
              <a:xfrm>
                <a:off x="2736" y="3168"/>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2" name="Oval 10">
                <a:extLst>
                  <a:ext uri="{FF2B5EF4-FFF2-40B4-BE49-F238E27FC236}">
                    <a16:creationId xmlns:a16="http://schemas.microsoft.com/office/drawing/2014/main" id="{A4AABF44-A8AC-5FC8-8EE8-7A2B166208FA}"/>
                  </a:ext>
                </a:extLst>
              </p:cNvPr>
              <p:cNvSpPr>
                <a:spLocks noChangeArrowheads="1"/>
              </p:cNvSpPr>
              <p:nvPr/>
            </p:nvSpPr>
            <p:spPr bwMode="auto">
              <a:xfrm>
                <a:off x="2208" y="1248"/>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3" name="Oval 11">
                <a:extLst>
                  <a:ext uri="{FF2B5EF4-FFF2-40B4-BE49-F238E27FC236}">
                    <a16:creationId xmlns:a16="http://schemas.microsoft.com/office/drawing/2014/main" id="{0BBD7424-D584-0CD5-85E1-6F4F7AC1F9C1}"/>
                  </a:ext>
                </a:extLst>
              </p:cNvPr>
              <p:cNvSpPr>
                <a:spLocks noChangeArrowheads="1"/>
              </p:cNvSpPr>
              <p:nvPr/>
            </p:nvSpPr>
            <p:spPr bwMode="auto">
              <a:xfrm>
                <a:off x="2016" y="2784"/>
                <a:ext cx="104" cy="111"/>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4" name="Oval 12">
                <a:extLst>
                  <a:ext uri="{FF2B5EF4-FFF2-40B4-BE49-F238E27FC236}">
                    <a16:creationId xmlns:a16="http://schemas.microsoft.com/office/drawing/2014/main" id="{BEAF23BB-BB1E-3D96-E2D9-BF3DF5F36353}"/>
                  </a:ext>
                </a:extLst>
              </p:cNvPr>
              <p:cNvSpPr>
                <a:spLocks noChangeArrowheads="1"/>
              </p:cNvSpPr>
              <p:nvPr/>
            </p:nvSpPr>
            <p:spPr bwMode="auto">
              <a:xfrm>
                <a:off x="2400" y="2880"/>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5" name="Oval 13">
                <a:extLst>
                  <a:ext uri="{FF2B5EF4-FFF2-40B4-BE49-F238E27FC236}">
                    <a16:creationId xmlns:a16="http://schemas.microsoft.com/office/drawing/2014/main" id="{CFE37F60-912E-BD85-A9C1-BFF84ED8858F}"/>
                  </a:ext>
                </a:extLst>
              </p:cNvPr>
              <p:cNvSpPr>
                <a:spLocks noChangeArrowheads="1"/>
              </p:cNvSpPr>
              <p:nvPr/>
            </p:nvSpPr>
            <p:spPr bwMode="auto">
              <a:xfrm>
                <a:off x="2784" y="2448"/>
                <a:ext cx="103"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6" name="Oval 14">
                <a:extLst>
                  <a:ext uri="{FF2B5EF4-FFF2-40B4-BE49-F238E27FC236}">
                    <a16:creationId xmlns:a16="http://schemas.microsoft.com/office/drawing/2014/main" id="{841718B6-509C-7BC4-75B7-B3B6CCC9287A}"/>
                  </a:ext>
                </a:extLst>
              </p:cNvPr>
              <p:cNvSpPr>
                <a:spLocks noChangeArrowheads="1"/>
              </p:cNvSpPr>
              <p:nvPr/>
            </p:nvSpPr>
            <p:spPr bwMode="auto">
              <a:xfrm>
                <a:off x="3024" y="2016"/>
                <a:ext cx="104"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7" name="Oval 15">
                <a:extLst>
                  <a:ext uri="{FF2B5EF4-FFF2-40B4-BE49-F238E27FC236}">
                    <a16:creationId xmlns:a16="http://schemas.microsoft.com/office/drawing/2014/main" id="{8EF2AB35-4069-1FF9-27B5-19BBE15D1BCA}"/>
                  </a:ext>
                </a:extLst>
              </p:cNvPr>
              <p:cNvSpPr>
                <a:spLocks noChangeArrowheads="1"/>
              </p:cNvSpPr>
              <p:nvPr/>
            </p:nvSpPr>
            <p:spPr bwMode="auto">
              <a:xfrm>
                <a:off x="2448" y="2592"/>
                <a:ext cx="103"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8" name="Oval 16">
                <a:extLst>
                  <a:ext uri="{FF2B5EF4-FFF2-40B4-BE49-F238E27FC236}">
                    <a16:creationId xmlns:a16="http://schemas.microsoft.com/office/drawing/2014/main" id="{95C40E12-82E1-81F6-210B-578F7AFCCCB0}"/>
                  </a:ext>
                </a:extLst>
              </p:cNvPr>
              <p:cNvSpPr>
                <a:spLocks noChangeArrowheads="1"/>
              </p:cNvSpPr>
              <p:nvPr/>
            </p:nvSpPr>
            <p:spPr bwMode="auto">
              <a:xfrm>
                <a:off x="2832" y="2160"/>
                <a:ext cx="104"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89" name="Oval 17">
                <a:extLst>
                  <a:ext uri="{FF2B5EF4-FFF2-40B4-BE49-F238E27FC236}">
                    <a16:creationId xmlns:a16="http://schemas.microsoft.com/office/drawing/2014/main" id="{14B2F197-6B05-35BD-19E4-30FE64B51F30}"/>
                  </a:ext>
                </a:extLst>
              </p:cNvPr>
              <p:cNvSpPr>
                <a:spLocks noChangeArrowheads="1"/>
              </p:cNvSpPr>
              <p:nvPr/>
            </p:nvSpPr>
            <p:spPr bwMode="auto">
              <a:xfrm>
                <a:off x="2496" y="1776"/>
                <a:ext cx="103" cy="11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0" name="Oval 18">
                <a:extLst>
                  <a:ext uri="{FF2B5EF4-FFF2-40B4-BE49-F238E27FC236}">
                    <a16:creationId xmlns:a16="http://schemas.microsoft.com/office/drawing/2014/main" id="{388DE12B-6206-713E-9D59-83C70BDB6708}"/>
                  </a:ext>
                </a:extLst>
              </p:cNvPr>
              <p:cNvSpPr>
                <a:spLocks noChangeArrowheads="1"/>
              </p:cNvSpPr>
              <p:nvPr/>
            </p:nvSpPr>
            <p:spPr bwMode="auto">
              <a:xfrm>
                <a:off x="2496" y="2400"/>
                <a:ext cx="104"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1" name="Oval 19">
                <a:extLst>
                  <a:ext uri="{FF2B5EF4-FFF2-40B4-BE49-F238E27FC236}">
                    <a16:creationId xmlns:a16="http://schemas.microsoft.com/office/drawing/2014/main" id="{0E28DC0C-2C0C-2A1F-D096-1D054FA3D256}"/>
                  </a:ext>
                </a:extLst>
              </p:cNvPr>
              <p:cNvSpPr>
                <a:spLocks noChangeArrowheads="1"/>
              </p:cNvSpPr>
              <p:nvPr/>
            </p:nvSpPr>
            <p:spPr bwMode="auto">
              <a:xfrm>
                <a:off x="2784" y="1968"/>
                <a:ext cx="103"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2" name="Oval 20">
                <a:extLst>
                  <a:ext uri="{FF2B5EF4-FFF2-40B4-BE49-F238E27FC236}">
                    <a16:creationId xmlns:a16="http://schemas.microsoft.com/office/drawing/2014/main" id="{382A0A6A-238A-A15F-19C6-DB65921490CD}"/>
                  </a:ext>
                </a:extLst>
              </p:cNvPr>
              <p:cNvSpPr>
                <a:spLocks noChangeArrowheads="1"/>
              </p:cNvSpPr>
              <p:nvPr/>
            </p:nvSpPr>
            <p:spPr bwMode="auto">
              <a:xfrm>
                <a:off x="2352" y="2064"/>
                <a:ext cx="103"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3" name="Oval 21">
                <a:extLst>
                  <a:ext uri="{FF2B5EF4-FFF2-40B4-BE49-F238E27FC236}">
                    <a16:creationId xmlns:a16="http://schemas.microsoft.com/office/drawing/2014/main" id="{2A54612A-AF06-0DB1-25D1-9D667B83335B}"/>
                  </a:ext>
                </a:extLst>
              </p:cNvPr>
              <p:cNvSpPr>
                <a:spLocks noChangeArrowheads="1"/>
              </p:cNvSpPr>
              <p:nvPr/>
            </p:nvSpPr>
            <p:spPr bwMode="auto">
              <a:xfrm>
                <a:off x="2112" y="2160"/>
                <a:ext cx="104" cy="112"/>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5" name="Line 23">
                <a:extLst>
                  <a:ext uri="{FF2B5EF4-FFF2-40B4-BE49-F238E27FC236}">
                    <a16:creationId xmlns:a16="http://schemas.microsoft.com/office/drawing/2014/main" id="{17CF0F55-7B64-104A-D9F4-297750F1739F}"/>
                  </a:ext>
                </a:extLst>
              </p:cNvPr>
              <p:cNvSpPr>
                <a:spLocks noChangeShapeType="1"/>
              </p:cNvSpPr>
              <p:nvPr/>
            </p:nvSpPr>
            <p:spPr bwMode="auto">
              <a:xfrm>
                <a:off x="1296" y="2304"/>
                <a:ext cx="348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28696" name="Oval 24">
                <a:extLst>
                  <a:ext uri="{FF2B5EF4-FFF2-40B4-BE49-F238E27FC236}">
                    <a16:creationId xmlns:a16="http://schemas.microsoft.com/office/drawing/2014/main" id="{019DEF37-220C-1499-1348-D448F6416EEA}"/>
                  </a:ext>
                </a:extLst>
              </p:cNvPr>
              <p:cNvSpPr>
                <a:spLocks noChangeArrowheads="1"/>
              </p:cNvSpPr>
              <p:nvPr/>
            </p:nvSpPr>
            <p:spPr bwMode="auto">
              <a:xfrm>
                <a:off x="3929" y="2777"/>
                <a:ext cx="70" cy="111"/>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7" name="Oval 25">
                <a:extLst>
                  <a:ext uri="{FF2B5EF4-FFF2-40B4-BE49-F238E27FC236}">
                    <a16:creationId xmlns:a16="http://schemas.microsoft.com/office/drawing/2014/main" id="{87E3D55B-C103-97B5-A7D0-3636DAA13B39}"/>
                  </a:ext>
                </a:extLst>
              </p:cNvPr>
              <p:cNvSpPr>
                <a:spLocks noChangeArrowheads="1"/>
              </p:cNvSpPr>
              <p:nvPr/>
            </p:nvSpPr>
            <p:spPr bwMode="auto">
              <a:xfrm>
                <a:off x="3929" y="3000"/>
                <a:ext cx="70" cy="11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698" name="Text Box 26">
                <a:extLst>
                  <a:ext uri="{FF2B5EF4-FFF2-40B4-BE49-F238E27FC236}">
                    <a16:creationId xmlns:a16="http://schemas.microsoft.com/office/drawing/2014/main" id="{E110414F-286B-DDCC-6741-888C8726CA10}"/>
                  </a:ext>
                </a:extLst>
              </p:cNvPr>
              <p:cNvSpPr txBox="1">
                <a:spLocks noChangeArrowheads="1"/>
              </p:cNvSpPr>
              <p:nvPr/>
            </p:nvSpPr>
            <p:spPr bwMode="auto">
              <a:xfrm>
                <a:off x="4032" y="2740"/>
                <a:ext cx="399" cy="26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=-1</a:t>
                </a:r>
              </a:p>
            </p:txBody>
          </p:sp>
          <p:sp>
            <p:nvSpPr>
              <p:cNvPr id="28699" name="Text Box 27">
                <a:extLst>
                  <a:ext uri="{FF2B5EF4-FFF2-40B4-BE49-F238E27FC236}">
                    <a16:creationId xmlns:a16="http://schemas.microsoft.com/office/drawing/2014/main" id="{9E8C9331-0BFB-C2D7-8962-9AAA9D4CE217}"/>
                  </a:ext>
                </a:extLst>
              </p:cNvPr>
              <p:cNvSpPr txBox="1">
                <a:spLocks noChangeArrowheads="1"/>
              </p:cNvSpPr>
              <p:nvPr/>
            </p:nvSpPr>
            <p:spPr bwMode="auto">
              <a:xfrm>
                <a:off x="4032" y="2963"/>
                <a:ext cx="447" cy="26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=+1</a:t>
                </a:r>
              </a:p>
            </p:txBody>
          </p:sp>
          <p:sp>
            <p:nvSpPr>
              <p:cNvPr id="28704" name="Oval 32">
                <a:extLst>
                  <a:ext uri="{FF2B5EF4-FFF2-40B4-BE49-F238E27FC236}">
                    <a16:creationId xmlns:a16="http://schemas.microsoft.com/office/drawing/2014/main" id="{D9234A80-4182-9A1F-E425-A2A0EAD015E7}"/>
                  </a:ext>
                </a:extLst>
              </p:cNvPr>
              <p:cNvSpPr>
                <a:spLocks noChangeArrowheads="1"/>
              </p:cNvSpPr>
              <p:nvPr/>
            </p:nvSpPr>
            <p:spPr bwMode="auto">
              <a:xfrm>
                <a:off x="2448" y="1248"/>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705" name="Oval 33">
                <a:extLst>
                  <a:ext uri="{FF2B5EF4-FFF2-40B4-BE49-F238E27FC236}">
                    <a16:creationId xmlns:a16="http://schemas.microsoft.com/office/drawing/2014/main" id="{E6F295DA-B228-E4A2-E0C8-AF9942E046AB}"/>
                  </a:ext>
                </a:extLst>
              </p:cNvPr>
              <p:cNvSpPr>
                <a:spLocks noChangeArrowheads="1"/>
              </p:cNvSpPr>
              <p:nvPr/>
            </p:nvSpPr>
            <p:spPr bwMode="auto">
              <a:xfrm>
                <a:off x="3072" y="1296"/>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28706" name="Oval 34">
                <a:extLst>
                  <a:ext uri="{FF2B5EF4-FFF2-40B4-BE49-F238E27FC236}">
                    <a16:creationId xmlns:a16="http://schemas.microsoft.com/office/drawing/2014/main" id="{361CD0E3-F14B-C64B-7143-1F6EAA758AB9}"/>
                  </a:ext>
                </a:extLst>
              </p:cNvPr>
              <p:cNvSpPr>
                <a:spLocks noChangeArrowheads="1"/>
              </p:cNvSpPr>
              <p:nvPr/>
            </p:nvSpPr>
            <p:spPr bwMode="auto">
              <a:xfrm>
                <a:off x="3072" y="1584"/>
                <a:ext cx="104" cy="112"/>
              </a:xfrm>
              <a:prstGeom prst="ellipse">
                <a:avLst/>
              </a:prstGeom>
              <a:solidFill>
                <a:srgbClr val="00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grpSp>
      </p:grpSp>
      <p:sp>
        <p:nvSpPr>
          <p:cNvPr id="28708" name="Text Box 36">
            <a:extLst>
              <a:ext uri="{FF2B5EF4-FFF2-40B4-BE49-F238E27FC236}">
                <a16:creationId xmlns:a16="http://schemas.microsoft.com/office/drawing/2014/main" id="{8B7E0E7C-BF32-1B4A-C5CF-267AA49431DD}"/>
              </a:ext>
            </a:extLst>
          </p:cNvPr>
          <p:cNvSpPr txBox="1">
            <a:spLocks noChangeArrowheads="1"/>
          </p:cNvSpPr>
          <p:nvPr/>
        </p:nvSpPr>
        <p:spPr bwMode="auto">
          <a:xfrm>
            <a:off x="1809750" y="6091237"/>
            <a:ext cx="4591050"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dirty="0"/>
              <a:t>What if the decision function is not a linear?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238AB5AA-AD91-B87E-04BD-B069A2C8B630}"/>
              </a:ext>
            </a:extLst>
          </p:cNvPr>
          <p:cNvSpPr>
            <a:spLocks noGrp="1" noChangeArrowheads="1"/>
          </p:cNvSpPr>
          <p:nvPr>
            <p:ph type="title"/>
          </p:nvPr>
        </p:nvSpPr>
        <p:spPr>
          <a:xfrm>
            <a:off x="266700" y="175632"/>
            <a:ext cx="8229600" cy="1143000"/>
          </a:xfrm>
        </p:spPr>
        <p:txBody>
          <a:bodyPr/>
          <a:lstStyle/>
          <a:p>
            <a:r>
              <a:rPr lang="en-US" altLang="en-US" sz="3200" dirty="0"/>
              <a:t>Extension to Non-linear Decision Boundary</a:t>
            </a:r>
          </a:p>
        </p:txBody>
      </p:sp>
      <p:graphicFrame>
        <p:nvGraphicFramePr>
          <p:cNvPr id="97345" name="Object 65">
            <a:extLst>
              <a:ext uri="{FF2B5EF4-FFF2-40B4-BE49-F238E27FC236}">
                <a16:creationId xmlns:a16="http://schemas.microsoft.com/office/drawing/2014/main" id="{47D0FB75-0285-3841-13AE-38A5637B47C6}"/>
              </a:ext>
            </a:extLst>
          </p:cNvPr>
          <p:cNvGraphicFramePr>
            <a:graphicFrameLocks noChangeAspect="1"/>
          </p:cNvGraphicFramePr>
          <p:nvPr>
            <p:ph sz="half" idx="1"/>
            <p:extLst>
              <p:ext uri="{D42A27DB-BD31-4B8C-83A1-F6EECF244321}">
                <p14:modId xmlns:p14="http://schemas.microsoft.com/office/powerpoint/2010/main" val="4091297821"/>
              </p:ext>
            </p:extLst>
          </p:nvPr>
        </p:nvGraphicFramePr>
        <p:xfrm>
          <a:off x="4739481" y="5084147"/>
          <a:ext cx="3810000" cy="852488"/>
        </p:xfrm>
        <a:graphic>
          <a:graphicData uri="http://schemas.openxmlformats.org/presentationml/2006/ole">
            <mc:AlternateContent xmlns:mc="http://schemas.openxmlformats.org/markup-compatibility/2006">
              <mc:Choice xmlns:v="urn:schemas-microsoft-com:vml" Requires="v">
                <p:oleObj name="Equation" r:id="rId3" imgW="2044440" imgH="457200" progId="Equation.3">
                  <p:embed/>
                </p:oleObj>
              </mc:Choice>
              <mc:Fallback>
                <p:oleObj name="Equation" r:id="rId3" imgW="2044440" imgH="457200" progId="Equation.3">
                  <p:embed/>
                  <p:pic>
                    <p:nvPicPr>
                      <p:cNvPr id="97345" name="Object 65">
                        <a:extLst>
                          <a:ext uri="{FF2B5EF4-FFF2-40B4-BE49-F238E27FC236}">
                            <a16:creationId xmlns:a16="http://schemas.microsoft.com/office/drawing/2014/main" id="{47D0FB75-0285-3841-13AE-38A5637B47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9481" y="5084147"/>
                        <a:ext cx="38100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7344" name="Picture 64">
            <a:extLst>
              <a:ext uri="{FF2B5EF4-FFF2-40B4-BE49-F238E27FC236}">
                <a16:creationId xmlns:a16="http://schemas.microsoft.com/office/drawing/2014/main" id="{1537E9EB-B640-0B22-E449-0A796B12D5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198" y="2404482"/>
            <a:ext cx="3086100" cy="234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7347" name="Object 67">
            <a:extLst>
              <a:ext uri="{FF2B5EF4-FFF2-40B4-BE49-F238E27FC236}">
                <a16:creationId xmlns:a16="http://schemas.microsoft.com/office/drawing/2014/main" id="{4EC1E5AF-CE26-7A1D-5531-3A5DDE3B88AA}"/>
              </a:ext>
            </a:extLst>
          </p:cNvPr>
          <p:cNvGraphicFramePr>
            <a:graphicFrameLocks noChangeAspect="1"/>
          </p:cNvGraphicFramePr>
          <p:nvPr>
            <p:ph sz="half" idx="2"/>
          </p:nvPr>
        </p:nvGraphicFramePr>
        <p:xfrm>
          <a:off x="6315075" y="3587750"/>
          <a:ext cx="476250" cy="900113"/>
        </p:xfrm>
        <a:graphic>
          <a:graphicData uri="http://schemas.openxmlformats.org/presentationml/2006/ole">
            <mc:AlternateContent xmlns:mc="http://schemas.openxmlformats.org/markup-compatibility/2006">
              <mc:Choice xmlns:v="urn:schemas-microsoft-com:vml" Requires="v">
                <p:oleObj name="Equation" r:id="rId6" imgW="114120" imgH="215640" progId="Equation.3">
                  <p:embed/>
                </p:oleObj>
              </mc:Choice>
              <mc:Fallback>
                <p:oleObj name="Equation" r:id="rId6" imgW="114120" imgH="215640" progId="Equation.3">
                  <p:embed/>
                  <p:pic>
                    <p:nvPicPr>
                      <p:cNvPr id="97347" name="Object 67">
                        <a:extLst>
                          <a:ext uri="{FF2B5EF4-FFF2-40B4-BE49-F238E27FC236}">
                            <a16:creationId xmlns:a16="http://schemas.microsoft.com/office/drawing/2014/main" id="{4EC1E5AF-CE26-7A1D-5531-3A5DDE3B88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15075" y="3587750"/>
                        <a:ext cx="476250" cy="900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97352" name="Picture 72">
            <a:extLst>
              <a:ext uri="{FF2B5EF4-FFF2-40B4-BE49-F238E27FC236}">
                <a16:creationId xmlns:a16="http://schemas.microsoft.com/office/drawing/2014/main" id="{3A3B3FCA-3662-5D21-9E0A-59682CD0B4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0775" y="1347609"/>
            <a:ext cx="3427413" cy="3427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77F86B9-6019-2269-35E8-B4B8164809ED}"/>
              </a:ext>
            </a:extLst>
          </p:cNvPr>
          <p:cNvSpPr>
            <a:spLocks noGrp="1" noChangeArrowheads="1"/>
          </p:cNvSpPr>
          <p:nvPr>
            <p:ph type="title"/>
          </p:nvPr>
        </p:nvSpPr>
        <p:spPr/>
        <p:txBody>
          <a:bodyPr/>
          <a:lstStyle/>
          <a:p>
            <a:r>
              <a:rPr lang="en-US" altLang="en-US" dirty="0"/>
              <a:t>Extension to Non-linear Decision Boundary</a:t>
            </a:r>
          </a:p>
        </p:txBody>
      </p:sp>
      <p:sp>
        <p:nvSpPr>
          <p:cNvPr id="46083" name="Rectangle 3">
            <a:extLst>
              <a:ext uri="{FF2B5EF4-FFF2-40B4-BE49-F238E27FC236}">
                <a16:creationId xmlns:a16="http://schemas.microsoft.com/office/drawing/2014/main" id="{B8A33F11-39CD-102E-4A1A-A52E9B77F7C9}"/>
              </a:ext>
            </a:extLst>
          </p:cNvPr>
          <p:cNvSpPr>
            <a:spLocks noGrp="1" noChangeArrowheads="1"/>
          </p:cNvSpPr>
          <p:nvPr>
            <p:ph type="body" idx="1"/>
          </p:nvPr>
        </p:nvSpPr>
        <p:spPr/>
        <p:txBody>
          <a:bodyPr/>
          <a:lstStyle/>
          <a:p>
            <a:r>
              <a:rPr lang="en-US" altLang="en-US" sz="2000" dirty="0"/>
              <a:t>So far, we have only considered large-margin classifier with a linear decision boundary</a:t>
            </a:r>
          </a:p>
          <a:p>
            <a:r>
              <a:rPr lang="en-US" altLang="en-US" sz="2000" dirty="0"/>
              <a:t>How to generalize it to become nonlinear?</a:t>
            </a:r>
          </a:p>
          <a:p>
            <a:r>
              <a:rPr lang="en-US" altLang="en-US" sz="2000" dirty="0"/>
              <a:t>Key idea: </a:t>
            </a:r>
            <a:r>
              <a:rPr lang="en-US" altLang="en-US" sz="2000" dirty="0">
                <a:highlight>
                  <a:srgbClr val="FFFF00"/>
                </a:highlight>
              </a:rPr>
              <a:t>transform </a:t>
            </a:r>
            <a:r>
              <a:rPr lang="en-US" altLang="en-US" sz="2000" b="1" dirty="0">
                <a:highlight>
                  <a:srgbClr val="FFFF00"/>
                </a:highlight>
              </a:rPr>
              <a:t>x</a:t>
            </a:r>
            <a:r>
              <a:rPr lang="en-US" altLang="en-US" sz="2000" baseline="-25000" dirty="0">
                <a:highlight>
                  <a:srgbClr val="FFFF00"/>
                </a:highlight>
              </a:rPr>
              <a:t>i</a:t>
            </a:r>
            <a:r>
              <a:rPr lang="en-US" altLang="en-US" sz="2000" dirty="0">
                <a:highlight>
                  <a:srgbClr val="FFFF00"/>
                </a:highlight>
              </a:rPr>
              <a:t> to a higher dimensional space </a:t>
            </a:r>
            <a:r>
              <a:rPr lang="en-US" altLang="en-US" sz="2000" dirty="0"/>
              <a:t>to “make life easier”</a:t>
            </a:r>
          </a:p>
          <a:p>
            <a:pPr lvl="1"/>
            <a:r>
              <a:rPr lang="en-US" altLang="en-US" sz="2000" dirty="0"/>
              <a:t>Input space: the space the point </a:t>
            </a:r>
            <a:r>
              <a:rPr lang="en-US" altLang="en-US" sz="2000" b="1" dirty="0"/>
              <a:t>x</a:t>
            </a:r>
            <a:r>
              <a:rPr lang="en-US" altLang="en-US" sz="2000" baseline="-25000" dirty="0"/>
              <a:t>i</a:t>
            </a:r>
            <a:r>
              <a:rPr lang="en-US" altLang="en-US" sz="2000" dirty="0"/>
              <a:t> are located</a:t>
            </a:r>
          </a:p>
          <a:p>
            <a:pPr lvl="1"/>
            <a:r>
              <a:rPr lang="en-US" altLang="en-US" sz="2000" dirty="0"/>
              <a:t>Feature space: the space </a:t>
            </a:r>
            <a:r>
              <a:rPr lang="en-US" altLang="en-US" sz="2000" dirty="0">
                <a:highlight>
                  <a:srgbClr val="FFFF00"/>
                </a:highlight>
              </a:rPr>
              <a:t>of </a:t>
            </a:r>
            <a:r>
              <a:rPr lang="en-US" altLang="en-US" sz="2000" dirty="0">
                <a:highlight>
                  <a:srgbClr val="FFFF00"/>
                </a:highlight>
                <a:latin typeface="Symbol" panose="05050102010706020507" pitchFamily="18" charset="2"/>
              </a:rPr>
              <a:t>f</a:t>
            </a:r>
            <a:r>
              <a:rPr lang="en-US" altLang="en-US" sz="2000" dirty="0">
                <a:highlight>
                  <a:srgbClr val="FFFF00"/>
                </a:highlight>
              </a:rPr>
              <a:t>(</a:t>
            </a:r>
            <a:r>
              <a:rPr lang="en-US" altLang="en-US" sz="2000" b="1" dirty="0">
                <a:highlight>
                  <a:srgbClr val="FFFF00"/>
                </a:highlight>
              </a:rPr>
              <a:t>x</a:t>
            </a:r>
            <a:r>
              <a:rPr lang="en-US" altLang="en-US" sz="2000" baseline="-25000" dirty="0">
                <a:highlight>
                  <a:srgbClr val="FFFF00"/>
                </a:highlight>
              </a:rPr>
              <a:t>i</a:t>
            </a:r>
            <a:r>
              <a:rPr lang="en-US" altLang="en-US" sz="2000" dirty="0">
                <a:highlight>
                  <a:srgbClr val="FFFF00"/>
                </a:highlight>
              </a:rPr>
              <a:t>) </a:t>
            </a:r>
            <a:r>
              <a:rPr lang="en-US" altLang="en-US" sz="2000" dirty="0"/>
              <a:t>after transformation</a:t>
            </a:r>
          </a:p>
          <a:p>
            <a:r>
              <a:rPr lang="en-US" altLang="en-US" sz="2000" dirty="0"/>
              <a:t>Why transform?</a:t>
            </a:r>
          </a:p>
          <a:p>
            <a:pPr lvl="1"/>
            <a:r>
              <a:rPr lang="en-US" altLang="en-US" sz="2000" dirty="0"/>
              <a:t>Linear operation in the feature space is equivalent to non-linear operation in input space</a:t>
            </a:r>
          </a:p>
          <a:p>
            <a:pPr lvl="1"/>
            <a:r>
              <a:rPr lang="en-US" altLang="en-US" sz="2000" dirty="0"/>
              <a:t>Classification can </a:t>
            </a:r>
            <a:r>
              <a:rPr lang="en-US" altLang="en-US" sz="2000" dirty="0">
                <a:highlight>
                  <a:srgbClr val="FFFF00"/>
                </a:highlight>
              </a:rPr>
              <a:t>become easier with a proper transformation</a:t>
            </a:r>
            <a:r>
              <a:rPr lang="en-US" altLang="en-US" sz="2000" dirty="0"/>
              <a:t>. In the XOR problem, for example, adding a new feature of x</a:t>
            </a:r>
            <a:r>
              <a:rPr lang="en-US" altLang="en-US" sz="2000" baseline="-25000" dirty="0"/>
              <a:t>1</a:t>
            </a:r>
            <a:r>
              <a:rPr lang="en-US" altLang="en-US" sz="2000" dirty="0"/>
              <a:t>x</a:t>
            </a:r>
            <a:r>
              <a:rPr lang="en-US" altLang="en-US" sz="2000" baseline="-25000" dirty="0"/>
              <a:t>2</a:t>
            </a:r>
            <a:r>
              <a:rPr lang="en-US" altLang="en-US" sz="2000" dirty="0"/>
              <a:t> make the problem linearly separable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F2069C4-3B4E-D1CC-30C3-65AF284608C1}"/>
              </a:ext>
            </a:extLst>
          </p:cNvPr>
          <p:cNvSpPr>
            <a:spLocks noGrp="1" noChangeArrowheads="1"/>
          </p:cNvSpPr>
          <p:nvPr>
            <p:ph type="title"/>
          </p:nvPr>
        </p:nvSpPr>
        <p:spPr/>
        <p:txBody>
          <a:bodyPr/>
          <a:lstStyle/>
          <a:p>
            <a:r>
              <a:rPr lang="en-US" altLang="en-US"/>
              <a:t>Transforming the Data</a:t>
            </a:r>
          </a:p>
        </p:txBody>
      </p:sp>
      <p:sp>
        <p:nvSpPr>
          <p:cNvPr id="48131" name="Rectangle 3">
            <a:extLst>
              <a:ext uri="{FF2B5EF4-FFF2-40B4-BE49-F238E27FC236}">
                <a16:creationId xmlns:a16="http://schemas.microsoft.com/office/drawing/2014/main" id="{7A605BEB-3B93-843D-7460-2CA5E6DA1682}"/>
              </a:ext>
            </a:extLst>
          </p:cNvPr>
          <p:cNvSpPr>
            <a:spLocks noGrp="1" noChangeArrowheads="1"/>
          </p:cNvSpPr>
          <p:nvPr>
            <p:ph type="body" idx="1"/>
          </p:nvPr>
        </p:nvSpPr>
        <p:spPr>
          <a:xfrm>
            <a:off x="304800" y="4343400"/>
            <a:ext cx="8650288" cy="2590800"/>
          </a:xfrm>
        </p:spPr>
        <p:txBody>
          <a:bodyPr/>
          <a:lstStyle/>
          <a:p>
            <a:r>
              <a:rPr lang="en-US" altLang="en-US" sz="2400"/>
              <a:t>Computation in the feature space can be costly because it is high dimensional</a:t>
            </a:r>
          </a:p>
          <a:p>
            <a:pPr lvl="1"/>
            <a:r>
              <a:rPr lang="en-US" altLang="en-US" sz="2400"/>
              <a:t>The feature space can be infinite-dimensional!</a:t>
            </a:r>
          </a:p>
          <a:p>
            <a:r>
              <a:rPr lang="en-US" altLang="en-US" sz="2400"/>
              <a:t>The kernel trick comes to rescue</a:t>
            </a:r>
          </a:p>
        </p:txBody>
      </p:sp>
      <p:sp>
        <p:nvSpPr>
          <p:cNvPr id="48132" name="Freeform 4">
            <a:extLst>
              <a:ext uri="{FF2B5EF4-FFF2-40B4-BE49-F238E27FC236}">
                <a16:creationId xmlns:a16="http://schemas.microsoft.com/office/drawing/2014/main" id="{DF1FDCBF-C8C7-AC92-93EA-3FC9F9612E04}"/>
              </a:ext>
            </a:extLst>
          </p:cNvPr>
          <p:cNvSpPr>
            <a:spLocks/>
          </p:cNvSpPr>
          <p:nvPr/>
        </p:nvSpPr>
        <p:spPr bwMode="auto">
          <a:xfrm>
            <a:off x="2209800" y="1295400"/>
            <a:ext cx="1600200" cy="1524000"/>
          </a:xfrm>
          <a:custGeom>
            <a:avLst/>
            <a:gdLst>
              <a:gd name="T0" fmla="*/ 0 w 1008"/>
              <a:gd name="T1" fmla="*/ 0 h 960"/>
              <a:gd name="T2" fmla="*/ 96 w 1008"/>
              <a:gd name="T3" fmla="*/ 432 h 960"/>
              <a:gd name="T4" fmla="*/ 384 w 1008"/>
              <a:gd name="T5" fmla="*/ 624 h 960"/>
              <a:gd name="T6" fmla="*/ 768 w 1008"/>
              <a:gd name="T7" fmla="*/ 672 h 960"/>
              <a:gd name="T8" fmla="*/ 1008 w 1008"/>
              <a:gd name="T9" fmla="*/ 960 h 960"/>
            </a:gdLst>
            <a:ahLst/>
            <a:cxnLst>
              <a:cxn ang="0">
                <a:pos x="T0" y="T1"/>
              </a:cxn>
              <a:cxn ang="0">
                <a:pos x="T2" y="T3"/>
              </a:cxn>
              <a:cxn ang="0">
                <a:pos x="T4" y="T5"/>
              </a:cxn>
              <a:cxn ang="0">
                <a:pos x="T6" y="T7"/>
              </a:cxn>
              <a:cxn ang="0">
                <a:pos x="T8" y="T9"/>
              </a:cxn>
            </a:cxnLst>
            <a:rect l="0" t="0" r="r" b="b"/>
            <a:pathLst>
              <a:path w="1008" h="960">
                <a:moveTo>
                  <a:pt x="0" y="0"/>
                </a:moveTo>
                <a:cubicBezTo>
                  <a:pt x="16" y="164"/>
                  <a:pt x="32" y="328"/>
                  <a:pt x="96" y="432"/>
                </a:cubicBezTo>
                <a:cubicBezTo>
                  <a:pt x="160" y="536"/>
                  <a:pt x="272" y="584"/>
                  <a:pt x="384" y="624"/>
                </a:cubicBezTo>
                <a:cubicBezTo>
                  <a:pt x="496" y="664"/>
                  <a:pt x="664" y="616"/>
                  <a:pt x="768" y="672"/>
                </a:cubicBezTo>
                <a:cubicBezTo>
                  <a:pt x="872" y="728"/>
                  <a:pt x="940" y="844"/>
                  <a:pt x="1008" y="960"/>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48133" name="Line 5">
            <a:extLst>
              <a:ext uri="{FF2B5EF4-FFF2-40B4-BE49-F238E27FC236}">
                <a16:creationId xmlns:a16="http://schemas.microsoft.com/office/drawing/2014/main" id="{E9B9E603-5CFF-47F2-539D-411ABE288F15}"/>
              </a:ext>
            </a:extLst>
          </p:cNvPr>
          <p:cNvSpPr>
            <a:spLocks noChangeShapeType="1"/>
          </p:cNvSpPr>
          <p:nvPr/>
        </p:nvSpPr>
        <p:spPr bwMode="auto">
          <a:xfrm flipV="1">
            <a:off x="1981200" y="1143000"/>
            <a:ext cx="0" cy="2057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48134" name="Line 6">
            <a:extLst>
              <a:ext uri="{FF2B5EF4-FFF2-40B4-BE49-F238E27FC236}">
                <a16:creationId xmlns:a16="http://schemas.microsoft.com/office/drawing/2014/main" id="{8A4EB26B-6B7C-38E2-7292-24EA46BB24D5}"/>
              </a:ext>
            </a:extLst>
          </p:cNvPr>
          <p:cNvSpPr>
            <a:spLocks noChangeShapeType="1"/>
          </p:cNvSpPr>
          <p:nvPr/>
        </p:nvSpPr>
        <p:spPr bwMode="auto">
          <a:xfrm>
            <a:off x="1981200" y="3200400"/>
            <a:ext cx="2057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48135" name="Oval 7">
            <a:extLst>
              <a:ext uri="{FF2B5EF4-FFF2-40B4-BE49-F238E27FC236}">
                <a16:creationId xmlns:a16="http://schemas.microsoft.com/office/drawing/2014/main" id="{2813DF7E-8021-7A0D-52F8-E4313A3405FB}"/>
              </a:ext>
            </a:extLst>
          </p:cNvPr>
          <p:cNvSpPr>
            <a:spLocks noChangeArrowheads="1"/>
          </p:cNvSpPr>
          <p:nvPr/>
        </p:nvSpPr>
        <p:spPr bwMode="auto">
          <a:xfrm>
            <a:off x="2362200" y="12954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6" name="Rectangle 8">
            <a:extLst>
              <a:ext uri="{FF2B5EF4-FFF2-40B4-BE49-F238E27FC236}">
                <a16:creationId xmlns:a16="http://schemas.microsoft.com/office/drawing/2014/main" id="{C564E859-5081-BB14-B179-5D640888A51E}"/>
              </a:ext>
            </a:extLst>
          </p:cNvPr>
          <p:cNvSpPr>
            <a:spLocks noChangeArrowheads="1"/>
          </p:cNvSpPr>
          <p:nvPr/>
        </p:nvSpPr>
        <p:spPr bwMode="auto">
          <a:xfrm>
            <a:off x="2133600" y="1676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7" name="Oval 9">
            <a:extLst>
              <a:ext uri="{FF2B5EF4-FFF2-40B4-BE49-F238E27FC236}">
                <a16:creationId xmlns:a16="http://schemas.microsoft.com/office/drawing/2014/main" id="{545C4907-AFDD-3486-0AFE-1CEBAD020E84}"/>
              </a:ext>
            </a:extLst>
          </p:cNvPr>
          <p:cNvSpPr>
            <a:spLocks noChangeArrowheads="1"/>
          </p:cNvSpPr>
          <p:nvPr/>
        </p:nvSpPr>
        <p:spPr bwMode="auto">
          <a:xfrm>
            <a:off x="2667000" y="15240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8" name="Oval 10">
            <a:extLst>
              <a:ext uri="{FF2B5EF4-FFF2-40B4-BE49-F238E27FC236}">
                <a16:creationId xmlns:a16="http://schemas.microsoft.com/office/drawing/2014/main" id="{DD0109B6-292B-C0A1-5464-0443004F9F86}"/>
              </a:ext>
            </a:extLst>
          </p:cNvPr>
          <p:cNvSpPr>
            <a:spLocks noChangeArrowheads="1"/>
          </p:cNvSpPr>
          <p:nvPr/>
        </p:nvSpPr>
        <p:spPr bwMode="auto">
          <a:xfrm>
            <a:off x="2971800" y="1828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39" name="Oval 11">
            <a:extLst>
              <a:ext uri="{FF2B5EF4-FFF2-40B4-BE49-F238E27FC236}">
                <a16:creationId xmlns:a16="http://schemas.microsoft.com/office/drawing/2014/main" id="{BB95A674-2EEB-07FB-C9BD-8613F60F781C}"/>
              </a:ext>
            </a:extLst>
          </p:cNvPr>
          <p:cNvSpPr>
            <a:spLocks noChangeArrowheads="1"/>
          </p:cNvSpPr>
          <p:nvPr/>
        </p:nvSpPr>
        <p:spPr bwMode="auto">
          <a:xfrm>
            <a:off x="3200400" y="1447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0" name="Oval 12">
            <a:extLst>
              <a:ext uri="{FF2B5EF4-FFF2-40B4-BE49-F238E27FC236}">
                <a16:creationId xmlns:a16="http://schemas.microsoft.com/office/drawing/2014/main" id="{8972FC94-4038-E569-BFFD-ECA4EB437150}"/>
              </a:ext>
            </a:extLst>
          </p:cNvPr>
          <p:cNvSpPr>
            <a:spLocks noChangeArrowheads="1"/>
          </p:cNvSpPr>
          <p:nvPr/>
        </p:nvSpPr>
        <p:spPr bwMode="auto">
          <a:xfrm>
            <a:off x="3581400" y="1828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1" name="Rectangle 13">
            <a:extLst>
              <a:ext uri="{FF2B5EF4-FFF2-40B4-BE49-F238E27FC236}">
                <a16:creationId xmlns:a16="http://schemas.microsoft.com/office/drawing/2014/main" id="{677666A5-201F-99D4-D6FA-F17A17B1FBEF}"/>
              </a:ext>
            </a:extLst>
          </p:cNvPr>
          <p:cNvSpPr>
            <a:spLocks noChangeArrowheads="1"/>
          </p:cNvSpPr>
          <p:nvPr/>
        </p:nvSpPr>
        <p:spPr bwMode="auto">
          <a:xfrm>
            <a:off x="2133600" y="19812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2" name="Rectangle 14">
            <a:extLst>
              <a:ext uri="{FF2B5EF4-FFF2-40B4-BE49-F238E27FC236}">
                <a16:creationId xmlns:a16="http://schemas.microsoft.com/office/drawing/2014/main" id="{71A715C0-5107-3C29-7927-FD2841E5C363}"/>
              </a:ext>
            </a:extLst>
          </p:cNvPr>
          <p:cNvSpPr>
            <a:spLocks noChangeArrowheads="1"/>
          </p:cNvSpPr>
          <p:nvPr/>
        </p:nvSpPr>
        <p:spPr bwMode="auto">
          <a:xfrm>
            <a:off x="2362200" y="22098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3" name="Rectangle 15">
            <a:extLst>
              <a:ext uri="{FF2B5EF4-FFF2-40B4-BE49-F238E27FC236}">
                <a16:creationId xmlns:a16="http://schemas.microsoft.com/office/drawing/2014/main" id="{A12F5A48-F448-4AF0-2D7F-46CE1491F597}"/>
              </a:ext>
            </a:extLst>
          </p:cNvPr>
          <p:cNvSpPr>
            <a:spLocks noChangeArrowheads="1"/>
          </p:cNvSpPr>
          <p:nvPr/>
        </p:nvSpPr>
        <p:spPr bwMode="auto">
          <a:xfrm>
            <a:off x="2209800" y="2438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4" name="Rectangle 16">
            <a:extLst>
              <a:ext uri="{FF2B5EF4-FFF2-40B4-BE49-F238E27FC236}">
                <a16:creationId xmlns:a16="http://schemas.microsoft.com/office/drawing/2014/main" id="{50B25DB2-4EE4-062B-0128-0D49969F340A}"/>
              </a:ext>
            </a:extLst>
          </p:cNvPr>
          <p:cNvSpPr>
            <a:spLocks noChangeArrowheads="1"/>
          </p:cNvSpPr>
          <p:nvPr/>
        </p:nvSpPr>
        <p:spPr bwMode="auto">
          <a:xfrm>
            <a:off x="2743200" y="24384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5" name="Rectangle 17">
            <a:extLst>
              <a:ext uri="{FF2B5EF4-FFF2-40B4-BE49-F238E27FC236}">
                <a16:creationId xmlns:a16="http://schemas.microsoft.com/office/drawing/2014/main" id="{0BF19DCE-12AA-756E-37AC-050ACCC503F3}"/>
              </a:ext>
            </a:extLst>
          </p:cNvPr>
          <p:cNvSpPr>
            <a:spLocks noChangeArrowheads="1"/>
          </p:cNvSpPr>
          <p:nvPr/>
        </p:nvSpPr>
        <p:spPr bwMode="auto">
          <a:xfrm>
            <a:off x="3124200" y="25146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6" name="Rectangle 18">
            <a:extLst>
              <a:ext uri="{FF2B5EF4-FFF2-40B4-BE49-F238E27FC236}">
                <a16:creationId xmlns:a16="http://schemas.microsoft.com/office/drawing/2014/main" id="{AF3CA9EB-26D5-089C-2576-8346D756A9D5}"/>
              </a:ext>
            </a:extLst>
          </p:cNvPr>
          <p:cNvSpPr>
            <a:spLocks noChangeArrowheads="1"/>
          </p:cNvSpPr>
          <p:nvPr/>
        </p:nvSpPr>
        <p:spPr bwMode="auto">
          <a:xfrm>
            <a:off x="3429000" y="27432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7" name="Rectangle 19">
            <a:extLst>
              <a:ext uri="{FF2B5EF4-FFF2-40B4-BE49-F238E27FC236}">
                <a16:creationId xmlns:a16="http://schemas.microsoft.com/office/drawing/2014/main" id="{B22DCEB4-9BA0-FA5C-2BE6-B51E19818EF6}"/>
              </a:ext>
            </a:extLst>
          </p:cNvPr>
          <p:cNvSpPr>
            <a:spLocks noChangeArrowheads="1"/>
          </p:cNvSpPr>
          <p:nvPr/>
        </p:nvSpPr>
        <p:spPr bwMode="auto">
          <a:xfrm>
            <a:off x="2819400" y="2895600"/>
            <a:ext cx="76200" cy="76200"/>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8" name="Oval 20">
            <a:extLst>
              <a:ext uri="{FF2B5EF4-FFF2-40B4-BE49-F238E27FC236}">
                <a16:creationId xmlns:a16="http://schemas.microsoft.com/office/drawing/2014/main" id="{544E2EAE-CFF1-0292-74B7-5918BB1A8BC6}"/>
              </a:ext>
            </a:extLst>
          </p:cNvPr>
          <p:cNvSpPr>
            <a:spLocks noChangeArrowheads="1"/>
          </p:cNvSpPr>
          <p:nvPr/>
        </p:nvSpPr>
        <p:spPr bwMode="auto">
          <a:xfrm>
            <a:off x="2438400" y="17526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49" name="Oval 21">
            <a:extLst>
              <a:ext uri="{FF2B5EF4-FFF2-40B4-BE49-F238E27FC236}">
                <a16:creationId xmlns:a16="http://schemas.microsoft.com/office/drawing/2014/main" id="{DA83EB4E-C23D-A90A-DCB5-8C195DB19781}"/>
              </a:ext>
            </a:extLst>
          </p:cNvPr>
          <p:cNvSpPr>
            <a:spLocks noChangeArrowheads="1"/>
          </p:cNvSpPr>
          <p:nvPr/>
        </p:nvSpPr>
        <p:spPr bwMode="auto">
          <a:xfrm>
            <a:off x="2743200" y="20574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50" name="Oval 22">
            <a:extLst>
              <a:ext uri="{FF2B5EF4-FFF2-40B4-BE49-F238E27FC236}">
                <a16:creationId xmlns:a16="http://schemas.microsoft.com/office/drawing/2014/main" id="{41E8EC9B-DED1-A99D-1695-E45657158743}"/>
              </a:ext>
            </a:extLst>
          </p:cNvPr>
          <p:cNvSpPr>
            <a:spLocks noChangeArrowheads="1"/>
          </p:cNvSpPr>
          <p:nvPr/>
        </p:nvSpPr>
        <p:spPr bwMode="auto">
          <a:xfrm>
            <a:off x="3352800" y="22098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51" name="Oval 23">
            <a:extLst>
              <a:ext uri="{FF2B5EF4-FFF2-40B4-BE49-F238E27FC236}">
                <a16:creationId xmlns:a16="http://schemas.microsoft.com/office/drawing/2014/main" id="{E0BC6AF0-4E4B-EF7C-2D3D-E8D0CD148AFF}"/>
              </a:ext>
            </a:extLst>
          </p:cNvPr>
          <p:cNvSpPr>
            <a:spLocks noChangeArrowheads="1"/>
          </p:cNvSpPr>
          <p:nvPr/>
        </p:nvSpPr>
        <p:spPr bwMode="auto">
          <a:xfrm>
            <a:off x="3657600" y="23622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52" name="Oval 24">
            <a:extLst>
              <a:ext uri="{FF2B5EF4-FFF2-40B4-BE49-F238E27FC236}">
                <a16:creationId xmlns:a16="http://schemas.microsoft.com/office/drawing/2014/main" id="{E1DA3B56-CDF1-5F99-154A-BAB17BAECCA4}"/>
              </a:ext>
            </a:extLst>
          </p:cNvPr>
          <p:cNvSpPr>
            <a:spLocks noChangeArrowheads="1"/>
          </p:cNvSpPr>
          <p:nvPr/>
        </p:nvSpPr>
        <p:spPr bwMode="auto">
          <a:xfrm>
            <a:off x="3810000" y="2667000"/>
            <a:ext cx="76200" cy="762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53" name="Line 25">
            <a:extLst>
              <a:ext uri="{FF2B5EF4-FFF2-40B4-BE49-F238E27FC236}">
                <a16:creationId xmlns:a16="http://schemas.microsoft.com/office/drawing/2014/main" id="{9D01393A-AD34-C5FD-5553-16726A08C6B7}"/>
              </a:ext>
            </a:extLst>
          </p:cNvPr>
          <p:cNvSpPr>
            <a:spLocks noChangeShapeType="1"/>
          </p:cNvSpPr>
          <p:nvPr/>
        </p:nvSpPr>
        <p:spPr bwMode="auto">
          <a:xfrm flipV="1">
            <a:off x="5943600" y="1143000"/>
            <a:ext cx="0" cy="20574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48154" name="Line 26">
            <a:extLst>
              <a:ext uri="{FF2B5EF4-FFF2-40B4-BE49-F238E27FC236}">
                <a16:creationId xmlns:a16="http://schemas.microsoft.com/office/drawing/2014/main" id="{37D7D1FB-FEF6-424D-90C3-0E8E27D576E1}"/>
              </a:ext>
            </a:extLst>
          </p:cNvPr>
          <p:cNvSpPr>
            <a:spLocks noChangeShapeType="1"/>
          </p:cNvSpPr>
          <p:nvPr/>
        </p:nvSpPr>
        <p:spPr bwMode="auto">
          <a:xfrm>
            <a:off x="5943600" y="3200400"/>
            <a:ext cx="2057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sp>
        <p:nvSpPr>
          <p:cNvPr id="48155" name="Line 27">
            <a:extLst>
              <a:ext uri="{FF2B5EF4-FFF2-40B4-BE49-F238E27FC236}">
                <a16:creationId xmlns:a16="http://schemas.microsoft.com/office/drawing/2014/main" id="{4A6D7F93-665B-5CE1-ACF8-021990A8DD47}"/>
              </a:ext>
            </a:extLst>
          </p:cNvPr>
          <p:cNvSpPr>
            <a:spLocks noChangeShapeType="1"/>
          </p:cNvSpPr>
          <p:nvPr/>
        </p:nvSpPr>
        <p:spPr bwMode="auto">
          <a:xfrm>
            <a:off x="6324600" y="1295400"/>
            <a:ext cx="1447800" cy="1828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grpSp>
        <p:nvGrpSpPr>
          <p:cNvPr id="48156" name="Group 28">
            <a:extLst>
              <a:ext uri="{FF2B5EF4-FFF2-40B4-BE49-F238E27FC236}">
                <a16:creationId xmlns:a16="http://schemas.microsoft.com/office/drawing/2014/main" id="{47D39E5C-A819-B41F-0BCB-D372389D4DC8}"/>
              </a:ext>
            </a:extLst>
          </p:cNvPr>
          <p:cNvGrpSpPr>
            <a:grpSpLocks/>
          </p:cNvGrpSpPr>
          <p:nvPr/>
        </p:nvGrpSpPr>
        <p:grpSpPr bwMode="auto">
          <a:xfrm>
            <a:off x="6019800" y="1371600"/>
            <a:ext cx="528638" cy="336550"/>
            <a:chOff x="3001" y="2496"/>
            <a:chExt cx="333" cy="212"/>
          </a:xfrm>
        </p:grpSpPr>
        <p:sp>
          <p:nvSpPr>
            <p:cNvPr id="48157" name="Rectangle 29">
              <a:extLst>
                <a:ext uri="{FF2B5EF4-FFF2-40B4-BE49-F238E27FC236}">
                  <a16:creationId xmlns:a16="http://schemas.microsoft.com/office/drawing/2014/main" id="{3C3FD109-17E9-EDC9-9CFE-35FBE484C4B0}"/>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58" name="Text Box 30">
              <a:extLst>
                <a:ext uri="{FF2B5EF4-FFF2-40B4-BE49-F238E27FC236}">
                  <a16:creationId xmlns:a16="http://schemas.microsoft.com/office/drawing/2014/main" id="{2D51C9A5-D238-9753-9F67-14FA848E52B3}"/>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59" name="Group 31">
            <a:extLst>
              <a:ext uri="{FF2B5EF4-FFF2-40B4-BE49-F238E27FC236}">
                <a16:creationId xmlns:a16="http://schemas.microsoft.com/office/drawing/2014/main" id="{962A9F83-F208-11DB-411A-8B691CF17095}"/>
              </a:ext>
            </a:extLst>
          </p:cNvPr>
          <p:cNvGrpSpPr>
            <a:grpSpLocks/>
          </p:cNvGrpSpPr>
          <p:nvPr/>
        </p:nvGrpSpPr>
        <p:grpSpPr bwMode="auto">
          <a:xfrm>
            <a:off x="6253163" y="1797050"/>
            <a:ext cx="528637" cy="336550"/>
            <a:chOff x="3001" y="2496"/>
            <a:chExt cx="333" cy="212"/>
          </a:xfrm>
        </p:grpSpPr>
        <p:sp>
          <p:nvSpPr>
            <p:cNvPr id="48160" name="Rectangle 32">
              <a:extLst>
                <a:ext uri="{FF2B5EF4-FFF2-40B4-BE49-F238E27FC236}">
                  <a16:creationId xmlns:a16="http://schemas.microsoft.com/office/drawing/2014/main" id="{1D0C0426-E606-0C04-DF6F-5716B022D9FE}"/>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61" name="Text Box 33">
              <a:extLst>
                <a:ext uri="{FF2B5EF4-FFF2-40B4-BE49-F238E27FC236}">
                  <a16:creationId xmlns:a16="http://schemas.microsoft.com/office/drawing/2014/main" id="{93A36FBE-CD30-3B32-CFF0-422D40A3F599}"/>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62" name="Group 34">
            <a:extLst>
              <a:ext uri="{FF2B5EF4-FFF2-40B4-BE49-F238E27FC236}">
                <a16:creationId xmlns:a16="http://schemas.microsoft.com/office/drawing/2014/main" id="{6B4D691D-B2AA-0B85-0157-8ABE56040746}"/>
              </a:ext>
            </a:extLst>
          </p:cNvPr>
          <p:cNvGrpSpPr>
            <a:grpSpLocks/>
          </p:cNvGrpSpPr>
          <p:nvPr/>
        </p:nvGrpSpPr>
        <p:grpSpPr bwMode="auto">
          <a:xfrm>
            <a:off x="6634163" y="2254250"/>
            <a:ext cx="528637" cy="336550"/>
            <a:chOff x="3001" y="2496"/>
            <a:chExt cx="333" cy="212"/>
          </a:xfrm>
        </p:grpSpPr>
        <p:sp>
          <p:nvSpPr>
            <p:cNvPr id="48163" name="Rectangle 35">
              <a:extLst>
                <a:ext uri="{FF2B5EF4-FFF2-40B4-BE49-F238E27FC236}">
                  <a16:creationId xmlns:a16="http://schemas.microsoft.com/office/drawing/2014/main" id="{B2788879-405D-F4FA-7CBD-4CEEDE1C0D03}"/>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64" name="Text Box 36">
              <a:extLst>
                <a:ext uri="{FF2B5EF4-FFF2-40B4-BE49-F238E27FC236}">
                  <a16:creationId xmlns:a16="http://schemas.microsoft.com/office/drawing/2014/main" id="{274FCA00-4809-900E-2FAA-E85D1FC938CC}"/>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65" name="Group 37">
            <a:extLst>
              <a:ext uri="{FF2B5EF4-FFF2-40B4-BE49-F238E27FC236}">
                <a16:creationId xmlns:a16="http://schemas.microsoft.com/office/drawing/2014/main" id="{8E182C74-A662-9773-1911-3D365068825B}"/>
              </a:ext>
            </a:extLst>
          </p:cNvPr>
          <p:cNvGrpSpPr>
            <a:grpSpLocks/>
          </p:cNvGrpSpPr>
          <p:nvPr/>
        </p:nvGrpSpPr>
        <p:grpSpPr bwMode="auto">
          <a:xfrm>
            <a:off x="6786563" y="2482850"/>
            <a:ext cx="528637" cy="336550"/>
            <a:chOff x="3001" y="2496"/>
            <a:chExt cx="333" cy="212"/>
          </a:xfrm>
        </p:grpSpPr>
        <p:sp>
          <p:nvSpPr>
            <p:cNvPr id="48166" name="Rectangle 38">
              <a:extLst>
                <a:ext uri="{FF2B5EF4-FFF2-40B4-BE49-F238E27FC236}">
                  <a16:creationId xmlns:a16="http://schemas.microsoft.com/office/drawing/2014/main" id="{2434A6F5-7411-3C6E-57F9-F66552D12974}"/>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67" name="Text Box 39">
              <a:extLst>
                <a:ext uri="{FF2B5EF4-FFF2-40B4-BE49-F238E27FC236}">
                  <a16:creationId xmlns:a16="http://schemas.microsoft.com/office/drawing/2014/main" id="{07CF94BB-F661-24DC-24B2-16E10BCE40C9}"/>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68" name="Group 40">
            <a:extLst>
              <a:ext uri="{FF2B5EF4-FFF2-40B4-BE49-F238E27FC236}">
                <a16:creationId xmlns:a16="http://schemas.microsoft.com/office/drawing/2014/main" id="{96FC3E36-55A5-C220-4E1B-9B30A446880B}"/>
              </a:ext>
            </a:extLst>
          </p:cNvPr>
          <p:cNvGrpSpPr>
            <a:grpSpLocks/>
          </p:cNvGrpSpPr>
          <p:nvPr/>
        </p:nvGrpSpPr>
        <p:grpSpPr bwMode="auto">
          <a:xfrm>
            <a:off x="6096000" y="2438400"/>
            <a:ext cx="528638" cy="336550"/>
            <a:chOff x="3001" y="2496"/>
            <a:chExt cx="333" cy="212"/>
          </a:xfrm>
        </p:grpSpPr>
        <p:sp>
          <p:nvSpPr>
            <p:cNvPr id="48169" name="Rectangle 41">
              <a:extLst>
                <a:ext uri="{FF2B5EF4-FFF2-40B4-BE49-F238E27FC236}">
                  <a16:creationId xmlns:a16="http://schemas.microsoft.com/office/drawing/2014/main" id="{1069868C-8CBC-4E44-29E9-C6632D4FDDD4}"/>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70" name="Text Box 42">
              <a:extLst>
                <a:ext uri="{FF2B5EF4-FFF2-40B4-BE49-F238E27FC236}">
                  <a16:creationId xmlns:a16="http://schemas.microsoft.com/office/drawing/2014/main" id="{550A3A7B-3446-FE5D-90EB-0643B97D08DE}"/>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71" name="Group 43">
            <a:extLst>
              <a:ext uri="{FF2B5EF4-FFF2-40B4-BE49-F238E27FC236}">
                <a16:creationId xmlns:a16="http://schemas.microsoft.com/office/drawing/2014/main" id="{1AF2FBEA-13A5-8A6E-0D99-EF9904742DEC}"/>
              </a:ext>
            </a:extLst>
          </p:cNvPr>
          <p:cNvGrpSpPr>
            <a:grpSpLocks/>
          </p:cNvGrpSpPr>
          <p:nvPr/>
        </p:nvGrpSpPr>
        <p:grpSpPr bwMode="auto">
          <a:xfrm>
            <a:off x="5867400" y="1905000"/>
            <a:ext cx="528638" cy="336550"/>
            <a:chOff x="3001" y="2496"/>
            <a:chExt cx="333" cy="212"/>
          </a:xfrm>
        </p:grpSpPr>
        <p:sp>
          <p:nvSpPr>
            <p:cNvPr id="48172" name="Rectangle 44">
              <a:extLst>
                <a:ext uri="{FF2B5EF4-FFF2-40B4-BE49-F238E27FC236}">
                  <a16:creationId xmlns:a16="http://schemas.microsoft.com/office/drawing/2014/main" id="{A43785AD-CF24-59E4-6724-229214DF7F92}"/>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73" name="Text Box 45">
              <a:extLst>
                <a:ext uri="{FF2B5EF4-FFF2-40B4-BE49-F238E27FC236}">
                  <a16:creationId xmlns:a16="http://schemas.microsoft.com/office/drawing/2014/main" id="{A3E3DCDE-4A0A-7C96-8634-2FADAED155F4}"/>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74" name="Group 46">
            <a:extLst>
              <a:ext uri="{FF2B5EF4-FFF2-40B4-BE49-F238E27FC236}">
                <a16:creationId xmlns:a16="http://schemas.microsoft.com/office/drawing/2014/main" id="{D74EA374-A2E0-839B-134C-CFB8EB9883BF}"/>
              </a:ext>
            </a:extLst>
          </p:cNvPr>
          <p:cNvGrpSpPr>
            <a:grpSpLocks/>
          </p:cNvGrpSpPr>
          <p:nvPr/>
        </p:nvGrpSpPr>
        <p:grpSpPr bwMode="auto">
          <a:xfrm>
            <a:off x="7091363" y="2863850"/>
            <a:ext cx="528637" cy="336550"/>
            <a:chOff x="3001" y="2496"/>
            <a:chExt cx="333" cy="212"/>
          </a:xfrm>
        </p:grpSpPr>
        <p:sp>
          <p:nvSpPr>
            <p:cNvPr id="48175" name="Rectangle 47">
              <a:extLst>
                <a:ext uri="{FF2B5EF4-FFF2-40B4-BE49-F238E27FC236}">
                  <a16:creationId xmlns:a16="http://schemas.microsoft.com/office/drawing/2014/main" id="{FDD4EE41-72A6-1DA6-6EAA-3FBF3A903798}"/>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76" name="Text Box 48">
              <a:extLst>
                <a:ext uri="{FF2B5EF4-FFF2-40B4-BE49-F238E27FC236}">
                  <a16:creationId xmlns:a16="http://schemas.microsoft.com/office/drawing/2014/main" id="{7CBFD228-87A5-3A2E-EA06-1F6A2D33656F}"/>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77" name="Group 49">
            <a:extLst>
              <a:ext uri="{FF2B5EF4-FFF2-40B4-BE49-F238E27FC236}">
                <a16:creationId xmlns:a16="http://schemas.microsoft.com/office/drawing/2014/main" id="{DF2E0F8C-75A7-28EA-0040-71F221C2A70E}"/>
              </a:ext>
            </a:extLst>
          </p:cNvPr>
          <p:cNvGrpSpPr>
            <a:grpSpLocks/>
          </p:cNvGrpSpPr>
          <p:nvPr/>
        </p:nvGrpSpPr>
        <p:grpSpPr bwMode="auto">
          <a:xfrm>
            <a:off x="6248400" y="2743200"/>
            <a:ext cx="528638" cy="336550"/>
            <a:chOff x="3001" y="2496"/>
            <a:chExt cx="333" cy="212"/>
          </a:xfrm>
        </p:grpSpPr>
        <p:sp>
          <p:nvSpPr>
            <p:cNvPr id="48178" name="Rectangle 50">
              <a:extLst>
                <a:ext uri="{FF2B5EF4-FFF2-40B4-BE49-F238E27FC236}">
                  <a16:creationId xmlns:a16="http://schemas.microsoft.com/office/drawing/2014/main" id="{5BE259B4-A73C-2A49-737A-5179F0FBEA28}"/>
                </a:ext>
              </a:extLst>
            </p:cNvPr>
            <p:cNvSpPr>
              <a:spLocks noChangeArrowheads="1"/>
            </p:cNvSpPr>
            <p:nvPr/>
          </p:nvSpPr>
          <p:spPr bwMode="auto">
            <a:xfrm>
              <a:off x="3168" y="2592"/>
              <a:ext cx="48" cy="48"/>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79" name="Text Box 51">
              <a:extLst>
                <a:ext uri="{FF2B5EF4-FFF2-40B4-BE49-F238E27FC236}">
                  <a16:creationId xmlns:a16="http://schemas.microsoft.com/office/drawing/2014/main" id="{F9D446A6-1D96-1AE8-AD9A-82A619752544}"/>
                </a:ext>
              </a:extLst>
            </p:cNvPr>
            <p:cNvSpPr txBox="1">
              <a:spLocks noChangeArrowheads="1"/>
            </p:cNvSpPr>
            <p:nvPr/>
          </p:nvSpPr>
          <p:spPr bwMode="auto">
            <a:xfrm>
              <a:off x="3001" y="2496"/>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sp>
        <p:nvSpPr>
          <p:cNvPr id="48180" name="AutoShape 52">
            <a:extLst>
              <a:ext uri="{FF2B5EF4-FFF2-40B4-BE49-F238E27FC236}">
                <a16:creationId xmlns:a16="http://schemas.microsoft.com/office/drawing/2014/main" id="{8A868B48-698F-4416-350C-AB00EBA76C16}"/>
              </a:ext>
            </a:extLst>
          </p:cNvPr>
          <p:cNvSpPr>
            <a:spLocks noChangeArrowheads="1"/>
          </p:cNvSpPr>
          <p:nvPr/>
        </p:nvSpPr>
        <p:spPr bwMode="auto">
          <a:xfrm>
            <a:off x="4343400" y="2209800"/>
            <a:ext cx="990600" cy="381000"/>
          </a:xfrm>
          <a:prstGeom prst="rightArrow">
            <a:avLst>
              <a:gd name="adj1" fmla="val 50000"/>
              <a:gd name="adj2" fmla="val 6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81" name="Text Box 53">
            <a:extLst>
              <a:ext uri="{FF2B5EF4-FFF2-40B4-BE49-F238E27FC236}">
                <a16:creationId xmlns:a16="http://schemas.microsoft.com/office/drawing/2014/main" id="{26B0463E-51C0-B6AB-7E7F-963D1E41D0D4}"/>
              </a:ext>
            </a:extLst>
          </p:cNvPr>
          <p:cNvSpPr txBox="1">
            <a:spLocks noChangeArrowheads="1"/>
          </p:cNvSpPr>
          <p:nvPr/>
        </p:nvSpPr>
        <p:spPr bwMode="auto">
          <a:xfrm>
            <a:off x="4418013" y="1624013"/>
            <a:ext cx="7667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3200">
                <a:latin typeface="Symbol" panose="05050102010706020507" pitchFamily="18" charset="2"/>
              </a:rPr>
              <a:t>f</a:t>
            </a:r>
            <a:r>
              <a:rPr lang="en-US" altLang="en-US" sz="3200">
                <a:latin typeface="Times New Roman" panose="02020603050405020304" pitchFamily="18" charset="0"/>
              </a:rPr>
              <a:t>(.)</a:t>
            </a:r>
          </a:p>
        </p:txBody>
      </p:sp>
      <p:grpSp>
        <p:nvGrpSpPr>
          <p:cNvPr id="48182" name="Group 54">
            <a:extLst>
              <a:ext uri="{FF2B5EF4-FFF2-40B4-BE49-F238E27FC236}">
                <a16:creationId xmlns:a16="http://schemas.microsoft.com/office/drawing/2014/main" id="{D0992DA1-597D-22B1-5872-6970BF170EAF}"/>
              </a:ext>
            </a:extLst>
          </p:cNvPr>
          <p:cNvGrpSpPr>
            <a:grpSpLocks/>
          </p:cNvGrpSpPr>
          <p:nvPr/>
        </p:nvGrpSpPr>
        <p:grpSpPr bwMode="auto">
          <a:xfrm>
            <a:off x="7162800" y="1600200"/>
            <a:ext cx="528638" cy="336550"/>
            <a:chOff x="4307" y="2352"/>
            <a:chExt cx="333" cy="212"/>
          </a:xfrm>
        </p:grpSpPr>
        <p:sp>
          <p:nvSpPr>
            <p:cNvPr id="48183" name="Oval 55">
              <a:extLst>
                <a:ext uri="{FF2B5EF4-FFF2-40B4-BE49-F238E27FC236}">
                  <a16:creationId xmlns:a16="http://schemas.microsoft.com/office/drawing/2014/main" id="{686FE00F-8979-F547-3D4E-D2F343B61CCC}"/>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84" name="Text Box 56">
              <a:extLst>
                <a:ext uri="{FF2B5EF4-FFF2-40B4-BE49-F238E27FC236}">
                  <a16:creationId xmlns:a16="http://schemas.microsoft.com/office/drawing/2014/main" id="{53B32222-413F-0888-3E3A-136CD13138ED}"/>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85" name="Group 57">
            <a:extLst>
              <a:ext uri="{FF2B5EF4-FFF2-40B4-BE49-F238E27FC236}">
                <a16:creationId xmlns:a16="http://schemas.microsoft.com/office/drawing/2014/main" id="{654FF714-630F-4B0A-5AD8-5370F73889F8}"/>
              </a:ext>
            </a:extLst>
          </p:cNvPr>
          <p:cNvGrpSpPr>
            <a:grpSpLocks/>
          </p:cNvGrpSpPr>
          <p:nvPr/>
        </p:nvGrpSpPr>
        <p:grpSpPr bwMode="auto">
          <a:xfrm>
            <a:off x="6553200" y="1143000"/>
            <a:ext cx="528638" cy="336550"/>
            <a:chOff x="4307" y="2352"/>
            <a:chExt cx="333" cy="212"/>
          </a:xfrm>
        </p:grpSpPr>
        <p:sp>
          <p:nvSpPr>
            <p:cNvPr id="48186" name="Oval 58">
              <a:extLst>
                <a:ext uri="{FF2B5EF4-FFF2-40B4-BE49-F238E27FC236}">
                  <a16:creationId xmlns:a16="http://schemas.microsoft.com/office/drawing/2014/main" id="{0A28659E-B9BA-2CEF-CB1B-953EF0C5A6BB}"/>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87" name="Text Box 59">
              <a:extLst>
                <a:ext uri="{FF2B5EF4-FFF2-40B4-BE49-F238E27FC236}">
                  <a16:creationId xmlns:a16="http://schemas.microsoft.com/office/drawing/2014/main" id="{D4025214-A907-EF2F-831B-FC5849DDD199}"/>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88" name="Group 60">
            <a:extLst>
              <a:ext uri="{FF2B5EF4-FFF2-40B4-BE49-F238E27FC236}">
                <a16:creationId xmlns:a16="http://schemas.microsoft.com/office/drawing/2014/main" id="{E1E11A39-9021-9C7A-1AC2-8710218E8745}"/>
              </a:ext>
            </a:extLst>
          </p:cNvPr>
          <p:cNvGrpSpPr>
            <a:grpSpLocks/>
          </p:cNvGrpSpPr>
          <p:nvPr/>
        </p:nvGrpSpPr>
        <p:grpSpPr bwMode="auto">
          <a:xfrm>
            <a:off x="6934200" y="1828800"/>
            <a:ext cx="528638" cy="336550"/>
            <a:chOff x="4307" y="2352"/>
            <a:chExt cx="333" cy="212"/>
          </a:xfrm>
        </p:grpSpPr>
        <p:sp>
          <p:nvSpPr>
            <p:cNvPr id="48189" name="Oval 61">
              <a:extLst>
                <a:ext uri="{FF2B5EF4-FFF2-40B4-BE49-F238E27FC236}">
                  <a16:creationId xmlns:a16="http://schemas.microsoft.com/office/drawing/2014/main" id="{4ECC0B61-98A1-6EEC-77FF-88C9C305A769}"/>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90" name="Text Box 62">
              <a:extLst>
                <a:ext uri="{FF2B5EF4-FFF2-40B4-BE49-F238E27FC236}">
                  <a16:creationId xmlns:a16="http://schemas.microsoft.com/office/drawing/2014/main" id="{AC135925-52C3-8A8A-0DC7-E0B48DC56CF5}"/>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91" name="Group 63">
            <a:extLst>
              <a:ext uri="{FF2B5EF4-FFF2-40B4-BE49-F238E27FC236}">
                <a16:creationId xmlns:a16="http://schemas.microsoft.com/office/drawing/2014/main" id="{EC995F68-09BD-285D-C0BE-6EDE8CF722C0}"/>
              </a:ext>
            </a:extLst>
          </p:cNvPr>
          <p:cNvGrpSpPr>
            <a:grpSpLocks/>
          </p:cNvGrpSpPr>
          <p:nvPr/>
        </p:nvGrpSpPr>
        <p:grpSpPr bwMode="auto">
          <a:xfrm>
            <a:off x="6705600" y="1524000"/>
            <a:ext cx="528638" cy="336550"/>
            <a:chOff x="4307" y="2352"/>
            <a:chExt cx="333" cy="212"/>
          </a:xfrm>
        </p:grpSpPr>
        <p:sp>
          <p:nvSpPr>
            <p:cNvPr id="48192" name="Oval 64">
              <a:extLst>
                <a:ext uri="{FF2B5EF4-FFF2-40B4-BE49-F238E27FC236}">
                  <a16:creationId xmlns:a16="http://schemas.microsoft.com/office/drawing/2014/main" id="{309E272A-87FD-C961-FAFD-F17C36F4AAB5}"/>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93" name="Text Box 65">
              <a:extLst>
                <a:ext uri="{FF2B5EF4-FFF2-40B4-BE49-F238E27FC236}">
                  <a16:creationId xmlns:a16="http://schemas.microsoft.com/office/drawing/2014/main" id="{E877CAAA-6979-F2F4-9F29-412FA28384FE}"/>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94" name="Group 66">
            <a:extLst>
              <a:ext uri="{FF2B5EF4-FFF2-40B4-BE49-F238E27FC236}">
                <a16:creationId xmlns:a16="http://schemas.microsoft.com/office/drawing/2014/main" id="{B73180BF-C9F6-49CF-34A0-8B9A70C9D3EE}"/>
              </a:ext>
            </a:extLst>
          </p:cNvPr>
          <p:cNvGrpSpPr>
            <a:grpSpLocks/>
          </p:cNvGrpSpPr>
          <p:nvPr/>
        </p:nvGrpSpPr>
        <p:grpSpPr bwMode="auto">
          <a:xfrm>
            <a:off x="6858000" y="1295400"/>
            <a:ext cx="528638" cy="336550"/>
            <a:chOff x="4307" y="2352"/>
            <a:chExt cx="333" cy="212"/>
          </a:xfrm>
        </p:grpSpPr>
        <p:sp>
          <p:nvSpPr>
            <p:cNvPr id="48195" name="Oval 67">
              <a:extLst>
                <a:ext uri="{FF2B5EF4-FFF2-40B4-BE49-F238E27FC236}">
                  <a16:creationId xmlns:a16="http://schemas.microsoft.com/office/drawing/2014/main" id="{E3CB7123-3181-21C8-1C0F-4CF9F6D639E3}"/>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96" name="Text Box 68">
              <a:extLst>
                <a:ext uri="{FF2B5EF4-FFF2-40B4-BE49-F238E27FC236}">
                  <a16:creationId xmlns:a16="http://schemas.microsoft.com/office/drawing/2014/main" id="{19222436-4959-25E3-BF09-9D6FAF5516F2}"/>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197" name="Group 69">
            <a:extLst>
              <a:ext uri="{FF2B5EF4-FFF2-40B4-BE49-F238E27FC236}">
                <a16:creationId xmlns:a16="http://schemas.microsoft.com/office/drawing/2014/main" id="{47830F8F-D8DC-0CA5-03E6-212D467FD1B8}"/>
              </a:ext>
            </a:extLst>
          </p:cNvPr>
          <p:cNvGrpSpPr>
            <a:grpSpLocks/>
          </p:cNvGrpSpPr>
          <p:nvPr/>
        </p:nvGrpSpPr>
        <p:grpSpPr bwMode="auto">
          <a:xfrm>
            <a:off x="7391400" y="2406650"/>
            <a:ext cx="528638" cy="336550"/>
            <a:chOff x="4307" y="2352"/>
            <a:chExt cx="333" cy="212"/>
          </a:xfrm>
        </p:grpSpPr>
        <p:sp>
          <p:nvSpPr>
            <p:cNvPr id="48198" name="Oval 70">
              <a:extLst>
                <a:ext uri="{FF2B5EF4-FFF2-40B4-BE49-F238E27FC236}">
                  <a16:creationId xmlns:a16="http://schemas.microsoft.com/office/drawing/2014/main" id="{AEE8E9F7-ABA2-370B-32DD-5F23B28C2660}"/>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199" name="Text Box 71">
              <a:extLst>
                <a:ext uri="{FF2B5EF4-FFF2-40B4-BE49-F238E27FC236}">
                  <a16:creationId xmlns:a16="http://schemas.microsoft.com/office/drawing/2014/main" id="{A9DEC28A-8BA1-F1D4-491A-DC16A9898149}"/>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200" name="Group 72">
            <a:extLst>
              <a:ext uri="{FF2B5EF4-FFF2-40B4-BE49-F238E27FC236}">
                <a16:creationId xmlns:a16="http://schemas.microsoft.com/office/drawing/2014/main" id="{1BBF11DA-1CAA-0A74-69E9-393FE8B3C1AD}"/>
              </a:ext>
            </a:extLst>
          </p:cNvPr>
          <p:cNvGrpSpPr>
            <a:grpSpLocks/>
          </p:cNvGrpSpPr>
          <p:nvPr/>
        </p:nvGrpSpPr>
        <p:grpSpPr bwMode="auto">
          <a:xfrm>
            <a:off x="7620000" y="1447800"/>
            <a:ext cx="528638" cy="336550"/>
            <a:chOff x="4307" y="2352"/>
            <a:chExt cx="333" cy="212"/>
          </a:xfrm>
        </p:grpSpPr>
        <p:sp>
          <p:nvSpPr>
            <p:cNvPr id="48201" name="Oval 73">
              <a:extLst>
                <a:ext uri="{FF2B5EF4-FFF2-40B4-BE49-F238E27FC236}">
                  <a16:creationId xmlns:a16="http://schemas.microsoft.com/office/drawing/2014/main" id="{6CB004BA-9C02-CE48-D8F5-E3AE7027CD92}"/>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202" name="Text Box 74">
              <a:extLst>
                <a:ext uri="{FF2B5EF4-FFF2-40B4-BE49-F238E27FC236}">
                  <a16:creationId xmlns:a16="http://schemas.microsoft.com/office/drawing/2014/main" id="{D5A238D0-D07B-4F4C-3564-67FD59AEF6B9}"/>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203" name="Group 75">
            <a:extLst>
              <a:ext uri="{FF2B5EF4-FFF2-40B4-BE49-F238E27FC236}">
                <a16:creationId xmlns:a16="http://schemas.microsoft.com/office/drawing/2014/main" id="{78C67255-7CC3-3446-5370-518F307EDC35}"/>
              </a:ext>
            </a:extLst>
          </p:cNvPr>
          <p:cNvGrpSpPr>
            <a:grpSpLocks/>
          </p:cNvGrpSpPr>
          <p:nvPr/>
        </p:nvGrpSpPr>
        <p:grpSpPr bwMode="auto">
          <a:xfrm>
            <a:off x="7391400" y="1981200"/>
            <a:ext cx="528638" cy="336550"/>
            <a:chOff x="4307" y="2352"/>
            <a:chExt cx="333" cy="212"/>
          </a:xfrm>
        </p:grpSpPr>
        <p:sp>
          <p:nvSpPr>
            <p:cNvPr id="48204" name="Oval 76">
              <a:extLst>
                <a:ext uri="{FF2B5EF4-FFF2-40B4-BE49-F238E27FC236}">
                  <a16:creationId xmlns:a16="http://schemas.microsoft.com/office/drawing/2014/main" id="{BB4C9775-F54F-9FCF-1879-A4A0642053B0}"/>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205" name="Text Box 77">
              <a:extLst>
                <a:ext uri="{FF2B5EF4-FFF2-40B4-BE49-F238E27FC236}">
                  <a16:creationId xmlns:a16="http://schemas.microsoft.com/office/drawing/2014/main" id="{617E91DB-8B9B-0F38-7099-9A6AC14B3A08}"/>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206" name="Group 78">
            <a:extLst>
              <a:ext uri="{FF2B5EF4-FFF2-40B4-BE49-F238E27FC236}">
                <a16:creationId xmlns:a16="http://schemas.microsoft.com/office/drawing/2014/main" id="{19F70CB5-9958-3CD4-22D8-E9479565D54E}"/>
              </a:ext>
            </a:extLst>
          </p:cNvPr>
          <p:cNvGrpSpPr>
            <a:grpSpLocks/>
          </p:cNvGrpSpPr>
          <p:nvPr/>
        </p:nvGrpSpPr>
        <p:grpSpPr bwMode="auto">
          <a:xfrm>
            <a:off x="7239000" y="2178050"/>
            <a:ext cx="528638" cy="336550"/>
            <a:chOff x="4307" y="2352"/>
            <a:chExt cx="333" cy="212"/>
          </a:xfrm>
        </p:grpSpPr>
        <p:sp>
          <p:nvSpPr>
            <p:cNvPr id="48207" name="Oval 79">
              <a:extLst>
                <a:ext uri="{FF2B5EF4-FFF2-40B4-BE49-F238E27FC236}">
                  <a16:creationId xmlns:a16="http://schemas.microsoft.com/office/drawing/2014/main" id="{B9FE436A-9879-5A79-7F9C-FE74AC6E1CEB}"/>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208" name="Text Box 80">
              <a:extLst>
                <a:ext uri="{FF2B5EF4-FFF2-40B4-BE49-F238E27FC236}">
                  <a16:creationId xmlns:a16="http://schemas.microsoft.com/office/drawing/2014/main" id="{C802CCE9-8C09-9883-50C2-4A6AC279A48A}"/>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grpSp>
        <p:nvGrpSpPr>
          <p:cNvPr id="48209" name="Group 81">
            <a:extLst>
              <a:ext uri="{FF2B5EF4-FFF2-40B4-BE49-F238E27FC236}">
                <a16:creationId xmlns:a16="http://schemas.microsoft.com/office/drawing/2014/main" id="{9FFF0C57-CD24-29A8-F9AF-71750CB588FC}"/>
              </a:ext>
            </a:extLst>
          </p:cNvPr>
          <p:cNvGrpSpPr>
            <a:grpSpLocks/>
          </p:cNvGrpSpPr>
          <p:nvPr/>
        </p:nvGrpSpPr>
        <p:grpSpPr bwMode="auto">
          <a:xfrm>
            <a:off x="7777163" y="2057400"/>
            <a:ext cx="528637" cy="336550"/>
            <a:chOff x="4307" y="2352"/>
            <a:chExt cx="333" cy="212"/>
          </a:xfrm>
        </p:grpSpPr>
        <p:sp>
          <p:nvSpPr>
            <p:cNvPr id="48210" name="Oval 82">
              <a:extLst>
                <a:ext uri="{FF2B5EF4-FFF2-40B4-BE49-F238E27FC236}">
                  <a16:creationId xmlns:a16="http://schemas.microsoft.com/office/drawing/2014/main" id="{3BF4C412-448A-82DC-D3B8-7636AC0ED11C}"/>
                </a:ext>
              </a:extLst>
            </p:cNvPr>
            <p:cNvSpPr>
              <a:spLocks noChangeArrowheads="1"/>
            </p:cNvSpPr>
            <p:nvPr/>
          </p:nvSpPr>
          <p:spPr bwMode="auto">
            <a:xfrm>
              <a:off x="4464" y="2448"/>
              <a:ext cx="48" cy="4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8211" name="Text Box 83">
              <a:extLst>
                <a:ext uri="{FF2B5EF4-FFF2-40B4-BE49-F238E27FC236}">
                  <a16:creationId xmlns:a16="http://schemas.microsoft.com/office/drawing/2014/main" id="{CA5AF2B1-8687-23F3-9CAC-4D9D6389271C}"/>
                </a:ext>
              </a:extLst>
            </p:cNvPr>
            <p:cNvSpPr txBox="1">
              <a:spLocks noChangeArrowheads="1"/>
            </p:cNvSpPr>
            <p:nvPr/>
          </p:nvSpPr>
          <p:spPr bwMode="auto">
            <a:xfrm>
              <a:off x="4307" y="2352"/>
              <a:ext cx="33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1600">
                  <a:latin typeface="Symbol" panose="05050102010706020507" pitchFamily="18" charset="2"/>
                </a:rPr>
                <a:t>f</a:t>
              </a:r>
              <a:r>
                <a:rPr lang="en-US" altLang="en-US" sz="1600">
                  <a:latin typeface="Times New Roman" panose="02020603050405020304" pitchFamily="18" charset="0"/>
                </a:rPr>
                <a:t>(  )</a:t>
              </a:r>
            </a:p>
          </p:txBody>
        </p:sp>
      </p:grpSp>
      <p:sp>
        <p:nvSpPr>
          <p:cNvPr id="48212" name="Text Box 84">
            <a:extLst>
              <a:ext uri="{FF2B5EF4-FFF2-40B4-BE49-F238E27FC236}">
                <a16:creationId xmlns:a16="http://schemas.microsoft.com/office/drawing/2014/main" id="{319FB316-7950-3AC8-C396-783C5346D6EF}"/>
              </a:ext>
            </a:extLst>
          </p:cNvPr>
          <p:cNvSpPr txBox="1">
            <a:spLocks noChangeArrowheads="1"/>
          </p:cNvSpPr>
          <p:nvPr/>
        </p:nvSpPr>
        <p:spPr bwMode="auto">
          <a:xfrm>
            <a:off x="6019800" y="3124200"/>
            <a:ext cx="18494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2400">
                <a:latin typeface="Times New Roman" panose="02020603050405020304" pitchFamily="18" charset="0"/>
              </a:rPr>
              <a:t>Feature space</a:t>
            </a:r>
          </a:p>
        </p:txBody>
      </p:sp>
      <p:sp>
        <p:nvSpPr>
          <p:cNvPr id="48213" name="Text Box 85">
            <a:extLst>
              <a:ext uri="{FF2B5EF4-FFF2-40B4-BE49-F238E27FC236}">
                <a16:creationId xmlns:a16="http://schemas.microsoft.com/office/drawing/2014/main" id="{80591F5B-1DEB-435F-FC04-C2A0C574A3E4}"/>
              </a:ext>
            </a:extLst>
          </p:cNvPr>
          <p:cNvSpPr txBox="1">
            <a:spLocks noChangeArrowheads="1"/>
          </p:cNvSpPr>
          <p:nvPr/>
        </p:nvSpPr>
        <p:spPr bwMode="auto">
          <a:xfrm>
            <a:off x="2192338" y="3200400"/>
            <a:ext cx="1579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en-US" altLang="en-US" sz="2400">
                <a:latin typeface="Times New Roman" panose="02020603050405020304" pitchFamily="18" charset="0"/>
              </a:rPr>
              <a:t>Input space</a:t>
            </a:r>
          </a:p>
        </p:txBody>
      </p:sp>
      <p:sp>
        <p:nvSpPr>
          <p:cNvPr id="48214" name="Text Box 86">
            <a:extLst>
              <a:ext uri="{FF2B5EF4-FFF2-40B4-BE49-F238E27FC236}">
                <a16:creationId xmlns:a16="http://schemas.microsoft.com/office/drawing/2014/main" id="{982A7C84-B5A3-09DF-6DED-757D25ACDCF3}"/>
              </a:ext>
            </a:extLst>
          </p:cNvPr>
          <p:cNvSpPr txBox="1">
            <a:spLocks noChangeArrowheads="1"/>
          </p:cNvSpPr>
          <p:nvPr/>
        </p:nvSpPr>
        <p:spPr bwMode="auto">
          <a:xfrm>
            <a:off x="5316538" y="3581400"/>
            <a:ext cx="38274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pPr>
            <a:r>
              <a:rPr lang="en-US" altLang="en-US">
                <a:latin typeface="Arial Narrow" panose="020B0606020202030204" pitchFamily="34" charset="0"/>
              </a:rPr>
              <a:t>Note: feature space is of higher dimension than the input space in practice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BBF6F8A9-1BE4-0EED-F2B8-322AF0B099C4}"/>
              </a:ext>
            </a:extLst>
          </p:cNvPr>
          <p:cNvSpPr>
            <a:spLocks noGrp="1" noChangeArrowheads="1"/>
          </p:cNvSpPr>
          <p:nvPr>
            <p:ph type="title"/>
          </p:nvPr>
        </p:nvSpPr>
        <p:spPr/>
        <p:txBody>
          <a:bodyPr/>
          <a:lstStyle/>
          <a:p>
            <a:r>
              <a:rPr lang="en-US" altLang="en-US"/>
              <a:t>The Kernel Trick</a:t>
            </a:r>
          </a:p>
        </p:txBody>
      </p:sp>
      <p:sp>
        <p:nvSpPr>
          <p:cNvPr id="49155" name="Rectangle 3">
            <a:extLst>
              <a:ext uri="{FF2B5EF4-FFF2-40B4-BE49-F238E27FC236}">
                <a16:creationId xmlns:a16="http://schemas.microsoft.com/office/drawing/2014/main" id="{C4063E51-FF7C-A4AA-E823-F14955954442}"/>
              </a:ext>
            </a:extLst>
          </p:cNvPr>
          <p:cNvSpPr>
            <a:spLocks noGrp="1" noChangeArrowheads="1"/>
          </p:cNvSpPr>
          <p:nvPr>
            <p:ph type="body" idx="1"/>
          </p:nvPr>
        </p:nvSpPr>
        <p:spPr>
          <a:xfrm>
            <a:off x="457200" y="1371600"/>
            <a:ext cx="8229600" cy="4525963"/>
          </a:xfrm>
        </p:spPr>
        <p:txBody>
          <a:bodyPr/>
          <a:lstStyle/>
          <a:p>
            <a:r>
              <a:rPr lang="en-US" altLang="en-US" sz="2400" dirty="0"/>
              <a:t>Recall the SVM optimization problem</a:t>
            </a:r>
          </a:p>
          <a:p>
            <a:endParaRPr lang="en-US" altLang="en-US" sz="2400" dirty="0"/>
          </a:p>
          <a:p>
            <a:endParaRPr lang="en-US" altLang="en-US" sz="2400" dirty="0"/>
          </a:p>
          <a:p>
            <a:endParaRPr lang="en-US" altLang="en-US" sz="2400" dirty="0"/>
          </a:p>
          <a:p>
            <a:endParaRPr lang="en-US" altLang="en-US" sz="2400" dirty="0"/>
          </a:p>
          <a:p>
            <a:r>
              <a:rPr lang="en-US" altLang="en-US" sz="2400" dirty="0"/>
              <a:t>The data points only appear as</a:t>
            </a:r>
            <a:r>
              <a:rPr lang="en-US" altLang="en-US" sz="2400" dirty="0">
                <a:solidFill>
                  <a:schemeClr val="hlink"/>
                </a:solidFill>
              </a:rPr>
              <a:t> </a:t>
            </a:r>
            <a:r>
              <a:rPr lang="en-US" altLang="en-US" sz="2400" dirty="0">
                <a:solidFill>
                  <a:schemeClr val="hlink"/>
                </a:solidFill>
                <a:highlight>
                  <a:srgbClr val="FFFF00"/>
                </a:highlight>
              </a:rPr>
              <a:t>inner product</a:t>
            </a:r>
          </a:p>
          <a:p>
            <a:r>
              <a:rPr lang="en-US" altLang="en-US" sz="2400" dirty="0"/>
              <a:t>As long as we can calculate the inner product in the feature space, we do not need the mapping explicitly</a:t>
            </a:r>
          </a:p>
          <a:p>
            <a:r>
              <a:rPr lang="en-US" altLang="en-US" sz="2400" dirty="0"/>
              <a:t>Many common geometric operations (angles, distances) can be expressed by inner products</a:t>
            </a:r>
          </a:p>
          <a:p>
            <a:r>
              <a:rPr lang="en-US" altLang="en-US" sz="2400" dirty="0"/>
              <a:t>Define the kernel function </a:t>
            </a:r>
            <a:r>
              <a:rPr lang="en-US" altLang="en-US" sz="2400" i="1" dirty="0"/>
              <a:t>K</a:t>
            </a:r>
            <a:r>
              <a:rPr lang="en-US" altLang="en-US" sz="2400" dirty="0"/>
              <a:t>  by</a:t>
            </a:r>
          </a:p>
        </p:txBody>
      </p:sp>
      <p:grpSp>
        <p:nvGrpSpPr>
          <p:cNvPr id="49161" name="Group 9">
            <a:extLst>
              <a:ext uri="{FF2B5EF4-FFF2-40B4-BE49-F238E27FC236}">
                <a16:creationId xmlns:a16="http://schemas.microsoft.com/office/drawing/2014/main" id="{D69CDFBF-3DF3-F3A9-4E2C-E289AA559177}"/>
              </a:ext>
            </a:extLst>
          </p:cNvPr>
          <p:cNvGrpSpPr>
            <a:grpSpLocks/>
          </p:cNvGrpSpPr>
          <p:nvPr/>
        </p:nvGrpSpPr>
        <p:grpSpPr bwMode="auto">
          <a:xfrm>
            <a:off x="1295400" y="1905000"/>
            <a:ext cx="6381750" cy="1600200"/>
            <a:chOff x="1116" y="1008"/>
            <a:chExt cx="4020" cy="1008"/>
          </a:xfrm>
        </p:grpSpPr>
        <p:pic>
          <p:nvPicPr>
            <p:cNvPr id="49156" name="Picture 4">
              <a:extLst>
                <a:ext uri="{FF2B5EF4-FFF2-40B4-BE49-F238E27FC236}">
                  <a16:creationId xmlns:a16="http://schemas.microsoft.com/office/drawing/2014/main" id="{8DC3042E-174E-C899-48D0-C48655CC0BBE}"/>
                </a:ext>
              </a:extLst>
            </p:cNvPr>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1116" y="1008"/>
              <a:ext cx="4020" cy="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57" name="Picture 5">
              <a:extLst>
                <a:ext uri="{FF2B5EF4-FFF2-40B4-BE49-F238E27FC236}">
                  <a16:creationId xmlns:a16="http://schemas.microsoft.com/office/drawing/2014/main" id="{42B71794-D48A-7F96-751A-706CB1862B35}"/>
                </a:ext>
              </a:extLst>
            </p:cNvPr>
            <p:cNvPicPr>
              <a:picLocks noChangeAspect="1" noChangeArrowheads="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1131" y="1533"/>
              <a:ext cx="3031" cy="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9158" name="Oval 6">
            <a:extLst>
              <a:ext uri="{FF2B5EF4-FFF2-40B4-BE49-F238E27FC236}">
                <a16:creationId xmlns:a16="http://schemas.microsoft.com/office/drawing/2014/main" id="{4A16AF64-9A0C-8B6D-CE22-CAF546F3BD84}"/>
              </a:ext>
            </a:extLst>
          </p:cNvPr>
          <p:cNvSpPr>
            <a:spLocks noChangeArrowheads="1"/>
          </p:cNvSpPr>
          <p:nvPr/>
        </p:nvSpPr>
        <p:spPr bwMode="auto">
          <a:xfrm>
            <a:off x="7010400" y="1905000"/>
            <a:ext cx="838200" cy="685800"/>
          </a:xfrm>
          <a:prstGeom prst="ellipse">
            <a:avLst/>
          </a:prstGeom>
          <a:noFill/>
          <a:ln w="952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CA"/>
          </a:p>
        </p:txBody>
      </p:sp>
      <p:sp>
        <p:nvSpPr>
          <p:cNvPr id="49159" name="Line 7">
            <a:extLst>
              <a:ext uri="{FF2B5EF4-FFF2-40B4-BE49-F238E27FC236}">
                <a16:creationId xmlns:a16="http://schemas.microsoft.com/office/drawing/2014/main" id="{530D161F-D2AC-0D55-4B21-A70A215CFC4C}"/>
              </a:ext>
            </a:extLst>
          </p:cNvPr>
          <p:cNvSpPr>
            <a:spLocks noChangeShapeType="1"/>
          </p:cNvSpPr>
          <p:nvPr/>
        </p:nvSpPr>
        <p:spPr bwMode="auto">
          <a:xfrm flipV="1">
            <a:off x="6858000" y="2514600"/>
            <a:ext cx="381000" cy="1066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CA"/>
          </a:p>
        </p:txBody>
      </p:sp>
      <p:pic>
        <p:nvPicPr>
          <p:cNvPr id="49160" name="Picture 8">
            <a:extLst>
              <a:ext uri="{FF2B5EF4-FFF2-40B4-BE49-F238E27FC236}">
                <a16:creationId xmlns:a16="http://schemas.microsoft.com/office/drawing/2014/main" id="{18B77C5C-6DAD-28A5-6DBD-F0AE253EA553}"/>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2819400" y="6096000"/>
            <a:ext cx="4584700" cy="53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E9B73BD-2C5F-33E1-ADBC-BA121F77E320}"/>
              </a:ext>
            </a:extLst>
          </p:cNvPr>
          <p:cNvSpPr>
            <a:spLocks noGrp="1" noChangeArrowheads="1"/>
          </p:cNvSpPr>
          <p:nvPr>
            <p:ph type="title"/>
          </p:nvPr>
        </p:nvSpPr>
        <p:spPr/>
        <p:txBody>
          <a:bodyPr/>
          <a:lstStyle/>
          <a:p>
            <a:r>
              <a:rPr lang="en-US" altLang="en-US"/>
              <a:t>An Example for </a:t>
            </a:r>
            <a:r>
              <a:rPr lang="en-US" altLang="en-US">
                <a:latin typeface="Symbol" panose="05050102010706020507" pitchFamily="18" charset="2"/>
              </a:rPr>
              <a:t>f</a:t>
            </a:r>
            <a:r>
              <a:rPr lang="en-US" altLang="en-US"/>
              <a:t>(.) and K(.,.)</a:t>
            </a:r>
          </a:p>
        </p:txBody>
      </p:sp>
      <p:sp>
        <p:nvSpPr>
          <p:cNvPr id="50179" name="Rectangle 3">
            <a:extLst>
              <a:ext uri="{FF2B5EF4-FFF2-40B4-BE49-F238E27FC236}">
                <a16:creationId xmlns:a16="http://schemas.microsoft.com/office/drawing/2014/main" id="{7E7087B5-DE7A-C885-F9C4-FC7382D26938}"/>
              </a:ext>
            </a:extLst>
          </p:cNvPr>
          <p:cNvSpPr>
            <a:spLocks noGrp="1" noChangeArrowheads="1"/>
          </p:cNvSpPr>
          <p:nvPr>
            <p:ph type="body" idx="1"/>
          </p:nvPr>
        </p:nvSpPr>
        <p:spPr/>
        <p:txBody>
          <a:bodyPr/>
          <a:lstStyle/>
          <a:p>
            <a:r>
              <a:rPr lang="en-US" altLang="en-US" sz="2000"/>
              <a:t>Suppose </a:t>
            </a:r>
            <a:r>
              <a:rPr lang="en-US" altLang="en-US" sz="2000">
                <a:latin typeface="Symbol" panose="05050102010706020507" pitchFamily="18" charset="2"/>
              </a:rPr>
              <a:t>f</a:t>
            </a:r>
            <a:r>
              <a:rPr lang="en-US" altLang="en-US" sz="2000"/>
              <a:t>(.) is given as follows</a:t>
            </a:r>
          </a:p>
          <a:p>
            <a:endParaRPr lang="en-US" altLang="en-US" sz="2000"/>
          </a:p>
          <a:p>
            <a:endParaRPr lang="en-US" altLang="en-US" sz="2000"/>
          </a:p>
          <a:p>
            <a:r>
              <a:rPr lang="en-US" altLang="en-US" sz="2000"/>
              <a:t>An inner product in the feature space is</a:t>
            </a:r>
          </a:p>
          <a:p>
            <a:endParaRPr lang="en-US" altLang="en-US" sz="2000"/>
          </a:p>
          <a:p>
            <a:endParaRPr lang="en-US" altLang="en-US" sz="2000"/>
          </a:p>
          <a:p>
            <a:r>
              <a:rPr lang="en-US" altLang="en-US" sz="2000"/>
              <a:t>So, if we define the kernel function as follows, there is no need to carry out </a:t>
            </a:r>
            <a:r>
              <a:rPr lang="en-US" altLang="en-US" sz="2000">
                <a:latin typeface="Symbol" panose="05050102010706020507" pitchFamily="18" charset="2"/>
              </a:rPr>
              <a:t>f</a:t>
            </a:r>
            <a:r>
              <a:rPr lang="en-US" altLang="en-US" sz="2000"/>
              <a:t>(.) explicitly</a:t>
            </a:r>
          </a:p>
          <a:p>
            <a:endParaRPr lang="en-US" altLang="en-US" sz="2000"/>
          </a:p>
          <a:p>
            <a:endParaRPr lang="en-US" altLang="en-US" sz="2000"/>
          </a:p>
          <a:p>
            <a:r>
              <a:rPr lang="en-US" altLang="en-US" sz="2000"/>
              <a:t>This use of kernel function to avoid carrying out </a:t>
            </a:r>
            <a:r>
              <a:rPr lang="en-US" altLang="en-US" sz="2000">
                <a:latin typeface="Symbol" panose="05050102010706020507" pitchFamily="18" charset="2"/>
              </a:rPr>
              <a:t>f</a:t>
            </a:r>
            <a:r>
              <a:rPr lang="en-US" altLang="en-US" sz="2000"/>
              <a:t>(.) explicitly is known as the </a:t>
            </a:r>
            <a:r>
              <a:rPr lang="en-US" altLang="en-US" sz="2000">
                <a:solidFill>
                  <a:schemeClr val="hlink"/>
                </a:solidFill>
              </a:rPr>
              <a:t>kernel trick</a:t>
            </a:r>
          </a:p>
        </p:txBody>
      </p:sp>
      <p:pic>
        <p:nvPicPr>
          <p:cNvPr id="50180" name="Picture 4">
            <a:extLst>
              <a:ext uri="{FF2B5EF4-FFF2-40B4-BE49-F238E27FC236}">
                <a16:creationId xmlns:a16="http://schemas.microsoft.com/office/drawing/2014/main" id="{E53C2BE8-3A82-4FA4-56EA-82469C207856}"/>
              </a:ext>
            </a:extLst>
          </p:cNvPr>
          <p:cNvPicPr>
            <a:picLocks noChangeAspect="1" noChangeArrowheads="1"/>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1295400" y="2209800"/>
            <a:ext cx="655320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1" name="Picture 5">
            <a:extLst>
              <a:ext uri="{FF2B5EF4-FFF2-40B4-BE49-F238E27FC236}">
                <a16:creationId xmlns:a16="http://schemas.microsoft.com/office/drawing/2014/main" id="{99819AAF-FBBE-3F6E-0781-D30540E8CEF4}"/>
              </a:ext>
            </a:extLst>
          </p:cNvPr>
          <p:cNvPicPr>
            <a:picLocks noChangeAspect="1" noChangeArrowheads="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1784350" y="4572000"/>
            <a:ext cx="5911850"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182" name="Picture 6">
            <a:extLst>
              <a:ext uri="{FF2B5EF4-FFF2-40B4-BE49-F238E27FC236}">
                <a16:creationId xmlns:a16="http://schemas.microsoft.com/office/drawing/2014/main" id="{882379EF-1DBD-C019-8006-0A0F4C0EA3E9}"/>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1219200" y="3276600"/>
            <a:ext cx="67056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00FC1C1D-ED65-2622-1655-4F1B8F2F0134}"/>
              </a:ext>
            </a:extLst>
          </p:cNvPr>
          <p:cNvSpPr>
            <a:spLocks noGrp="1" noChangeArrowheads="1"/>
          </p:cNvSpPr>
          <p:nvPr>
            <p:ph type="title"/>
          </p:nvPr>
        </p:nvSpPr>
        <p:spPr/>
        <p:txBody>
          <a:bodyPr/>
          <a:lstStyle/>
          <a:p>
            <a:r>
              <a:rPr lang="en-US" altLang="en-US"/>
              <a:t>Kernel Functions</a:t>
            </a:r>
          </a:p>
        </p:txBody>
      </p:sp>
      <p:sp>
        <p:nvSpPr>
          <p:cNvPr id="51203" name="Rectangle 3">
            <a:extLst>
              <a:ext uri="{FF2B5EF4-FFF2-40B4-BE49-F238E27FC236}">
                <a16:creationId xmlns:a16="http://schemas.microsoft.com/office/drawing/2014/main" id="{CB61C260-5739-298D-7D93-BF1D90350BDD}"/>
              </a:ext>
            </a:extLst>
          </p:cNvPr>
          <p:cNvSpPr>
            <a:spLocks noGrp="1" noChangeArrowheads="1"/>
          </p:cNvSpPr>
          <p:nvPr>
            <p:ph type="body" idx="1"/>
          </p:nvPr>
        </p:nvSpPr>
        <p:spPr/>
        <p:txBody>
          <a:bodyPr/>
          <a:lstStyle/>
          <a:p>
            <a:r>
              <a:rPr lang="en-US" altLang="en-US" sz="2400" dirty="0"/>
              <a:t>In practical use of SVM, the user specifies the kernel function; the transformation </a:t>
            </a:r>
            <a:r>
              <a:rPr lang="en-US" altLang="en-US" sz="2400" dirty="0">
                <a:latin typeface="Symbol" panose="05050102010706020507" pitchFamily="18" charset="2"/>
              </a:rPr>
              <a:t>f</a:t>
            </a:r>
            <a:r>
              <a:rPr lang="en-US" altLang="en-US" sz="2400" dirty="0"/>
              <a:t>(.) is not explicitly stated</a:t>
            </a:r>
          </a:p>
          <a:p>
            <a:r>
              <a:rPr lang="en-US" altLang="en-US" sz="2400" dirty="0"/>
              <a:t>Given </a:t>
            </a:r>
            <a:r>
              <a:rPr lang="en-US" altLang="en-US" sz="2400" dirty="0">
                <a:highlight>
                  <a:srgbClr val="FFFF00"/>
                </a:highlight>
              </a:rPr>
              <a:t>a kernel function </a:t>
            </a:r>
            <a:r>
              <a:rPr lang="en-US" altLang="en-US" sz="2400" i="1" dirty="0">
                <a:highlight>
                  <a:srgbClr val="FFFF00"/>
                </a:highlight>
              </a:rPr>
              <a:t>K</a:t>
            </a:r>
            <a:r>
              <a:rPr lang="en-US" altLang="en-US" sz="2400" dirty="0">
                <a:highlight>
                  <a:srgbClr val="FFFF00"/>
                </a:highlight>
              </a:rPr>
              <a:t>(</a:t>
            </a:r>
            <a:r>
              <a:rPr lang="en-US" altLang="en-US" sz="2400" b="1" dirty="0">
                <a:highlight>
                  <a:srgbClr val="FFFF00"/>
                </a:highlight>
              </a:rPr>
              <a:t>x</a:t>
            </a:r>
            <a:r>
              <a:rPr lang="en-US" altLang="en-US" sz="2400" baseline="-25000" dirty="0">
                <a:highlight>
                  <a:srgbClr val="FFFF00"/>
                </a:highlight>
              </a:rPr>
              <a:t>i</a:t>
            </a:r>
            <a:r>
              <a:rPr lang="en-US" altLang="en-US" sz="2400" dirty="0">
                <a:highlight>
                  <a:srgbClr val="FFFF00"/>
                </a:highlight>
              </a:rPr>
              <a:t>, </a:t>
            </a:r>
            <a:r>
              <a:rPr lang="en-US" altLang="en-US" sz="2400" b="1" dirty="0" err="1">
                <a:highlight>
                  <a:srgbClr val="FFFF00"/>
                </a:highlight>
              </a:rPr>
              <a:t>x</a:t>
            </a:r>
            <a:r>
              <a:rPr lang="en-US" altLang="en-US" sz="2400" baseline="-25000" dirty="0" err="1">
                <a:highlight>
                  <a:srgbClr val="FFFF00"/>
                </a:highlight>
              </a:rPr>
              <a:t>j</a:t>
            </a:r>
            <a:r>
              <a:rPr lang="en-US" altLang="en-US" sz="2400" dirty="0">
                <a:highlight>
                  <a:srgbClr val="FFFF00"/>
                </a:highlight>
              </a:rPr>
              <a:t>), </a:t>
            </a:r>
            <a:r>
              <a:rPr lang="en-US" altLang="en-US" sz="2400" dirty="0"/>
              <a:t>the </a:t>
            </a:r>
            <a:r>
              <a:rPr lang="en-US" altLang="en-US" sz="2400" dirty="0">
                <a:highlight>
                  <a:srgbClr val="FFFF00"/>
                </a:highlight>
              </a:rPr>
              <a:t>transformation </a:t>
            </a:r>
            <a:r>
              <a:rPr lang="en-US" altLang="en-US" sz="2400" dirty="0">
                <a:highlight>
                  <a:srgbClr val="FFFF00"/>
                </a:highlight>
                <a:latin typeface="Symbol" panose="05050102010706020507" pitchFamily="18" charset="2"/>
              </a:rPr>
              <a:t>f</a:t>
            </a:r>
            <a:r>
              <a:rPr lang="en-US" altLang="en-US" sz="2400" dirty="0">
                <a:highlight>
                  <a:srgbClr val="FFFF00"/>
                </a:highlight>
              </a:rPr>
              <a:t>(.) </a:t>
            </a:r>
            <a:r>
              <a:rPr lang="en-US" altLang="en-US" sz="2400" dirty="0"/>
              <a:t>is given by its eigenfunctions (a concept in functional analysis)</a:t>
            </a:r>
          </a:p>
          <a:p>
            <a:pPr lvl="1"/>
            <a:r>
              <a:rPr lang="en-US" altLang="en-US" sz="2400" dirty="0"/>
              <a:t>Eigenfunctions can be difficult to construct explicitly</a:t>
            </a:r>
          </a:p>
          <a:p>
            <a:pPr lvl="1"/>
            <a:r>
              <a:rPr lang="en-US" altLang="en-US" sz="2400" dirty="0"/>
              <a:t>This is why people only specify the kernel function without worrying about the exact transformation</a:t>
            </a:r>
          </a:p>
          <a:p>
            <a:r>
              <a:rPr lang="en-US" altLang="en-US" sz="2400" dirty="0"/>
              <a:t>Another view: kernel function, being an inner product, is really a similarity measure between the objects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FF965FE-E29A-235C-53D8-1ACE54492013}"/>
              </a:ext>
            </a:extLst>
          </p:cNvPr>
          <p:cNvSpPr>
            <a:spLocks noGrp="1" noChangeArrowheads="1"/>
          </p:cNvSpPr>
          <p:nvPr>
            <p:ph type="title"/>
          </p:nvPr>
        </p:nvSpPr>
        <p:spPr/>
        <p:txBody>
          <a:bodyPr/>
          <a:lstStyle/>
          <a:p>
            <a:r>
              <a:rPr lang="en-US" altLang="en-US"/>
              <a:t>Examples of Kernel Functions</a:t>
            </a:r>
          </a:p>
        </p:txBody>
      </p:sp>
      <p:sp>
        <p:nvSpPr>
          <p:cNvPr id="52227" name="Rectangle 3">
            <a:extLst>
              <a:ext uri="{FF2B5EF4-FFF2-40B4-BE49-F238E27FC236}">
                <a16:creationId xmlns:a16="http://schemas.microsoft.com/office/drawing/2014/main" id="{73BE4CF7-5256-7140-F39C-FA3F88051393}"/>
              </a:ext>
            </a:extLst>
          </p:cNvPr>
          <p:cNvSpPr>
            <a:spLocks noGrp="1" noChangeArrowheads="1"/>
          </p:cNvSpPr>
          <p:nvPr>
            <p:ph type="body" idx="1"/>
          </p:nvPr>
        </p:nvSpPr>
        <p:spPr>
          <a:xfrm>
            <a:off x="914400" y="1447800"/>
            <a:ext cx="8229600" cy="4876800"/>
          </a:xfrm>
        </p:spPr>
        <p:txBody>
          <a:bodyPr/>
          <a:lstStyle/>
          <a:p>
            <a:r>
              <a:rPr lang="en-US" altLang="en-US" sz="2000"/>
              <a:t>Polynomial kernel with degree </a:t>
            </a:r>
            <a:r>
              <a:rPr lang="en-US" altLang="en-US" sz="2000" i="1"/>
              <a:t>d</a:t>
            </a:r>
          </a:p>
          <a:p>
            <a:pPr lvl="1"/>
            <a:endParaRPr lang="en-US" altLang="en-US" sz="2000"/>
          </a:p>
          <a:p>
            <a:pPr lvl="2"/>
            <a:endParaRPr lang="en-US" altLang="en-US" sz="2000"/>
          </a:p>
          <a:p>
            <a:r>
              <a:rPr lang="en-US" altLang="en-US" sz="2000"/>
              <a:t>Radial basis function kernel with width </a:t>
            </a:r>
            <a:r>
              <a:rPr lang="en-US" altLang="en-US" sz="2000">
                <a:latin typeface="Symbol" panose="05050102010706020507" pitchFamily="18" charset="2"/>
              </a:rPr>
              <a:t>s</a:t>
            </a:r>
            <a:endParaRPr lang="en-US" altLang="en-US" sz="2000"/>
          </a:p>
          <a:p>
            <a:pPr lvl="1"/>
            <a:endParaRPr lang="en-US" altLang="en-US" sz="2000"/>
          </a:p>
          <a:p>
            <a:pPr lvl="2"/>
            <a:endParaRPr lang="en-US" altLang="en-US" sz="2000"/>
          </a:p>
          <a:p>
            <a:pPr lvl="1"/>
            <a:r>
              <a:rPr lang="en-US" altLang="en-US" sz="2000"/>
              <a:t>Closely related to radial basis function neural networks</a:t>
            </a:r>
          </a:p>
          <a:p>
            <a:pPr lvl="1"/>
            <a:r>
              <a:rPr lang="en-US" altLang="en-US" sz="2000"/>
              <a:t>The feature space is infinite-dimensional</a:t>
            </a:r>
          </a:p>
          <a:p>
            <a:r>
              <a:rPr lang="en-US" altLang="en-US" sz="2000"/>
              <a:t>Sigmoid with parameter </a:t>
            </a:r>
            <a:r>
              <a:rPr lang="en-US" altLang="en-US" sz="2000">
                <a:latin typeface="Symbol" panose="05050102010706020507" pitchFamily="18" charset="2"/>
              </a:rPr>
              <a:t>k</a:t>
            </a:r>
            <a:r>
              <a:rPr lang="en-US" altLang="en-US" sz="2000"/>
              <a:t> and </a:t>
            </a:r>
            <a:r>
              <a:rPr lang="en-US" altLang="en-US" sz="2000">
                <a:latin typeface="Symbol" panose="05050102010706020507" pitchFamily="18" charset="2"/>
              </a:rPr>
              <a:t>q</a:t>
            </a:r>
            <a:r>
              <a:rPr lang="en-US" altLang="en-US" sz="2000"/>
              <a:t> </a:t>
            </a:r>
          </a:p>
          <a:p>
            <a:pPr lvl="3"/>
            <a:endParaRPr lang="en-US" altLang="en-US"/>
          </a:p>
          <a:p>
            <a:pPr lvl="3"/>
            <a:endParaRPr lang="en-US" altLang="en-US"/>
          </a:p>
          <a:p>
            <a:pPr lvl="1"/>
            <a:r>
              <a:rPr lang="en-US" altLang="en-US" sz="2000"/>
              <a:t>It does not satisfy the Mercer condition on all </a:t>
            </a:r>
            <a:r>
              <a:rPr lang="en-US" altLang="en-US" sz="2000">
                <a:latin typeface="Symbol" panose="05050102010706020507" pitchFamily="18" charset="2"/>
              </a:rPr>
              <a:t>k</a:t>
            </a:r>
            <a:r>
              <a:rPr lang="en-US" altLang="en-US" sz="2000"/>
              <a:t> and </a:t>
            </a:r>
            <a:r>
              <a:rPr lang="en-US" altLang="en-US" sz="2000">
                <a:latin typeface="Symbol" panose="05050102010706020507" pitchFamily="18" charset="2"/>
              </a:rPr>
              <a:t>q</a:t>
            </a:r>
            <a:endParaRPr lang="en-US" altLang="en-US" sz="2000"/>
          </a:p>
        </p:txBody>
      </p:sp>
      <p:pic>
        <p:nvPicPr>
          <p:cNvPr id="52228" name="Picture 4">
            <a:extLst>
              <a:ext uri="{FF2B5EF4-FFF2-40B4-BE49-F238E27FC236}">
                <a16:creationId xmlns:a16="http://schemas.microsoft.com/office/drawing/2014/main" id="{58229BA9-DFA9-4CBA-7F8C-51930E7D7CAD}"/>
              </a:ext>
            </a:extLst>
          </p:cNvPr>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2209800" y="2057400"/>
            <a:ext cx="3581400"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9" name="Picture 5">
            <a:extLst>
              <a:ext uri="{FF2B5EF4-FFF2-40B4-BE49-F238E27FC236}">
                <a16:creationId xmlns:a16="http://schemas.microsoft.com/office/drawing/2014/main" id="{580CACB3-3AFD-CCC1-339F-6203F1B1ACB2}"/>
              </a:ext>
            </a:extLst>
          </p:cNvPr>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2209800" y="3108325"/>
            <a:ext cx="510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30" name="Picture 6">
            <a:extLst>
              <a:ext uri="{FF2B5EF4-FFF2-40B4-BE49-F238E27FC236}">
                <a16:creationId xmlns:a16="http://schemas.microsoft.com/office/drawing/2014/main" id="{E132C8E8-2F01-F31B-BFC1-EE87F3789217}"/>
              </a:ext>
            </a:extLst>
          </p:cNvPr>
          <p:cNvPicPr>
            <a:picLocks noChangeAspect="1" noChangeArrowheads="1"/>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2286000" y="4876800"/>
            <a:ext cx="42640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27D010BC-2226-A69B-358D-58B3747CB6A2}"/>
              </a:ext>
            </a:extLst>
          </p:cNvPr>
          <p:cNvSpPr>
            <a:spLocks noGrp="1" noChangeArrowheads="1"/>
          </p:cNvSpPr>
          <p:nvPr>
            <p:ph type="title"/>
          </p:nvPr>
        </p:nvSpPr>
        <p:spPr/>
        <p:txBody>
          <a:bodyPr/>
          <a:lstStyle/>
          <a:p>
            <a:r>
              <a:rPr lang="en-US" altLang="en-US" sz="3600" dirty="0"/>
              <a:t>The parameter C for non-linear SVMs</a:t>
            </a:r>
          </a:p>
        </p:txBody>
      </p:sp>
      <p:sp>
        <p:nvSpPr>
          <p:cNvPr id="84995" name="Rectangle 3">
            <a:extLst>
              <a:ext uri="{FF2B5EF4-FFF2-40B4-BE49-F238E27FC236}">
                <a16:creationId xmlns:a16="http://schemas.microsoft.com/office/drawing/2014/main" id="{095E6B39-A481-569F-6D34-9F56780DD0CD}"/>
              </a:ext>
            </a:extLst>
          </p:cNvPr>
          <p:cNvSpPr>
            <a:spLocks noGrp="1" noChangeArrowheads="1"/>
          </p:cNvSpPr>
          <p:nvPr>
            <p:ph type="body" idx="1"/>
          </p:nvPr>
        </p:nvSpPr>
        <p:spPr/>
        <p:txBody>
          <a:bodyPr/>
          <a:lstStyle/>
          <a:p>
            <a:r>
              <a:rPr lang="en-US" altLang="en-US" dirty="0"/>
              <a:t>Perfect separation of training data can, in general be achieved in the enlarged feature space F</a:t>
            </a:r>
          </a:p>
          <a:p>
            <a:r>
              <a:rPr lang="en-US" altLang="en-US" dirty="0"/>
              <a:t>Such perfect separation is actually bad: it leads to the danger of overfitting the data. Then the classifier will generalize poorly.</a:t>
            </a:r>
          </a:p>
          <a:p>
            <a:r>
              <a:rPr lang="en-US" altLang="en-US" dirty="0"/>
              <a:t>A proper setting of C allows to avoid overfitting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1B58AC5-553D-E291-2B96-634E75E7DA5F}"/>
              </a:ext>
            </a:extLst>
          </p:cNvPr>
          <p:cNvSpPr>
            <a:spLocks noGrp="1" noChangeArrowheads="1"/>
          </p:cNvSpPr>
          <p:nvPr>
            <p:ph type="title"/>
          </p:nvPr>
        </p:nvSpPr>
        <p:spPr/>
        <p:txBody>
          <a:bodyPr/>
          <a:lstStyle/>
          <a:p>
            <a:r>
              <a:rPr lang="en-US" altLang="en-US"/>
              <a:t>C in non-linear SVMs</a:t>
            </a:r>
          </a:p>
        </p:txBody>
      </p:sp>
      <p:sp>
        <p:nvSpPr>
          <p:cNvPr id="86019" name="Rectangle 3">
            <a:extLst>
              <a:ext uri="{FF2B5EF4-FFF2-40B4-BE49-F238E27FC236}">
                <a16:creationId xmlns:a16="http://schemas.microsoft.com/office/drawing/2014/main" id="{34C1FC47-105B-2630-09A5-550E703A8B5C}"/>
              </a:ext>
            </a:extLst>
          </p:cNvPr>
          <p:cNvSpPr>
            <a:spLocks noGrp="1" noChangeArrowheads="1"/>
          </p:cNvSpPr>
          <p:nvPr>
            <p:ph type="body" sz="half" idx="1"/>
          </p:nvPr>
        </p:nvSpPr>
        <p:spPr>
          <a:xfrm>
            <a:off x="457200" y="1600200"/>
            <a:ext cx="8229600" cy="4525963"/>
          </a:xfrm>
        </p:spPr>
        <p:txBody>
          <a:bodyPr/>
          <a:lstStyle/>
          <a:p>
            <a:r>
              <a:rPr lang="en-US" altLang="en-US" sz="2400"/>
              <a:t>Let’s look once again at the objective function </a:t>
            </a:r>
          </a:p>
          <a:p>
            <a:endParaRPr lang="en-US" altLang="en-US" sz="2400"/>
          </a:p>
          <a:p>
            <a:endParaRPr lang="en-US" altLang="en-US" sz="2400"/>
          </a:p>
          <a:p>
            <a:endParaRPr lang="en-US" altLang="en-US" sz="2400"/>
          </a:p>
          <a:p>
            <a:r>
              <a:rPr lang="en-US" altLang="en-US" sz="2400"/>
              <a:t>C is the penalty for errors of misclassification</a:t>
            </a:r>
          </a:p>
          <a:p>
            <a:pPr lvl="1"/>
            <a:r>
              <a:rPr lang="en-US" altLang="en-US" sz="2000"/>
              <a:t>Large C: discourages any positive parameters		</a:t>
            </a:r>
            <a:r>
              <a:rPr lang="en-US" altLang="en-US" sz="2000">
                <a:sym typeface="Symbol" panose="05050102010706020507" pitchFamily="18" charset="2"/>
              </a:rPr>
              <a:t> tendency to overfit the data highly complicated boundaries in input space</a:t>
            </a:r>
          </a:p>
          <a:p>
            <a:pPr lvl="1"/>
            <a:r>
              <a:rPr lang="en-US" altLang="en-US" sz="2000">
                <a:sym typeface="Symbol" panose="05050102010706020507" pitchFamily="18" charset="2"/>
              </a:rPr>
              <a:t>Small C: encourages a small value of ||w||  larger margin more data on the wrong side of the margin  smoother decision boundary in input space</a:t>
            </a:r>
          </a:p>
          <a:p>
            <a:pPr lvl="1"/>
            <a:r>
              <a:rPr lang="en-US" altLang="en-US" sz="2000">
                <a:sym typeface="Symbol" panose="05050102010706020507" pitchFamily="18" charset="2"/>
              </a:rPr>
              <a:t>In practice: tune C to achieve best performance</a:t>
            </a:r>
          </a:p>
        </p:txBody>
      </p:sp>
      <p:graphicFrame>
        <p:nvGraphicFramePr>
          <p:cNvPr id="86020" name="Object 4">
            <a:extLst>
              <a:ext uri="{FF2B5EF4-FFF2-40B4-BE49-F238E27FC236}">
                <a16:creationId xmlns:a16="http://schemas.microsoft.com/office/drawing/2014/main" id="{4CC37584-4A67-2940-4E31-726CEF0B75FA}"/>
              </a:ext>
            </a:extLst>
          </p:cNvPr>
          <p:cNvGraphicFramePr>
            <a:graphicFrameLocks noChangeAspect="1"/>
          </p:cNvGraphicFramePr>
          <p:nvPr>
            <p:ph sz="quarter" idx="2"/>
            <p:extLst>
              <p:ext uri="{D42A27DB-BD31-4B8C-83A1-F6EECF244321}">
                <p14:modId xmlns:p14="http://schemas.microsoft.com/office/powerpoint/2010/main" val="4025260516"/>
              </p:ext>
            </p:extLst>
          </p:nvPr>
        </p:nvGraphicFramePr>
        <p:xfrm>
          <a:off x="2819400" y="2133600"/>
          <a:ext cx="2667000" cy="1193800"/>
        </p:xfrm>
        <a:graphic>
          <a:graphicData uri="http://schemas.openxmlformats.org/presentationml/2006/ole">
            <mc:AlternateContent xmlns:mc="http://schemas.openxmlformats.org/markup-compatibility/2006">
              <mc:Choice xmlns:v="urn:schemas-microsoft-com:vml" Requires="v">
                <p:oleObj name="Equation" r:id="rId2" imgW="965160" imgH="431640" progId="Equation.DSMT4">
                  <p:embed/>
                </p:oleObj>
              </mc:Choice>
              <mc:Fallback>
                <p:oleObj name="Equation" r:id="rId2" imgW="965160" imgH="43164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133600"/>
                        <a:ext cx="2667000"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2" name="Object 6">
            <a:extLst>
              <a:ext uri="{FF2B5EF4-FFF2-40B4-BE49-F238E27FC236}">
                <a16:creationId xmlns:a16="http://schemas.microsoft.com/office/drawing/2014/main" id="{E9111CEB-496A-E672-BEAB-94AD5F29CBC3}"/>
              </a:ext>
            </a:extLst>
          </p:cNvPr>
          <p:cNvGraphicFramePr>
            <a:graphicFrameLocks noChangeAspect="1"/>
          </p:cNvGraphicFramePr>
          <p:nvPr>
            <p:ph sz="quarter" idx="3"/>
            <p:extLst>
              <p:ext uri="{D42A27DB-BD31-4B8C-83A1-F6EECF244321}">
                <p14:modId xmlns:p14="http://schemas.microsoft.com/office/powerpoint/2010/main" val="2291634739"/>
              </p:ext>
            </p:extLst>
          </p:nvPr>
        </p:nvGraphicFramePr>
        <p:xfrm>
          <a:off x="6934200" y="3733800"/>
          <a:ext cx="304800" cy="457200"/>
        </p:xfrm>
        <a:graphic>
          <a:graphicData uri="http://schemas.openxmlformats.org/presentationml/2006/ole">
            <mc:AlternateContent xmlns:mc="http://schemas.openxmlformats.org/markup-compatibility/2006">
              <mc:Choice xmlns:v="urn:schemas-microsoft-com:vml" Requires="v">
                <p:oleObj name="Equation" r:id="rId4" imgW="152280" imgH="228600" progId="Equation.DSMT4">
                  <p:embed/>
                </p:oleObj>
              </mc:Choice>
              <mc:Fallback>
                <p:oleObj name="Equation" r:id="rId4" imgW="152280" imgH="2286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3733800"/>
                        <a:ext cx="30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534BDFC0-A2F0-84BE-E4D4-009DF17992A0}"/>
              </a:ext>
            </a:extLst>
          </p:cNvPr>
          <p:cNvSpPr>
            <a:spLocks noGrp="1" noChangeArrowheads="1"/>
          </p:cNvSpPr>
          <p:nvPr>
            <p:ph type="title"/>
          </p:nvPr>
        </p:nvSpPr>
        <p:spPr/>
        <p:txBody>
          <a:bodyPr/>
          <a:lstStyle/>
          <a:p>
            <a:r>
              <a:rPr lang="en-US" altLang="en-US"/>
              <a:t>Why SVM Work?</a:t>
            </a:r>
          </a:p>
        </p:txBody>
      </p:sp>
      <p:sp>
        <p:nvSpPr>
          <p:cNvPr id="63491" name="Rectangle 3">
            <a:extLst>
              <a:ext uri="{FF2B5EF4-FFF2-40B4-BE49-F238E27FC236}">
                <a16:creationId xmlns:a16="http://schemas.microsoft.com/office/drawing/2014/main" id="{AC61B7A0-74DF-DA1B-4ABE-01C13CF568EA}"/>
              </a:ext>
            </a:extLst>
          </p:cNvPr>
          <p:cNvSpPr>
            <a:spLocks noGrp="1" noChangeArrowheads="1"/>
          </p:cNvSpPr>
          <p:nvPr>
            <p:ph type="body" idx="1"/>
          </p:nvPr>
        </p:nvSpPr>
        <p:spPr/>
        <p:txBody>
          <a:bodyPr/>
          <a:lstStyle/>
          <a:p>
            <a:r>
              <a:rPr lang="en-US" altLang="en-US" sz="2000" dirty="0"/>
              <a:t>The feature space is often very high dimensional. Why don’t we have the curse of dimensionality?</a:t>
            </a:r>
          </a:p>
          <a:p>
            <a:r>
              <a:rPr lang="en-US" altLang="en-US" sz="2000" dirty="0"/>
              <a:t>A classifier in a high-dimensional space has many parameters and is hard to estimate</a:t>
            </a:r>
          </a:p>
          <a:p>
            <a:r>
              <a:rPr lang="en-US" altLang="en-US" sz="2000" dirty="0" err="1"/>
              <a:t>Vapnik</a:t>
            </a:r>
            <a:r>
              <a:rPr lang="en-US" altLang="en-US" sz="2000" dirty="0"/>
              <a:t> argues </a:t>
            </a:r>
            <a:r>
              <a:rPr lang="en-US" altLang="en-US" sz="2000" dirty="0">
                <a:highlight>
                  <a:srgbClr val="FFFF00"/>
                </a:highlight>
              </a:rPr>
              <a:t>that the fundamental problem is not the number of parameters to be estimated</a:t>
            </a:r>
            <a:r>
              <a:rPr lang="en-US" altLang="en-US" sz="2000" dirty="0"/>
              <a:t>. Rather</a:t>
            </a:r>
            <a:r>
              <a:rPr lang="en-US" altLang="en-US" sz="2000" dirty="0">
                <a:highlight>
                  <a:srgbClr val="FFFF00"/>
                </a:highlight>
              </a:rPr>
              <a:t>, the problem is about the flexibility of a classifier</a:t>
            </a:r>
          </a:p>
          <a:p>
            <a:r>
              <a:rPr lang="en-US" altLang="en-US" sz="2000" dirty="0"/>
              <a:t>Typically, </a:t>
            </a:r>
            <a:r>
              <a:rPr lang="en-US" altLang="en-US" sz="2000" dirty="0">
                <a:highlight>
                  <a:srgbClr val="FFFF00"/>
                </a:highlight>
              </a:rPr>
              <a:t>a classifier with many parameters is very flexible.</a:t>
            </a:r>
            <a:endParaRPr lang="en-US"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C5D7B476-70C5-6F5B-3738-ECF43EEFB5E9}"/>
              </a:ext>
            </a:extLst>
          </p:cNvPr>
          <p:cNvSpPr>
            <a:spLocks noGrp="1" noChangeArrowheads="1"/>
          </p:cNvSpPr>
          <p:nvPr>
            <p:ph type="title"/>
          </p:nvPr>
        </p:nvSpPr>
        <p:spPr>
          <a:xfrm>
            <a:off x="457200" y="248880"/>
            <a:ext cx="8229600" cy="1143000"/>
          </a:xfrm>
        </p:spPr>
        <p:txBody>
          <a:bodyPr/>
          <a:lstStyle/>
          <a:p>
            <a:r>
              <a:rPr lang="en-US" altLang="en-US" dirty="0"/>
              <a:t>Choosing the Kernel Function</a:t>
            </a:r>
          </a:p>
        </p:txBody>
      </p:sp>
      <p:sp>
        <p:nvSpPr>
          <p:cNvPr id="72707" name="Rectangle 3">
            <a:extLst>
              <a:ext uri="{FF2B5EF4-FFF2-40B4-BE49-F238E27FC236}">
                <a16:creationId xmlns:a16="http://schemas.microsoft.com/office/drawing/2014/main" id="{58ED8045-1925-9F1D-6886-04A3DB30BAD8}"/>
              </a:ext>
            </a:extLst>
          </p:cNvPr>
          <p:cNvSpPr>
            <a:spLocks noGrp="1" noChangeArrowheads="1"/>
          </p:cNvSpPr>
          <p:nvPr>
            <p:ph type="body" idx="1"/>
          </p:nvPr>
        </p:nvSpPr>
        <p:spPr>
          <a:xfrm>
            <a:off x="609600" y="1391880"/>
            <a:ext cx="8229600" cy="4525963"/>
          </a:xfrm>
        </p:spPr>
        <p:txBody>
          <a:bodyPr/>
          <a:lstStyle/>
          <a:p>
            <a:r>
              <a:rPr lang="en-US" altLang="en-US" sz="2400" dirty="0"/>
              <a:t>Probably the most tricky part of using SVM.</a:t>
            </a:r>
          </a:p>
          <a:p>
            <a:r>
              <a:rPr lang="en-US" altLang="en-US" sz="2400" dirty="0"/>
              <a:t>The kernel function is important because it creates the kernel matrix, which summarizes all the data.</a:t>
            </a:r>
          </a:p>
          <a:p>
            <a:endParaRPr lang="en-US" altLang="en-US" sz="2400" dirty="0"/>
          </a:p>
          <a:p>
            <a:r>
              <a:rPr lang="en-US" altLang="en-US" sz="2400" dirty="0"/>
              <a:t>In practice, </a:t>
            </a:r>
            <a:r>
              <a:rPr lang="en-US" altLang="en-US" sz="2400" dirty="0">
                <a:highlight>
                  <a:srgbClr val="FFFF00"/>
                </a:highlight>
              </a:rPr>
              <a:t>a low degree polynomial kernel </a:t>
            </a:r>
            <a:r>
              <a:rPr lang="en-US" altLang="en-US" sz="2400" dirty="0"/>
              <a:t>or </a:t>
            </a:r>
            <a:r>
              <a:rPr lang="en-US" altLang="en-US" sz="2400" dirty="0">
                <a:highlight>
                  <a:srgbClr val="FFFF00"/>
                </a:highlight>
              </a:rPr>
              <a:t>RBF kernel with a reasonable width is a good initial try</a:t>
            </a:r>
            <a:r>
              <a:rPr lang="en-US" altLang="en-US" sz="2400" dirty="0"/>
              <a:t>.</a:t>
            </a:r>
          </a:p>
          <a:p>
            <a:r>
              <a:rPr lang="en-US" altLang="en-US" sz="2400" dirty="0"/>
              <a:t>Note that SVM with RBF kernel is closely related to RBF neural networks, with the centers of the radial basis functions automatically chosen for SVM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98479D60-573A-38AE-670A-A1049E7C0693}"/>
              </a:ext>
            </a:extLst>
          </p:cNvPr>
          <p:cNvSpPr>
            <a:spLocks noGrp="1" noChangeArrowheads="1"/>
          </p:cNvSpPr>
          <p:nvPr>
            <p:ph type="title"/>
          </p:nvPr>
        </p:nvSpPr>
        <p:spPr/>
        <p:txBody>
          <a:bodyPr/>
          <a:lstStyle/>
          <a:p>
            <a:r>
              <a:rPr lang="en-US" altLang="en-US"/>
              <a:t>Some commonly used kernels</a:t>
            </a:r>
          </a:p>
        </p:txBody>
      </p:sp>
      <p:graphicFrame>
        <p:nvGraphicFramePr>
          <p:cNvPr id="353283" name="Object 3">
            <a:extLst>
              <a:ext uri="{FF2B5EF4-FFF2-40B4-BE49-F238E27FC236}">
                <a16:creationId xmlns:a16="http://schemas.microsoft.com/office/drawing/2014/main" id="{C03D2C22-4553-C434-3136-41C74DCD8C67}"/>
              </a:ext>
            </a:extLst>
          </p:cNvPr>
          <p:cNvGraphicFramePr>
            <a:graphicFrameLocks noChangeAspect="1"/>
          </p:cNvGraphicFramePr>
          <p:nvPr/>
        </p:nvGraphicFramePr>
        <p:xfrm>
          <a:off x="3176588" y="1557338"/>
          <a:ext cx="4059237" cy="3052762"/>
        </p:xfrm>
        <a:graphic>
          <a:graphicData uri="http://schemas.openxmlformats.org/presentationml/2006/ole">
            <mc:AlternateContent xmlns:mc="http://schemas.openxmlformats.org/markup-compatibility/2006">
              <mc:Choice xmlns:v="urn:schemas-microsoft-com:vml" Requires="v">
                <p:oleObj name="Equation" r:id="rId2" imgW="1638000" imgH="1231560" progId="Equation.3">
                  <p:embed/>
                </p:oleObj>
              </mc:Choice>
              <mc:Fallback>
                <p:oleObj name="Equation" r:id="rId2" imgW="1638000" imgH="1231560" progId="Equation.3">
                  <p:embed/>
                  <p:pic>
                    <p:nvPicPr>
                      <p:cNvPr id="353283" name="Object 3">
                        <a:extLst>
                          <a:ext uri="{FF2B5EF4-FFF2-40B4-BE49-F238E27FC236}">
                            <a16:creationId xmlns:a16="http://schemas.microsoft.com/office/drawing/2014/main" id="{C03D2C22-4553-C434-3136-41C74DCD8C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588" y="1557338"/>
                        <a:ext cx="4059237" cy="305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3284" name="Text Box 4">
            <a:extLst>
              <a:ext uri="{FF2B5EF4-FFF2-40B4-BE49-F238E27FC236}">
                <a16:creationId xmlns:a16="http://schemas.microsoft.com/office/drawing/2014/main" id="{4245615A-188A-4D78-E34A-F1D594FF4300}"/>
              </a:ext>
            </a:extLst>
          </p:cNvPr>
          <p:cNvSpPr txBox="1">
            <a:spLocks noChangeArrowheads="1"/>
          </p:cNvSpPr>
          <p:nvPr/>
        </p:nvSpPr>
        <p:spPr bwMode="auto">
          <a:xfrm>
            <a:off x="1304925" y="1676400"/>
            <a:ext cx="2124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3333CC"/>
                </a:solidFill>
              </a:rPr>
              <a:t>Polynomial:</a:t>
            </a:r>
          </a:p>
        </p:txBody>
      </p:sp>
      <p:sp>
        <p:nvSpPr>
          <p:cNvPr id="353285" name="Text Box 5">
            <a:extLst>
              <a:ext uri="{FF2B5EF4-FFF2-40B4-BE49-F238E27FC236}">
                <a16:creationId xmlns:a16="http://schemas.microsoft.com/office/drawing/2014/main" id="{48A7305F-9E63-7492-D0CC-DD57D67FB2FB}"/>
              </a:ext>
            </a:extLst>
          </p:cNvPr>
          <p:cNvSpPr txBox="1">
            <a:spLocks noChangeArrowheads="1"/>
          </p:cNvSpPr>
          <p:nvPr/>
        </p:nvSpPr>
        <p:spPr bwMode="auto">
          <a:xfrm>
            <a:off x="1304925" y="2601913"/>
            <a:ext cx="21240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3333CC"/>
                </a:solidFill>
              </a:rPr>
              <a:t>Gaussian radial basis function</a:t>
            </a:r>
          </a:p>
        </p:txBody>
      </p:sp>
      <p:sp>
        <p:nvSpPr>
          <p:cNvPr id="353286" name="Text Box 6">
            <a:extLst>
              <a:ext uri="{FF2B5EF4-FFF2-40B4-BE49-F238E27FC236}">
                <a16:creationId xmlns:a16="http://schemas.microsoft.com/office/drawing/2014/main" id="{5024F889-AFAD-444C-F3FC-05729CE9028F}"/>
              </a:ext>
            </a:extLst>
          </p:cNvPr>
          <p:cNvSpPr txBox="1">
            <a:spLocks noChangeArrowheads="1"/>
          </p:cNvSpPr>
          <p:nvPr/>
        </p:nvSpPr>
        <p:spPr bwMode="auto">
          <a:xfrm>
            <a:off x="1376363" y="4149725"/>
            <a:ext cx="1908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3333CC"/>
                </a:solidFill>
              </a:rPr>
              <a:t>Neural net:</a:t>
            </a:r>
          </a:p>
        </p:txBody>
      </p:sp>
      <p:sp>
        <p:nvSpPr>
          <p:cNvPr id="353287" name="Text Box 7">
            <a:extLst>
              <a:ext uri="{FF2B5EF4-FFF2-40B4-BE49-F238E27FC236}">
                <a16:creationId xmlns:a16="http://schemas.microsoft.com/office/drawing/2014/main" id="{7A28AA1B-16A9-3804-74B1-ED7A80277D0C}"/>
              </a:ext>
            </a:extLst>
          </p:cNvPr>
          <p:cNvSpPr txBox="1">
            <a:spLocks noChangeArrowheads="1"/>
          </p:cNvSpPr>
          <p:nvPr/>
        </p:nvSpPr>
        <p:spPr bwMode="auto">
          <a:xfrm>
            <a:off x="611188" y="4905375"/>
            <a:ext cx="81724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For the neural network kernel, there is one “hidden unit” per support vector, so the process of fitting the maximum margin hyperplane decides how many hidden units to use. Also, it may violate Mercer’s condition.</a:t>
            </a:r>
          </a:p>
        </p:txBody>
      </p:sp>
      <p:sp>
        <p:nvSpPr>
          <p:cNvPr id="353288" name="Text Box 8">
            <a:extLst>
              <a:ext uri="{FF2B5EF4-FFF2-40B4-BE49-F238E27FC236}">
                <a16:creationId xmlns:a16="http://schemas.microsoft.com/office/drawing/2014/main" id="{EB4498A4-2E38-4C39-540B-5654EE767DA7}"/>
              </a:ext>
            </a:extLst>
          </p:cNvPr>
          <p:cNvSpPr txBox="1">
            <a:spLocks noChangeArrowheads="1"/>
          </p:cNvSpPr>
          <p:nvPr/>
        </p:nvSpPr>
        <p:spPr bwMode="auto">
          <a:xfrm>
            <a:off x="7127875" y="2530475"/>
            <a:ext cx="17653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FF0000"/>
                </a:solidFill>
              </a:rPr>
              <a:t>Parameters that the user must choose</a:t>
            </a:r>
          </a:p>
        </p:txBody>
      </p:sp>
      <p:sp>
        <p:nvSpPr>
          <p:cNvPr id="353289" name="Line 9">
            <a:extLst>
              <a:ext uri="{FF2B5EF4-FFF2-40B4-BE49-F238E27FC236}">
                <a16:creationId xmlns:a16="http://schemas.microsoft.com/office/drawing/2014/main" id="{B5D7A6AC-7D32-6498-0647-33B546946BD8}"/>
              </a:ext>
            </a:extLst>
          </p:cNvPr>
          <p:cNvSpPr>
            <a:spLocks noChangeShapeType="1"/>
          </p:cNvSpPr>
          <p:nvPr/>
        </p:nvSpPr>
        <p:spPr bwMode="auto">
          <a:xfrm flipH="1" flipV="1">
            <a:off x="6156325" y="1844675"/>
            <a:ext cx="1008063" cy="6477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3290" name="Line 10">
            <a:extLst>
              <a:ext uri="{FF2B5EF4-FFF2-40B4-BE49-F238E27FC236}">
                <a16:creationId xmlns:a16="http://schemas.microsoft.com/office/drawing/2014/main" id="{9EC62ADA-6EF6-C4FE-FF96-71CEA7AF70DD}"/>
              </a:ext>
            </a:extLst>
          </p:cNvPr>
          <p:cNvSpPr>
            <a:spLocks noChangeShapeType="1"/>
          </p:cNvSpPr>
          <p:nvPr/>
        </p:nvSpPr>
        <p:spPr bwMode="auto">
          <a:xfrm flipH="1">
            <a:off x="6516688" y="3105150"/>
            <a:ext cx="53975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3291" name="Line 11">
            <a:extLst>
              <a:ext uri="{FF2B5EF4-FFF2-40B4-BE49-F238E27FC236}">
                <a16:creationId xmlns:a16="http://schemas.microsoft.com/office/drawing/2014/main" id="{BFBB16D7-DA39-660F-E3F7-4DDBAF7D688A}"/>
              </a:ext>
            </a:extLst>
          </p:cNvPr>
          <p:cNvSpPr>
            <a:spLocks noChangeShapeType="1"/>
          </p:cNvSpPr>
          <p:nvPr/>
        </p:nvSpPr>
        <p:spPr bwMode="auto">
          <a:xfrm flipH="1">
            <a:off x="7092950" y="3608388"/>
            <a:ext cx="395288" cy="43338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
        <p:nvSpPr>
          <p:cNvPr id="353292" name="Line 12">
            <a:extLst>
              <a:ext uri="{FF2B5EF4-FFF2-40B4-BE49-F238E27FC236}">
                <a16:creationId xmlns:a16="http://schemas.microsoft.com/office/drawing/2014/main" id="{C183BE45-F960-1574-BE5D-08739FB082C1}"/>
              </a:ext>
            </a:extLst>
          </p:cNvPr>
          <p:cNvSpPr>
            <a:spLocks noChangeShapeType="1"/>
          </p:cNvSpPr>
          <p:nvPr/>
        </p:nvSpPr>
        <p:spPr bwMode="auto">
          <a:xfrm flipH="1">
            <a:off x="5795963" y="3573463"/>
            <a:ext cx="1404937" cy="5762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CA"/>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1F2C1973-31B2-5177-87EA-2437FA424CEC}"/>
              </a:ext>
            </a:extLst>
          </p:cNvPr>
          <p:cNvSpPr>
            <a:spLocks noGrp="1" noChangeArrowheads="1"/>
          </p:cNvSpPr>
          <p:nvPr>
            <p:ph type="title"/>
          </p:nvPr>
        </p:nvSpPr>
        <p:spPr/>
        <p:txBody>
          <a:bodyPr/>
          <a:lstStyle/>
          <a:p>
            <a:r>
              <a:rPr lang="en-US" altLang="en-US"/>
              <a:t>Strengths and Weaknesses of SVM</a:t>
            </a:r>
          </a:p>
        </p:txBody>
      </p:sp>
      <p:sp>
        <p:nvSpPr>
          <p:cNvPr id="76803" name="Rectangle 3">
            <a:extLst>
              <a:ext uri="{FF2B5EF4-FFF2-40B4-BE49-F238E27FC236}">
                <a16:creationId xmlns:a16="http://schemas.microsoft.com/office/drawing/2014/main" id="{F6E8C2BF-938F-1991-E80D-8721BCBC3BBA}"/>
              </a:ext>
            </a:extLst>
          </p:cNvPr>
          <p:cNvSpPr>
            <a:spLocks noGrp="1" noChangeArrowheads="1"/>
          </p:cNvSpPr>
          <p:nvPr>
            <p:ph type="body" idx="1"/>
          </p:nvPr>
        </p:nvSpPr>
        <p:spPr/>
        <p:txBody>
          <a:bodyPr/>
          <a:lstStyle/>
          <a:p>
            <a:r>
              <a:rPr lang="en-US" altLang="en-US" sz="2400"/>
              <a:t>Strengths</a:t>
            </a:r>
          </a:p>
          <a:p>
            <a:pPr lvl="1"/>
            <a:r>
              <a:rPr lang="en-US" altLang="en-US" sz="2400"/>
              <a:t>Training is relatively easy </a:t>
            </a:r>
          </a:p>
          <a:p>
            <a:pPr lvl="2"/>
            <a:r>
              <a:rPr lang="en-US" altLang="en-US"/>
              <a:t> No local optimal, unlike in neural networks</a:t>
            </a:r>
          </a:p>
          <a:p>
            <a:pPr lvl="1"/>
            <a:r>
              <a:rPr lang="en-US" altLang="en-US" sz="2400"/>
              <a:t>It scales relatively well to high dimensional data</a:t>
            </a:r>
          </a:p>
          <a:p>
            <a:pPr lvl="1"/>
            <a:r>
              <a:rPr lang="en-US" altLang="en-US" sz="2400"/>
              <a:t>Tradeoff between classifier complexity and error can be controlled explicitly</a:t>
            </a:r>
          </a:p>
          <a:p>
            <a:pPr lvl="1"/>
            <a:r>
              <a:rPr lang="en-US" altLang="en-US" sz="2400"/>
              <a:t>Non-traditional data like strings and trees can be used as input to SVM, instead of feature vectors</a:t>
            </a:r>
          </a:p>
          <a:p>
            <a:r>
              <a:rPr lang="en-US" altLang="en-US" sz="2400"/>
              <a:t>Weaknesses</a:t>
            </a:r>
          </a:p>
          <a:p>
            <a:pPr lvl="1"/>
            <a:r>
              <a:rPr lang="en-US" altLang="en-US" sz="2400"/>
              <a:t>Need to choose a “good” kernel function.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020562AD-0685-9E00-79B0-320FFD7EC2DB}"/>
              </a:ext>
            </a:extLst>
          </p:cNvPr>
          <p:cNvSpPr>
            <a:spLocks noGrp="1" noChangeArrowheads="1"/>
          </p:cNvSpPr>
          <p:nvPr>
            <p:ph type="title"/>
          </p:nvPr>
        </p:nvSpPr>
        <p:spPr/>
        <p:txBody>
          <a:bodyPr/>
          <a:lstStyle/>
          <a:p>
            <a:r>
              <a:rPr lang="en-US" altLang="en-US"/>
              <a:t>Resources</a:t>
            </a:r>
          </a:p>
        </p:txBody>
      </p:sp>
      <p:sp>
        <p:nvSpPr>
          <p:cNvPr id="78851" name="Rectangle 3">
            <a:extLst>
              <a:ext uri="{FF2B5EF4-FFF2-40B4-BE49-F238E27FC236}">
                <a16:creationId xmlns:a16="http://schemas.microsoft.com/office/drawing/2014/main" id="{AE179230-438D-C291-0DC7-BC80A8179C33}"/>
              </a:ext>
            </a:extLst>
          </p:cNvPr>
          <p:cNvSpPr>
            <a:spLocks noGrp="1" noChangeArrowheads="1"/>
          </p:cNvSpPr>
          <p:nvPr>
            <p:ph type="body" idx="1"/>
          </p:nvPr>
        </p:nvSpPr>
        <p:spPr/>
        <p:txBody>
          <a:bodyPr/>
          <a:lstStyle/>
          <a:p>
            <a:r>
              <a:rPr lang="en-US" altLang="en-US">
                <a:hlinkClick r:id="rId2"/>
              </a:rPr>
              <a:t>http://www.kernel-machines.org/</a:t>
            </a:r>
            <a:endParaRPr lang="en-US" altLang="en-US"/>
          </a:p>
          <a:p>
            <a:r>
              <a:rPr lang="en-US" altLang="en-US">
                <a:hlinkClick r:id="rId3"/>
              </a:rPr>
              <a:t>http://www.support-vector.net/</a:t>
            </a:r>
            <a:endParaRPr lang="en-US" altLang="en-US"/>
          </a:p>
          <a:p>
            <a:r>
              <a:rPr lang="en-US" altLang="en-US">
                <a:hlinkClick r:id="rId4"/>
              </a:rPr>
              <a:t>http://www.support-vector.net/icml-tutorial.pdf</a:t>
            </a:r>
            <a:endParaRPr lang="en-US" altLang="en-US"/>
          </a:p>
          <a:p>
            <a:r>
              <a:rPr lang="en-US" altLang="en-US">
                <a:hlinkClick r:id="rId5"/>
              </a:rPr>
              <a:t>http://www.kernel-machines.org/papers/tutorial-nips.ps.gz</a:t>
            </a:r>
            <a:endParaRPr lang="en-US" altLang="en-US"/>
          </a:p>
          <a:p>
            <a:r>
              <a:rPr lang="en-US" altLang="en-US">
                <a:hlinkClick r:id="rId6"/>
              </a:rPr>
              <a:t>http://www.clopinet.com/isabelle/Projects/SVM/applist.html</a:t>
            </a:r>
            <a:endParaRPr lang="en-US"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 = \frac{2}{||\mathbf{w}||}&#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92"/>
  <p:tag name="PICTUREFILESIZE" val="4422"/>
</p:tagLst>
</file>

<file path=ppt/tags/tag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 y_i ( \mathbf{w}^T \mathbf{x}_i + b) \geq 1, \qquad \forall i&#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41"/>
  <p:tag name="PICTUREFILESIZE" val="10887"/>
</p:tagLst>
</file>

<file path=ppt/tags/tag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Minimize } \frac 12 ||\mathbf{w}||^2&#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61"/>
  <p:tag name="PICTUREFILESIZE" val="8368"/>
</p:tagLst>
</file>

<file path=ppt/tags/tag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 subject to } y_i ( \mathbf{w}^T \mathbf{x}_i + b) \geq 1 \qquad \forall i&#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40"/>
  <p:tag name="PICTUREFILESIZE" val="15794"/>
</p:tagLst>
</file>

<file path=ppt/tags/tag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Minimize } \frac 12 ||\mathbf{w}||^2&#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61"/>
  <p:tag name="PICTUREFILESIZE" val="8368"/>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 subject to } &#10;1 - y_i ( \mathbf{w}^T \mathbf{x}_i + b) \leq 0&#10;\qquad \mbox{ for } i=1, \dots, n&#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495"/>
  <p:tag name="PICTUREFILESIZE" val="19812"/>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cal{L} = \frac 12 \mathbf{w}^T \mathbf{w} +&#10;\sum_{i=1}^n \alpha_i \left( 1 - y_i(\mathbf{w}^T \mathbf{x}_i + b )  \right)&#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374"/>
  <p:tag name="PICTUREFILESIZE" val="22791"/>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cal{L}$&#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14"/>
  <p:tag name="PICTUREFILESIZE" val="986"/>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newcommand{\jw}{\mathbf{w}}&#10;\newcommand{\jx}{\mathbf{x}}&#10;\begin{align*}&#10;\jw + \sum_{i=1}^n \alpha_i (-y_i) \jx_i &amp;= \mathbf{0}&#10;\quad \Rightarrow &#10;\quad \jw = \sum_{i=1}^n \alpha_i y_i \jx_i&#10;\\&#10;\sum_{i=1}^n \alpha_i y_i &amp;= 0&#10;\end{align*}&#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437"/>
  <p:tag name="PICTUREFILESIZE" val="35926"/>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newcommand{\jw}{\mathbf{w}}&#10;\newcommand{\jx}{\mathbf{x}}&#10;\begin{align*}&#10;\jw &amp;= \sum_{i=1}^n \alpha_i y_i \jx_i&#10;\end{align*}&#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139"/>
  <p:tag name="PICTUREFILESIZE" val="10200"/>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cal{L}$&#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14"/>
  <p:tag name="PICTUREFILESIZE" val="986"/>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slides}\pagestyle{empty}&#10;\newcommand{\jx}{\mathbf{x}}&#10;\usepackage{amsmath}&#10;\begin{document}&#10;\begin{align*}&#10;\mathcal{L} &amp;= \frac 12&#10;\sum_{i=1}^n \alpha_i y_i \jx_i^T&#10;\sum_{j=1}^n \alpha_j y_j \jx_j&#10;+&#10;\sum_{i=1}^n \alpha_i \left( 1 - &#10;y_i(&#10;\sum_{j=1}^n \alpha_j y_j \jx_j^T&#10;\jx_i + b )  &#10;\right)&#10;\\&amp;=&#10;\frac 12&#10;\sum_{i=1}^n \sum_{j=1}^n \alpha_i \alpha_j y_i y_j \jx_i^T \jx_j&#10;+&#10;\sum_{i=1}^n \alpha_i &#10;-&#10;\sum_{i=1}^n  \alpha_i y_i \sum_{j=1}^n  \alpha_j  y_j \jx_j^T \jx_i &#10;-&#10;b \sum_{i=1}^n \alpha_i y_i&#10;\\&amp;=&#10;- \frac 12&#10;\sum_{i=1}^n \sum_{j=1}^n \alpha_i \alpha_j y_i y_j \jx_i^T \jx_j&#10;+ \sum_{i=1}^n \alpha_i &#10;\end{align*}&#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681"/>
  <p:tag name="PICTUREFILESIZE" val="121980"/>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newcommand{\jw}{\mathbf{w}}&#10;\newcommand{\jx}{\mathbf{x}}&#10;\begin{align*}&#10;\sum_{i=1}^n \alpha_i y_i &amp;= 0&#10;\end{align*}&#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115"/>
  <p:tag name="PICTUREFILESIZE" val="8245"/>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qquad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ALLOWFONTSUBSTITUTION" val="False"/>
  <p:tag name="BITMAPFORMAT" val="pngmono"/>
  <p:tag name="ORIGWIDTH" val="344"/>
  <p:tag name="PICTUREFILESIZE" val="18199"/>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 = \sum_{i=1}^n \alpha_i y_i \mathbf{x}_i&#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39"/>
  <p:tag name="PICTUREFILESIZE" val="10281"/>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95"/>
  <p:tag name="PICTUREFILESIZE" val="18084"/>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2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2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2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2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3"/>
  <p:tag name="PICTUREFILESIZE" val="4893"/>
</p:tagLst>
</file>

<file path=ppt/tags/tag2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22"/>
  <p:tag name="PICTUREFILESIZE" val="4295"/>
</p:tagLst>
</file>

<file path=ppt/tags/tag2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T \mathbf{x} + b = -1&#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38"/>
  <p:tag name="PICTUREFILESIZE" val="4634"/>
</p:tagLst>
</file>

<file path=ppt/tags/tag3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athbf{w}\]&#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7"/>
  <p:tag name="PICTUREFILESIZE" val="895"/>
</p:tagLst>
</file>

<file path=ppt/tags/tag3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i$&#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5"/>
  <p:tag name="PICTUREFILESIZE" val="1428"/>
</p:tagLst>
</file>

<file path=ppt/tags/tag3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i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18"/>
  <p:tag name="PICTUREFILESIZE" val="1269"/>
</p:tagLst>
</file>

<file path=ppt/tags/tag3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athbf{x}_j $&#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20"/>
  <p:tag name="PICTUREFILESIZE" val="1338"/>
</p:tagLst>
</file>

<file path=ppt/tags/tag3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xi_j$&#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17"/>
  <p:tag name="PICTUREFILESIZE" val="1549"/>
</p:tagLst>
</file>

<file path=ppt/tags/tag35.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10;\begin{cases}&#10;\mathbf{w}^T \mathbf{x}_i + b \geq 1 - \xi_i    &amp; y_i = 1\\&#10;\mathbf{w}^T \mathbf{x}_i + b \leq -1 + \xi_i    &amp; y_i = -1\\&#10;\xi_i \geq 0 &amp; \forall i&#10;\end{cases}&#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301"/>
  <p:tag name="PICTUREFILESIZE" val="28182"/>
</p:tagLst>
</file>

<file path=ppt/tags/tag3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frac 12 || \mathbf{w} ||^2 + C \sum_{i=1}^n \xi_i $&#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ALLOWFONTSUBSTITUTION" val="False"/>
  <p:tag name="BITMAPFORMAT" val="pngmono"/>
  <p:tag name="ORIGWIDTH" val="182"/>
  <p:tag name="PICTUREFILESIZE" val="9516"/>
</p:tagLst>
</file>

<file path=ppt/tags/tag3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Minimize $ \frac 12 || \mathbf{w} ||^2 + C \sum_{i=1}^n \xi_i $&#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279"/>
  <p:tag name="PICTUREFILESIZE" val="13998"/>
</p:tagLst>
</file>

<file path=ppt/tags/tag3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mbox{subject to }&#10;y_i (\mathbf{w}^T \mathbf{x}_i + b) \geq 1 - \xi_i, \quad&#10;\xi_i \geq 0 $&#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BITMAPFORMAT" val="pngmono"/>
  <p:tag name="DEBUGINTERACTIVE" val="True"/>
  <p:tag name="ORIGWIDTH" val="403"/>
  <p:tag name="PICTUREFILESIZE" val="18964"/>
</p:tagLst>
</file>

<file path=ppt/tags/tag3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K(\mathbf{x}_i, \mathbf{x}_j) = \phi(\mathbf{x}_i)^T \phi(\mathbf{x}_j)&#10;\]&#10;\end{document}&#10;"/>
  <p:tag name="EXTERNALNAME" val="txp_fig"/>
  <p:tag name="BLEND" val="False"/>
  <p:tag name="TRANSPARENT" val="False"/>
  <p:tag name="KEEPFILES" val="False"/>
  <p:tag name="DEBUGPAUSE" val="False"/>
  <p:tag name="RESOLUTION" val="1200"/>
  <p:tag name="TIMEOUT" val="(none)"/>
  <p:tag name="BOXWIDTH" val="348"/>
  <p:tag name="BOXHEIGHT" val="381"/>
  <p:tag name="BOXFONT" val="10"/>
  <p:tag name="BOXWRAP" val="False"/>
  <p:tag name="WORKAROUNDTRANSPARENCYBUG" val="False"/>
  <p:tag name="ALLOWFONTSUBSTITUTION" val="False"/>
  <p:tag name="BITMAPFORMAT" val="pngmono"/>
  <p:tag name="ORIGWIDTH" val="233"/>
  <p:tag name="PICTUREFILESIZE" val="13730"/>
</p:tagLst>
</file>

<file path=ppt/tags/tag40.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10;\begin{document}&#10;\[&#10;\mbox{max. } W(\boldsymbol{\alpha}) = \sum_{i=1}^n \alpha_i - \frac 12 \sum_{i=1,j=1}^n \alpha_i \alpha_j y_i y_j &#10;\mathbf{x}_i^T \mathbf{x}_j&#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46"/>
  <p:tag name="PICTUREFILESIZE" val="30073"/>
</p:tagLst>
</file>

<file path=ppt/tags/tag4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mbox{subject to } C \geq \alpha_i \geq 0, \sum_{i=1}^n \alpha_i y_i = 0&#10;\]&#10;\end{document}&#10;"/>
  <p:tag name="EXTERNALNAME" val="txp_fig"/>
  <p:tag name="BLEND" val="False"/>
  <p:tag name="TRANSPARENT" val="False"/>
  <p:tag name="KEEPFILES" val="False"/>
  <p:tag name="DEBUGPAUSE" val="False"/>
  <p:tag name="RESOLUTION" val="1200"/>
  <p:tag name="TIMEOUT" val="(none)"/>
  <p:tag name="BOXWIDTH" val="348"/>
  <p:tag name="BOXHEIGHT" val="306"/>
  <p:tag name="BOXFONT" val="10"/>
  <p:tag name="BOXWRAP" val="False"/>
  <p:tag name="WORKAROUNDTRANSPARENCYBUG" val="False"/>
  <p:tag name="BITMAPFORMAT" val="pngmono"/>
  <p:tag name="DEBUGINTERACTIVE" val="True"/>
  <p:tag name="ORIGWIDTH" val="339"/>
  <p:tag name="PICTUREFILESIZE" val="19994"/>
</p:tagLst>
</file>

<file path=ppt/tags/tag42.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phi( \bigl[\begin{smallmatrix} x_1 \\ x_2 \end{smallmatrix}\bigr]&#10;)=(1,\sqrt{2}x_1, \sqrt{2}x_2, x_1^2, x_2^2, \sqrt{2}x_1x_2)&#10;$&#10;\end{document}&#10;"/>
  <p:tag name="EXTERNALNAME" val="txp_fig"/>
  <p:tag name="BLEND" val="False"/>
  <p:tag name="TRANSPARENT" val="False"/>
  <p:tag name="KEEPFILES" val="False"/>
  <p:tag name="DEBUGPAUSE" val="False"/>
  <p:tag name="RESOLUTION" val="1200"/>
  <p:tag name="TIMEOUT" val="(none)"/>
  <p:tag name="BOXWIDTH" val="348"/>
  <p:tag name="BOXHEIGHT" val="351"/>
  <p:tag name="BOXFONT" val="10"/>
  <p:tag name="BOXWRAP" val="False"/>
  <p:tag name="WORKAROUNDTRANSPARENCYBUG" val="False"/>
  <p:tag name="BITMAPFORMAT" val="pngmono"/>
  <p:tag name="DEBUGINTERACTIVE" val="True"/>
  <p:tag name="ORIGWIDTH" val="407"/>
  <p:tag name="PICTUREFILESIZE" val="22374"/>
</p:tagLst>
</file>

<file path=ppt/tags/tag43.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10;K(\mathbf{x}, \mathbf{y}) =(1 + x_1y_1 + x_2 y_2)^2&#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90"/>
  <p:tag name="PICTUREFILESIZE" val="13725"/>
</p:tagLst>
</file>

<file path=ppt/tags/tag44.xml><?xml version="1.0" encoding="utf-8"?>
<p:tagLst xmlns:a="http://schemas.openxmlformats.org/drawingml/2006/main" xmlns:r="http://schemas.openxmlformats.org/officeDocument/2006/relationships" xmlns:p="http://schemas.openxmlformats.org/presentationml/2006/main">
  <p:tag name="SOURCE" val="\documentclass{slides}\pagestyle{empty}&#10;\usepackage{amsmath}&#10;\begin{document}&#10;\begin{align*}&#10;\langle \phi( \bigl[\begin{smallmatrix} x_1 \\ x_2 \end{smallmatrix}\bigr])&#10;, \phi( \bigl[\begin{smallmatrix} y_1 \\ y_2 \end{smallmatrix}\bigr])&#10;\rangle &amp;= (1 + x_1y_1 + x_2 y_2)^2&#10;\end{align*}&#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ALLOWFONTSUBSTITUTION" val="False"/>
  <p:tag name="BITMAPFORMAT" val="pngmono"/>
  <p:tag name="ORIGWIDTH" val="389"/>
  <p:tag name="PICTUREFILESIZE" val="22937"/>
</p:tagLst>
</file>

<file path=ppt/tags/tag4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 \mathbf{x}^T \mathbf{y} + 1)^d$&#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11"/>
  <p:tag name="PICTUREFILESIZE" val="9945"/>
</p:tagLst>
</file>

<file path=ppt/tags/tag4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10;\exp\bigl(-|| \mathbf{x} - \mathbf{y} ||^2 / (2\sigma^2) \bigr)&#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322"/>
  <p:tag name="PICTUREFILESIZE" val="16589"/>
</p:tagLst>
</file>

<file path=ppt/tags/tag4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 K(\mathbf{x}, \mathbf{y}) = &#10;\tanh(\kappa \mathbf{x}^T \mathbf{y} + \theta )&#10;$&#10;\end{document}&#10;"/>
  <p:tag name="EXTERNALNAME" val="txp_fig"/>
  <p:tag name="BLEND" val="False"/>
  <p:tag name="TRANSPARENT" val="False"/>
  <p:tag name="KEEPFILES" val="False"/>
  <p:tag name="DEBUGPAUSE" val="False"/>
  <p:tag name="RESOLUTION" val="1200"/>
  <p:tag name="TIMEOUT" val="(none)"/>
  <p:tag name="BOXWIDTH" val="348"/>
  <p:tag name="BOXHEIGHT" val="366"/>
  <p:tag name="BOXFONT" val="10"/>
  <p:tag name="BOXWRAP" val="False"/>
  <p:tag name="WORKAROUNDTRANSPARENCYBUG" val="False"/>
  <p:tag name="BITMAPFORMAT" val="pngmono"/>
  <p:tag name="DEBUGINTERACTIVE" val="True"/>
  <p:tag name="ORIGWIDTH" val="255"/>
  <p:tag name="PICTUREFILESIZE" val="12585"/>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TotalTime>
  <Words>2313</Words>
  <Application>Microsoft Office PowerPoint</Application>
  <PresentationFormat>On-screen Show (4:3)</PresentationFormat>
  <Paragraphs>328</Paragraphs>
  <Slides>34</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34</vt:i4>
      </vt:variant>
    </vt:vector>
  </HeadingPairs>
  <TitlesOfParts>
    <vt:vector size="44" baseType="lpstr">
      <vt:lpstr>Arial</vt:lpstr>
      <vt:lpstr>PMingLiU</vt:lpstr>
      <vt:lpstr>Tahoma</vt:lpstr>
      <vt:lpstr>Wingdings</vt:lpstr>
      <vt:lpstr>Symbol</vt:lpstr>
      <vt:lpstr>Times New Roman</vt:lpstr>
      <vt:lpstr>Arial Narrow</vt:lpstr>
      <vt:lpstr>Default Design</vt:lpstr>
      <vt:lpstr>MathType 4.0 Equation</vt:lpstr>
      <vt:lpstr>Microsoft Equation 3.0</vt:lpstr>
      <vt:lpstr>Support Vector Machines </vt:lpstr>
      <vt:lpstr>History of SVM</vt:lpstr>
      <vt:lpstr>What is a good Decision Boundary?</vt:lpstr>
      <vt:lpstr> Linear Classifiers</vt:lpstr>
      <vt:lpstr>Examples of Bad Decision Boundaries</vt:lpstr>
      <vt:lpstr>Classifier Margin</vt:lpstr>
      <vt:lpstr>Maximum Margin</vt:lpstr>
      <vt:lpstr>Maximum Margin</vt:lpstr>
      <vt:lpstr>Large-margin Decision Boundary</vt:lpstr>
      <vt:lpstr>Maximizing the margin</vt:lpstr>
      <vt:lpstr>Finding the Decision Boundary</vt:lpstr>
      <vt:lpstr>Finding the Decision Boundary</vt:lpstr>
      <vt:lpstr>The Dual Problem</vt:lpstr>
      <vt:lpstr>The Dual Problem</vt:lpstr>
      <vt:lpstr>The Dual Problem</vt:lpstr>
      <vt:lpstr>Consequently…</vt:lpstr>
      <vt:lpstr>A Geometrical Interpretation</vt:lpstr>
      <vt:lpstr>Overlapping: Non-linearly Separable Problems</vt:lpstr>
      <vt:lpstr>Soft Margin Hyperplane</vt:lpstr>
      <vt:lpstr>Problems with linear SVM</vt:lpstr>
      <vt:lpstr>Extension to Non-linear Decision Boundary</vt:lpstr>
      <vt:lpstr>Extension to Non-linear Decision Boundary</vt:lpstr>
      <vt:lpstr>Transforming the Data</vt:lpstr>
      <vt:lpstr>The Kernel Trick</vt:lpstr>
      <vt:lpstr>An Example for f(.) and K(.,.)</vt:lpstr>
      <vt:lpstr>Kernel Functions</vt:lpstr>
      <vt:lpstr>Examples of Kernel Functions</vt:lpstr>
      <vt:lpstr>The parameter C for non-linear SVMs</vt:lpstr>
      <vt:lpstr>C in non-linear SVMs</vt:lpstr>
      <vt:lpstr>Why SVM Work?</vt:lpstr>
      <vt:lpstr>Choosing the Kernel Function</vt:lpstr>
      <vt:lpstr>Some commonly used kernels</vt:lpstr>
      <vt:lpstr>Strengths and Weaknesses of SVM</vt:lpstr>
      <vt:lpstr>Resources</vt:lpstr>
    </vt:vector>
  </TitlesOfParts>
  <Company>George Mason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Machines (Chapter 7)</dc:title>
  <dc:creator>IT&amp;E</dc:creator>
  <cp:lastModifiedBy>Guo, Hongyu</cp:lastModifiedBy>
  <cp:revision>63</cp:revision>
  <dcterms:created xsi:type="dcterms:W3CDTF">2009-02-27T20:33:57Z</dcterms:created>
  <dcterms:modified xsi:type="dcterms:W3CDTF">2024-02-01T04:46:39Z</dcterms:modified>
</cp:coreProperties>
</file>