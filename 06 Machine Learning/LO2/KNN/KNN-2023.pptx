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8" r:id="rId1"/>
  </p:sldMasterIdLst>
  <p:notesMasterIdLst>
    <p:notesMasterId r:id="rId14"/>
  </p:notesMasterIdLst>
  <p:sldIdLst>
    <p:sldId id="291" r:id="rId2"/>
    <p:sldId id="259" r:id="rId3"/>
    <p:sldId id="269" r:id="rId4"/>
    <p:sldId id="270" r:id="rId5"/>
    <p:sldId id="260" r:id="rId6"/>
    <p:sldId id="271" r:id="rId7"/>
    <p:sldId id="287" r:id="rId8"/>
    <p:sldId id="273" r:id="rId9"/>
    <p:sldId id="274" r:id="rId10"/>
    <p:sldId id="283" r:id="rId11"/>
    <p:sldId id="289" r:id="rId12"/>
    <p:sldId id="290"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0336" autoAdjust="0"/>
  </p:normalViewPr>
  <p:slideViewPr>
    <p:cSldViewPr>
      <p:cViewPr varScale="1">
        <p:scale>
          <a:sx n="90" d="100"/>
          <a:sy n="90" d="100"/>
        </p:scale>
        <p:origin x="2214"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1F45ADD-4C26-4E0D-AE78-0933E56FD1A1}" type="datetimeFigureOut">
              <a:rPr lang="en-US" smtClean="0"/>
              <a:pPr/>
              <a:t>3/13/2024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A1BD797-3539-435A-A1EF-925EBE9F7A9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In nearest-neighbor classification, when you have a new data point that you want to classify, the algorithm identifies the single nearest neighbor from the training dataset based on a chosen distance metric (e.g., Euclidean distance), and it assigns the label of that nearest neighbor to the new data point. In other words, the class label of the new</a:t>
            </a:r>
          </a:p>
          <a:p>
            <a:endParaRPr lang="en-US" b="0" i="0" dirty="0">
              <a:solidFill>
                <a:srgbClr val="374151"/>
              </a:solidFill>
              <a:effectLst/>
              <a:latin typeface="Söhne"/>
            </a:endParaRPr>
          </a:p>
          <a:p>
            <a:r>
              <a:rPr lang="en-US" b="0" i="0" dirty="0">
                <a:solidFill>
                  <a:srgbClr val="374151"/>
                </a:solidFill>
                <a:effectLst/>
                <a:latin typeface="Söhne"/>
              </a:rPr>
              <a:t>Nearest-neighbor classification is a simple and intuitive approach, and it can be effective in various situations, especially when the decision boundaries between classes are complex or nonlinear. However, it can also be sensitive to outliers and the choice of distance metric, and it may not perform well in high-dimensional spaces due to the "curse of dimensionality." data point is determined by the class of its closest neighbor.</a:t>
            </a:r>
            <a:endParaRPr lang="en-CA" dirty="0"/>
          </a:p>
        </p:txBody>
      </p:sp>
      <p:sp>
        <p:nvSpPr>
          <p:cNvPr id="4" name="Slide Number Placeholder 3"/>
          <p:cNvSpPr>
            <a:spLocks noGrp="1"/>
          </p:cNvSpPr>
          <p:nvPr>
            <p:ph type="sldNum" sz="quarter" idx="5"/>
          </p:nvPr>
        </p:nvSpPr>
        <p:spPr/>
        <p:txBody>
          <a:bodyPr/>
          <a:lstStyle/>
          <a:p>
            <a:fld id="{7A1BD797-3539-435A-A1EF-925EBE9F7A94}" type="slidenum">
              <a:rPr lang="en-US" smtClean="0"/>
              <a:pPr/>
              <a:t>3</a:t>
            </a:fld>
            <a:endParaRPr lang="en-US"/>
          </a:p>
        </p:txBody>
      </p:sp>
    </p:spTree>
    <p:extLst>
      <p:ext uri="{BB962C8B-B14F-4D97-AF65-F5344CB8AC3E}">
        <p14:creationId xmlns:p14="http://schemas.microsoft.com/office/powerpoint/2010/main" val="6954322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p>
            <a:fld id="{C08A8324-21EE-4DE8-B65D-B61DE69BD8B6}" type="slidenum">
              <a:rPr lang="en-US" altLang="en-US">
                <a:latin typeface="Times New Roman" pitchFamily="18" charset="0"/>
                <a:ea typeface="ＭＳ Ｐゴシック" pitchFamily="34" charset="-128"/>
              </a:rPr>
              <a:pPr/>
              <a:t>7</a:t>
            </a:fld>
            <a:endParaRPr lang="en-US" altLang="en-US">
              <a:latin typeface="Times New Roman" pitchFamily="18" charset="0"/>
              <a:ea typeface="ＭＳ Ｐゴシック" pitchFamily="34" charset="-128"/>
            </a:endParaRPr>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p:spPr>
        <p:txBody>
          <a:bodyPr/>
          <a:lstStyle/>
          <a:p>
            <a:r>
              <a:rPr lang="en-US" altLang="en-US">
                <a:latin typeface="Times New Roman" pitchFamily="18" charset="0"/>
                <a:cs typeface="Arial" pitchFamily="34" charset="0"/>
              </a:rPr>
              <a:t>Minkowsky = l-norm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pPr algn="l">
              <a:buFont typeface="+mj-lt"/>
              <a:buAutoNum type="arabicPeriod"/>
            </a:pPr>
            <a:r>
              <a:rPr lang="en-US" b="1" i="0" dirty="0">
                <a:effectLst/>
                <a:latin typeface="Söhne"/>
              </a:rPr>
              <a:t>Increased Sparsity</a:t>
            </a:r>
            <a:r>
              <a:rPr lang="en-US" b="0" i="0" dirty="0">
                <a:effectLst/>
                <a:latin typeface="Söhne"/>
              </a:rPr>
              <a:t>: In high-dimensional spaces, the volume of the space grows exponentially with the number of dimensions. As a result, data points become increasingly sparse. Most of the volume is in the "corners" of the space, and there is relatively little data in the central regions. This sparsity means that data points are far apart from each other, making them seem less similar.</a:t>
            </a:r>
          </a:p>
          <a:p>
            <a:pPr algn="l">
              <a:buFont typeface="+mj-lt"/>
              <a:buAutoNum type="arabicPeriod"/>
            </a:pPr>
            <a:r>
              <a:rPr lang="en-US" b="1" i="0" dirty="0">
                <a:effectLst/>
                <a:latin typeface="Söhne"/>
              </a:rPr>
              <a:t>Data Concentration</a:t>
            </a:r>
            <a:r>
              <a:rPr lang="en-US" b="0" i="0" dirty="0">
                <a:effectLst/>
                <a:latin typeface="Söhne"/>
              </a:rPr>
              <a:t>: In high-dimensional spaces, data points tend to concentrate near the boundary of the space, often referred to as the "curse of the boundary." This means that most of the data points are found in a thin shell around the high-dimensional space, rather than distributed uniformly throughout the space. As a result, two random data points are likely to be far apart.</a:t>
            </a:r>
          </a:p>
          <a:p>
            <a:pPr algn="l">
              <a:buFont typeface="+mj-lt"/>
              <a:buAutoNum type="arabicPeriod"/>
            </a:pPr>
            <a:r>
              <a:rPr lang="en-US" b="1" i="0" dirty="0">
                <a:effectLst/>
                <a:latin typeface="Söhne"/>
              </a:rPr>
              <a:t>Diminishing Discriminative Power</a:t>
            </a:r>
            <a:r>
              <a:rPr lang="en-US" b="0" i="0" dirty="0">
                <a:effectLst/>
                <a:latin typeface="Söhne"/>
              </a:rPr>
              <a:t>: As the number of dimensions increases, the relative differences in distances between data points become very small. In other words, the distance between the nearest and farthest data points starts to converge. This phenomenon means that traditional distance-based measures like Euclidean distance may no longer effectively discriminate between data points.</a:t>
            </a:r>
          </a:p>
          <a:p>
            <a:pPr algn="l">
              <a:buFont typeface="+mj-lt"/>
              <a:buAutoNum type="arabicPeriod"/>
            </a:pPr>
            <a:r>
              <a:rPr lang="en-US" b="1" i="0" dirty="0">
                <a:effectLst/>
                <a:latin typeface="Söhne"/>
              </a:rPr>
              <a:t>Loss of Geometric Intuition</a:t>
            </a:r>
            <a:r>
              <a:rPr lang="en-US" b="0" i="0" dirty="0">
                <a:effectLst/>
                <a:latin typeface="Söhne"/>
              </a:rPr>
              <a:t>: In high-dimensional spaces, our geometric intuition, which works well in two or three dimensions, becomes less applicable. Features that are far apart in one dimension may actually be close together in high-dimensional space, and vice versa. This makes it challenging to interpret or reason about the relationships between data points.</a:t>
            </a:r>
          </a:p>
          <a:p>
            <a:pPr algn="l">
              <a:buFont typeface="+mj-lt"/>
              <a:buAutoNum type="arabicPeriod"/>
            </a:pPr>
            <a:r>
              <a:rPr lang="en-US" b="1" i="0" dirty="0">
                <a:effectLst/>
                <a:latin typeface="Söhne"/>
              </a:rPr>
              <a:t>Increased Computational Complexity</a:t>
            </a:r>
            <a:r>
              <a:rPr lang="en-US" b="0" i="0" dirty="0">
                <a:effectLst/>
                <a:latin typeface="Söhne"/>
              </a:rPr>
              <a:t>: High-dimensional data can lead to computational challenges and increased computational costs. For example, nearest-neighbor search or clustering algorithms can become significantly slower and require more memory as the dimensionality of the data increases.</a:t>
            </a:r>
          </a:p>
          <a:p>
            <a:pPr algn="l"/>
            <a:r>
              <a:rPr lang="en-US" b="0" i="0" dirty="0">
                <a:effectLst/>
                <a:latin typeface="Söhne"/>
              </a:rPr>
              <a:t>To address these issues in high-dimensional data, dimensionality reduction techniques (e.g., Principal Component Analysis or t-Distributed Stochastic Neighbor Embedding) are often used to reduce the number of dimensions while preserving essential information. Additionally, alternative distance metrics, such as cosine similarity or </a:t>
            </a:r>
            <a:r>
              <a:rPr lang="en-US" b="0" i="0" dirty="0" err="1">
                <a:effectLst/>
                <a:latin typeface="Söhne"/>
              </a:rPr>
              <a:t>Mahalanobis</a:t>
            </a:r>
            <a:r>
              <a:rPr lang="en-US" b="0" i="0" dirty="0">
                <a:effectLst/>
                <a:latin typeface="Söhne"/>
              </a:rPr>
              <a:t> distance, may be employed to better capture the similarity between data points in high-dimensional spaces.</a:t>
            </a:r>
          </a:p>
          <a:p>
            <a:br>
              <a:rPr lang="en-US" dirty="0"/>
            </a:br>
            <a:endParaRPr lang="en-CA" dirty="0"/>
          </a:p>
        </p:txBody>
      </p:sp>
      <p:sp>
        <p:nvSpPr>
          <p:cNvPr id="4" name="Slide Number Placeholder 3"/>
          <p:cNvSpPr>
            <a:spLocks noGrp="1"/>
          </p:cNvSpPr>
          <p:nvPr>
            <p:ph type="sldNum" sz="quarter" idx="5"/>
          </p:nvPr>
        </p:nvSpPr>
        <p:spPr/>
        <p:txBody>
          <a:bodyPr/>
          <a:lstStyle/>
          <a:p>
            <a:fld id="{7A1BD797-3539-435A-A1EF-925EBE9F7A94}" type="slidenum">
              <a:rPr lang="en-US" smtClean="0"/>
              <a:pPr/>
              <a:t>10</a:t>
            </a:fld>
            <a:endParaRPr lang="en-US"/>
          </a:p>
        </p:txBody>
      </p:sp>
    </p:spTree>
    <p:extLst>
      <p:ext uri="{BB962C8B-B14F-4D97-AF65-F5344CB8AC3E}">
        <p14:creationId xmlns:p14="http://schemas.microsoft.com/office/powerpoint/2010/main" val="9999789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C699CB88-5E1A-4FAC-892A-60949ACB1F6F}" type="datetimeFigureOut">
              <a:rPr lang="en-US" smtClean="0"/>
              <a:pPr/>
              <a:t>3/13/2024</a:t>
            </a:fld>
            <a:endParaRPr lang="en-US"/>
          </a:p>
        </p:txBody>
      </p:sp>
      <p:sp>
        <p:nvSpPr>
          <p:cNvPr id="17" name="Footer Placeholder 16"/>
          <p:cNvSpPr>
            <a:spLocks noGrp="1"/>
          </p:cNvSpPr>
          <p:nvPr>
            <p:ph type="ftr" sz="quarter" idx="11"/>
          </p:nvPr>
        </p:nvSpPr>
        <p:spPr>
          <a:xfrm>
            <a:off x="2898648" y="6355080"/>
            <a:ext cx="3474720" cy="365760"/>
          </a:xfrm>
        </p:spPr>
        <p:txBody>
          <a:bodyPr/>
          <a:lstStyle/>
          <a:p>
            <a:endParaRPr kumimoji="0" lang="en-US"/>
          </a:p>
        </p:txBody>
      </p:sp>
      <p:sp>
        <p:nvSpPr>
          <p:cNvPr id="29" name="Slide Number Placeholder 28"/>
          <p:cNvSpPr>
            <a:spLocks noGrp="1"/>
          </p:cNvSpPr>
          <p:nvPr>
            <p:ph type="sldNum" sz="quarter" idx="12"/>
          </p:nvPr>
        </p:nvSpPr>
        <p:spPr>
          <a:xfrm>
            <a:off x="1216152" y="6355080"/>
            <a:ext cx="1219200" cy="365760"/>
          </a:xfrm>
        </p:spPr>
        <p:txBody>
          <a:bodyPr/>
          <a:lstStyle/>
          <a:p>
            <a:fld id="{91974DF9-AD47-4691-BA21-BBFCE3637A9A}" type="slidenum">
              <a:rPr kumimoji="0" lang="en-US" smtClean="0"/>
              <a:pPr/>
              <a:t>‹#›</a:t>
            </a:fld>
            <a:endParaRPr kumimoji="0" lang="en-US"/>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C699CB88-5E1A-4FAC-892A-60949ACB1F6F}" type="datetimeFigureOut">
              <a:rPr lang="en-US" smtClean="0"/>
              <a:pPr/>
              <a:t>3/13/2024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C699CB88-5E1A-4FAC-892A-60949ACB1F6F}" type="datetimeFigureOut">
              <a:rPr lang="en-US" smtClean="0"/>
              <a:pPr/>
              <a:t>3/13/2024</a:t>
            </a:fld>
            <a:endParaRPr lang="en-US"/>
          </a:p>
        </p:txBody>
      </p:sp>
      <p:sp>
        <p:nvSpPr>
          <p:cNvPr id="5" name="Footer Placeholder 4"/>
          <p:cNvSpPr>
            <a:spLocks noGrp="1"/>
          </p:cNvSpPr>
          <p:nvPr>
            <p:ph type="ftr" sz="quarter" idx="11"/>
          </p:nvPr>
        </p:nvSpPr>
        <p:spPr>
          <a:xfrm>
            <a:off x="2898648" y="6355080"/>
            <a:ext cx="3474720" cy="365760"/>
          </a:xfrm>
        </p:spPr>
        <p:txBody>
          <a:bodyPr/>
          <a:lstStyle/>
          <a:p>
            <a:endParaRPr lang="en-US"/>
          </a:p>
        </p:txBody>
      </p:sp>
      <p:sp>
        <p:nvSpPr>
          <p:cNvPr id="6" name="Slide Number Placeholder 5"/>
          <p:cNvSpPr>
            <a:spLocks noGrp="1"/>
          </p:cNvSpPr>
          <p:nvPr>
            <p:ph type="sldNum" sz="quarter" idx="12"/>
          </p:nvPr>
        </p:nvSpPr>
        <p:spPr>
          <a:xfrm>
            <a:off x="1069848" y="6355080"/>
            <a:ext cx="1520952" cy="365760"/>
          </a:xfrm>
        </p:spPr>
        <p:txBody>
          <a:bodyPr/>
          <a:lstStyle/>
          <a:p>
            <a:fld id="{B6F15528-21DE-4FAA-801E-634DDDAF4B2B}" type="slidenum">
              <a:rPr lang="en-US" smtClean="0"/>
              <a:pPr/>
              <a:t>‹#›</a:t>
            </a:fld>
            <a:endParaRPr lang="en-US"/>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C699CB88-5E1A-4FAC-892A-60949ACB1F6F}" type="datetimeFigureOut">
              <a:rPr lang="en-US" smtClean="0"/>
              <a:pPr/>
              <a:t>3/13/2024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C699CB88-5E1A-4FAC-892A-60949ACB1F6F}" type="datetimeFigureOut">
              <a:rPr lang="en-US" smtClean="0"/>
              <a:pPr/>
              <a:t>3/13/2024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C699CB88-5E1A-4FAC-892A-60949ACB1F6F}" type="datetimeFigureOut">
              <a:rPr lang="en-US" smtClean="0"/>
              <a:pPr/>
              <a:t>3/13/2024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699CB88-5E1A-4FAC-892A-60949ACB1F6F}" type="datetimeFigureOut">
              <a:rPr lang="en-US" smtClean="0"/>
              <a:pPr/>
              <a:t>3/13/2024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C699CB88-5E1A-4FAC-892A-60949ACB1F6F}" type="datetimeFigureOut">
              <a:rPr lang="en-US" smtClean="0"/>
              <a:pPr/>
              <a:t>3/13/2024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C699CB88-5E1A-4FAC-892A-60949ACB1F6F}" type="datetimeFigureOut">
              <a:rPr lang="en-US" smtClean="0"/>
              <a:pPr/>
              <a:t>3/13/2024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3/13/2024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699CB88-5E1A-4FAC-892A-60949ACB1F6F}" type="datetimeFigureOut">
              <a:rPr lang="en-US" smtClean="0"/>
              <a:pPr/>
              <a:t>3/13/2024</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91974DF9-AD47-4691-BA21-BBFCE3637A9A}" type="slidenum">
              <a:rPr kumimoji="0" lang="en-US" smtClean="0"/>
              <a:pPr/>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C699CB88-5E1A-4FAC-892A-60949ACB1F6F}" type="datetimeFigureOut">
              <a:rPr lang="en-US" smtClean="0"/>
              <a:pPr/>
              <a:t>3/13/2024</a:t>
            </a:fld>
            <a:endParaRPr lang="en-US"/>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B6F15528-21DE-4FAA-801E-634DDDAF4B2B}" type="slidenum">
              <a:rPr lang="en-US" smtClean="0"/>
              <a:pPr/>
              <a:t>‹#›</a:t>
            </a:fld>
            <a:endParaRPr lang="en-US"/>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6" r:id="rId8"/>
    <p:sldLayoutId id="2147483817" r:id="rId9"/>
    <p:sldLayoutId id="2147483818" r:id="rId10"/>
    <p:sldLayoutId id="2147483819" r:id="rId11"/>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wmf"/><Relationship Id="rId7" Type="http://schemas.openxmlformats.org/officeDocument/2006/relationships/image" Target="../media/image7.wmf"/><Relationship Id="rId2" Type="http://schemas.openxmlformats.org/officeDocument/2006/relationships/image" Target="../media/image2.wmf"/><Relationship Id="rId1" Type="http://schemas.openxmlformats.org/officeDocument/2006/relationships/slideLayout" Target="../slideLayouts/slideLayout2.xml"/><Relationship Id="rId6" Type="http://schemas.openxmlformats.org/officeDocument/2006/relationships/image" Target="../media/image6.wmf"/><Relationship Id="rId5" Type="http://schemas.openxmlformats.org/officeDocument/2006/relationships/image" Target="../media/image5.wmf"/><Relationship Id="rId4" Type="http://schemas.openxmlformats.org/officeDocument/2006/relationships/image" Target="../media/image4.wm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1.bin"/><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image" Target="../media/image16.emf"/><Relationship Id="rId3" Type="http://schemas.openxmlformats.org/officeDocument/2006/relationships/image" Target="../media/image11.emf"/><Relationship Id="rId7" Type="http://schemas.openxmlformats.org/officeDocument/2006/relationships/image" Target="../media/image13.emf"/><Relationship Id="rId12" Type="http://schemas.openxmlformats.org/officeDocument/2006/relationships/oleObject" Target="../embeddings/oleObject8.bin"/><Relationship Id="rId2" Type="http://schemas.openxmlformats.org/officeDocument/2006/relationships/oleObject" Target="../embeddings/oleObject3.bin"/><Relationship Id="rId1" Type="http://schemas.openxmlformats.org/officeDocument/2006/relationships/slideLayout" Target="../slideLayouts/slideLayout2.xml"/><Relationship Id="rId6" Type="http://schemas.openxmlformats.org/officeDocument/2006/relationships/oleObject" Target="../embeddings/oleObject5.bin"/><Relationship Id="rId11" Type="http://schemas.openxmlformats.org/officeDocument/2006/relationships/image" Target="../media/image15.emf"/><Relationship Id="rId5" Type="http://schemas.openxmlformats.org/officeDocument/2006/relationships/image" Target="../media/image12.emf"/><Relationship Id="rId15" Type="http://schemas.openxmlformats.org/officeDocument/2006/relationships/image" Target="../media/image17.emf"/><Relationship Id="rId10" Type="http://schemas.openxmlformats.org/officeDocument/2006/relationships/oleObject" Target="../embeddings/oleObject7.bin"/><Relationship Id="rId4" Type="http://schemas.openxmlformats.org/officeDocument/2006/relationships/oleObject" Target="../embeddings/oleObject4.bin"/><Relationship Id="rId9" Type="http://schemas.openxmlformats.org/officeDocument/2006/relationships/image" Target="../media/image14.emf"/><Relationship Id="rId14" Type="http://schemas.openxmlformats.org/officeDocument/2006/relationships/oleObject" Target="../embeddings/oleObject9.bin"/></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kaggle.com/code/shrutimechlearn/step-by-step-diabetes-classification-knn-detailed/notebook" TargetMode="External"/><Relationship Id="rId2" Type="http://schemas.openxmlformats.org/officeDocument/2006/relationships/hyperlink" Target="https://www.youtube.com/watch?v=4HKqjENq9OU&amp;t=18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9E62365-6F2C-184E-697F-0018C5BF7BFA}"/>
              </a:ext>
            </a:extLst>
          </p:cNvPr>
          <p:cNvSpPr>
            <a:spLocks noGrp="1"/>
          </p:cNvSpPr>
          <p:nvPr>
            <p:ph sz="quarter" idx="1"/>
          </p:nvPr>
        </p:nvSpPr>
        <p:spPr>
          <a:xfrm>
            <a:off x="457200" y="1143000"/>
            <a:ext cx="8229600" cy="4937125"/>
          </a:xfrm>
        </p:spPr>
        <p:txBody>
          <a:bodyPr>
            <a:normAutofit fontScale="97500"/>
          </a:bodyPr>
          <a:lstStyle/>
          <a:p>
            <a:pPr marL="0" indent="0" algn="ctr">
              <a:buNone/>
            </a:pPr>
            <a:r>
              <a:rPr lang="en-US" sz="4500" dirty="0"/>
              <a:t>K Nearest Neighbor Classification</a:t>
            </a:r>
            <a:br>
              <a:rPr lang="en-US" sz="4500" dirty="0"/>
            </a:br>
            <a:br>
              <a:rPr lang="en-US" sz="4500" dirty="0"/>
            </a:br>
            <a:br>
              <a:rPr lang="en-US" dirty="0"/>
            </a:br>
            <a:br>
              <a:rPr lang="en-US" dirty="0"/>
            </a:br>
            <a:br>
              <a:rPr lang="en-US" dirty="0"/>
            </a:br>
            <a:r>
              <a:rPr lang="en-CA" dirty="0"/>
              <a:t>Hongyu Guo</a:t>
            </a:r>
            <a:br>
              <a:rPr lang="en-CA" dirty="0"/>
            </a:br>
            <a:r>
              <a:rPr lang="en-CA" dirty="0"/>
              <a:t>Guo7407@saskpolytech.ca</a:t>
            </a:r>
            <a:br>
              <a:rPr lang="en-CA" dirty="0"/>
            </a:br>
            <a:endParaRPr lang="en-US" dirty="0"/>
          </a:p>
        </p:txBody>
      </p:sp>
    </p:spTree>
    <p:extLst>
      <p:ext uri="{BB962C8B-B14F-4D97-AF65-F5344CB8AC3E}">
        <p14:creationId xmlns:p14="http://schemas.microsoft.com/office/powerpoint/2010/main" val="14946775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en-US"/>
              <a:t>Nearest Neighbor Classifiers</a:t>
            </a:r>
          </a:p>
        </p:txBody>
      </p:sp>
      <p:sp>
        <p:nvSpPr>
          <p:cNvPr id="74755" name="Rectangle 3"/>
          <p:cNvSpPr>
            <a:spLocks noGrp="1" noChangeArrowheads="1"/>
          </p:cNvSpPr>
          <p:nvPr>
            <p:ph sz="quarter" idx="1"/>
          </p:nvPr>
        </p:nvSpPr>
        <p:spPr/>
        <p:txBody>
          <a:bodyPr/>
          <a:lstStyle/>
          <a:p>
            <a:r>
              <a:rPr lang="en-US"/>
              <a:t>Basic idea:</a:t>
            </a:r>
          </a:p>
          <a:p>
            <a:pPr lvl="1"/>
            <a:r>
              <a:rPr lang="en-US"/>
              <a:t>If it walks like a duck, quacks like a duck, then it’s probably a duck</a:t>
            </a:r>
          </a:p>
        </p:txBody>
      </p:sp>
      <p:grpSp>
        <p:nvGrpSpPr>
          <p:cNvPr id="2" name="Group 4"/>
          <p:cNvGrpSpPr>
            <a:grpSpLocks/>
          </p:cNvGrpSpPr>
          <p:nvPr/>
        </p:nvGrpSpPr>
        <p:grpSpPr bwMode="auto">
          <a:xfrm>
            <a:off x="304800" y="2819400"/>
            <a:ext cx="8229600" cy="3429000"/>
            <a:chOff x="192" y="1776"/>
            <a:chExt cx="5184" cy="2160"/>
          </a:xfrm>
        </p:grpSpPr>
        <p:pic>
          <p:nvPicPr>
            <p:cNvPr id="74770" name="Picture 5" descr="j0345807"/>
            <p:cNvPicPr>
              <a:picLocks noChangeAspect="1" noChangeArrowheads="1"/>
            </p:cNvPicPr>
            <p:nvPr/>
          </p:nvPicPr>
          <p:blipFill>
            <a:blip r:embed="rId2"/>
            <a:srcRect/>
            <a:stretch>
              <a:fillRect/>
            </a:stretch>
          </p:blipFill>
          <p:spPr bwMode="auto">
            <a:xfrm>
              <a:off x="1296" y="2160"/>
              <a:ext cx="528" cy="409"/>
            </a:xfrm>
            <a:prstGeom prst="rect">
              <a:avLst/>
            </a:prstGeom>
            <a:noFill/>
            <a:ln w="9525">
              <a:noFill/>
              <a:miter lim="800000"/>
              <a:headEnd/>
              <a:tailEnd/>
            </a:ln>
          </p:spPr>
        </p:pic>
        <p:pic>
          <p:nvPicPr>
            <p:cNvPr id="74771" name="Picture 6" descr="j0239589"/>
            <p:cNvPicPr>
              <a:picLocks noChangeAspect="1" noChangeArrowheads="1"/>
            </p:cNvPicPr>
            <p:nvPr/>
          </p:nvPicPr>
          <p:blipFill>
            <a:blip r:embed="rId3"/>
            <a:srcRect/>
            <a:stretch>
              <a:fillRect/>
            </a:stretch>
          </p:blipFill>
          <p:spPr bwMode="auto">
            <a:xfrm>
              <a:off x="4656" y="2640"/>
              <a:ext cx="720" cy="474"/>
            </a:xfrm>
            <a:prstGeom prst="rect">
              <a:avLst/>
            </a:prstGeom>
            <a:noFill/>
            <a:ln w="9525">
              <a:noFill/>
              <a:miter lim="800000"/>
              <a:headEnd/>
              <a:tailEnd/>
            </a:ln>
          </p:spPr>
        </p:pic>
        <p:pic>
          <p:nvPicPr>
            <p:cNvPr id="74772" name="Picture 7" descr="j0350383"/>
            <p:cNvPicPr>
              <a:picLocks noChangeAspect="1" noChangeArrowheads="1"/>
            </p:cNvPicPr>
            <p:nvPr/>
          </p:nvPicPr>
          <p:blipFill>
            <a:blip r:embed="rId4"/>
            <a:srcRect/>
            <a:stretch>
              <a:fillRect/>
            </a:stretch>
          </p:blipFill>
          <p:spPr bwMode="auto">
            <a:xfrm>
              <a:off x="2256" y="1968"/>
              <a:ext cx="444" cy="480"/>
            </a:xfrm>
            <a:prstGeom prst="rect">
              <a:avLst/>
            </a:prstGeom>
            <a:noFill/>
            <a:ln w="9525">
              <a:noFill/>
              <a:miter lim="800000"/>
              <a:headEnd/>
              <a:tailEnd/>
            </a:ln>
          </p:spPr>
        </p:pic>
        <p:pic>
          <p:nvPicPr>
            <p:cNvPr id="74773" name="Picture 8" descr="j0330631"/>
            <p:cNvPicPr>
              <a:picLocks noChangeAspect="1" noChangeArrowheads="1"/>
            </p:cNvPicPr>
            <p:nvPr/>
          </p:nvPicPr>
          <p:blipFill>
            <a:blip r:embed="rId5"/>
            <a:srcRect/>
            <a:stretch>
              <a:fillRect/>
            </a:stretch>
          </p:blipFill>
          <p:spPr bwMode="auto">
            <a:xfrm>
              <a:off x="1152" y="2976"/>
              <a:ext cx="373" cy="424"/>
            </a:xfrm>
            <a:prstGeom prst="rect">
              <a:avLst/>
            </a:prstGeom>
            <a:noFill/>
            <a:ln w="9525">
              <a:noFill/>
              <a:miter lim="800000"/>
              <a:headEnd/>
              <a:tailEnd/>
            </a:ln>
          </p:spPr>
        </p:pic>
        <p:pic>
          <p:nvPicPr>
            <p:cNvPr id="74774" name="Picture 9" descr="j0350389"/>
            <p:cNvPicPr>
              <a:picLocks noChangeAspect="1" noChangeArrowheads="1"/>
            </p:cNvPicPr>
            <p:nvPr/>
          </p:nvPicPr>
          <p:blipFill>
            <a:blip r:embed="rId6"/>
            <a:srcRect/>
            <a:stretch>
              <a:fillRect/>
            </a:stretch>
          </p:blipFill>
          <p:spPr bwMode="auto">
            <a:xfrm>
              <a:off x="2208" y="3168"/>
              <a:ext cx="624" cy="440"/>
            </a:xfrm>
            <a:prstGeom prst="rect">
              <a:avLst/>
            </a:prstGeom>
            <a:noFill/>
            <a:ln w="9525">
              <a:noFill/>
              <a:miter lim="800000"/>
              <a:headEnd/>
              <a:tailEnd/>
            </a:ln>
          </p:spPr>
        </p:pic>
        <p:pic>
          <p:nvPicPr>
            <p:cNvPr id="74775" name="Picture 10" descr="j0350356"/>
            <p:cNvPicPr>
              <a:picLocks noChangeAspect="1" noChangeArrowheads="1"/>
            </p:cNvPicPr>
            <p:nvPr/>
          </p:nvPicPr>
          <p:blipFill>
            <a:blip r:embed="rId7"/>
            <a:srcRect/>
            <a:stretch>
              <a:fillRect/>
            </a:stretch>
          </p:blipFill>
          <p:spPr bwMode="auto">
            <a:xfrm>
              <a:off x="1776" y="2448"/>
              <a:ext cx="720" cy="658"/>
            </a:xfrm>
            <a:prstGeom prst="rect">
              <a:avLst/>
            </a:prstGeom>
            <a:noFill/>
            <a:ln w="9525">
              <a:noFill/>
              <a:miter lim="800000"/>
              <a:headEnd/>
              <a:tailEnd/>
            </a:ln>
          </p:spPr>
        </p:pic>
        <p:sp>
          <p:nvSpPr>
            <p:cNvPr id="74776" name="Oval 11"/>
            <p:cNvSpPr>
              <a:spLocks noChangeArrowheads="1"/>
            </p:cNvSpPr>
            <p:nvPr/>
          </p:nvSpPr>
          <p:spPr bwMode="auto">
            <a:xfrm>
              <a:off x="816" y="1776"/>
              <a:ext cx="2544" cy="2160"/>
            </a:xfrm>
            <a:prstGeom prst="ellipse">
              <a:avLst/>
            </a:prstGeom>
            <a:noFill/>
            <a:ln w="12700">
              <a:solidFill>
                <a:srgbClr val="FF0000"/>
              </a:solidFill>
              <a:prstDash val="dash"/>
              <a:round/>
              <a:headEnd/>
              <a:tailEnd/>
            </a:ln>
          </p:spPr>
          <p:txBody>
            <a:bodyPr wrap="none" anchor="ctr"/>
            <a:lstStyle/>
            <a:p>
              <a:endParaRPr lang="en-US"/>
            </a:p>
          </p:txBody>
        </p:sp>
        <p:sp>
          <p:nvSpPr>
            <p:cNvPr id="74777" name="Text Box 12"/>
            <p:cNvSpPr txBox="1">
              <a:spLocks noChangeArrowheads="1"/>
            </p:cNvSpPr>
            <p:nvPr/>
          </p:nvSpPr>
          <p:spPr bwMode="auto">
            <a:xfrm>
              <a:off x="192" y="3312"/>
              <a:ext cx="864" cy="404"/>
            </a:xfrm>
            <a:prstGeom prst="rect">
              <a:avLst/>
            </a:prstGeom>
            <a:noFill/>
            <a:ln w="12700">
              <a:noFill/>
              <a:miter lim="800000"/>
              <a:headEnd/>
              <a:tailEnd/>
            </a:ln>
          </p:spPr>
          <p:txBody>
            <a:bodyPr>
              <a:spAutoFit/>
            </a:bodyPr>
            <a:lstStyle/>
            <a:p>
              <a:pPr>
                <a:spcBef>
                  <a:spcPct val="50000"/>
                </a:spcBef>
              </a:pPr>
              <a:r>
                <a:rPr lang="en-US" sz="1800"/>
                <a:t>Training Records</a:t>
              </a:r>
            </a:p>
          </p:txBody>
        </p:sp>
        <p:sp>
          <p:nvSpPr>
            <p:cNvPr id="74778" name="Text Box 13"/>
            <p:cNvSpPr txBox="1">
              <a:spLocks noChangeArrowheads="1"/>
            </p:cNvSpPr>
            <p:nvPr/>
          </p:nvSpPr>
          <p:spPr bwMode="auto">
            <a:xfrm>
              <a:off x="4512" y="2064"/>
              <a:ext cx="864" cy="404"/>
            </a:xfrm>
            <a:prstGeom prst="rect">
              <a:avLst/>
            </a:prstGeom>
            <a:noFill/>
            <a:ln w="12700">
              <a:noFill/>
              <a:miter lim="800000"/>
              <a:headEnd/>
              <a:tailEnd/>
            </a:ln>
          </p:spPr>
          <p:txBody>
            <a:bodyPr>
              <a:spAutoFit/>
            </a:bodyPr>
            <a:lstStyle/>
            <a:p>
              <a:pPr algn="ctr">
                <a:spcBef>
                  <a:spcPct val="50000"/>
                </a:spcBef>
              </a:pPr>
              <a:r>
                <a:rPr lang="en-US" sz="1800"/>
                <a:t>Test Record</a:t>
              </a:r>
            </a:p>
          </p:txBody>
        </p:sp>
      </p:grpSp>
      <p:grpSp>
        <p:nvGrpSpPr>
          <p:cNvPr id="3" name="Group 14"/>
          <p:cNvGrpSpPr>
            <a:grpSpLocks/>
          </p:cNvGrpSpPr>
          <p:nvPr/>
        </p:nvGrpSpPr>
        <p:grpSpPr bwMode="auto">
          <a:xfrm>
            <a:off x="2667000" y="3048000"/>
            <a:ext cx="4572000" cy="2286000"/>
            <a:chOff x="1680" y="1920"/>
            <a:chExt cx="2880" cy="1440"/>
          </a:xfrm>
        </p:grpSpPr>
        <p:sp>
          <p:nvSpPr>
            <p:cNvPr id="74763" name="Text Box 15"/>
            <p:cNvSpPr txBox="1">
              <a:spLocks noChangeArrowheads="1"/>
            </p:cNvSpPr>
            <p:nvPr/>
          </p:nvSpPr>
          <p:spPr bwMode="auto">
            <a:xfrm>
              <a:off x="3312" y="1920"/>
              <a:ext cx="864" cy="404"/>
            </a:xfrm>
            <a:prstGeom prst="rect">
              <a:avLst/>
            </a:prstGeom>
            <a:noFill/>
            <a:ln w="12700">
              <a:noFill/>
              <a:miter lim="800000"/>
              <a:headEnd/>
              <a:tailEnd/>
            </a:ln>
          </p:spPr>
          <p:txBody>
            <a:bodyPr>
              <a:spAutoFit/>
            </a:bodyPr>
            <a:lstStyle/>
            <a:p>
              <a:pPr>
                <a:spcBef>
                  <a:spcPct val="50000"/>
                </a:spcBef>
              </a:pPr>
              <a:r>
                <a:rPr lang="en-US" sz="1800"/>
                <a:t>Compute Distance</a:t>
              </a:r>
            </a:p>
          </p:txBody>
        </p:sp>
        <p:grpSp>
          <p:nvGrpSpPr>
            <p:cNvPr id="4" name="Group 16"/>
            <p:cNvGrpSpPr>
              <a:grpSpLocks/>
            </p:cNvGrpSpPr>
            <p:nvPr/>
          </p:nvGrpSpPr>
          <p:grpSpPr bwMode="auto">
            <a:xfrm>
              <a:off x="1680" y="2256"/>
              <a:ext cx="2880" cy="1104"/>
              <a:chOff x="1680" y="2256"/>
              <a:chExt cx="2880" cy="1104"/>
            </a:xfrm>
          </p:grpSpPr>
          <p:sp>
            <p:nvSpPr>
              <p:cNvPr id="74765" name="Line 17"/>
              <p:cNvSpPr>
                <a:spLocks noChangeShapeType="1"/>
              </p:cNvSpPr>
              <p:nvPr/>
            </p:nvSpPr>
            <p:spPr bwMode="auto">
              <a:xfrm>
                <a:off x="2832" y="2256"/>
                <a:ext cx="1680" cy="576"/>
              </a:xfrm>
              <a:prstGeom prst="line">
                <a:avLst/>
              </a:prstGeom>
              <a:noFill/>
              <a:ln w="38100">
                <a:solidFill>
                  <a:srgbClr val="FF0000"/>
                </a:solidFill>
                <a:round/>
                <a:headEnd/>
                <a:tailEnd type="triangle" w="med" len="med"/>
              </a:ln>
            </p:spPr>
            <p:txBody>
              <a:bodyPr/>
              <a:lstStyle/>
              <a:p>
                <a:endParaRPr lang="en-US"/>
              </a:p>
            </p:txBody>
          </p:sp>
          <p:sp>
            <p:nvSpPr>
              <p:cNvPr id="74766" name="Line 18"/>
              <p:cNvSpPr>
                <a:spLocks noChangeShapeType="1"/>
              </p:cNvSpPr>
              <p:nvPr/>
            </p:nvSpPr>
            <p:spPr bwMode="auto">
              <a:xfrm>
                <a:off x="2544" y="2880"/>
                <a:ext cx="2016" cy="48"/>
              </a:xfrm>
              <a:prstGeom prst="line">
                <a:avLst/>
              </a:prstGeom>
              <a:noFill/>
              <a:ln w="38100">
                <a:solidFill>
                  <a:srgbClr val="FF0000"/>
                </a:solidFill>
                <a:round/>
                <a:headEnd/>
                <a:tailEnd type="triangle" w="med" len="med"/>
              </a:ln>
            </p:spPr>
            <p:txBody>
              <a:bodyPr/>
              <a:lstStyle/>
              <a:p>
                <a:endParaRPr lang="en-US"/>
              </a:p>
            </p:txBody>
          </p:sp>
          <p:sp>
            <p:nvSpPr>
              <p:cNvPr id="74767" name="Line 19"/>
              <p:cNvSpPr>
                <a:spLocks noChangeShapeType="1"/>
              </p:cNvSpPr>
              <p:nvPr/>
            </p:nvSpPr>
            <p:spPr bwMode="auto">
              <a:xfrm flipV="1">
                <a:off x="2928" y="3072"/>
                <a:ext cx="1584" cy="288"/>
              </a:xfrm>
              <a:prstGeom prst="line">
                <a:avLst/>
              </a:prstGeom>
              <a:noFill/>
              <a:ln w="38100">
                <a:solidFill>
                  <a:srgbClr val="FF0000"/>
                </a:solidFill>
                <a:round/>
                <a:headEnd/>
                <a:tailEnd type="triangle" w="med" len="med"/>
              </a:ln>
            </p:spPr>
            <p:txBody>
              <a:bodyPr/>
              <a:lstStyle/>
              <a:p>
                <a:endParaRPr lang="en-US"/>
              </a:p>
            </p:txBody>
          </p:sp>
          <p:sp>
            <p:nvSpPr>
              <p:cNvPr id="74768" name="Line 20"/>
              <p:cNvSpPr>
                <a:spLocks noChangeShapeType="1"/>
              </p:cNvSpPr>
              <p:nvPr/>
            </p:nvSpPr>
            <p:spPr bwMode="auto">
              <a:xfrm flipV="1">
                <a:off x="1680" y="3024"/>
                <a:ext cx="2832" cy="192"/>
              </a:xfrm>
              <a:prstGeom prst="line">
                <a:avLst/>
              </a:prstGeom>
              <a:noFill/>
              <a:ln w="38100">
                <a:solidFill>
                  <a:srgbClr val="FF0000"/>
                </a:solidFill>
                <a:round/>
                <a:headEnd/>
                <a:tailEnd type="triangle" w="med" len="med"/>
              </a:ln>
            </p:spPr>
            <p:txBody>
              <a:bodyPr/>
              <a:lstStyle/>
              <a:p>
                <a:endParaRPr lang="en-US"/>
              </a:p>
            </p:txBody>
          </p:sp>
          <p:sp>
            <p:nvSpPr>
              <p:cNvPr id="74769" name="Line 21"/>
              <p:cNvSpPr>
                <a:spLocks noChangeShapeType="1"/>
              </p:cNvSpPr>
              <p:nvPr/>
            </p:nvSpPr>
            <p:spPr bwMode="auto">
              <a:xfrm>
                <a:off x="1920" y="2352"/>
                <a:ext cx="2544" cy="528"/>
              </a:xfrm>
              <a:prstGeom prst="line">
                <a:avLst/>
              </a:prstGeom>
              <a:noFill/>
              <a:ln w="38100">
                <a:solidFill>
                  <a:srgbClr val="FF0000"/>
                </a:solidFill>
                <a:round/>
                <a:headEnd/>
                <a:tailEnd type="triangle" w="med" len="med"/>
              </a:ln>
            </p:spPr>
            <p:txBody>
              <a:bodyPr/>
              <a:lstStyle/>
              <a:p>
                <a:endParaRPr lang="en-US"/>
              </a:p>
            </p:txBody>
          </p:sp>
        </p:grpSp>
      </p:grpSp>
      <p:grpSp>
        <p:nvGrpSpPr>
          <p:cNvPr id="5" name="Group 22"/>
          <p:cNvGrpSpPr>
            <a:grpSpLocks/>
          </p:cNvGrpSpPr>
          <p:nvPr/>
        </p:nvGrpSpPr>
        <p:grpSpPr bwMode="auto">
          <a:xfrm>
            <a:off x="4038600" y="4572000"/>
            <a:ext cx="3352800" cy="1327150"/>
            <a:chOff x="2544" y="2880"/>
            <a:chExt cx="2112" cy="836"/>
          </a:xfrm>
        </p:grpSpPr>
        <p:sp>
          <p:nvSpPr>
            <p:cNvPr id="74759" name="Text Box 23"/>
            <p:cNvSpPr txBox="1">
              <a:spLocks noChangeArrowheads="1"/>
            </p:cNvSpPr>
            <p:nvPr/>
          </p:nvSpPr>
          <p:spPr bwMode="auto">
            <a:xfrm>
              <a:off x="3264" y="3312"/>
              <a:ext cx="1392" cy="404"/>
            </a:xfrm>
            <a:prstGeom prst="rect">
              <a:avLst/>
            </a:prstGeom>
            <a:noFill/>
            <a:ln w="12700">
              <a:noFill/>
              <a:miter lim="800000"/>
              <a:headEnd/>
              <a:tailEnd/>
            </a:ln>
          </p:spPr>
          <p:txBody>
            <a:bodyPr>
              <a:spAutoFit/>
            </a:bodyPr>
            <a:lstStyle/>
            <a:p>
              <a:pPr>
                <a:spcBef>
                  <a:spcPct val="50000"/>
                </a:spcBef>
              </a:pPr>
              <a:r>
                <a:rPr lang="en-US" sz="1800"/>
                <a:t>Choose k of the “nearest” records</a:t>
              </a:r>
            </a:p>
          </p:txBody>
        </p:sp>
        <p:grpSp>
          <p:nvGrpSpPr>
            <p:cNvPr id="6" name="Group 24"/>
            <p:cNvGrpSpPr>
              <a:grpSpLocks/>
            </p:cNvGrpSpPr>
            <p:nvPr/>
          </p:nvGrpSpPr>
          <p:grpSpPr bwMode="auto">
            <a:xfrm>
              <a:off x="2544" y="2880"/>
              <a:ext cx="2016" cy="480"/>
              <a:chOff x="2544" y="2880"/>
              <a:chExt cx="2016" cy="480"/>
            </a:xfrm>
          </p:grpSpPr>
          <p:sp>
            <p:nvSpPr>
              <p:cNvPr id="74761" name="Line 25"/>
              <p:cNvSpPr>
                <a:spLocks noChangeShapeType="1"/>
              </p:cNvSpPr>
              <p:nvPr/>
            </p:nvSpPr>
            <p:spPr bwMode="auto">
              <a:xfrm>
                <a:off x="2544" y="2880"/>
                <a:ext cx="2016" cy="48"/>
              </a:xfrm>
              <a:prstGeom prst="line">
                <a:avLst/>
              </a:prstGeom>
              <a:noFill/>
              <a:ln w="44450">
                <a:solidFill>
                  <a:srgbClr val="0000FF"/>
                </a:solidFill>
                <a:round/>
                <a:headEnd/>
                <a:tailEnd type="triangle" w="med" len="med"/>
              </a:ln>
            </p:spPr>
            <p:txBody>
              <a:bodyPr/>
              <a:lstStyle/>
              <a:p>
                <a:endParaRPr lang="en-US"/>
              </a:p>
            </p:txBody>
          </p:sp>
          <p:sp>
            <p:nvSpPr>
              <p:cNvPr id="74762" name="Line 26"/>
              <p:cNvSpPr>
                <a:spLocks noChangeShapeType="1"/>
              </p:cNvSpPr>
              <p:nvPr/>
            </p:nvSpPr>
            <p:spPr bwMode="auto">
              <a:xfrm flipV="1">
                <a:off x="2928" y="3072"/>
                <a:ext cx="1584" cy="288"/>
              </a:xfrm>
              <a:prstGeom prst="line">
                <a:avLst/>
              </a:prstGeom>
              <a:noFill/>
              <a:ln w="44450">
                <a:solidFill>
                  <a:srgbClr val="0000FF"/>
                </a:solidFill>
                <a:round/>
                <a:headEnd/>
                <a:tailEnd type="triangle" w="med" len="med"/>
              </a:ln>
            </p:spPr>
            <p:txBody>
              <a:bodyPr/>
              <a:lstStyle/>
              <a:p>
                <a:endParaRPr lang="en-US"/>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en-US" altLang="en-US"/>
              <a:t>Basic Idea</a:t>
            </a:r>
          </a:p>
        </p:txBody>
      </p:sp>
      <p:sp>
        <p:nvSpPr>
          <p:cNvPr id="21507" name="Content Placeholder 2"/>
          <p:cNvSpPr>
            <a:spLocks noGrp="1"/>
          </p:cNvSpPr>
          <p:nvPr>
            <p:ph sz="quarter"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en-US" altLang="en-US" i="1" dirty="0"/>
              <a:t>k</a:t>
            </a:r>
            <a:r>
              <a:rPr lang="en-US" altLang="en-US" dirty="0"/>
              <a:t>-NN classification rule is to assign to a test sample the majority category label of its </a:t>
            </a:r>
            <a:r>
              <a:rPr lang="en-US" altLang="en-US" i="1" dirty="0"/>
              <a:t>k</a:t>
            </a:r>
            <a:r>
              <a:rPr lang="en-US" altLang="en-US" dirty="0"/>
              <a:t> nearest training samples</a:t>
            </a:r>
          </a:p>
          <a:p>
            <a:pPr eaLnBrk="1" hangingPunct="1"/>
            <a:r>
              <a:rPr lang="en-US" altLang="en-US" dirty="0"/>
              <a:t>In practice, </a:t>
            </a:r>
            <a:r>
              <a:rPr lang="en-US" altLang="en-US" i="1" dirty="0"/>
              <a:t>k</a:t>
            </a:r>
            <a:r>
              <a:rPr lang="en-US" altLang="en-US" dirty="0"/>
              <a:t> is usually chosen to be odd, so as to avoid ties</a:t>
            </a:r>
          </a:p>
          <a:p>
            <a:pPr eaLnBrk="1" hangingPunct="1"/>
            <a:r>
              <a:rPr lang="en-US" altLang="en-US" dirty="0"/>
              <a:t>The </a:t>
            </a:r>
            <a:r>
              <a:rPr lang="en-US" altLang="en-US" i="1" dirty="0"/>
              <a:t>k</a:t>
            </a:r>
            <a:r>
              <a:rPr lang="en-US" altLang="en-US" dirty="0"/>
              <a:t> = 1 rule is generally called the nearest-neighbor classification rule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lstStyle/>
          <a:p>
            <a:r>
              <a:rPr lang="en-US"/>
              <a:t>Definition of Nearest Neighbor</a:t>
            </a:r>
          </a:p>
        </p:txBody>
      </p:sp>
      <p:graphicFrame>
        <p:nvGraphicFramePr>
          <p:cNvPr id="16386" name="Object 3"/>
          <p:cNvGraphicFramePr>
            <a:graphicFrameLocks noChangeAspect="1"/>
          </p:cNvGraphicFramePr>
          <p:nvPr/>
        </p:nvGraphicFramePr>
        <p:xfrm>
          <a:off x="533400" y="1600200"/>
          <a:ext cx="7848600" cy="3640138"/>
        </p:xfrm>
        <a:graphic>
          <a:graphicData uri="http://schemas.openxmlformats.org/presentationml/2006/ole">
            <mc:AlternateContent xmlns:mc="http://schemas.openxmlformats.org/markup-compatibility/2006">
              <mc:Choice xmlns:v="urn:schemas-microsoft-com:vml" Requires="v">
                <p:oleObj name="VISIO" r:id="rId2" imgW="9756360" imgH="4523760" progId="">
                  <p:embed/>
                </p:oleObj>
              </mc:Choice>
              <mc:Fallback>
                <p:oleObj name="VISIO" r:id="rId2" imgW="9756360" imgH="4523760" progId="">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600200"/>
                        <a:ext cx="7848600" cy="3640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388" name="Rectangle 4"/>
          <p:cNvSpPr>
            <a:spLocks noChangeArrowheads="1"/>
          </p:cNvSpPr>
          <p:nvPr/>
        </p:nvSpPr>
        <p:spPr bwMode="auto">
          <a:xfrm>
            <a:off x="762000" y="5257800"/>
            <a:ext cx="7696200" cy="914400"/>
          </a:xfrm>
          <a:prstGeom prst="rect">
            <a:avLst/>
          </a:prstGeom>
          <a:noFill/>
          <a:ln w="9525">
            <a:noFill/>
            <a:miter lim="800000"/>
            <a:headEnd/>
            <a:tailEnd/>
          </a:ln>
        </p:spPr>
        <p:txBody>
          <a:bodyPr/>
          <a:lstStyle/>
          <a:p>
            <a:pPr marL="342900" indent="-342900">
              <a:spcBef>
                <a:spcPct val="10000"/>
              </a:spcBef>
              <a:spcAft>
                <a:spcPts val="400"/>
              </a:spcAft>
              <a:buClr>
                <a:srgbClr val="0C7B9C"/>
              </a:buClr>
              <a:buSzPct val="75000"/>
              <a:buFont typeface="Monotype Sorts" pitchFamily="2" charset="2"/>
              <a:buNone/>
            </a:pPr>
            <a:r>
              <a:rPr lang="en-US" sz="2400" b="0"/>
              <a:t>    K-nearest neighbors of a record x are data points that have the k smallest distance to x</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r>
              <a:rPr lang="en-US" dirty="0"/>
              <a:t>Nearest-Neighbor Classifiers: Issues</a:t>
            </a:r>
          </a:p>
        </p:txBody>
      </p:sp>
      <p:sp>
        <p:nvSpPr>
          <p:cNvPr id="15364" name="Rectangle 3"/>
          <p:cNvSpPr>
            <a:spLocks noChangeArrowheads="1"/>
          </p:cNvSpPr>
          <p:nvPr/>
        </p:nvSpPr>
        <p:spPr bwMode="auto">
          <a:xfrm>
            <a:off x="762000" y="1447800"/>
            <a:ext cx="6477000" cy="2590800"/>
          </a:xfrm>
          <a:prstGeom prst="rect">
            <a:avLst/>
          </a:prstGeom>
          <a:noFill/>
          <a:ln w="9525">
            <a:noFill/>
            <a:miter lim="800000"/>
            <a:headEnd/>
            <a:tailEnd/>
          </a:ln>
        </p:spPr>
        <p:txBody>
          <a:bodyPr/>
          <a:lstStyle/>
          <a:p>
            <a:pPr marL="285750" indent="-285750">
              <a:spcBef>
                <a:spcPct val="10000"/>
              </a:spcBef>
              <a:spcAft>
                <a:spcPts val="400"/>
              </a:spcAft>
              <a:buClr>
                <a:srgbClr val="0C7B9C"/>
              </a:buClr>
              <a:buSzPct val="100000"/>
              <a:buFont typeface="Arial" pitchFamily="34" charset="0"/>
              <a:buChar char="–"/>
            </a:pPr>
            <a:r>
              <a:rPr lang="en-US" sz="2800" b="0" dirty="0"/>
              <a:t>The value of </a:t>
            </a:r>
            <a:r>
              <a:rPr lang="en-US" sz="2800" b="0" i="1" dirty="0"/>
              <a:t>k</a:t>
            </a:r>
            <a:r>
              <a:rPr lang="en-US" sz="2800" b="0" dirty="0"/>
              <a:t>, the number of nearest neighbors to retrieve</a:t>
            </a:r>
          </a:p>
          <a:p>
            <a:pPr marL="285750" indent="-285750">
              <a:spcBef>
                <a:spcPct val="10000"/>
              </a:spcBef>
              <a:spcAft>
                <a:spcPts val="400"/>
              </a:spcAft>
              <a:buClr>
                <a:srgbClr val="0C7B9C"/>
              </a:buClr>
              <a:buSzPct val="100000"/>
              <a:buFont typeface="Arial" pitchFamily="34" charset="0"/>
              <a:buChar char="–"/>
            </a:pPr>
            <a:r>
              <a:rPr lang="en-US" sz="2800" dirty="0"/>
              <a:t>Choice of Distance Metric to compute distance between records</a:t>
            </a:r>
          </a:p>
          <a:p>
            <a:pPr marL="285750" indent="-285750">
              <a:spcBef>
                <a:spcPct val="10000"/>
              </a:spcBef>
              <a:spcAft>
                <a:spcPts val="400"/>
              </a:spcAft>
              <a:buClr>
                <a:srgbClr val="0C7B9C"/>
              </a:buClr>
              <a:buSzPct val="100000"/>
              <a:buFont typeface="Arial" pitchFamily="34" charset="0"/>
              <a:buChar char="–"/>
            </a:pPr>
            <a:r>
              <a:rPr lang="en-US" sz="2800" dirty="0"/>
              <a:t>Computational complexity</a:t>
            </a:r>
          </a:p>
          <a:p>
            <a:pPr marL="742950" lvl="1" indent="-285750">
              <a:spcBef>
                <a:spcPct val="10000"/>
              </a:spcBef>
              <a:spcAft>
                <a:spcPts val="400"/>
              </a:spcAft>
              <a:buClr>
                <a:srgbClr val="0C7B9C"/>
              </a:buClr>
              <a:buSzPct val="100000"/>
              <a:buFont typeface="Arial" pitchFamily="34" charset="0"/>
              <a:buChar char="–"/>
            </a:pPr>
            <a:r>
              <a:rPr lang="en-US" sz="2800" dirty="0"/>
              <a:t>Size of training set</a:t>
            </a:r>
          </a:p>
          <a:p>
            <a:pPr marL="742950" lvl="1" indent="-285750">
              <a:spcBef>
                <a:spcPct val="10000"/>
              </a:spcBef>
              <a:spcAft>
                <a:spcPts val="400"/>
              </a:spcAft>
              <a:buClr>
                <a:srgbClr val="0C7B9C"/>
              </a:buClr>
              <a:buSzPct val="100000"/>
              <a:buFont typeface="Arial" pitchFamily="34" charset="0"/>
              <a:buChar char="–"/>
            </a:pPr>
            <a:r>
              <a:rPr lang="en-US" sz="2800" dirty="0"/>
              <a:t>Dimension of data</a:t>
            </a:r>
          </a:p>
          <a:p>
            <a:pPr marL="742950" lvl="1" indent="-285750">
              <a:spcBef>
                <a:spcPct val="10000"/>
              </a:spcBef>
              <a:spcAft>
                <a:spcPts val="400"/>
              </a:spcAft>
              <a:buClr>
                <a:srgbClr val="0C7B9C"/>
              </a:buClr>
              <a:buSzPct val="100000"/>
              <a:buFont typeface="Arial" pitchFamily="34" charset="0"/>
              <a:buChar char="–"/>
            </a:pPr>
            <a:endParaRPr lang="en-US" sz="1800" b="0" dirty="0"/>
          </a:p>
          <a:p>
            <a:pPr marL="742950" lvl="1" indent="-285750">
              <a:spcBef>
                <a:spcPct val="10000"/>
              </a:spcBef>
              <a:spcAft>
                <a:spcPts val="400"/>
              </a:spcAft>
              <a:buClr>
                <a:srgbClr val="0C7B9C"/>
              </a:buClr>
              <a:buSzPct val="100000"/>
            </a:pPr>
            <a:endParaRPr lang="en-US" sz="1800" b="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lstStyle/>
          <a:p>
            <a:r>
              <a:rPr lang="en-US" dirty="0"/>
              <a:t>Value of K</a:t>
            </a:r>
          </a:p>
        </p:txBody>
      </p:sp>
      <p:sp>
        <p:nvSpPr>
          <p:cNvPr id="18436" name="Rectangle 3"/>
          <p:cNvSpPr>
            <a:spLocks noGrp="1" noChangeArrowheads="1"/>
          </p:cNvSpPr>
          <p:nvPr>
            <p:ph sz="quarter" idx="1"/>
          </p:nvPr>
        </p:nvSpPr>
        <p:spPr/>
        <p:txBody>
          <a:bodyPr/>
          <a:lstStyle/>
          <a:p>
            <a:r>
              <a:rPr lang="en-US" dirty="0"/>
              <a:t>Choosing the value of k:</a:t>
            </a:r>
          </a:p>
          <a:p>
            <a:pPr lvl="1"/>
            <a:r>
              <a:rPr lang="en-US" sz="2400" dirty="0"/>
              <a:t>If k is too small, sensitive to noise points</a:t>
            </a:r>
          </a:p>
          <a:p>
            <a:pPr lvl="1"/>
            <a:r>
              <a:rPr lang="en-US" sz="2400" dirty="0"/>
              <a:t>If k is too large, neighborhood may include points from other classes</a:t>
            </a:r>
          </a:p>
        </p:txBody>
      </p:sp>
      <p:graphicFrame>
        <p:nvGraphicFramePr>
          <p:cNvPr id="18434" name="Object 4"/>
          <p:cNvGraphicFramePr>
            <a:graphicFrameLocks noChangeAspect="1"/>
          </p:cNvGraphicFramePr>
          <p:nvPr/>
        </p:nvGraphicFramePr>
        <p:xfrm>
          <a:off x="3657600" y="3078163"/>
          <a:ext cx="3738563" cy="3170237"/>
        </p:xfrm>
        <a:graphic>
          <a:graphicData uri="http://schemas.openxmlformats.org/presentationml/2006/ole">
            <mc:AlternateContent xmlns:mc="http://schemas.openxmlformats.org/markup-compatibility/2006">
              <mc:Choice xmlns:v="urn:schemas-microsoft-com:vml" Requires="v">
                <p:oleObj name="Visio" r:id="rId2" imgW="6582512" imgH="5298053" progId="">
                  <p:embed/>
                </p:oleObj>
              </mc:Choice>
              <mc:Fallback>
                <p:oleObj name="Visio" r:id="rId2" imgW="6582512" imgH="5298053" progId="">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3078163"/>
                        <a:ext cx="3738563" cy="3170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Box 4"/>
          <p:cNvSpPr txBox="1"/>
          <p:nvPr/>
        </p:nvSpPr>
        <p:spPr>
          <a:xfrm>
            <a:off x="838200" y="3962400"/>
            <a:ext cx="2828338" cy="1477328"/>
          </a:xfrm>
          <a:prstGeom prst="rect">
            <a:avLst/>
          </a:prstGeom>
          <a:noFill/>
        </p:spPr>
        <p:txBody>
          <a:bodyPr wrap="none" rtlCol="0">
            <a:spAutoFit/>
          </a:bodyPr>
          <a:lstStyle/>
          <a:p>
            <a:r>
              <a:rPr lang="en-US" dirty="0"/>
              <a:t>Rule of thumb:</a:t>
            </a:r>
          </a:p>
          <a:p>
            <a:r>
              <a:rPr lang="en-US" dirty="0"/>
              <a:t>K = </a:t>
            </a:r>
            <a:r>
              <a:rPr lang="en-US" dirty="0" err="1"/>
              <a:t>sqrt</a:t>
            </a:r>
            <a:r>
              <a:rPr lang="en-US" dirty="0"/>
              <a:t>(N)</a:t>
            </a:r>
          </a:p>
          <a:p>
            <a:r>
              <a:rPr lang="en-US" dirty="0"/>
              <a:t>N: number of training points</a:t>
            </a:r>
          </a:p>
          <a:p>
            <a:endParaRPr lang="en-US" dirty="0"/>
          </a:p>
          <a:p>
            <a:r>
              <a:rPr lang="en-US" dirty="0"/>
              <a:t>K is odd number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bwMode="auto">
          <a:noFill/>
          <a:ln>
            <a:miter lim="800000"/>
            <a:headEnd/>
            <a:tailEnd/>
          </a:ln>
        </p:spPr>
        <p:txBody>
          <a:bodyPr vert="horz" wrap="square" lIns="91440" tIns="45720" rIns="91440" bIns="45720" numCol="1" anchor="t" anchorCtr="0" compatLnSpc="1">
            <a:prstTxWarp prst="textNoShape">
              <a:avLst/>
            </a:prstTxWarp>
          </a:bodyPr>
          <a:lstStyle/>
          <a:p>
            <a:r>
              <a:rPr lang="en-US" altLang="en-US"/>
              <a:t>Distance Metrics</a:t>
            </a:r>
          </a:p>
        </p:txBody>
      </p:sp>
      <p:pic>
        <p:nvPicPr>
          <p:cNvPr id="27651" name="Picture 3" descr="Snapshot 2005-11-03 15-11-07"/>
          <p:cNvPicPr>
            <a:picLocks noChangeAspect="1" noChangeArrowheads="1"/>
          </p:cNvPicPr>
          <p:nvPr/>
        </p:nvPicPr>
        <p:blipFill>
          <a:blip r:embed="rId3"/>
          <a:srcRect/>
          <a:stretch>
            <a:fillRect/>
          </a:stretch>
        </p:blipFill>
        <p:spPr bwMode="auto">
          <a:xfrm>
            <a:off x="1524000" y="914400"/>
            <a:ext cx="5529262" cy="5597525"/>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5"/>
          <p:cNvSpPr>
            <a:spLocks noGrp="1"/>
          </p:cNvSpPr>
          <p:nvPr>
            <p:ph type="title"/>
          </p:nvPr>
        </p:nvSpPr>
        <p:spPr bwMode="auto">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en-US" altLang="en-US" dirty="0"/>
              <a:t>Distance Measure: Scale Effects</a:t>
            </a:r>
          </a:p>
        </p:txBody>
      </p:sp>
      <p:sp>
        <p:nvSpPr>
          <p:cNvPr id="25603" name="Content Placeholder 6"/>
          <p:cNvSpPr>
            <a:spLocks noGrp="1"/>
          </p:cNvSpPr>
          <p:nvPr>
            <p:ph sz="quarter"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en-US" altLang="en-US" dirty="0"/>
              <a:t>Different features may have different measurement scales</a:t>
            </a:r>
          </a:p>
          <a:p>
            <a:pPr lvl="1" eaLnBrk="1" hangingPunct="1"/>
            <a:r>
              <a:rPr lang="en-US" altLang="en-US" dirty="0"/>
              <a:t>E.g., patient weight in kg (range [50,200]) vs. blood protein values in </a:t>
            </a:r>
            <a:r>
              <a:rPr lang="en-US" altLang="en-US" dirty="0" err="1"/>
              <a:t>ng</a:t>
            </a:r>
            <a:r>
              <a:rPr lang="en-US" altLang="en-US" dirty="0"/>
              <a:t>/</a:t>
            </a:r>
            <a:r>
              <a:rPr lang="en-US" altLang="en-US" dirty="0" err="1"/>
              <a:t>dL</a:t>
            </a:r>
            <a:r>
              <a:rPr lang="en-US" altLang="en-US" dirty="0"/>
              <a:t> (range [-3,3])</a:t>
            </a:r>
          </a:p>
          <a:p>
            <a:pPr eaLnBrk="1" hangingPunct="1"/>
            <a:r>
              <a:rPr lang="en-US" altLang="en-US" dirty="0"/>
              <a:t>Consequences</a:t>
            </a:r>
          </a:p>
          <a:p>
            <a:pPr lvl="1" eaLnBrk="1" hangingPunct="1"/>
            <a:r>
              <a:rPr lang="en-US" altLang="en-US" dirty="0"/>
              <a:t>Patient weight will have a much greater influence on the distance between samples</a:t>
            </a:r>
          </a:p>
          <a:p>
            <a:pPr lvl="1" eaLnBrk="1" hangingPunct="1"/>
            <a:r>
              <a:rPr lang="en-US" altLang="en-US" dirty="0"/>
              <a:t>May bias the performance of the classifier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5"/>
          <p:cNvSpPr>
            <a:spLocks noGrp="1"/>
          </p:cNvSpPr>
          <p:nvPr>
            <p:ph type="title"/>
          </p:nvPr>
        </p:nvSpPr>
        <p:spPr bwMode="auto">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en-US" altLang="en-US"/>
              <a:t>Standardization</a:t>
            </a:r>
          </a:p>
        </p:txBody>
      </p:sp>
      <p:sp>
        <p:nvSpPr>
          <p:cNvPr id="26627" name="Content Placeholder 6"/>
          <p:cNvSpPr>
            <a:spLocks noGrp="1"/>
          </p:cNvSpPr>
          <p:nvPr>
            <p:ph sz="quarter" idx="1"/>
          </p:nvPr>
        </p:nvSpPr>
        <p:spPr bwMode="auto">
          <a:xfrm>
            <a:off x="457200" y="1587500"/>
            <a:ext cx="8229600" cy="4525963"/>
          </a:xfrm>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en-US" altLang="en-US" dirty="0"/>
              <a:t>Transform raw feature values into z-scores</a:t>
            </a:r>
          </a:p>
          <a:p>
            <a:pPr lvl="1" eaLnBrk="1" hangingPunct="1"/>
            <a:endParaRPr lang="en-US" altLang="en-US" dirty="0"/>
          </a:p>
          <a:p>
            <a:pPr lvl="1" eaLnBrk="1" hangingPunct="1">
              <a:buFont typeface="Arial" pitchFamily="34" charset="0"/>
              <a:buNone/>
            </a:pPr>
            <a:endParaRPr lang="en-US" altLang="en-US" dirty="0"/>
          </a:p>
          <a:p>
            <a:pPr lvl="1" eaLnBrk="1" hangingPunct="1"/>
            <a:r>
              <a:rPr lang="en-US" altLang="en-US" dirty="0"/>
              <a:t>  </a:t>
            </a:r>
          </a:p>
          <a:p>
            <a:pPr lvl="1" eaLnBrk="1" hangingPunct="1"/>
            <a:r>
              <a:rPr lang="en-US" altLang="en-US" dirty="0"/>
              <a:t>   is the value for the </a:t>
            </a:r>
            <a:r>
              <a:rPr lang="en-US" altLang="en-US" i="1" dirty="0" err="1"/>
              <a:t>i</a:t>
            </a:r>
            <a:r>
              <a:rPr lang="en-US" altLang="en-US" i="1" baseline="30000" dirty="0" err="1"/>
              <a:t>th</a:t>
            </a:r>
            <a:r>
              <a:rPr lang="en-US" altLang="en-US" dirty="0"/>
              <a:t> sample and </a:t>
            </a:r>
            <a:r>
              <a:rPr lang="en-US" altLang="en-US" i="1" dirty="0" err="1"/>
              <a:t>j</a:t>
            </a:r>
            <a:r>
              <a:rPr lang="en-US" altLang="en-US" i="1" baseline="30000" dirty="0" err="1"/>
              <a:t>th</a:t>
            </a:r>
            <a:r>
              <a:rPr lang="en-US" altLang="en-US" dirty="0"/>
              <a:t> feature</a:t>
            </a:r>
          </a:p>
          <a:p>
            <a:pPr lvl="1" eaLnBrk="1" hangingPunct="1"/>
            <a:r>
              <a:rPr lang="en-US" altLang="en-US" dirty="0"/>
              <a:t>     is the average of all     for feature </a:t>
            </a:r>
            <a:r>
              <a:rPr lang="en-US" altLang="en-US" i="1" dirty="0"/>
              <a:t>j</a:t>
            </a:r>
          </a:p>
          <a:p>
            <a:pPr lvl="1" eaLnBrk="1" hangingPunct="1"/>
            <a:r>
              <a:rPr lang="en-US" altLang="en-US" dirty="0"/>
              <a:t>     is the standard deviation of all     over all input samples</a:t>
            </a:r>
          </a:p>
          <a:p>
            <a:pPr eaLnBrk="1" hangingPunct="1"/>
            <a:r>
              <a:rPr lang="en-US" altLang="en-US" dirty="0"/>
              <a:t>Range and scale of z-scores should be similar </a:t>
            </a:r>
            <a:r>
              <a:rPr lang="en-US" altLang="en-US" sz="2400" dirty="0"/>
              <a:t>(providing distributions of raw feature values are alike)</a:t>
            </a:r>
          </a:p>
        </p:txBody>
      </p:sp>
      <p:graphicFrame>
        <p:nvGraphicFramePr>
          <p:cNvPr id="26628" name="Object 2"/>
          <p:cNvGraphicFramePr>
            <a:graphicFrameLocks noChangeAspect="1"/>
          </p:cNvGraphicFramePr>
          <p:nvPr/>
        </p:nvGraphicFramePr>
        <p:xfrm>
          <a:off x="3149600" y="2233613"/>
          <a:ext cx="1670050" cy="915987"/>
        </p:xfrm>
        <a:graphic>
          <a:graphicData uri="http://schemas.openxmlformats.org/presentationml/2006/ole">
            <mc:AlternateContent xmlns:mc="http://schemas.openxmlformats.org/markup-compatibility/2006">
              <mc:Choice xmlns:v="urn:schemas-microsoft-com:vml" Requires="v">
                <p:oleObj name="Equation" r:id="rId2" imgW="776880" imgH="420480" progId="Equation.3">
                  <p:embed/>
                </p:oleObj>
              </mc:Choice>
              <mc:Fallback>
                <p:oleObj name="Equation" r:id="rId2" imgW="776880" imgH="42048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9600" y="2233613"/>
                        <a:ext cx="1670050" cy="915987"/>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26629" name="Object 3"/>
          <p:cNvGraphicFramePr>
            <a:graphicFrameLocks noChangeAspect="1"/>
          </p:cNvGraphicFramePr>
          <p:nvPr/>
        </p:nvGraphicFramePr>
        <p:xfrm>
          <a:off x="3149600" y="2246313"/>
          <a:ext cx="1670050" cy="915987"/>
        </p:xfrm>
        <a:graphic>
          <a:graphicData uri="http://schemas.openxmlformats.org/presentationml/2006/ole">
            <mc:AlternateContent xmlns:mc="http://schemas.openxmlformats.org/markup-compatibility/2006">
              <mc:Choice xmlns:v="urn:schemas-microsoft-com:vml" Requires="v">
                <p:oleObj name="Equation" r:id="rId4" imgW="776880" imgH="420480" progId="Equation.3">
                  <p:embed/>
                </p:oleObj>
              </mc:Choice>
              <mc:Fallback>
                <p:oleObj name="Equation" r:id="rId4" imgW="776880" imgH="42048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49600" y="2246313"/>
                        <a:ext cx="1670050" cy="915987"/>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26630" name="Object 4"/>
          <p:cNvGraphicFramePr>
            <a:graphicFrameLocks noChangeAspect="1"/>
          </p:cNvGraphicFramePr>
          <p:nvPr/>
        </p:nvGraphicFramePr>
        <p:xfrm>
          <a:off x="1066800" y="3276600"/>
          <a:ext cx="376237" cy="431800"/>
        </p:xfrm>
        <a:graphic>
          <a:graphicData uri="http://schemas.openxmlformats.org/presentationml/2006/ole">
            <mc:AlternateContent xmlns:mc="http://schemas.openxmlformats.org/markup-compatibility/2006">
              <mc:Choice xmlns:v="urn:schemas-microsoft-com:vml" Requires="v">
                <p:oleObj name="Equation" r:id="rId6" imgW="164520" imgH="191880" progId="Equation.3">
                  <p:embed/>
                </p:oleObj>
              </mc:Choice>
              <mc:Fallback>
                <p:oleObj name="Equation" r:id="rId6" imgW="164520" imgH="19188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66800" y="3276600"/>
                        <a:ext cx="376237" cy="43180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26631" name="Object 5"/>
          <p:cNvGraphicFramePr>
            <a:graphicFrameLocks noChangeAspect="1"/>
          </p:cNvGraphicFramePr>
          <p:nvPr/>
        </p:nvGraphicFramePr>
        <p:xfrm>
          <a:off x="990600" y="3733800"/>
          <a:ext cx="349250" cy="431800"/>
        </p:xfrm>
        <a:graphic>
          <a:graphicData uri="http://schemas.openxmlformats.org/presentationml/2006/ole">
            <mc:AlternateContent xmlns:mc="http://schemas.openxmlformats.org/markup-compatibility/2006">
              <mc:Choice xmlns:v="urn:schemas-microsoft-com:vml" Requires="v">
                <p:oleObj name="Equation" r:id="rId8" imgW="155160" imgH="191880" progId="Equation.3">
                  <p:embed/>
                </p:oleObj>
              </mc:Choice>
              <mc:Fallback>
                <p:oleObj name="Equation" r:id="rId8" imgW="155160" imgH="191880"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90600" y="3733800"/>
                        <a:ext cx="349250" cy="43180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26632" name="Object 6"/>
          <p:cNvGraphicFramePr>
            <a:graphicFrameLocks noChangeAspect="1"/>
          </p:cNvGraphicFramePr>
          <p:nvPr/>
        </p:nvGraphicFramePr>
        <p:xfrm>
          <a:off x="3733800" y="3733800"/>
          <a:ext cx="376237" cy="431800"/>
        </p:xfrm>
        <a:graphic>
          <a:graphicData uri="http://schemas.openxmlformats.org/presentationml/2006/ole">
            <mc:AlternateContent xmlns:mc="http://schemas.openxmlformats.org/markup-compatibility/2006">
              <mc:Choice xmlns:v="urn:schemas-microsoft-com:vml" Requires="v">
                <p:oleObj name="Equation" r:id="rId10" imgW="164520" imgH="191880" progId="Equation.3">
                  <p:embed/>
                </p:oleObj>
              </mc:Choice>
              <mc:Fallback>
                <p:oleObj name="Equation" r:id="rId10" imgW="164520" imgH="191880" progId="Equation.3">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33800" y="3733800"/>
                        <a:ext cx="376237" cy="43180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26633" name="Object 7"/>
          <p:cNvGraphicFramePr>
            <a:graphicFrameLocks noChangeAspect="1"/>
          </p:cNvGraphicFramePr>
          <p:nvPr/>
        </p:nvGraphicFramePr>
        <p:xfrm>
          <a:off x="990600" y="4191000"/>
          <a:ext cx="376237" cy="431800"/>
        </p:xfrm>
        <a:graphic>
          <a:graphicData uri="http://schemas.openxmlformats.org/presentationml/2006/ole">
            <mc:AlternateContent xmlns:mc="http://schemas.openxmlformats.org/markup-compatibility/2006">
              <mc:Choice xmlns:v="urn:schemas-microsoft-com:vml" Requires="v">
                <p:oleObj name="Equation" r:id="rId12" imgW="164520" imgH="191880" progId="Equation.3">
                  <p:embed/>
                </p:oleObj>
              </mc:Choice>
              <mc:Fallback>
                <p:oleObj name="Equation" r:id="rId12" imgW="164520" imgH="191880" progId="Equation.3">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90600" y="4191000"/>
                        <a:ext cx="376237" cy="43180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26634" name="Object 8"/>
          <p:cNvGraphicFramePr>
            <a:graphicFrameLocks noChangeAspect="1"/>
          </p:cNvGraphicFramePr>
          <p:nvPr/>
        </p:nvGraphicFramePr>
        <p:xfrm>
          <a:off x="5105400" y="4191000"/>
          <a:ext cx="376237" cy="431800"/>
        </p:xfrm>
        <a:graphic>
          <a:graphicData uri="http://schemas.openxmlformats.org/presentationml/2006/ole">
            <mc:AlternateContent xmlns:mc="http://schemas.openxmlformats.org/markup-compatibility/2006">
              <mc:Choice xmlns:v="urn:schemas-microsoft-com:vml" Requires="v">
                <p:oleObj name="Equation" r:id="rId14" imgW="164520" imgH="191880" progId="Equation.3">
                  <p:embed/>
                </p:oleObj>
              </mc:Choice>
              <mc:Fallback>
                <p:oleObj name="Equation" r:id="rId14" imgW="164520" imgH="191880" progId="Equation.3">
                  <p:embed/>
                  <p:pic>
                    <p:nvPicPr>
                      <p:cNvPr id="0"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105400" y="4191000"/>
                        <a:ext cx="376237" cy="43180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en-US" dirty="0"/>
              <a:t>Nearest Neighbor : Dimensionality</a:t>
            </a:r>
          </a:p>
        </p:txBody>
      </p:sp>
      <p:sp>
        <p:nvSpPr>
          <p:cNvPr id="77827" name="Rectangle 3"/>
          <p:cNvSpPr>
            <a:spLocks noGrp="1" noChangeArrowheads="1"/>
          </p:cNvSpPr>
          <p:nvPr>
            <p:ph sz="quarter" idx="1"/>
          </p:nvPr>
        </p:nvSpPr>
        <p:spPr/>
        <p:txBody>
          <a:bodyPr>
            <a:normAutofit fontScale="92500" lnSpcReduction="10000"/>
          </a:bodyPr>
          <a:lstStyle/>
          <a:p>
            <a:r>
              <a:rPr lang="en-US" dirty="0"/>
              <a:t>Problem with Euclidean measure:</a:t>
            </a:r>
          </a:p>
          <a:p>
            <a:pPr lvl="1"/>
            <a:r>
              <a:rPr lang="en-US" dirty="0"/>
              <a:t>High dimensional data </a:t>
            </a:r>
          </a:p>
          <a:p>
            <a:pPr lvl="2"/>
            <a:r>
              <a:rPr lang="en-US" dirty="0">
                <a:solidFill>
                  <a:srgbClr val="FF0000"/>
                </a:solidFill>
              </a:rPr>
              <a:t>curse of dimensionality</a:t>
            </a:r>
          </a:p>
          <a:p>
            <a:pPr lvl="2"/>
            <a:r>
              <a:rPr lang="en-US" b="0" i="0" dirty="0">
                <a:solidFill>
                  <a:srgbClr val="374151"/>
                </a:solidFill>
                <a:effectLst/>
                <a:latin typeface="Söhne"/>
              </a:rPr>
              <a:t>As the number of dimensions increases, the distance between data points becomes less meaningful.</a:t>
            </a:r>
            <a:endParaRPr lang="en-US" dirty="0">
              <a:solidFill>
                <a:srgbClr val="FF0000"/>
              </a:solidFill>
            </a:endParaRPr>
          </a:p>
          <a:p>
            <a:pPr lvl="1"/>
            <a:r>
              <a:rPr lang="en-US" dirty="0"/>
              <a:t>Can produce counter-intuitive results</a:t>
            </a:r>
          </a:p>
          <a:p>
            <a:pPr lvl="1"/>
            <a:r>
              <a:rPr lang="en-US" dirty="0"/>
              <a:t>Shrinking density – </a:t>
            </a:r>
            <a:r>
              <a:rPr lang="en-US" dirty="0" err="1"/>
              <a:t>sparsification</a:t>
            </a:r>
            <a:r>
              <a:rPr lang="en-US" dirty="0"/>
              <a:t> effect</a:t>
            </a:r>
          </a:p>
          <a:p>
            <a:pPr lvl="2"/>
            <a:r>
              <a:rPr lang="en-US" b="0" i="0" dirty="0">
                <a:solidFill>
                  <a:srgbClr val="000000"/>
                </a:solidFill>
                <a:effectLst/>
                <a:latin typeface="Söhne"/>
              </a:rPr>
              <a:t>In high-dimensional spaces, data points tend to become more dispersed, and the density of data points decreases. </a:t>
            </a:r>
          </a:p>
          <a:p>
            <a:pPr lvl="2"/>
            <a:r>
              <a:rPr lang="en-US" b="0" i="0" dirty="0">
                <a:solidFill>
                  <a:srgbClr val="000000"/>
                </a:solidFill>
                <a:effectLst/>
                <a:latin typeface="Söhne"/>
              </a:rPr>
              <a:t>This means that the nearest neighbors of a data point may not provide a representative or meaningful view of the data because they are too far away. </a:t>
            </a:r>
          </a:p>
          <a:p>
            <a:pPr lvl="2"/>
            <a:r>
              <a:rPr lang="en-US" b="0" i="0" dirty="0">
                <a:solidFill>
                  <a:srgbClr val="000000"/>
                </a:solidFill>
                <a:effectLst/>
                <a:latin typeface="Söhne"/>
              </a:rPr>
              <a:t>As a result, distance-based algorithms that rely on the Euclidean measure can be adversely affected, as they may not accurately capture the underlying structure of the data.</a:t>
            </a:r>
            <a:endParaRPr lang="en-US" dirty="0"/>
          </a:p>
          <a:p>
            <a:pPr lvl="1"/>
            <a:endParaRPr lang="en-US" dirty="0"/>
          </a:p>
          <a:p>
            <a:pPr lvl="1"/>
            <a:endParaRPr lang="en-US" dirty="0"/>
          </a:p>
          <a:p>
            <a:pPr lvl="1"/>
            <a:endParaRPr lang="en-US" dirty="0"/>
          </a:p>
          <a:p>
            <a:pPr lvl="1"/>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normAutofit fontScale="90000"/>
          </a:bodyPr>
          <a:lstStyle/>
          <a:p>
            <a:r>
              <a:rPr lang="en-GB" dirty="0"/>
              <a:t>Nearest Neighbour : Computational Complexity</a:t>
            </a:r>
          </a:p>
        </p:txBody>
      </p:sp>
      <p:sp>
        <p:nvSpPr>
          <p:cNvPr id="12291" name="Rectangle 3"/>
          <p:cNvSpPr>
            <a:spLocks noGrp="1" noChangeArrowheads="1"/>
          </p:cNvSpPr>
          <p:nvPr>
            <p:ph sz="quarter" idx="1"/>
          </p:nvPr>
        </p:nvSpPr>
        <p:spPr/>
        <p:txBody>
          <a:bodyPr>
            <a:normAutofit/>
          </a:bodyPr>
          <a:lstStyle/>
          <a:p>
            <a:pPr>
              <a:lnSpc>
                <a:spcPct val="90000"/>
              </a:lnSpc>
            </a:pPr>
            <a:r>
              <a:rPr lang="en-GB" dirty="0"/>
              <a:t>Expensive</a:t>
            </a:r>
          </a:p>
          <a:p>
            <a:pPr lvl="1">
              <a:lnSpc>
                <a:spcPct val="90000"/>
              </a:lnSpc>
            </a:pPr>
            <a:r>
              <a:rPr lang="en-GB" dirty="0">
                <a:solidFill>
                  <a:srgbClr val="CC0000"/>
                </a:solidFill>
              </a:rPr>
              <a:t>To determine the nearest neighbour of a query point </a:t>
            </a:r>
            <a:r>
              <a:rPr lang="en-GB" i="1" dirty="0">
                <a:solidFill>
                  <a:srgbClr val="CC0000"/>
                </a:solidFill>
              </a:rPr>
              <a:t>q</a:t>
            </a:r>
            <a:r>
              <a:rPr lang="en-GB" dirty="0">
                <a:solidFill>
                  <a:srgbClr val="CC0000"/>
                </a:solidFill>
              </a:rPr>
              <a:t>, must compute the distance to all </a:t>
            </a:r>
            <a:r>
              <a:rPr lang="en-GB" i="1" dirty="0">
                <a:solidFill>
                  <a:srgbClr val="CC0000"/>
                </a:solidFill>
              </a:rPr>
              <a:t>N</a:t>
            </a:r>
            <a:r>
              <a:rPr lang="en-GB" dirty="0">
                <a:solidFill>
                  <a:srgbClr val="CC0000"/>
                </a:solidFill>
              </a:rPr>
              <a:t> training examples</a:t>
            </a:r>
          </a:p>
          <a:p>
            <a:pPr>
              <a:lnSpc>
                <a:spcPct val="90000"/>
              </a:lnSpc>
            </a:pPr>
            <a:r>
              <a:rPr lang="en-GB" dirty="0"/>
              <a:t>Storage Requirements</a:t>
            </a:r>
          </a:p>
          <a:p>
            <a:pPr lvl="1">
              <a:lnSpc>
                <a:spcPct val="90000"/>
              </a:lnSpc>
            </a:pPr>
            <a:r>
              <a:rPr lang="en-GB" dirty="0">
                <a:solidFill>
                  <a:srgbClr val="CC0000"/>
                </a:solidFill>
              </a:rPr>
              <a:t>Must store all training data </a:t>
            </a:r>
            <a:r>
              <a:rPr lang="en-GB" b="1" dirty="0">
                <a:solidFill>
                  <a:srgbClr val="CC0000"/>
                </a:solidFill>
              </a:rPr>
              <a:t>P</a:t>
            </a:r>
          </a:p>
          <a:p>
            <a:pPr lvl="2">
              <a:lnSpc>
                <a:spcPct val="90000"/>
              </a:lnSpc>
              <a:buFont typeface="Arial" pitchFamily="34" charset="0"/>
              <a:buChar char="+"/>
            </a:pPr>
            <a:r>
              <a:rPr lang="en-GB" dirty="0"/>
              <a:t>Remove redundant data (condensing)</a:t>
            </a:r>
          </a:p>
          <a:p>
            <a:pPr>
              <a:lnSpc>
                <a:spcPct val="90000"/>
              </a:lnSpc>
            </a:pPr>
            <a:r>
              <a:rPr lang="en-GB" dirty="0"/>
              <a:t>High Dimensional Data</a:t>
            </a:r>
          </a:p>
          <a:p>
            <a:pPr lvl="1">
              <a:lnSpc>
                <a:spcPct val="90000"/>
              </a:lnSpc>
            </a:pPr>
            <a:r>
              <a:rPr lang="en-GB" dirty="0">
                <a:solidFill>
                  <a:srgbClr val="CC0000"/>
                </a:solidFill>
              </a:rPr>
              <a:t>“Curse of Dimensionality”</a:t>
            </a:r>
          </a:p>
          <a:p>
            <a:pPr lvl="2">
              <a:lnSpc>
                <a:spcPct val="90000"/>
              </a:lnSpc>
            </a:pPr>
            <a:r>
              <a:rPr lang="en-GB" dirty="0"/>
              <a:t>Required amount of training data increases exponentially with dimension</a:t>
            </a:r>
          </a:p>
          <a:p>
            <a:pPr lvl="2">
              <a:lnSpc>
                <a:spcPct val="90000"/>
              </a:lnSpc>
            </a:pPr>
            <a:r>
              <a:rPr lang="en-GB" dirty="0"/>
              <a:t>Computational cost also increases dramatically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BA705-D850-C5A2-5217-9999B0E4301D}"/>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890EA8A6-D510-CD9A-62D2-4A5527298D76}"/>
              </a:ext>
            </a:extLst>
          </p:cNvPr>
          <p:cNvSpPr>
            <a:spLocks noGrp="1"/>
          </p:cNvSpPr>
          <p:nvPr>
            <p:ph sz="quarter" idx="1"/>
          </p:nvPr>
        </p:nvSpPr>
        <p:spPr/>
        <p:txBody>
          <a:bodyPr>
            <a:normAutofit/>
          </a:bodyPr>
          <a:lstStyle/>
          <a:p>
            <a:r>
              <a:rPr lang="en-US" sz="2400" i="0" dirty="0">
                <a:solidFill>
                  <a:srgbClr val="242424"/>
                </a:solidFill>
                <a:effectLst/>
                <a:latin typeface="sohne"/>
              </a:rPr>
              <a:t>Elbow Method in Supervised Machine Learning(Optimal K Value)</a:t>
            </a:r>
            <a:endParaRPr lang="en-CA" sz="2400" dirty="0"/>
          </a:p>
          <a:p>
            <a:pPr lvl="1"/>
            <a:r>
              <a:rPr lang="en-CA" dirty="0"/>
              <a:t>https://medium.com/@moussadoumbia_90919/elbow-method-in-supervised-learning-optimal-k-value-99d425f229e7</a:t>
            </a:r>
            <a:endParaRPr lang="en-CA" dirty="0">
              <a:hlinkClick r:id="rId2"/>
            </a:endParaRPr>
          </a:p>
          <a:p>
            <a:endParaRPr lang="en-CA" dirty="0">
              <a:hlinkClick r:id="rId2"/>
            </a:endParaRPr>
          </a:p>
          <a:p>
            <a:r>
              <a:rPr lang="en-CA" dirty="0">
                <a:hlinkClick r:id="rId2"/>
              </a:rPr>
              <a:t>https://www.youtube.com/watch?v=4HKqjENq9OU&amp;t=18s</a:t>
            </a:r>
            <a:endParaRPr lang="en-CA" dirty="0"/>
          </a:p>
          <a:p>
            <a:endParaRPr lang="en-CA" dirty="0"/>
          </a:p>
          <a:p>
            <a:r>
              <a:rPr lang="en-CA" dirty="0">
                <a:hlinkClick r:id="rId3"/>
              </a:rPr>
              <a:t>https://www.kaggle.com/code/shrutimechlearn/step-by-step-diabetes-classification-knn-detailed/notebook</a:t>
            </a:r>
            <a:endParaRPr lang="en-CA" dirty="0"/>
          </a:p>
          <a:p>
            <a:endParaRPr lang="en-CA" dirty="0"/>
          </a:p>
          <a:p>
            <a:endParaRPr lang="en-CA" dirty="0"/>
          </a:p>
        </p:txBody>
      </p:sp>
    </p:spTree>
    <p:extLst>
      <p:ext uri="{BB962C8B-B14F-4D97-AF65-F5344CB8AC3E}">
        <p14:creationId xmlns:p14="http://schemas.microsoft.com/office/powerpoint/2010/main" val="326729437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220</TotalTime>
  <Words>1090</Words>
  <Application>Microsoft Office PowerPoint</Application>
  <PresentationFormat>On-screen Show (4:3)</PresentationFormat>
  <Paragraphs>87</Paragraphs>
  <Slides>12</Slides>
  <Notes>3</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3</vt:i4>
      </vt:variant>
      <vt:variant>
        <vt:lpstr>Slide Titles</vt:lpstr>
      </vt:variant>
      <vt:variant>
        <vt:i4>12</vt:i4>
      </vt:variant>
    </vt:vector>
  </HeadingPairs>
  <TitlesOfParts>
    <vt:vector size="26" baseType="lpstr">
      <vt:lpstr>Monotype Sorts</vt:lpstr>
      <vt:lpstr>sohne</vt:lpstr>
      <vt:lpstr>Söhne</vt:lpstr>
      <vt:lpstr>Arial</vt:lpstr>
      <vt:lpstr>Bookman Old Style</vt:lpstr>
      <vt:lpstr>Calibri</vt:lpstr>
      <vt:lpstr>Gill Sans MT</vt:lpstr>
      <vt:lpstr>Times New Roman</vt:lpstr>
      <vt:lpstr>Wingdings</vt:lpstr>
      <vt:lpstr>Wingdings 3</vt:lpstr>
      <vt:lpstr>Origin</vt:lpstr>
      <vt:lpstr>VISIO</vt:lpstr>
      <vt:lpstr>Visio</vt:lpstr>
      <vt:lpstr>Equation</vt:lpstr>
      <vt:lpstr>PowerPoint Presentation</vt:lpstr>
      <vt:lpstr>Nearest Neighbor Classifiers</vt:lpstr>
      <vt:lpstr>Basic Idea</vt:lpstr>
      <vt:lpstr>Definition of Nearest Neighbor</vt:lpstr>
      <vt:lpstr>Nearest-Neighbor Classifiers: Issues</vt:lpstr>
      <vt:lpstr>Value of K</vt:lpstr>
      <vt:lpstr>Distance Metrics</vt:lpstr>
      <vt:lpstr>Distance Measure: Scale Effects</vt:lpstr>
      <vt:lpstr>Standardization</vt:lpstr>
      <vt:lpstr>Nearest Neighbor : Dimensionality</vt:lpstr>
      <vt:lpstr>Nearest Neighbour : Computational Complexity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 Nearest Neighbor Classification</dc:title>
  <dc:creator>Pabitra Mitra</dc:creator>
  <cp:lastModifiedBy>Guo, Hongyu</cp:lastModifiedBy>
  <cp:revision>26</cp:revision>
  <dcterms:created xsi:type="dcterms:W3CDTF">2006-08-16T00:00:00Z</dcterms:created>
  <dcterms:modified xsi:type="dcterms:W3CDTF">2024-03-14T05:44:54Z</dcterms:modified>
</cp:coreProperties>
</file>