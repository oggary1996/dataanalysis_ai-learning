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8" autoAdjust="0"/>
    <p:restoredTop sz="67417" autoAdjust="0"/>
  </p:normalViewPr>
  <p:slideViewPr>
    <p:cSldViewPr snapToGrid="0">
      <p:cViewPr varScale="1">
        <p:scale>
          <a:sx n="68" d="100"/>
          <a:sy n="68" d="100"/>
        </p:scale>
        <p:origin x="13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F55D-D234-075D-FA68-3C0C816A2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58BCC-1B72-0657-427C-85AB2A05A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D8CB-D141-FB3E-4A80-ACA970B8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E5983-1D75-8B93-EFB3-6E7FC449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AB943-A90A-3E3F-063A-91883633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77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0715-7DFB-B8E0-0851-072B4191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A16A-5130-C05E-F66C-D4A1A5A60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C875F-F131-90F4-234B-EBC0C36C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E3FCA-B691-1FB8-1612-01C6EB29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16654-BEB9-BF90-F6E5-56521BC2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2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BA77-1F1D-2F58-8CEE-63E2064A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5AB68-9DC2-A3D5-CCC3-4F085CD08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D15CA-0DFC-8B55-57E2-87A7C695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8F67D-31AB-46F7-1B73-8A490A2F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654F6-12FF-D877-498E-B45A061A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74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8539-9CE3-FBEC-EAB6-0AAF86D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16B3-9C8D-9C0F-E60B-7C3626C38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DD348-98C5-9F7B-7FA1-62C69D04C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C2F16-D9C6-97C2-DD8A-001B3A7A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F2746-744C-7760-A4C0-6D245CB2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A9DC5-C370-53C1-98ED-D1FD70E5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90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1784-4058-5899-0930-1078F2D3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33B72-1D0D-9BBE-F656-48E22F1C4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D9511-9161-BC82-B634-C9A835311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524D5-AB19-660E-93F0-8D284A6F3E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DC600-9CC6-9EAA-3ECE-3338CA883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486B0-BF0C-DF84-1084-896BD8B0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B52DD-EBFD-165A-2F3D-AF64F6D4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064EF-C735-AAC3-3868-F717E70D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821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22FB-61BB-0B3A-FFB2-0C186999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C246A-B606-8265-FAE1-6FD000A7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0B494-6321-558C-4590-09C4F6690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21FEB-EDCD-F0BF-8010-343C7A3D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842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C6853-EE96-0733-994E-3A70F2E4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FD750-CE95-76E1-70BB-80F9C857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A323-A21D-9278-8C3C-4A675639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543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697F-AAE3-A85E-93A3-1605465E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47C4-88B7-3A58-A224-9983F2CB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14E7C-4209-F840-DF8F-0E39F957E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2970A-ED1A-373D-B3FA-E3B88E55E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379BA-5E86-BA82-A541-6BD6F94B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F0210-900D-A096-0591-AAFF9D84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7288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0D82-B1EB-5770-3C1F-BF348A00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7DA21-5BAF-B093-F7C6-0F7CDC816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68E30-CB16-8D51-F8BA-A62FF44E3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4EE31-6E9C-51F2-B4F3-CC372F56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EBA1E-A1EE-DE1D-DFF0-B715ED3B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68059-D381-90B4-B3C7-F2EEAF4A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07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6303-29F5-CC9C-29B9-D369A969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D072B-B9D9-C4FF-BDA1-E84A8E07D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4FAC0-E100-4464-9631-F08017DF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4C4C5-54AE-E681-6A75-6AB0D8F0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9E803-B1E4-1363-41C6-5E4E998B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659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F6960-8330-6641-28A6-03C3C1C9B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187A0-EB22-1AAD-04C3-CB1623A30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F4FF-DE35-F391-F9E6-91D122A6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3D0AD-01B0-A4DB-C12E-B1F52118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F7F4B-2310-E4A5-066C-DB94104C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131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A4770-BE33-DCC1-829E-85BDD39C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85D3E-A4D6-8B35-9179-85D23E936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02171-A435-8D34-F1F5-C5EA8C140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4A8F3-2A09-47FB-B1ED-15A79BBD4B93}" type="datetimeFigureOut">
              <a:rPr lang="en-CA" smtClean="0"/>
              <a:t>2024-01-31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697A9-F2A3-AF19-8228-9FDB9F054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D2FCB-013E-9FF0-4767-B7C694D50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D9DA-D61B-4669-97CA-788F4E6A78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4176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EFC2-D717-F230-8DEC-FBEAB1F63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9763"/>
            <a:ext cx="9144000" cy="2387600"/>
          </a:xfrm>
        </p:spPr>
        <p:txBody>
          <a:bodyPr>
            <a:normAutofit/>
          </a:bodyPr>
          <a:lstStyle/>
          <a:p>
            <a:r>
              <a:rPr lang="en-CA" sz="4400" b="0" i="0" dirty="0">
                <a:solidFill>
                  <a:srgbClr val="202124"/>
                </a:solidFill>
                <a:effectLst/>
                <a:latin typeface="Google Sans"/>
              </a:rPr>
              <a:t>Representation: </a:t>
            </a:r>
            <a:br>
              <a:rPr lang="en-CA" sz="4400" b="0" i="0" dirty="0">
                <a:solidFill>
                  <a:srgbClr val="202124"/>
                </a:solidFill>
                <a:effectLst/>
                <a:latin typeface="Google Sans"/>
              </a:rPr>
            </a:br>
            <a:r>
              <a:rPr lang="en-CA" sz="4400" b="0" i="0" dirty="0">
                <a:solidFill>
                  <a:srgbClr val="202124"/>
                </a:solidFill>
                <a:effectLst/>
                <a:latin typeface="Google Sans"/>
              </a:rPr>
              <a:t>Feature Engineering</a:t>
            </a:r>
            <a:endParaRPr lang="en-CA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3BC40-6318-A135-76CE-8F9810CB2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Hongyu Guo</a:t>
            </a:r>
          </a:p>
          <a:p>
            <a:r>
              <a:rPr lang="en-CA" dirty="0"/>
              <a:t>2024 Winter</a:t>
            </a:r>
          </a:p>
        </p:txBody>
      </p:sp>
    </p:spTree>
    <p:extLst>
      <p:ext uri="{BB962C8B-B14F-4D97-AF65-F5344CB8AC3E}">
        <p14:creationId xmlns:p14="http://schemas.microsoft.com/office/powerpoint/2010/main" val="34808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8F000-DC3E-519F-B4ED-1A2F6F43F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58862"/>
            <a:ext cx="10515600" cy="1298680"/>
          </a:xfrm>
        </p:spPr>
        <p:txBody>
          <a:bodyPr>
            <a:normAutofit/>
          </a:bodyPr>
          <a:lstStyle/>
          <a:p>
            <a:r>
              <a:rPr lang="en-US" sz="2400" b="1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Feature engineering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means transforming raw data into a feature vector. </a:t>
            </a:r>
            <a:endParaRPr lang="en-CA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0CA0F8-8221-CB51-3275-AEB20D055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59498"/>
            <a:ext cx="5420074" cy="800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Mapping Raw Data to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C7729-C326-38FB-BB96-16DA75149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05" y="1706602"/>
            <a:ext cx="8838937" cy="471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0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2FB0-671F-37D0-306D-4A319269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40283-EC1B-9DBD-4A5F-5FD7A4534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ED704-8D5D-ADD1-3B1A-E17AB1EF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1962"/>
            <a:ext cx="10220663" cy="615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3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447A-BB8E-8358-37CF-E25F34E9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Mapping categorical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DE2BA-37B7-6910-F0EC-8E3D4FEE5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81714" cy="4912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sz="2400" dirty="0"/>
              <a:t>Categorical features have a discrete set of possible values. </a:t>
            </a: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en-US" altLang="en-US" dirty="0"/>
              <a:t>'Charleston Road', 'North Shoreline Boulevard', 'Shorebird Way', 'Rengstorff Avenue’}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Since models cannot multiply strings by the learned weights, we use feature engineering to convert strings to numeric values.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One – hot encoding</a:t>
            </a:r>
          </a:p>
          <a:p>
            <a:pPr marL="685800" lvl="2">
              <a:lnSpc>
                <a:spcPct val="100000"/>
              </a:lnSpc>
              <a:spcBef>
                <a:spcPts val="1000"/>
              </a:spcBef>
            </a:pPr>
            <a:r>
              <a:rPr lang="en-US" altLang="en-US" dirty="0"/>
              <a:t>For values that apply to the example, set corresponding vector elements to 1.</a:t>
            </a:r>
          </a:p>
          <a:p>
            <a:pPr marL="685800" lvl="2" fontAlgn="base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 dirty="0"/>
              <a:t>Set all other elements to 0.</a:t>
            </a:r>
          </a:p>
          <a:p>
            <a:pPr marL="228600" lvl="1" fontAlgn="base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dirty="0"/>
              <a:t>One-hot encoding extends to numeric data that you do not want to directly multiply by a weight, such as a postal code.</a:t>
            </a:r>
            <a:endParaRPr lang="en-US" altLang="en-US" dirty="0"/>
          </a:p>
          <a:p>
            <a:pPr>
              <a:lnSpc>
                <a:spcPct val="100000"/>
              </a:lnSpc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4114062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47CD-A6F2-74A8-1C5B-3D4F375E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CA" sz="3600" dirty="0"/>
              <a:t>One – hot encoding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DBB23-0C2F-02F6-AA80-C1ADB9C0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2682"/>
            <a:ext cx="10027399" cy="517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8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389A-F309-14E1-9FC7-5EC0054C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Sparse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4733-2B2B-D52E-51FD-F8DD1C2B5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9229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Suppose that you had 1,000,000 different street names in your data set that you wanted to include as values for </a:t>
            </a:r>
            <a:r>
              <a:rPr lang="en-US" dirty="0" err="1"/>
              <a:t>street_name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Explicitly creating a binary vector of 1,000,000 elements where only 1 or 2 elements are true is a very inefficient representation in terms of both storage and computation time when processing these vectors. </a:t>
            </a:r>
          </a:p>
          <a:p>
            <a:pPr>
              <a:lnSpc>
                <a:spcPct val="100000"/>
              </a:lnSpc>
            </a:pPr>
            <a:r>
              <a:rPr lang="en-US" dirty="0"/>
              <a:t>In this situation, a common approach is to use a sparse representation in which only nonzero values are stored.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7866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5284-3731-7972-F3FB-F063B378D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Scaling feature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F7B5E-145D-FDA2-3DE6-60C6984B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 means converting floating-point feature values from their natural range (for example, 100 to 900) into a standard range (for example, 0 to 1 or -1 to +1). </a:t>
            </a:r>
          </a:p>
          <a:p>
            <a:pPr lvl="1"/>
            <a:r>
              <a:rPr lang="fr-FR" dirty="0" err="1"/>
              <a:t>Helps</a:t>
            </a:r>
            <a:r>
              <a:rPr lang="fr-FR" dirty="0"/>
              <a:t> gradient </a:t>
            </a:r>
            <a:r>
              <a:rPr lang="fr-FR" dirty="0" err="1"/>
              <a:t>descent</a:t>
            </a:r>
            <a:r>
              <a:rPr lang="fr-FR" dirty="0"/>
              <a:t> converge more </a:t>
            </a:r>
            <a:r>
              <a:rPr lang="fr-FR" dirty="0" err="1"/>
              <a:t>quickly</a:t>
            </a:r>
            <a:r>
              <a:rPr lang="fr-FR" dirty="0"/>
              <a:t>.</a:t>
            </a:r>
          </a:p>
          <a:p>
            <a:pPr lvl="1"/>
            <a:r>
              <a:rPr lang="en-US" dirty="0"/>
              <a:t>Helps the model learn appropriate weights for each feature. Without feature scaling, the model will pay too much attention to the features having a wider range.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7338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D1CA-EF2E-C370-7561-B365B692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49904-BB4D-8CA2-1881-602D4282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E8521-C80C-80FE-42B9-D11CF507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957398" cy="595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0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E81C-2DBE-7874-5B46-74532BA0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Handling extreme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5EEA-0547-005A-BCA5-93EC213D1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Logarithmic scaling</a:t>
            </a:r>
          </a:p>
          <a:p>
            <a:r>
              <a:rPr lang="en-CA" dirty="0"/>
              <a:t>Clipping feature values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112063-384F-4626-2F5D-CE6C6F86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6490"/>
            <a:ext cx="5485225" cy="2915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D34028-41ED-D6A6-4888-B6DEB3C33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98" y="365125"/>
            <a:ext cx="3855580" cy="25130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46EBBC-B68C-0313-7593-F21972D97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89" y="3053970"/>
            <a:ext cx="5109234" cy="325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81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290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Google Sans</vt:lpstr>
      <vt:lpstr>Arial</vt:lpstr>
      <vt:lpstr>Calibri</vt:lpstr>
      <vt:lpstr>Calibri Light</vt:lpstr>
      <vt:lpstr>Roboto</vt:lpstr>
      <vt:lpstr>Office Theme</vt:lpstr>
      <vt:lpstr>Representation:  Feature Engineering</vt:lpstr>
      <vt:lpstr>Mapping Raw Data to Features </vt:lpstr>
      <vt:lpstr>PowerPoint Presentation</vt:lpstr>
      <vt:lpstr>Mapping categorical values</vt:lpstr>
      <vt:lpstr>One – hot encoding</vt:lpstr>
      <vt:lpstr>Sparse Representation</vt:lpstr>
      <vt:lpstr>Scaling feature values</vt:lpstr>
      <vt:lpstr>PowerPoint Presentation</vt:lpstr>
      <vt:lpstr>Handling extreme outliers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Representation:  Feature Engineering</dc:title>
  <dc:creator>Guo, Hongyu</dc:creator>
  <cp:lastModifiedBy>Guo, Hongyu</cp:lastModifiedBy>
  <cp:revision>1</cp:revision>
  <dcterms:created xsi:type="dcterms:W3CDTF">2024-01-31T17:14:30Z</dcterms:created>
  <dcterms:modified xsi:type="dcterms:W3CDTF">2024-01-31T18:00:27Z</dcterms:modified>
</cp:coreProperties>
</file>