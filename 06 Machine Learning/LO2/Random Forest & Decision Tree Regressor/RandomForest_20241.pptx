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317" r:id="rId2"/>
    <p:sldId id="444" r:id="rId3"/>
    <p:sldId id="260" r:id="rId4"/>
    <p:sldId id="263" r:id="rId5"/>
    <p:sldId id="314" r:id="rId6"/>
    <p:sldId id="262" r:id="rId7"/>
    <p:sldId id="256" r:id="rId8"/>
    <p:sldId id="266" r:id="rId9"/>
    <p:sldId id="264" r:id="rId10"/>
    <p:sldId id="310" r:id="rId11"/>
    <p:sldId id="267" r:id="rId12"/>
    <p:sldId id="268" r:id="rId13"/>
    <p:sldId id="270" r:id="rId14"/>
    <p:sldId id="272" r:id="rId15"/>
    <p:sldId id="294" r:id="rId16"/>
    <p:sldId id="273" r:id="rId17"/>
    <p:sldId id="274" r:id="rId18"/>
    <p:sldId id="276" r:id="rId19"/>
    <p:sldId id="295" r:id="rId20"/>
    <p:sldId id="283" r:id="rId21"/>
    <p:sldId id="299" r:id="rId22"/>
    <p:sldId id="307" r:id="rId23"/>
    <p:sldId id="308" r:id="rId24"/>
    <p:sldId id="284" r:id="rId25"/>
    <p:sldId id="301" r:id="rId26"/>
    <p:sldId id="302" r:id="rId27"/>
    <p:sldId id="304" r:id="rId28"/>
    <p:sldId id="303" r:id="rId29"/>
    <p:sldId id="359" r:id="rId30"/>
    <p:sldId id="418" r:id="rId31"/>
    <p:sldId id="419" r:id="rId32"/>
    <p:sldId id="420" r:id="rId33"/>
    <p:sldId id="421" r:id="rId34"/>
    <p:sldId id="422" r:id="rId35"/>
    <p:sldId id="423" r:id="rId36"/>
    <p:sldId id="424" r:id="rId37"/>
    <p:sldId id="361" r:id="rId38"/>
    <p:sldId id="362" r:id="rId39"/>
    <p:sldId id="363" r:id="rId40"/>
    <p:sldId id="364" r:id="rId41"/>
    <p:sldId id="442" r:id="rId42"/>
    <p:sldId id="306" r:id="rId43"/>
    <p:sldId id="443"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643" autoAdjust="0"/>
  </p:normalViewPr>
  <p:slideViewPr>
    <p:cSldViewPr snapToGrid="0" snapToObjects="1">
      <p:cViewPr varScale="1">
        <p:scale>
          <a:sx n="89" d="100"/>
          <a:sy n="89" d="100"/>
        </p:scale>
        <p:origin x="522" y="2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4D6221-6626-6149-AAB7-78C051EFAEC4}" type="datetimeFigureOut">
              <a:rPr lang="en-US" smtClean="0"/>
              <a:t>10/10/2024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7C2B7B-7F19-EC4A-882E-0CBA487FEC0C}" type="slidenum">
              <a:rPr lang="en-US" smtClean="0"/>
              <a:t>‹#›</a:t>
            </a:fld>
            <a:endParaRPr lang="en-US" dirty="0"/>
          </a:p>
        </p:txBody>
      </p:sp>
    </p:spTree>
    <p:extLst>
      <p:ext uri="{BB962C8B-B14F-4D97-AF65-F5344CB8AC3E}">
        <p14:creationId xmlns:p14="http://schemas.microsoft.com/office/powerpoint/2010/main" val="409377651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dirty="0"/>
              <a:t>RSS Residual Sum of Squares.</a:t>
            </a:r>
          </a:p>
          <a:p>
            <a:endParaRPr lang="en-CA" dirty="0"/>
          </a:p>
        </p:txBody>
      </p:sp>
      <p:sp>
        <p:nvSpPr>
          <p:cNvPr id="4" name="Slide Number Placeholder 3"/>
          <p:cNvSpPr>
            <a:spLocks noGrp="1"/>
          </p:cNvSpPr>
          <p:nvPr>
            <p:ph type="sldNum" sz="quarter" idx="5"/>
          </p:nvPr>
        </p:nvSpPr>
        <p:spPr/>
        <p:txBody>
          <a:bodyPr/>
          <a:lstStyle/>
          <a:p>
            <a:fld id="{7B7C2B7B-7F19-EC4A-882E-0CBA487FEC0C}" type="slidenum">
              <a:rPr lang="en-US" smtClean="0"/>
              <a:t>14</a:t>
            </a:fld>
            <a:endParaRPr lang="en-US" dirty="0"/>
          </a:p>
        </p:txBody>
      </p:sp>
    </p:spTree>
    <p:extLst>
      <p:ext uri="{BB962C8B-B14F-4D97-AF65-F5344CB8AC3E}">
        <p14:creationId xmlns:p14="http://schemas.microsoft.com/office/powerpoint/2010/main" val="2113056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B7C2B7B-7F19-EC4A-882E-0CBA487FEC0C}" type="slidenum">
              <a:rPr lang="en-US" smtClean="0"/>
              <a:t>16</a:t>
            </a:fld>
            <a:endParaRPr lang="en-US" dirty="0"/>
          </a:p>
        </p:txBody>
      </p:sp>
    </p:spTree>
    <p:extLst>
      <p:ext uri="{BB962C8B-B14F-4D97-AF65-F5344CB8AC3E}">
        <p14:creationId xmlns:p14="http://schemas.microsoft.com/office/powerpoint/2010/main" val="3662882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B7C2B7B-7F19-EC4A-882E-0CBA487FEC0C}" type="slidenum">
              <a:rPr lang="en-US" smtClean="0"/>
              <a:t>17</a:t>
            </a:fld>
            <a:endParaRPr lang="en-US" dirty="0"/>
          </a:p>
        </p:txBody>
      </p:sp>
    </p:spTree>
    <p:extLst>
      <p:ext uri="{BB962C8B-B14F-4D97-AF65-F5344CB8AC3E}">
        <p14:creationId xmlns:p14="http://schemas.microsoft.com/office/powerpoint/2010/main" val="713325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is zero this is the full tree … a large</a:t>
            </a:r>
            <a:r>
              <a:rPr lang="en-US" baseline="0" dirty="0"/>
              <a:t> only root node</a:t>
            </a:r>
            <a:endParaRPr lang="en-US" dirty="0"/>
          </a:p>
        </p:txBody>
      </p:sp>
      <p:sp>
        <p:nvSpPr>
          <p:cNvPr id="4" name="Slide Number Placeholder 3"/>
          <p:cNvSpPr>
            <a:spLocks noGrp="1"/>
          </p:cNvSpPr>
          <p:nvPr>
            <p:ph type="sldNum" sz="quarter" idx="10"/>
          </p:nvPr>
        </p:nvSpPr>
        <p:spPr/>
        <p:txBody>
          <a:bodyPr/>
          <a:lstStyle/>
          <a:p>
            <a:fld id="{7B7C2B7B-7F19-EC4A-882E-0CBA487FEC0C}" type="slidenum">
              <a:rPr lang="en-US" smtClean="0"/>
              <a:t>18</a:t>
            </a:fld>
            <a:endParaRPr lang="en-US" dirty="0"/>
          </a:p>
        </p:txBody>
      </p:sp>
    </p:spTree>
    <p:extLst>
      <p:ext uri="{BB962C8B-B14F-4D97-AF65-F5344CB8AC3E}">
        <p14:creationId xmlns:p14="http://schemas.microsoft.com/office/powerpoint/2010/main" val="1210403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B7C2B7B-7F19-EC4A-882E-0CBA487FEC0C}" type="slidenum">
              <a:rPr lang="en-US" smtClean="0"/>
              <a:t>22</a:t>
            </a:fld>
            <a:endParaRPr lang="en-US" dirty="0"/>
          </a:p>
        </p:txBody>
      </p:sp>
    </p:spTree>
    <p:extLst>
      <p:ext uri="{BB962C8B-B14F-4D97-AF65-F5344CB8AC3E}">
        <p14:creationId xmlns:p14="http://schemas.microsoft.com/office/powerpoint/2010/main" val="1453831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purpose method,</a:t>
            </a:r>
            <a:r>
              <a:rPr lang="en-US" baseline="0" dirty="0"/>
              <a:t> here only for decision trees</a:t>
            </a:r>
          </a:p>
          <a:p>
            <a:endParaRPr lang="en-US" baseline="0" dirty="0"/>
          </a:p>
          <a:p>
            <a:r>
              <a:rPr lang="en-US" b="0" i="0" dirty="0">
                <a:solidFill>
                  <a:srgbClr val="202124"/>
                </a:solidFill>
                <a:effectLst/>
                <a:latin typeface="Google Sans"/>
              </a:rPr>
              <a:t>In statistics, variance </a:t>
            </a:r>
            <a:r>
              <a:rPr lang="en-US" b="0" i="0" dirty="0">
                <a:solidFill>
                  <a:srgbClr val="040C28"/>
                </a:solidFill>
                <a:effectLst/>
                <a:latin typeface="Google Sans"/>
              </a:rPr>
              <a:t>measures variability from the average or mean</a:t>
            </a:r>
            <a:r>
              <a:rPr lang="en-US" b="0" i="0" dirty="0">
                <a:solidFill>
                  <a:srgbClr val="202124"/>
                </a:solidFill>
                <a:effectLst/>
                <a:latin typeface="Google Sans"/>
              </a:rPr>
              <a:t>. It is calculated by taking the differences between each number in the data set and the mean, then squaring the differences to make them positive, and finally dividing the sum of the squares by the number of values in the data set.</a:t>
            </a:r>
            <a:endParaRPr lang="en-US" dirty="0"/>
          </a:p>
        </p:txBody>
      </p:sp>
      <p:sp>
        <p:nvSpPr>
          <p:cNvPr id="4" name="Slide Number Placeholder 3"/>
          <p:cNvSpPr>
            <a:spLocks noGrp="1"/>
          </p:cNvSpPr>
          <p:nvPr>
            <p:ph type="sldNum" sz="quarter" idx="10"/>
          </p:nvPr>
        </p:nvSpPr>
        <p:spPr/>
        <p:txBody>
          <a:bodyPr/>
          <a:lstStyle/>
          <a:p>
            <a:fld id="{7B7C2B7B-7F19-EC4A-882E-0CBA487FEC0C}" type="slidenum">
              <a:rPr lang="en-US" smtClean="0"/>
              <a:t>24</a:t>
            </a:fld>
            <a:endParaRPr lang="en-US" dirty="0"/>
          </a:p>
        </p:txBody>
      </p:sp>
    </p:spTree>
    <p:extLst>
      <p:ext uri="{BB962C8B-B14F-4D97-AF65-F5344CB8AC3E}">
        <p14:creationId xmlns:p14="http://schemas.microsoft.com/office/powerpoint/2010/main" val="363914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pruning, high bias high variance</a:t>
            </a:r>
            <a:endParaRPr lang="en-US" dirty="0"/>
          </a:p>
        </p:txBody>
      </p:sp>
      <p:sp>
        <p:nvSpPr>
          <p:cNvPr id="4" name="Slide Number Placeholder 3"/>
          <p:cNvSpPr>
            <a:spLocks noGrp="1"/>
          </p:cNvSpPr>
          <p:nvPr>
            <p:ph type="sldNum" sz="quarter" idx="10"/>
          </p:nvPr>
        </p:nvSpPr>
        <p:spPr/>
        <p:txBody>
          <a:bodyPr/>
          <a:lstStyle/>
          <a:p>
            <a:fld id="{7B7C2B7B-7F19-EC4A-882E-0CBA487FEC0C}" type="slidenum">
              <a:rPr lang="en-US" smtClean="0"/>
              <a:t>25</a:t>
            </a:fld>
            <a:endParaRPr lang="en-US" dirty="0"/>
          </a:p>
        </p:txBody>
      </p:sp>
    </p:spTree>
    <p:extLst>
      <p:ext uri="{BB962C8B-B14F-4D97-AF65-F5344CB8AC3E}">
        <p14:creationId xmlns:p14="http://schemas.microsoft.com/office/powerpoint/2010/main" val="363914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equivalent to leave-one-out cross-validation error </a:t>
            </a:r>
            <a:endParaRPr lang="en-US" dirty="0"/>
          </a:p>
          <a:p>
            <a:r>
              <a:rPr lang="en-US" dirty="0"/>
              <a:t>1/N</a:t>
            </a:r>
            <a:r>
              <a:rPr lang="en-US" baseline="0" dirty="0"/>
              <a:t> to choose, 1-1/N not to choose,  (1-1/N)N and (1-1/N) 1-(1-1/N)N 1-e^(-1)</a:t>
            </a:r>
            <a:endParaRPr lang="en-US" dirty="0"/>
          </a:p>
        </p:txBody>
      </p:sp>
      <p:sp>
        <p:nvSpPr>
          <p:cNvPr id="4" name="Slide Number Placeholder 3"/>
          <p:cNvSpPr>
            <a:spLocks noGrp="1"/>
          </p:cNvSpPr>
          <p:nvPr>
            <p:ph type="sldNum" sz="quarter" idx="10"/>
          </p:nvPr>
        </p:nvSpPr>
        <p:spPr/>
        <p:txBody>
          <a:bodyPr/>
          <a:lstStyle/>
          <a:p>
            <a:fld id="{7B7C2B7B-7F19-EC4A-882E-0CBA487FEC0C}" type="slidenum">
              <a:rPr lang="en-US" smtClean="0"/>
              <a:t>26</a:t>
            </a:fld>
            <a:endParaRPr lang="en-US" dirty="0"/>
          </a:p>
        </p:txBody>
      </p:sp>
    </p:spTree>
    <p:extLst>
      <p:ext uri="{BB962C8B-B14F-4D97-AF65-F5344CB8AC3E}">
        <p14:creationId xmlns:p14="http://schemas.microsoft.com/office/powerpoint/2010/main" val="2141364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318C2F0B-3EE8-BAB8-1D83-86EE125C73F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a:extLst>
              <a:ext uri="{FF2B5EF4-FFF2-40B4-BE49-F238E27FC236}">
                <a16:creationId xmlns:a16="http://schemas.microsoft.com/office/drawing/2014/main" id="{0FA58DA9-CD6F-D74F-C27D-A8B8AB1DA8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As the classifier of choice we adopt Random Forest Classifier, due to its robustness to heterogenous and noisy feature.</a:t>
            </a:r>
          </a:p>
          <a:p>
            <a:r>
              <a:rPr lang="en-US" altLang="en-US"/>
              <a:t>Random Forest is an ensembe classifier. Briefly, given N data and M features, bootsrap samples are created from the traning data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DB2DD898-7D5A-B8E5-7BFA-744D8438D07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Rectangle 3">
            <a:extLst>
              <a:ext uri="{FF2B5EF4-FFF2-40B4-BE49-F238E27FC236}">
                <a16:creationId xmlns:a16="http://schemas.microsoft.com/office/drawing/2014/main" id="{9F671F34-22BD-4AE5-7E3F-9858F536B7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From eachd descision tree .. In spliting the nodes, the Gini Gain is employed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FB6764E2-4A06-AF2E-866A-CEA50BA3CD9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Rectangle 3">
            <a:extLst>
              <a:ext uri="{FF2B5EF4-FFF2-40B4-BE49-F238E27FC236}">
                <a16:creationId xmlns:a16="http://schemas.microsoft.com/office/drawing/2014/main" id="{05463C80-908E-2616-F174-B8C5EA7A9F0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Different from the regular decision trees in random forest, when the splitting feature is chosen from only a subset of allf eatures.</a:t>
            </a:r>
          </a:p>
          <a:p>
            <a:r>
              <a:rPr lang="en-US" altLang="en-US"/>
              <a:t>The robostness of the classifier arises from</a:t>
            </a:r>
          </a:p>
          <a:p>
            <a:r>
              <a:rPr lang="en-US" altLang="en-US"/>
              <a:t>bootsraping of the training data and the random selection of features, the the random choose of features.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832980D2-F273-2F34-6890-6B3BB0657FB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Rectangle 3">
            <a:extLst>
              <a:ext uri="{FF2B5EF4-FFF2-40B4-BE49-F238E27FC236}">
                <a16:creationId xmlns:a16="http://schemas.microsoft.com/office/drawing/2014/main" id="{FFC39ACA-6D55-70A7-E2DD-4E4805C0988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Finally the given an input data the decision is made as follows given an input data,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186255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1217847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3287259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643537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3838769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4233818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1733263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264245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912554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960989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B8A1F1-3535-3847-9941-417799702369}" type="datetimeFigureOut">
              <a:rPr lang="en-US" smtClean="0"/>
              <a:t>10/10/2024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C37E96-61B4-A74B-91B5-FB303DD29DB1}" type="slidenum">
              <a:rPr lang="en-US" smtClean="0"/>
              <a:t>‹#›</a:t>
            </a:fld>
            <a:endParaRPr lang="en-US" dirty="0"/>
          </a:p>
        </p:txBody>
      </p:sp>
    </p:spTree>
    <p:extLst>
      <p:ext uri="{BB962C8B-B14F-4D97-AF65-F5344CB8AC3E}">
        <p14:creationId xmlns:p14="http://schemas.microsoft.com/office/powerpoint/2010/main" val="654274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B8A1F1-3535-3847-9941-417799702369}" type="datetimeFigureOut">
              <a:rPr lang="en-US" smtClean="0"/>
              <a:t>10/10/2024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C37E96-61B4-A74B-91B5-FB303DD29DB1}" type="slidenum">
              <a:rPr lang="en-US" smtClean="0"/>
              <a:t>‹#›</a:t>
            </a:fld>
            <a:endParaRPr lang="en-US" dirty="0"/>
          </a:p>
        </p:txBody>
      </p:sp>
    </p:spTree>
    <p:extLst>
      <p:ext uri="{BB962C8B-B14F-4D97-AF65-F5344CB8AC3E}">
        <p14:creationId xmlns:p14="http://schemas.microsoft.com/office/powerpoint/2010/main" val="2886885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hyperlink" Target="http://www-stat.stanford.edu/~hastie/Papers/ESLII.pdf" TargetMode="External"/><Relationship Id="rId2" Type="http://schemas.openxmlformats.org/officeDocument/2006/relationships/hyperlink" Target="http://www.stat.berkeley.edu/~breiman/RandomForests/cc_home.ht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machinelearningmastery.com/implement-decision-tree-algorithm-scratch-python/"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kaggle.com/code/prashant111/random-forest-classifier-feature-importan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C980F25-1AE3-C93A-F03F-BBCEA18F59DF}"/>
              </a:ext>
            </a:extLst>
          </p:cNvPr>
          <p:cNvSpPr>
            <a:spLocks noGrp="1" noChangeArrowheads="1"/>
          </p:cNvSpPr>
          <p:nvPr>
            <p:ph type="ctrTitle"/>
          </p:nvPr>
        </p:nvSpPr>
        <p:spPr>
          <a:xfrm>
            <a:off x="609600" y="1219200"/>
            <a:ext cx="7772400" cy="1470025"/>
          </a:xfrm>
        </p:spPr>
        <p:txBody>
          <a:bodyPr>
            <a:normAutofit fontScale="90000"/>
          </a:bodyPr>
          <a:lstStyle/>
          <a:p>
            <a:pPr eaLnBrk="1" hangingPunct="1"/>
            <a:r>
              <a:rPr lang="en-US" altLang="en-US" dirty="0"/>
              <a:t>Classification and Regression Trees (CART) and </a:t>
            </a:r>
            <a:br>
              <a:rPr lang="en-US" altLang="en-US" dirty="0"/>
            </a:br>
            <a:r>
              <a:rPr lang="en-US" altLang="en-US" dirty="0"/>
              <a:t>Random Forests </a:t>
            </a:r>
          </a:p>
        </p:txBody>
      </p:sp>
      <p:sp>
        <p:nvSpPr>
          <p:cNvPr id="3" name="Subtitle 2">
            <a:extLst>
              <a:ext uri="{FF2B5EF4-FFF2-40B4-BE49-F238E27FC236}">
                <a16:creationId xmlns:a16="http://schemas.microsoft.com/office/drawing/2014/main" id="{C43CCC1F-C95D-EA9A-5C84-CAB713DC0F10}"/>
              </a:ext>
            </a:extLst>
          </p:cNvPr>
          <p:cNvSpPr>
            <a:spLocks noGrp="1"/>
          </p:cNvSpPr>
          <p:nvPr>
            <p:ph type="subTitle" idx="1"/>
          </p:nvPr>
        </p:nvSpPr>
        <p:spPr/>
        <p:txBody>
          <a:bodyPr/>
          <a:lstStyle/>
          <a:p>
            <a:r>
              <a:rPr lang="en-CA" dirty="0"/>
              <a:t>Hongyu Guo</a:t>
            </a:r>
          </a:p>
          <a:p>
            <a:r>
              <a:rPr lang="en-CA" dirty="0"/>
              <a:t>Guo7407@saskpolytech.ca</a:t>
            </a:r>
          </a:p>
          <a:p>
            <a:endParaRPr lang="en-CA"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58985-C629-4DAE-A7AD-08AFC0141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41BA3-8C02-C3B2-3CF5-63D45B570CD1}"/>
              </a:ext>
            </a:extLst>
          </p:cNvPr>
          <p:cNvSpPr>
            <a:spLocks noGrp="1"/>
          </p:cNvSpPr>
          <p:nvPr>
            <p:ph type="title"/>
          </p:nvPr>
        </p:nvSpPr>
        <p:spPr/>
        <p:txBody>
          <a:bodyPr/>
          <a:lstStyle/>
          <a:p>
            <a:r>
              <a:rPr lang="en-US" dirty="0"/>
              <a:t>Outline	</a:t>
            </a:r>
          </a:p>
        </p:txBody>
      </p:sp>
      <p:sp>
        <p:nvSpPr>
          <p:cNvPr id="3" name="Content Placeholder 2">
            <a:extLst>
              <a:ext uri="{FF2B5EF4-FFF2-40B4-BE49-F238E27FC236}">
                <a16:creationId xmlns:a16="http://schemas.microsoft.com/office/drawing/2014/main" id="{2BBD1F35-FEF7-22A3-5EA1-6B2E7109B80B}"/>
              </a:ext>
            </a:extLst>
          </p:cNvPr>
          <p:cNvSpPr>
            <a:spLocks noGrp="1"/>
          </p:cNvSpPr>
          <p:nvPr>
            <p:ph idx="1"/>
          </p:nvPr>
        </p:nvSpPr>
        <p:spPr/>
        <p:txBody>
          <a:bodyPr>
            <a:normAutofit/>
          </a:bodyPr>
          <a:lstStyle/>
          <a:p>
            <a:pPr marL="0" indent="0">
              <a:spcAft>
                <a:spcPts val="1200"/>
              </a:spcAft>
              <a:buNone/>
            </a:pPr>
            <a:r>
              <a:rPr lang="en-US" dirty="0"/>
              <a:t>Tree based methods</a:t>
            </a:r>
          </a:p>
          <a:p>
            <a:pPr marL="0" indent="0">
              <a:spcAft>
                <a:spcPts val="1200"/>
              </a:spcAft>
              <a:buNone/>
            </a:pPr>
            <a:r>
              <a:rPr lang="en-US" dirty="0"/>
              <a:t>Regression Trees</a:t>
            </a:r>
          </a:p>
          <a:p>
            <a:pPr marL="0" indent="0">
              <a:spcAft>
                <a:spcPts val="1200"/>
              </a:spcAft>
              <a:buNone/>
            </a:pPr>
            <a:r>
              <a:rPr lang="en-US" dirty="0"/>
              <a:t>Bagging</a:t>
            </a:r>
          </a:p>
        </p:txBody>
      </p:sp>
    </p:spTree>
    <p:extLst>
      <p:ext uri="{BB962C8B-B14F-4D97-AF65-F5344CB8AC3E}">
        <p14:creationId xmlns:p14="http://schemas.microsoft.com/office/powerpoint/2010/main" val="3620232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Tree-based methods</a:t>
            </a:r>
          </a:p>
        </p:txBody>
      </p:sp>
      <p:pic>
        <p:nvPicPr>
          <p:cNvPr id="5" name="Picture 4" descr="tre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500" y="1524000"/>
            <a:ext cx="4445000" cy="3810000"/>
          </a:xfrm>
          <a:prstGeom prst="rect">
            <a:avLst/>
          </a:prstGeom>
        </p:spPr>
      </p:pic>
    </p:spTree>
    <p:extLst>
      <p:ext uri="{BB962C8B-B14F-4D97-AF65-F5344CB8AC3E}">
        <p14:creationId xmlns:p14="http://schemas.microsoft.com/office/powerpoint/2010/main" val="3512347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4" name="Group 323"/>
          <p:cNvGrpSpPr/>
          <p:nvPr/>
        </p:nvGrpSpPr>
        <p:grpSpPr>
          <a:xfrm>
            <a:off x="932353" y="747539"/>
            <a:ext cx="7137522" cy="5317489"/>
            <a:chOff x="1046688" y="470424"/>
            <a:chExt cx="7137522" cy="5317489"/>
          </a:xfrm>
        </p:grpSpPr>
        <p:grpSp>
          <p:nvGrpSpPr>
            <p:cNvPr id="313" name="Group 312"/>
            <p:cNvGrpSpPr/>
            <p:nvPr/>
          </p:nvGrpSpPr>
          <p:grpSpPr>
            <a:xfrm>
              <a:off x="1046688" y="470424"/>
              <a:ext cx="4793272" cy="2706688"/>
              <a:chOff x="1174750" y="611187"/>
              <a:chExt cx="4793272" cy="2706688"/>
            </a:xfrm>
          </p:grpSpPr>
          <p:grpSp>
            <p:nvGrpSpPr>
              <p:cNvPr id="32" name="Group 31"/>
              <p:cNvGrpSpPr/>
              <p:nvPr/>
            </p:nvGrpSpPr>
            <p:grpSpPr>
              <a:xfrm>
                <a:off x="3435350" y="2178050"/>
                <a:ext cx="1600200" cy="987425"/>
                <a:chOff x="1174750" y="904875"/>
                <a:chExt cx="1600200" cy="987425"/>
              </a:xfrm>
            </p:grpSpPr>
            <p:sp>
              <p:nvSpPr>
                <p:cNvPr id="33" name="Oval 32"/>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Oval 33"/>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Oval 34"/>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 name="Oval 35"/>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Oval 36"/>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 name="Oval 37"/>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Oval 38"/>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Oval 39"/>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10" name="Group 309"/>
              <p:cNvGrpSpPr/>
              <p:nvPr/>
            </p:nvGrpSpPr>
            <p:grpSpPr>
              <a:xfrm>
                <a:off x="1174750" y="611187"/>
                <a:ext cx="4793272" cy="2706688"/>
                <a:chOff x="1174750" y="611187"/>
                <a:chExt cx="4793272" cy="2706688"/>
              </a:xfrm>
            </p:grpSpPr>
            <p:grpSp>
              <p:nvGrpSpPr>
                <p:cNvPr id="22" name="Group 21"/>
                <p:cNvGrpSpPr/>
                <p:nvPr/>
              </p:nvGrpSpPr>
              <p:grpSpPr>
                <a:xfrm>
                  <a:off x="2089150" y="611187"/>
                  <a:ext cx="1600200" cy="987425"/>
                  <a:chOff x="1174750" y="904875"/>
                  <a:chExt cx="1600200" cy="987425"/>
                </a:xfrm>
              </p:grpSpPr>
              <p:sp>
                <p:nvSpPr>
                  <p:cNvPr id="5" name="Oval 4"/>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Oval 5"/>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Oval 6"/>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Oval 9"/>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3" name="Group 22"/>
                <p:cNvGrpSpPr/>
                <p:nvPr/>
              </p:nvGrpSpPr>
              <p:grpSpPr>
                <a:xfrm>
                  <a:off x="1289050" y="2330450"/>
                  <a:ext cx="1600200" cy="987425"/>
                  <a:chOff x="1174750" y="904875"/>
                  <a:chExt cx="1600200" cy="987425"/>
                </a:xfrm>
              </p:grpSpPr>
              <p:sp>
                <p:nvSpPr>
                  <p:cNvPr id="24" name="Oval 23"/>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Oval 24"/>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Oval 25"/>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Oval 26"/>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Oval 28"/>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Oval 29"/>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Oval 30"/>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1" name="Group 40"/>
                <p:cNvGrpSpPr/>
                <p:nvPr/>
              </p:nvGrpSpPr>
              <p:grpSpPr>
                <a:xfrm>
                  <a:off x="1174750" y="904875"/>
                  <a:ext cx="1600200" cy="987425"/>
                  <a:chOff x="1174750" y="904875"/>
                  <a:chExt cx="1600200" cy="987425"/>
                </a:xfrm>
              </p:grpSpPr>
              <p:sp>
                <p:nvSpPr>
                  <p:cNvPr id="42" name="Oval 41"/>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 name="Oval 42"/>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 name="Oval 43"/>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Oval 44"/>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Oval 45"/>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Oval 46"/>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 name="Oval 47"/>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 name="Oval 48"/>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04" name="Group 103"/>
                <p:cNvGrpSpPr/>
                <p:nvPr/>
              </p:nvGrpSpPr>
              <p:grpSpPr>
                <a:xfrm>
                  <a:off x="4367822" y="1616837"/>
                  <a:ext cx="1600200" cy="987425"/>
                  <a:chOff x="1174750" y="904875"/>
                  <a:chExt cx="1600200" cy="987425"/>
                </a:xfrm>
              </p:grpSpPr>
              <p:sp>
                <p:nvSpPr>
                  <p:cNvPr id="105" name="Oval 104"/>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6" name="Oval 105"/>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7" name="Oval 106"/>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8" name="Oval 107"/>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9" name="Oval 108"/>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Oval 109"/>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1" name="Oval 110"/>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Oval 111"/>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13" name="Group 112"/>
                <p:cNvGrpSpPr/>
                <p:nvPr/>
              </p:nvGrpSpPr>
              <p:grpSpPr>
                <a:xfrm>
                  <a:off x="2752725" y="2044700"/>
                  <a:ext cx="1600200" cy="987425"/>
                  <a:chOff x="1174750" y="904875"/>
                  <a:chExt cx="1600200" cy="987425"/>
                </a:xfrm>
              </p:grpSpPr>
              <p:sp>
                <p:nvSpPr>
                  <p:cNvPr id="114" name="Oval 113"/>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5" name="Oval 114"/>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6" name="Oval 115"/>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7" name="Oval 116"/>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8" name="Oval 117"/>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9" name="Oval 118"/>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0" name="Oval 119"/>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1" name="Oval 120"/>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nvGrpSpPr>
            <p:cNvPr id="311" name="Group 310"/>
            <p:cNvGrpSpPr/>
            <p:nvPr/>
          </p:nvGrpSpPr>
          <p:grpSpPr>
            <a:xfrm>
              <a:off x="1839420" y="2504202"/>
              <a:ext cx="3653490" cy="3283711"/>
              <a:chOff x="1817116" y="2813431"/>
              <a:chExt cx="3653490" cy="3283711"/>
            </a:xfrm>
          </p:grpSpPr>
          <p:grpSp>
            <p:nvGrpSpPr>
              <p:cNvPr id="193" name="Group 192"/>
              <p:cNvGrpSpPr/>
              <p:nvPr/>
            </p:nvGrpSpPr>
            <p:grpSpPr>
              <a:xfrm>
                <a:off x="3109341" y="3265138"/>
                <a:ext cx="1464818" cy="1606359"/>
                <a:chOff x="2124075" y="4010406"/>
                <a:chExt cx="1464818" cy="1606359"/>
              </a:xfrm>
            </p:grpSpPr>
            <p:grpSp>
              <p:nvGrpSpPr>
                <p:cNvPr id="185" name="Group 184"/>
                <p:cNvGrpSpPr/>
                <p:nvPr/>
              </p:nvGrpSpPr>
              <p:grpSpPr>
                <a:xfrm>
                  <a:off x="2124075" y="4010406"/>
                  <a:ext cx="963168" cy="977709"/>
                  <a:chOff x="2124075" y="4010406"/>
                  <a:chExt cx="963168" cy="977709"/>
                </a:xfrm>
              </p:grpSpPr>
              <p:sp>
                <p:nvSpPr>
                  <p:cNvPr id="179" name="Rectangle 178"/>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0" name="Rectangle 179"/>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1" name="Rectangle 180"/>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2" name="Rectangle 181"/>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3" name="Rectangle 182"/>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4" name="Rectangle 183"/>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86" name="Group 185"/>
                <p:cNvGrpSpPr/>
                <p:nvPr/>
              </p:nvGrpSpPr>
              <p:grpSpPr>
                <a:xfrm>
                  <a:off x="2625725" y="4639056"/>
                  <a:ext cx="963168" cy="977709"/>
                  <a:chOff x="2124075" y="4010406"/>
                  <a:chExt cx="963168" cy="977709"/>
                </a:xfrm>
              </p:grpSpPr>
              <p:sp>
                <p:nvSpPr>
                  <p:cNvPr id="187" name="Rectangle 186"/>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8" name="Rectangle 187"/>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9" name="Rectangle 188"/>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0" name="Rectangle 189"/>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1" name="Rectangle 190"/>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2" name="Rectangle 191"/>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94" name="Group 193"/>
              <p:cNvGrpSpPr/>
              <p:nvPr/>
            </p:nvGrpSpPr>
            <p:grpSpPr>
              <a:xfrm>
                <a:off x="4005788" y="4490783"/>
                <a:ext cx="1464818" cy="1606359"/>
                <a:chOff x="2124075" y="4010406"/>
                <a:chExt cx="1464818" cy="1606359"/>
              </a:xfrm>
            </p:grpSpPr>
            <p:grpSp>
              <p:nvGrpSpPr>
                <p:cNvPr id="195" name="Group 194"/>
                <p:cNvGrpSpPr/>
                <p:nvPr/>
              </p:nvGrpSpPr>
              <p:grpSpPr>
                <a:xfrm>
                  <a:off x="2124075" y="4010406"/>
                  <a:ext cx="963168" cy="977709"/>
                  <a:chOff x="2124075" y="4010406"/>
                  <a:chExt cx="963168" cy="977709"/>
                </a:xfrm>
              </p:grpSpPr>
              <p:sp>
                <p:nvSpPr>
                  <p:cNvPr id="203" name="Rectangle 202"/>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4" name="Rectangle 203"/>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5" name="Rectangle 204"/>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6" name="Rectangle 205"/>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7" name="Rectangle 206"/>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8" name="Rectangle 207"/>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96" name="Group 195"/>
                <p:cNvGrpSpPr/>
                <p:nvPr/>
              </p:nvGrpSpPr>
              <p:grpSpPr>
                <a:xfrm>
                  <a:off x="2625725" y="4639056"/>
                  <a:ext cx="963168" cy="977709"/>
                  <a:chOff x="2124075" y="4010406"/>
                  <a:chExt cx="963168" cy="977709"/>
                </a:xfrm>
              </p:grpSpPr>
              <p:sp>
                <p:nvSpPr>
                  <p:cNvPr id="197" name="Rectangle 196"/>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8" name="Rectangle 197"/>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9" name="Rectangle 198"/>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0" name="Rectangle 199"/>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1" name="Rectangle 200"/>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2" name="Rectangle 201"/>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09" name="Group 208"/>
              <p:cNvGrpSpPr/>
              <p:nvPr/>
            </p:nvGrpSpPr>
            <p:grpSpPr>
              <a:xfrm>
                <a:off x="2124075" y="4010406"/>
                <a:ext cx="1464818" cy="1606359"/>
                <a:chOff x="2124075" y="4010406"/>
                <a:chExt cx="1464818" cy="1606359"/>
              </a:xfrm>
            </p:grpSpPr>
            <p:grpSp>
              <p:nvGrpSpPr>
                <p:cNvPr id="210" name="Group 209"/>
                <p:cNvGrpSpPr/>
                <p:nvPr/>
              </p:nvGrpSpPr>
              <p:grpSpPr>
                <a:xfrm>
                  <a:off x="2124075" y="4010406"/>
                  <a:ext cx="963168" cy="977709"/>
                  <a:chOff x="2124075" y="4010406"/>
                  <a:chExt cx="963168" cy="977709"/>
                </a:xfrm>
              </p:grpSpPr>
              <p:sp>
                <p:nvSpPr>
                  <p:cNvPr id="218" name="Rectangle 217"/>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9" name="Rectangle 218"/>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0" name="Rectangle 219"/>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1" name="Rectangle 220"/>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2" name="Rectangle 221"/>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3" name="Rectangle 222"/>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11" name="Group 210"/>
                <p:cNvGrpSpPr/>
                <p:nvPr/>
              </p:nvGrpSpPr>
              <p:grpSpPr>
                <a:xfrm>
                  <a:off x="2625725" y="4639056"/>
                  <a:ext cx="963168" cy="977709"/>
                  <a:chOff x="2124075" y="4010406"/>
                  <a:chExt cx="963168" cy="977709"/>
                </a:xfrm>
              </p:grpSpPr>
              <p:sp>
                <p:nvSpPr>
                  <p:cNvPr id="212" name="Rectangle 211"/>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3" name="Rectangle 212"/>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4" name="Rectangle 213"/>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5" name="Rectangle 214"/>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6" name="Rectangle 215"/>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7" name="Rectangle 216"/>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24" name="Group 223"/>
              <p:cNvGrpSpPr/>
              <p:nvPr/>
            </p:nvGrpSpPr>
            <p:grpSpPr>
              <a:xfrm>
                <a:off x="1817116" y="2813431"/>
                <a:ext cx="1464818" cy="1606359"/>
                <a:chOff x="2124075" y="4010406"/>
                <a:chExt cx="1464818" cy="1606359"/>
              </a:xfrm>
            </p:grpSpPr>
            <p:grpSp>
              <p:nvGrpSpPr>
                <p:cNvPr id="225" name="Group 224"/>
                <p:cNvGrpSpPr/>
                <p:nvPr/>
              </p:nvGrpSpPr>
              <p:grpSpPr>
                <a:xfrm>
                  <a:off x="2124075" y="4010406"/>
                  <a:ext cx="963168" cy="977709"/>
                  <a:chOff x="2124075" y="4010406"/>
                  <a:chExt cx="963168" cy="977709"/>
                </a:xfrm>
              </p:grpSpPr>
              <p:sp>
                <p:nvSpPr>
                  <p:cNvPr id="233" name="Rectangle 232"/>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4" name="Rectangle 233"/>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5" name="Rectangle 234"/>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6" name="Rectangle 235"/>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7" name="Rectangle 236"/>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8" name="Rectangle 237"/>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26" name="Group 225"/>
                <p:cNvGrpSpPr/>
                <p:nvPr/>
              </p:nvGrpSpPr>
              <p:grpSpPr>
                <a:xfrm>
                  <a:off x="2625725" y="4639056"/>
                  <a:ext cx="963168" cy="977709"/>
                  <a:chOff x="2124075" y="4010406"/>
                  <a:chExt cx="963168" cy="977709"/>
                </a:xfrm>
              </p:grpSpPr>
              <p:sp>
                <p:nvSpPr>
                  <p:cNvPr id="227" name="Rectangle 226"/>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8" name="Rectangle 227"/>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9" name="Rectangle 228"/>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0" name="Rectangle 229"/>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1" name="Rectangle 230"/>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2" name="Rectangle 231"/>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nvGrpSpPr>
            <p:cNvPr id="312" name="Group 311"/>
            <p:cNvGrpSpPr/>
            <p:nvPr/>
          </p:nvGrpSpPr>
          <p:grpSpPr>
            <a:xfrm>
              <a:off x="4523434" y="499063"/>
              <a:ext cx="3660776" cy="5032596"/>
              <a:chOff x="4585797" y="894969"/>
              <a:chExt cx="3660776" cy="5032596"/>
            </a:xfrm>
          </p:grpSpPr>
          <p:grpSp>
            <p:nvGrpSpPr>
              <p:cNvPr id="123" name="Group 122"/>
              <p:cNvGrpSpPr/>
              <p:nvPr/>
            </p:nvGrpSpPr>
            <p:grpSpPr>
              <a:xfrm>
                <a:off x="4987924" y="894969"/>
                <a:ext cx="2415198" cy="2187257"/>
                <a:chOff x="4987924" y="894969"/>
                <a:chExt cx="2415198" cy="2187257"/>
              </a:xfrm>
            </p:grpSpPr>
            <p:grpSp>
              <p:nvGrpSpPr>
                <p:cNvPr id="55" name="Group 54"/>
                <p:cNvGrpSpPr/>
                <p:nvPr/>
              </p:nvGrpSpPr>
              <p:grpSpPr>
                <a:xfrm>
                  <a:off x="6550024" y="1079119"/>
                  <a:ext cx="516548" cy="588518"/>
                  <a:chOff x="6238874" y="1037844"/>
                  <a:chExt cx="516548" cy="588518"/>
                </a:xfrm>
                <a:solidFill>
                  <a:srgbClr val="F79646"/>
                </a:solidFill>
              </p:grpSpPr>
              <p:sp>
                <p:nvSpPr>
                  <p:cNvPr id="56" name="Diamond 5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Diamond 5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Diamond 5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22" name="Group 121"/>
                <p:cNvGrpSpPr/>
                <p:nvPr/>
              </p:nvGrpSpPr>
              <p:grpSpPr>
                <a:xfrm>
                  <a:off x="4987924" y="894969"/>
                  <a:ext cx="2415198" cy="2187257"/>
                  <a:chOff x="4956174" y="1037844"/>
                  <a:chExt cx="2415198" cy="2187257"/>
                </a:xfrm>
                <a:solidFill>
                  <a:schemeClr val="accent6"/>
                </a:solidFill>
              </p:grpSpPr>
              <p:grpSp>
                <p:nvGrpSpPr>
                  <p:cNvPr id="54" name="Group 53"/>
                  <p:cNvGrpSpPr/>
                  <p:nvPr/>
                </p:nvGrpSpPr>
                <p:grpSpPr>
                  <a:xfrm>
                    <a:off x="6238874" y="1037844"/>
                    <a:ext cx="516548" cy="588518"/>
                    <a:chOff x="6238874" y="1037844"/>
                    <a:chExt cx="516548" cy="588518"/>
                  </a:xfrm>
                  <a:grpFill/>
                </p:grpSpPr>
                <p:sp>
                  <p:nvSpPr>
                    <p:cNvPr id="51" name="Diamond 5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 name="Diamond 5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Diamond 5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7" name="Group 66"/>
                  <p:cNvGrpSpPr/>
                  <p:nvPr/>
                </p:nvGrpSpPr>
                <p:grpSpPr>
                  <a:xfrm>
                    <a:off x="5565773" y="1667637"/>
                    <a:ext cx="827698" cy="629793"/>
                    <a:chOff x="6391274" y="1491869"/>
                    <a:chExt cx="827698" cy="629793"/>
                  </a:xfrm>
                  <a:grpFill/>
                </p:grpSpPr>
                <p:grpSp>
                  <p:nvGrpSpPr>
                    <p:cNvPr id="59" name="Group 58"/>
                    <p:cNvGrpSpPr/>
                    <p:nvPr/>
                  </p:nvGrpSpPr>
                  <p:grpSpPr>
                    <a:xfrm>
                      <a:off x="6391274" y="1491869"/>
                      <a:ext cx="516548" cy="588518"/>
                      <a:chOff x="6238874" y="1037844"/>
                      <a:chExt cx="516548" cy="588518"/>
                    </a:xfrm>
                    <a:grpFill/>
                  </p:grpSpPr>
                  <p:sp>
                    <p:nvSpPr>
                      <p:cNvPr id="60" name="Diamond 5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1" name="Diamond 6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Diamond 6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3" name="Group 62"/>
                    <p:cNvGrpSpPr/>
                    <p:nvPr/>
                  </p:nvGrpSpPr>
                  <p:grpSpPr>
                    <a:xfrm>
                      <a:off x="6702424" y="1533144"/>
                      <a:ext cx="516548" cy="588518"/>
                      <a:chOff x="6238874" y="1037844"/>
                      <a:chExt cx="516548" cy="588518"/>
                    </a:xfrm>
                    <a:grpFill/>
                  </p:grpSpPr>
                  <p:sp>
                    <p:nvSpPr>
                      <p:cNvPr id="64" name="Diamond 6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5" name="Diamond 6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6" name="Diamond 6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68" name="Group 67"/>
                  <p:cNvGrpSpPr/>
                  <p:nvPr/>
                </p:nvGrpSpPr>
                <p:grpSpPr>
                  <a:xfrm>
                    <a:off x="4956174" y="1311465"/>
                    <a:ext cx="827698" cy="629793"/>
                    <a:chOff x="6391274" y="1491869"/>
                    <a:chExt cx="827698" cy="629793"/>
                  </a:xfrm>
                  <a:grpFill/>
                </p:grpSpPr>
                <p:grpSp>
                  <p:nvGrpSpPr>
                    <p:cNvPr id="69" name="Group 68"/>
                    <p:cNvGrpSpPr/>
                    <p:nvPr/>
                  </p:nvGrpSpPr>
                  <p:grpSpPr>
                    <a:xfrm>
                      <a:off x="6391274" y="1491869"/>
                      <a:ext cx="516548" cy="588518"/>
                      <a:chOff x="6238874" y="1037844"/>
                      <a:chExt cx="516548" cy="588518"/>
                    </a:xfrm>
                    <a:grpFill/>
                  </p:grpSpPr>
                  <p:sp>
                    <p:nvSpPr>
                      <p:cNvPr id="74" name="Diamond 7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5" name="Diamond 7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6" name="Diamond 7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70" name="Group 69"/>
                    <p:cNvGrpSpPr/>
                    <p:nvPr/>
                  </p:nvGrpSpPr>
                  <p:grpSpPr>
                    <a:xfrm>
                      <a:off x="6702424" y="1533144"/>
                      <a:ext cx="516548" cy="588518"/>
                      <a:chOff x="6238874" y="1037844"/>
                      <a:chExt cx="516548" cy="588518"/>
                    </a:xfrm>
                    <a:grpFill/>
                  </p:grpSpPr>
                  <p:sp>
                    <p:nvSpPr>
                      <p:cNvPr id="71" name="Diamond 7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2" name="Diamond 7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3" name="Diamond 7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77" name="Group 76"/>
                  <p:cNvGrpSpPr/>
                  <p:nvPr/>
                </p:nvGrpSpPr>
                <p:grpSpPr>
                  <a:xfrm>
                    <a:off x="6543674" y="1644269"/>
                    <a:ext cx="827698" cy="629793"/>
                    <a:chOff x="6391274" y="1491869"/>
                    <a:chExt cx="827698" cy="629793"/>
                  </a:xfrm>
                  <a:grpFill/>
                </p:grpSpPr>
                <p:grpSp>
                  <p:nvGrpSpPr>
                    <p:cNvPr id="78" name="Group 77"/>
                    <p:cNvGrpSpPr/>
                    <p:nvPr/>
                  </p:nvGrpSpPr>
                  <p:grpSpPr>
                    <a:xfrm>
                      <a:off x="6391274" y="1491869"/>
                      <a:ext cx="516548" cy="588518"/>
                      <a:chOff x="6238874" y="1037844"/>
                      <a:chExt cx="516548" cy="588518"/>
                    </a:xfrm>
                    <a:grpFill/>
                  </p:grpSpPr>
                  <p:sp>
                    <p:nvSpPr>
                      <p:cNvPr id="83" name="Diamond 8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4" name="Diamond 8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5" name="Diamond 8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79" name="Group 78"/>
                    <p:cNvGrpSpPr/>
                    <p:nvPr/>
                  </p:nvGrpSpPr>
                  <p:grpSpPr>
                    <a:xfrm>
                      <a:off x="6702424" y="1533144"/>
                      <a:ext cx="516548" cy="588518"/>
                      <a:chOff x="6238874" y="1037844"/>
                      <a:chExt cx="516548" cy="588518"/>
                    </a:xfrm>
                    <a:grpFill/>
                  </p:grpSpPr>
                  <p:sp>
                    <p:nvSpPr>
                      <p:cNvPr id="80" name="Diamond 7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Diamond 8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2" name="Diamond 8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86" name="Group 85"/>
                  <p:cNvGrpSpPr/>
                  <p:nvPr/>
                </p:nvGrpSpPr>
                <p:grpSpPr>
                  <a:xfrm>
                    <a:off x="6036773" y="2595308"/>
                    <a:ext cx="827698" cy="629793"/>
                    <a:chOff x="6391274" y="1491869"/>
                    <a:chExt cx="827698" cy="629793"/>
                  </a:xfrm>
                  <a:grpFill/>
                </p:grpSpPr>
                <p:grpSp>
                  <p:nvGrpSpPr>
                    <p:cNvPr id="87" name="Group 86"/>
                    <p:cNvGrpSpPr/>
                    <p:nvPr/>
                  </p:nvGrpSpPr>
                  <p:grpSpPr>
                    <a:xfrm>
                      <a:off x="6391274" y="1491869"/>
                      <a:ext cx="516548" cy="588518"/>
                      <a:chOff x="6238874" y="1037844"/>
                      <a:chExt cx="516548" cy="588518"/>
                    </a:xfrm>
                    <a:grpFill/>
                  </p:grpSpPr>
                  <p:sp>
                    <p:nvSpPr>
                      <p:cNvPr id="92" name="Diamond 9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3" name="Diamond 9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4" name="Diamond 9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88" name="Group 87"/>
                    <p:cNvGrpSpPr/>
                    <p:nvPr/>
                  </p:nvGrpSpPr>
                  <p:grpSpPr>
                    <a:xfrm>
                      <a:off x="6702424" y="1533144"/>
                      <a:ext cx="516548" cy="588518"/>
                      <a:chOff x="6238874" y="1037844"/>
                      <a:chExt cx="516548" cy="588518"/>
                    </a:xfrm>
                    <a:grpFill/>
                  </p:grpSpPr>
                  <p:sp>
                    <p:nvSpPr>
                      <p:cNvPr id="89" name="Diamond 8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0" name="Diamond 8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1" name="Diamond 9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95" name="Group 94"/>
                  <p:cNvGrpSpPr/>
                  <p:nvPr/>
                </p:nvGrpSpPr>
                <p:grpSpPr>
                  <a:xfrm>
                    <a:off x="5472722" y="2206053"/>
                    <a:ext cx="827698" cy="629793"/>
                    <a:chOff x="6391274" y="1491869"/>
                    <a:chExt cx="827698" cy="629793"/>
                  </a:xfrm>
                  <a:grpFill/>
                </p:grpSpPr>
                <p:grpSp>
                  <p:nvGrpSpPr>
                    <p:cNvPr id="96" name="Group 95"/>
                    <p:cNvGrpSpPr/>
                    <p:nvPr/>
                  </p:nvGrpSpPr>
                  <p:grpSpPr>
                    <a:xfrm>
                      <a:off x="6391274" y="1491869"/>
                      <a:ext cx="516548" cy="588518"/>
                      <a:chOff x="6238874" y="1037844"/>
                      <a:chExt cx="516548" cy="588518"/>
                    </a:xfrm>
                    <a:grpFill/>
                  </p:grpSpPr>
                  <p:sp>
                    <p:nvSpPr>
                      <p:cNvPr id="101" name="Diamond 10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Diamond 10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Diamond 10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97" name="Group 96"/>
                    <p:cNvGrpSpPr/>
                    <p:nvPr/>
                  </p:nvGrpSpPr>
                  <p:grpSpPr>
                    <a:xfrm>
                      <a:off x="6702424" y="1533144"/>
                      <a:ext cx="516548" cy="588518"/>
                      <a:chOff x="6238874" y="1037844"/>
                      <a:chExt cx="516548" cy="588518"/>
                    </a:xfrm>
                    <a:grpFill/>
                  </p:grpSpPr>
                  <p:sp>
                    <p:nvSpPr>
                      <p:cNvPr id="98" name="Diamond 9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9" name="Diamond 9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0" name="Diamond 9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124" name="Group 123"/>
              <p:cNvGrpSpPr/>
              <p:nvPr/>
            </p:nvGrpSpPr>
            <p:grpSpPr>
              <a:xfrm>
                <a:off x="4585797" y="2984500"/>
                <a:ext cx="2415198" cy="2187257"/>
                <a:chOff x="4987924" y="894969"/>
                <a:chExt cx="2415198" cy="2187257"/>
              </a:xfrm>
            </p:grpSpPr>
            <p:grpSp>
              <p:nvGrpSpPr>
                <p:cNvPr id="125" name="Group 124"/>
                <p:cNvGrpSpPr/>
                <p:nvPr/>
              </p:nvGrpSpPr>
              <p:grpSpPr>
                <a:xfrm>
                  <a:off x="6550024" y="1079119"/>
                  <a:ext cx="516548" cy="588518"/>
                  <a:chOff x="6238874" y="1037844"/>
                  <a:chExt cx="516548" cy="588518"/>
                </a:xfrm>
                <a:solidFill>
                  <a:srgbClr val="F79646"/>
                </a:solidFill>
              </p:grpSpPr>
              <p:sp>
                <p:nvSpPr>
                  <p:cNvPr id="176" name="Diamond 17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7" name="Diamond 17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8" name="Diamond 17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26" name="Group 125"/>
                <p:cNvGrpSpPr/>
                <p:nvPr/>
              </p:nvGrpSpPr>
              <p:grpSpPr>
                <a:xfrm>
                  <a:off x="4987924" y="894969"/>
                  <a:ext cx="2415198" cy="2187257"/>
                  <a:chOff x="4956174" y="1037844"/>
                  <a:chExt cx="2415198" cy="2187257"/>
                </a:xfrm>
                <a:solidFill>
                  <a:schemeClr val="accent6"/>
                </a:solidFill>
              </p:grpSpPr>
              <p:grpSp>
                <p:nvGrpSpPr>
                  <p:cNvPr id="127" name="Group 126"/>
                  <p:cNvGrpSpPr/>
                  <p:nvPr/>
                </p:nvGrpSpPr>
                <p:grpSpPr>
                  <a:xfrm>
                    <a:off x="6238874" y="1037844"/>
                    <a:ext cx="516548" cy="588518"/>
                    <a:chOff x="6238874" y="1037844"/>
                    <a:chExt cx="516548" cy="588518"/>
                  </a:xfrm>
                  <a:grpFill/>
                </p:grpSpPr>
                <p:sp>
                  <p:nvSpPr>
                    <p:cNvPr id="173" name="Diamond 17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4" name="Diamond 17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5" name="Diamond 17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28" name="Group 127"/>
                  <p:cNvGrpSpPr/>
                  <p:nvPr/>
                </p:nvGrpSpPr>
                <p:grpSpPr>
                  <a:xfrm>
                    <a:off x="5565773" y="1667637"/>
                    <a:ext cx="827698" cy="629793"/>
                    <a:chOff x="6391274" y="1491869"/>
                    <a:chExt cx="827698" cy="629793"/>
                  </a:xfrm>
                  <a:grpFill/>
                </p:grpSpPr>
                <p:grpSp>
                  <p:nvGrpSpPr>
                    <p:cNvPr id="165" name="Group 164"/>
                    <p:cNvGrpSpPr/>
                    <p:nvPr/>
                  </p:nvGrpSpPr>
                  <p:grpSpPr>
                    <a:xfrm>
                      <a:off x="6391274" y="1491869"/>
                      <a:ext cx="516548" cy="588518"/>
                      <a:chOff x="6238874" y="1037844"/>
                      <a:chExt cx="516548" cy="588518"/>
                    </a:xfrm>
                    <a:grpFill/>
                  </p:grpSpPr>
                  <p:sp>
                    <p:nvSpPr>
                      <p:cNvPr id="170" name="Diamond 16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1" name="Diamond 17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2" name="Diamond 17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66" name="Group 165"/>
                    <p:cNvGrpSpPr/>
                    <p:nvPr/>
                  </p:nvGrpSpPr>
                  <p:grpSpPr>
                    <a:xfrm>
                      <a:off x="6702424" y="1533144"/>
                      <a:ext cx="516548" cy="588518"/>
                      <a:chOff x="6238874" y="1037844"/>
                      <a:chExt cx="516548" cy="588518"/>
                    </a:xfrm>
                    <a:grpFill/>
                  </p:grpSpPr>
                  <p:sp>
                    <p:nvSpPr>
                      <p:cNvPr id="167" name="Diamond 16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8" name="Diamond 16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9" name="Diamond 16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29" name="Group 128"/>
                  <p:cNvGrpSpPr/>
                  <p:nvPr/>
                </p:nvGrpSpPr>
                <p:grpSpPr>
                  <a:xfrm>
                    <a:off x="4956174" y="1311465"/>
                    <a:ext cx="827698" cy="629793"/>
                    <a:chOff x="6391274" y="1491869"/>
                    <a:chExt cx="827698" cy="629793"/>
                  </a:xfrm>
                  <a:grpFill/>
                </p:grpSpPr>
                <p:grpSp>
                  <p:nvGrpSpPr>
                    <p:cNvPr id="157" name="Group 156"/>
                    <p:cNvGrpSpPr/>
                    <p:nvPr/>
                  </p:nvGrpSpPr>
                  <p:grpSpPr>
                    <a:xfrm>
                      <a:off x="6391274" y="1491869"/>
                      <a:ext cx="516548" cy="588518"/>
                      <a:chOff x="6238874" y="1037844"/>
                      <a:chExt cx="516548" cy="588518"/>
                    </a:xfrm>
                    <a:grpFill/>
                  </p:grpSpPr>
                  <p:sp>
                    <p:nvSpPr>
                      <p:cNvPr id="162" name="Diamond 16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3" name="Diamond 16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4" name="Diamond 16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58" name="Group 157"/>
                    <p:cNvGrpSpPr/>
                    <p:nvPr/>
                  </p:nvGrpSpPr>
                  <p:grpSpPr>
                    <a:xfrm>
                      <a:off x="6702424" y="1533144"/>
                      <a:ext cx="516548" cy="588518"/>
                      <a:chOff x="6238874" y="1037844"/>
                      <a:chExt cx="516548" cy="588518"/>
                    </a:xfrm>
                    <a:grpFill/>
                  </p:grpSpPr>
                  <p:sp>
                    <p:nvSpPr>
                      <p:cNvPr id="159" name="Diamond 15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0" name="Diamond 15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1" name="Diamond 16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30" name="Group 129"/>
                  <p:cNvGrpSpPr/>
                  <p:nvPr/>
                </p:nvGrpSpPr>
                <p:grpSpPr>
                  <a:xfrm>
                    <a:off x="6543674" y="1644269"/>
                    <a:ext cx="827698" cy="629793"/>
                    <a:chOff x="6391274" y="1491869"/>
                    <a:chExt cx="827698" cy="629793"/>
                  </a:xfrm>
                  <a:grpFill/>
                </p:grpSpPr>
                <p:grpSp>
                  <p:nvGrpSpPr>
                    <p:cNvPr id="149" name="Group 148"/>
                    <p:cNvGrpSpPr/>
                    <p:nvPr/>
                  </p:nvGrpSpPr>
                  <p:grpSpPr>
                    <a:xfrm>
                      <a:off x="6391274" y="1491869"/>
                      <a:ext cx="516548" cy="588518"/>
                      <a:chOff x="6238874" y="1037844"/>
                      <a:chExt cx="516548" cy="588518"/>
                    </a:xfrm>
                    <a:grpFill/>
                  </p:grpSpPr>
                  <p:sp>
                    <p:nvSpPr>
                      <p:cNvPr id="154" name="Diamond 15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5" name="Diamond 15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6" name="Diamond 15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50" name="Group 149"/>
                    <p:cNvGrpSpPr/>
                    <p:nvPr/>
                  </p:nvGrpSpPr>
                  <p:grpSpPr>
                    <a:xfrm>
                      <a:off x="6702424" y="1533144"/>
                      <a:ext cx="516548" cy="588518"/>
                      <a:chOff x="6238874" y="1037844"/>
                      <a:chExt cx="516548" cy="588518"/>
                    </a:xfrm>
                    <a:grpFill/>
                  </p:grpSpPr>
                  <p:sp>
                    <p:nvSpPr>
                      <p:cNvPr id="151" name="Diamond 15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2" name="Diamond 15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3" name="Diamond 15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31" name="Group 130"/>
                  <p:cNvGrpSpPr/>
                  <p:nvPr/>
                </p:nvGrpSpPr>
                <p:grpSpPr>
                  <a:xfrm>
                    <a:off x="6036773" y="2595308"/>
                    <a:ext cx="827698" cy="629793"/>
                    <a:chOff x="6391274" y="1491869"/>
                    <a:chExt cx="827698" cy="629793"/>
                  </a:xfrm>
                  <a:grpFill/>
                </p:grpSpPr>
                <p:grpSp>
                  <p:nvGrpSpPr>
                    <p:cNvPr id="141" name="Group 140"/>
                    <p:cNvGrpSpPr/>
                    <p:nvPr/>
                  </p:nvGrpSpPr>
                  <p:grpSpPr>
                    <a:xfrm>
                      <a:off x="6391274" y="1491869"/>
                      <a:ext cx="516548" cy="588518"/>
                      <a:chOff x="6238874" y="1037844"/>
                      <a:chExt cx="516548" cy="588518"/>
                    </a:xfrm>
                    <a:grpFill/>
                  </p:grpSpPr>
                  <p:sp>
                    <p:nvSpPr>
                      <p:cNvPr id="146" name="Diamond 14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7" name="Diamond 14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8" name="Diamond 14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42" name="Group 141"/>
                    <p:cNvGrpSpPr/>
                    <p:nvPr/>
                  </p:nvGrpSpPr>
                  <p:grpSpPr>
                    <a:xfrm>
                      <a:off x="6702424" y="1533144"/>
                      <a:ext cx="516548" cy="588518"/>
                      <a:chOff x="6238874" y="1037844"/>
                      <a:chExt cx="516548" cy="588518"/>
                    </a:xfrm>
                    <a:grpFill/>
                  </p:grpSpPr>
                  <p:sp>
                    <p:nvSpPr>
                      <p:cNvPr id="143" name="Diamond 14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4" name="Diamond 14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5" name="Diamond 14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32" name="Group 131"/>
                  <p:cNvGrpSpPr/>
                  <p:nvPr/>
                </p:nvGrpSpPr>
                <p:grpSpPr>
                  <a:xfrm>
                    <a:off x="5472722" y="2206053"/>
                    <a:ext cx="827698" cy="629793"/>
                    <a:chOff x="6391274" y="1491869"/>
                    <a:chExt cx="827698" cy="629793"/>
                  </a:xfrm>
                  <a:grpFill/>
                </p:grpSpPr>
                <p:grpSp>
                  <p:nvGrpSpPr>
                    <p:cNvPr id="133" name="Group 132"/>
                    <p:cNvGrpSpPr/>
                    <p:nvPr/>
                  </p:nvGrpSpPr>
                  <p:grpSpPr>
                    <a:xfrm>
                      <a:off x="6391274" y="1491869"/>
                      <a:ext cx="516548" cy="588518"/>
                      <a:chOff x="6238874" y="1037844"/>
                      <a:chExt cx="516548" cy="588518"/>
                    </a:xfrm>
                    <a:grpFill/>
                  </p:grpSpPr>
                  <p:sp>
                    <p:nvSpPr>
                      <p:cNvPr id="138" name="Diamond 13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9" name="Diamond 13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0" name="Diamond 13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34" name="Group 133"/>
                    <p:cNvGrpSpPr/>
                    <p:nvPr/>
                  </p:nvGrpSpPr>
                  <p:grpSpPr>
                    <a:xfrm>
                      <a:off x="6702424" y="1533144"/>
                      <a:ext cx="516548" cy="588518"/>
                      <a:chOff x="6238874" y="1037844"/>
                      <a:chExt cx="516548" cy="588518"/>
                    </a:xfrm>
                    <a:grpFill/>
                  </p:grpSpPr>
                  <p:sp>
                    <p:nvSpPr>
                      <p:cNvPr id="135" name="Diamond 13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6" name="Diamond 13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7" name="Diamond 13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244" name="Group 243"/>
              <p:cNvGrpSpPr/>
              <p:nvPr/>
            </p:nvGrpSpPr>
            <p:grpSpPr>
              <a:xfrm>
                <a:off x="5831375" y="3740308"/>
                <a:ext cx="2415198" cy="2187257"/>
                <a:chOff x="4987924" y="894969"/>
                <a:chExt cx="2415198" cy="2187257"/>
              </a:xfrm>
            </p:grpSpPr>
            <p:grpSp>
              <p:nvGrpSpPr>
                <p:cNvPr id="245" name="Group 244"/>
                <p:cNvGrpSpPr/>
                <p:nvPr/>
              </p:nvGrpSpPr>
              <p:grpSpPr>
                <a:xfrm>
                  <a:off x="6550024" y="1079119"/>
                  <a:ext cx="516548" cy="588518"/>
                  <a:chOff x="6238874" y="1037844"/>
                  <a:chExt cx="516548" cy="588518"/>
                </a:xfrm>
                <a:solidFill>
                  <a:srgbClr val="F79646"/>
                </a:solidFill>
              </p:grpSpPr>
              <p:sp>
                <p:nvSpPr>
                  <p:cNvPr id="296" name="Diamond 29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7" name="Diamond 29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8" name="Diamond 29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46" name="Group 245"/>
                <p:cNvGrpSpPr/>
                <p:nvPr/>
              </p:nvGrpSpPr>
              <p:grpSpPr>
                <a:xfrm>
                  <a:off x="4987924" y="894969"/>
                  <a:ext cx="2415198" cy="2187257"/>
                  <a:chOff x="4956174" y="1037844"/>
                  <a:chExt cx="2415198" cy="2187257"/>
                </a:xfrm>
                <a:solidFill>
                  <a:schemeClr val="accent6"/>
                </a:solidFill>
              </p:grpSpPr>
              <p:grpSp>
                <p:nvGrpSpPr>
                  <p:cNvPr id="247" name="Group 246"/>
                  <p:cNvGrpSpPr/>
                  <p:nvPr/>
                </p:nvGrpSpPr>
                <p:grpSpPr>
                  <a:xfrm>
                    <a:off x="6238874" y="1037844"/>
                    <a:ext cx="516548" cy="588518"/>
                    <a:chOff x="6238874" y="1037844"/>
                    <a:chExt cx="516548" cy="588518"/>
                  </a:xfrm>
                  <a:grpFill/>
                </p:grpSpPr>
                <p:sp>
                  <p:nvSpPr>
                    <p:cNvPr id="293" name="Diamond 29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4" name="Diamond 29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5" name="Diamond 29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48" name="Group 247"/>
                  <p:cNvGrpSpPr/>
                  <p:nvPr/>
                </p:nvGrpSpPr>
                <p:grpSpPr>
                  <a:xfrm>
                    <a:off x="5565773" y="1667637"/>
                    <a:ext cx="827698" cy="629793"/>
                    <a:chOff x="6391274" y="1491869"/>
                    <a:chExt cx="827698" cy="629793"/>
                  </a:xfrm>
                  <a:grpFill/>
                </p:grpSpPr>
                <p:grpSp>
                  <p:nvGrpSpPr>
                    <p:cNvPr id="285" name="Group 284"/>
                    <p:cNvGrpSpPr/>
                    <p:nvPr/>
                  </p:nvGrpSpPr>
                  <p:grpSpPr>
                    <a:xfrm>
                      <a:off x="6391274" y="1491869"/>
                      <a:ext cx="516548" cy="588518"/>
                      <a:chOff x="6238874" y="1037844"/>
                      <a:chExt cx="516548" cy="588518"/>
                    </a:xfrm>
                    <a:grpFill/>
                  </p:grpSpPr>
                  <p:sp>
                    <p:nvSpPr>
                      <p:cNvPr id="290" name="Diamond 28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1" name="Diamond 29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2" name="Diamond 29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86" name="Group 285"/>
                    <p:cNvGrpSpPr/>
                    <p:nvPr/>
                  </p:nvGrpSpPr>
                  <p:grpSpPr>
                    <a:xfrm>
                      <a:off x="6702424" y="1533144"/>
                      <a:ext cx="516548" cy="588518"/>
                      <a:chOff x="6238874" y="1037844"/>
                      <a:chExt cx="516548" cy="588518"/>
                    </a:xfrm>
                    <a:grpFill/>
                  </p:grpSpPr>
                  <p:sp>
                    <p:nvSpPr>
                      <p:cNvPr id="287" name="Diamond 28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8" name="Diamond 28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9" name="Diamond 28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49" name="Group 248"/>
                  <p:cNvGrpSpPr/>
                  <p:nvPr/>
                </p:nvGrpSpPr>
                <p:grpSpPr>
                  <a:xfrm>
                    <a:off x="4956174" y="1311465"/>
                    <a:ext cx="827698" cy="629793"/>
                    <a:chOff x="6391274" y="1491869"/>
                    <a:chExt cx="827698" cy="629793"/>
                  </a:xfrm>
                  <a:grpFill/>
                </p:grpSpPr>
                <p:grpSp>
                  <p:nvGrpSpPr>
                    <p:cNvPr id="277" name="Group 276"/>
                    <p:cNvGrpSpPr/>
                    <p:nvPr/>
                  </p:nvGrpSpPr>
                  <p:grpSpPr>
                    <a:xfrm>
                      <a:off x="6391274" y="1491869"/>
                      <a:ext cx="516548" cy="588518"/>
                      <a:chOff x="6238874" y="1037844"/>
                      <a:chExt cx="516548" cy="588518"/>
                    </a:xfrm>
                    <a:grpFill/>
                  </p:grpSpPr>
                  <p:sp>
                    <p:nvSpPr>
                      <p:cNvPr id="282" name="Diamond 28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3" name="Diamond 28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4" name="Diamond 28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78" name="Group 277"/>
                    <p:cNvGrpSpPr/>
                    <p:nvPr/>
                  </p:nvGrpSpPr>
                  <p:grpSpPr>
                    <a:xfrm>
                      <a:off x="6702424" y="1533144"/>
                      <a:ext cx="516548" cy="588518"/>
                      <a:chOff x="6238874" y="1037844"/>
                      <a:chExt cx="516548" cy="588518"/>
                    </a:xfrm>
                    <a:grpFill/>
                  </p:grpSpPr>
                  <p:sp>
                    <p:nvSpPr>
                      <p:cNvPr id="279" name="Diamond 27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0" name="Diamond 27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1" name="Diamond 28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50" name="Group 249"/>
                  <p:cNvGrpSpPr/>
                  <p:nvPr/>
                </p:nvGrpSpPr>
                <p:grpSpPr>
                  <a:xfrm>
                    <a:off x="6543674" y="1644269"/>
                    <a:ext cx="827698" cy="629793"/>
                    <a:chOff x="6391274" y="1491869"/>
                    <a:chExt cx="827698" cy="629793"/>
                  </a:xfrm>
                  <a:grpFill/>
                </p:grpSpPr>
                <p:grpSp>
                  <p:nvGrpSpPr>
                    <p:cNvPr id="269" name="Group 268"/>
                    <p:cNvGrpSpPr/>
                    <p:nvPr/>
                  </p:nvGrpSpPr>
                  <p:grpSpPr>
                    <a:xfrm>
                      <a:off x="6391274" y="1491869"/>
                      <a:ext cx="516548" cy="588518"/>
                      <a:chOff x="6238874" y="1037844"/>
                      <a:chExt cx="516548" cy="588518"/>
                    </a:xfrm>
                    <a:grpFill/>
                  </p:grpSpPr>
                  <p:sp>
                    <p:nvSpPr>
                      <p:cNvPr id="274" name="Diamond 27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5" name="Diamond 27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6" name="Diamond 27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70" name="Group 269"/>
                    <p:cNvGrpSpPr/>
                    <p:nvPr/>
                  </p:nvGrpSpPr>
                  <p:grpSpPr>
                    <a:xfrm>
                      <a:off x="6702424" y="1533144"/>
                      <a:ext cx="516548" cy="588518"/>
                      <a:chOff x="6238874" y="1037844"/>
                      <a:chExt cx="516548" cy="588518"/>
                    </a:xfrm>
                    <a:grpFill/>
                  </p:grpSpPr>
                  <p:sp>
                    <p:nvSpPr>
                      <p:cNvPr id="271" name="Diamond 27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2" name="Diamond 27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3" name="Diamond 27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51" name="Group 250"/>
                  <p:cNvGrpSpPr/>
                  <p:nvPr/>
                </p:nvGrpSpPr>
                <p:grpSpPr>
                  <a:xfrm>
                    <a:off x="6036773" y="2595308"/>
                    <a:ext cx="827698" cy="629793"/>
                    <a:chOff x="6391274" y="1491869"/>
                    <a:chExt cx="827698" cy="629793"/>
                  </a:xfrm>
                  <a:grpFill/>
                </p:grpSpPr>
                <p:grpSp>
                  <p:nvGrpSpPr>
                    <p:cNvPr id="261" name="Group 260"/>
                    <p:cNvGrpSpPr/>
                    <p:nvPr/>
                  </p:nvGrpSpPr>
                  <p:grpSpPr>
                    <a:xfrm>
                      <a:off x="6391274" y="1491869"/>
                      <a:ext cx="516548" cy="588518"/>
                      <a:chOff x="6238874" y="1037844"/>
                      <a:chExt cx="516548" cy="588518"/>
                    </a:xfrm>
                    <a:grpFill/>
                  </p:grpSpPr>
                  <p:sp>
                    <p:nvSpPr>
                      <p:cNvPr id="266" name="Diamond 26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7" name="Diamond 26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8" name="Diamond 26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62" name="Group 261"/>
                    <p:cNvGrpSpPr/>
                    <p:nvPr/>
                  </p:nvGrpSpPr>
                  <p:grpSpPr>
                    <a:xfrm>
                      <a:off x="6702424" y="1533144"/>
                      <a:ext cx="516548" cy="588518"/>
                      <a:chOff x="6238874" y="1037844"/>
                      <a:chExt cx="516548" cy="588518"/>
                    </a:xfrm>
                    <a:grpFill/>
                  </p:grpSpPr>
                  <p:sp>
                    <p:nvSpPr>
                      <p:cNvPr id="263" name="Diamond 26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4" name="Diamond 26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5" name="Diamond 26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52" name="Group 251"/>
                  <p:cNvGrpSpPr/>
                  <p:nvPr/>
                </p:nvGrpSpPr>
                <p:grpSpPr>
                  <a:xfrm>
                    <a:off x="5472722" y="2206053"/>
                    <a:ext cx="827698" cy="629793"/>
                    <a:chOff x="6391274" y="1491869"/>
                    <a:chExt cx="827698" cy="629793"/>
                  </a:xfrm>
                  <a:grpFill/>
                </p:grpSpPr>
                <p:grpSp>
                  <p:nvGrpSpPr>
                    <p:cNvPr id="253" name="Group 252"/>
                    <p:cNvGrpSpPr/>
                    <p:nvPr/>
                  </p:nvGrpSpPr>
                  <p:grpSpPr>
                    <a:xfrm>
                      <a:off x="6391274" y="1491869"/>
                      <a:ext cx="516548" cy="588518"/>
                      <a:chOff x="6238874" y="1037844"/>
                      <a:chExt cx="516548" cy="588518"/>
                    </a:xfrm>
                    <a:grpFill/>
                  </p:grpSpPr>
                  <p:sp>
                    <p:nvSpPr>
                      <p:cNvPr id="258" name="Diamond 25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9" name="Diamond 25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0" name="Diamond 25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54" name="Group 253"/>
                    <p:cNvGrpSpPr/>
                    <p:nvPr/>
                  </p:nvGrpSpPr>
                  <p:grpSpPr>
                    <a:xfrm>
                      <a:off x="6702424" y="1533144"/>
                      <a:ext cx="516548" cy="588518"/>
                      <a:chOff x="6238874" y="1037844"/>
                      <a:chExt cx="516548" cy="588518"/>
                    </a:xfrm>
                    <a:grpFill/>
                  </p:grpSpPr>
                  <p:sp>
                    <p:nvSpPr>
                      <p:cNvPr id="255" name="Diamond 25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6" name="Diamond 25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7" name="Diamond 25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grpSp>
      <p:cxnSp>
        <p:nvCxnSpPr>
          <p:cNvPr id="301" name="Straight Arrow Connector 300"/>
          <p:cNvCxnSpPr/>
          <p:nvPr/>
        </p:nvCxnSpPr>
        <p:spPr>
          <a:xfrm>
            <a:off x="857798" y="6113017"/>
            <a:ext cx="776079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2" name="Straight Arrow Connector 301"/>
          <p:cNvCxnSpPr/>
          <p:nvPr/>
        </p:nvCxnSpPr>
        <p:spPr>
          <a:xfrm flipV="1">
            <a:off x="932353" y="396876"/>
            <a:ext cx="0" cy="57002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8102719" y="6266418"/>
            <a:ext cx="364202" cy="369332"/>
          </a:xfrm>
          <a:prstGeom prst="rect">
            <a:avLst/>
          </a:prstGeom>
          <a:noFill/>
        </p:spPr>
        <p:txBody>
          <a:bodyPr wrap="none" rtlCol="0">
            <a:spAutoFit/>
          </a:bodyPr>
          <a:lstStyle/>
          <a:p>
            <a:r>
              <a:rPr lang="en-US" dirty="0"/>
              <a:t>x</a:t>
            </a:r>
            <a:r>
              <a:rPr lang="en-US" baseline="-25000" dirty="0"/>
              <a:t>1</a:t>
            </a:r>
            <a:endParaRPr lang="en-US" dirty="0"/>
          </a:p>
        </p:txBody>
      </p:sp>
      <p:sp>
        <p:nvSpPr>
          <p:cNvPr id="306" name="TextBox 305"/>
          <p:cNvSpPr txBox="1"/>
          <p:nvPr/>
        </p:nvSpPr>
        <p:spPr>
          <a:xfrm>
            <a:off x="415237" y="396875"/>
            <a:ext cx="364202" cy="369332"/>
          </a:xfrm>
          <a:prstGeom prst="rect">
            <a:avLst/>
          </a:prstGeom>
          <a:noFill/>
        </p:spPr>
        <p:txBody>
          <a:bodyPr wrap="none" rtlCol="0">
            <a:spAutoFit/>
          </a:bodyPr>
          <a:lstStyle/>
          <a:p>
            <a:r>
              <a:rPr lang="en-US" dirty="0"/>
              <a:t>x</a:t>
            </a:r>
            <a:r>
              <a:rPr lang="en-US" baseline="-25000" dirty="0"/>
              <a:t>2</a:t>
            </a:r>
            <a:endParaRPr lang="en-US" dirty="0"/>
          </a:p>
        </p:txBody>
      </p:sp>
      <p:grpSp>
        <p:nvGrpSpPr>
          <p:cNvPr id="325" name="Group 324"/>
          <p:cNvGrpSpPr/>
          <p:nvPr/>
        </p:nvGrpSpPr>
        <p:grpSpPr>
          <a:xfrm>
            <a:off x="2673350" y="1758950"/>
            <a:ext cx="4143495" cy="3231578"/>
            <a:chOff x="2673350" y="1758950"/>
            <a:chExt cx="4143495" cy="3231578"/>
          </a:xfrm>
        </p:grpSpPr>
        <p:sp>
          <p:nvSpPr>
            <p:cNvPr id="314" name="Oval 313"/>
            <p:cNvSpPr/>
            <p:nvPr/>
          </p:nvSpPr>
          <p:spPr>
            <a:xfrm>
              <a:off x="2673350" y="17589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5" name="Rectangle 314"/>
            <p:cNvSpPr>
              <a:spLocks noChangeAspect="1"/>
            </p:cNvSpPr>
            <p:nvPr/>
          </p:nvSpPr>
          <p:spPr>
            <a:xfrm>
              <a:off x="3370707" y="479145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6" name="Diamond 315"/>
            <p:cNvSpPr>
              <a:spLocks noChangeAspect="1"/>
            </p:cNvSpPr>
            <p:nvPr/>
          </p:nvSpPr>
          <p:spPr>
            <a:xfrm>
              <a:off x="6605097" y="3321050"/>
              <a:ext cx="211748" cy="210312"/>
            </a:xfrm>
            <a:prstGeom prst="diamond">
              <a:avLst/>
            </a:prstGeom>
            <a:solidFill>
              <a:srgbClr val="F7964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23" name="Group 322"/>
          <p:cNvGrpSpPr/>
          <p:nvPr/>
        </p:nvGrpSpPr>
        <p:grpSpPr>
          <a:xfrm>
            <a:off x="1049532" y="448326"/>
            <a:ext cx="7776359" cy="3609514"/>
            <a:chOff x="1049532" y="448326"/>
            <a:chExt cx="7776359" cy="3609514"/>
          </a:xfrm>
        </p:grpSpPr>
        <p:sp>
          <p:nvSpPr>
            <p:cNvPr id="320" name="TextBox 319"/>
            <p:cNvSpPr txBox="1"/>
            <p:nvPr/>
          </p:nvSpPr>
          <p:spPr>
            <a:xfrm>
              <a:off x="7879410" y="709375"/>
              <a:ext cx="946481" cy="369332"/>
            </a:xfrm>
            <a:prstGeom prst="rect">
              <a:avLst/>
            </a:prstGeom>
            <a:noFill/>
          </p:spPr>
          <p:txBody>
            <a:bodyPr wrap="none" rtlCol="0">
              <a:spAutoFit/>
            </a:bodyPr>
            <a:lstStyle/>
            <a:p>
              <a:r>
                <a:rPr lang="en-US" dirty="0"/>
                <a:t>Region1</a:t>
              </a:r>
            </a:p>
          </p:txBody>
        </p:sp>
        <p:sp>
          <p:nvSpPr>
            <p:cNvPr id="321" name="TextBox 320"/>
            <p:cNvSpPr txBox="1"/>
            <p:nvPr/>
          </p:nvSpPr>
          <p:spPr>
            <a:xfrm>
              <a:off x="3434570" y="448326"/>
              <a:ext cx="946481" cy="369332"/>
            </a:xfrm>
            <a:prstGeom prst="rect">
              <a:avLst/>
            </a:prstGeom>
            <a:noFill/>
          </p:spPr>
          <p:txBody>
            <a:bodyPr wrap="none" rtlCol="0">
              <a:spAutoFit/>
            </a:bodyPr>
            <a:lstStyle/>
            <a:p>
              <a:r>
                <a:rPr lang="en-US" dirty="0"/>
                <a:t>Region2</a:t>
              </a:r>
            </a:p>
          </p:txBody>
        </p:sp>
        <p:sp>
          <p:nvSpPr>
            <p:cNvPr id="322" name="TextBox 321"/>
            <p:cNvSpPr txBox="1"/>
            <p:nvPr/>
          </p:nvSpPr>
          <p:spPr>
            <a:xfrm>
              <a:off x="1049532" y="3688508"/>
              <a:ext cx="946481" cy="369332"/>
            </a:xfrm>
            <a:prstGeom prst="rect">
              <a:avLst/>
            </a:prstGeom>
            <a:noFill/>
          </p:spPr>
          <p:txBody>
            <a:bodyPr wrap="none" rtlCol="0">
              <a:spAutoFit/>
            </a:bodyPr>
            <a:lstStyle/>
            <a:p>
              <a:r>
                <a:rPr lang="en-US" dirty="0"/>
                <a:t>Region3</a:t>
              </a:r>
            </a:p>
          </p:txBody>
        </p:sp>
      </p:grpSp>
      <p:grpSp>
        <p:nvGrpSpPr>
          <p:cNvPr id="328" name="Group 327"/>
          <p:cNvGrpSpPr/>
          <p:nvPr/>
        </p:nvGrpSpPr>
        <p:grpSpPr>
          <a:xfrm>
            <a:off x="4859425" y="159766"/>
            <a:ext cx="893920" cy="6348983"/>
            <a:chOff x="4859425" y="159766"/>
            <a:chExt cx="893920" cy="6348983"/>
          </a:xfrm>
        </p:grpSpPr>
        <p:cxnSp>
          <p:nvCxnSpPr>
            <p:cNvPr id="240" name="Straight Connector 239"/>
            <p:cNvCxnSpPr/>
            <p:nvPr/>
          </p:nvCxnSpPr>
          <p:spPr>
            <a:xfrm>
              <a:off x="4939111" y="159766"/>
              <a:ext cx="29845" cy="593737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6" name="TextBox 325"/>
            <p:cNvSpPr txBox="1"/>
            <p:nvPr/>
          </p:nvSpPr>
          <p:spPr>
            <a:xfrm>
              <a:off x="4859425" y="6139417"/>
              <a:ext cx="893920" cy="369332"/>
            </a:xfrm>
            <a:prstGeom prst="rect">
              <a:avLst/>
            </a:prstGeom>
            <a:noFill/>
          </p:spPr>
          <p:txBody>
            <a:bodyPr wrap="square" rtlCol="0">
              <a:spAutoFit/>
            </a:bodyPr>
            <a:lstStyle/>
            <a:p>
              <a:r>
                <a:rPr lang="en-US" dirty="0"/>
                <a:t>x</a:t>
              </a:r>
              <a:r>
                <a:rPr lang="en-US" baseline="-25000" dirty="0"/>
                <a:t>1</a:t>
              </a:r>
              <a:r>
                <a:rPr lang="en-US" baseline="30000" dirty="0"/>
                <a:t>a</a:t>
              </a:r>
              <a:endParaRPr lang="en-US" dirty="0"/>
            </a:p>
          </p:txBody>
        </p:sp>
      </p:grpSp>
      <p:grpSp>
        <p:nvGrpSpPr>
          <p:cNvPr id="329" name="Group 328"/>
          <p:cNvGrpSpPr/>
          <p:nvPr/>
        </p:nvGrpSpPr>
        <p:grpSpPr>
          <a:xfrm>
            <a:off x="190833" y="3225301"/>
            <a:ext cx="4783413" cy="369332"/>
            <a:chOff x="190833" y="3225301"/>
            <a:chExt cx="4783413" cy="369332"/>
          </a:xfrm>
        </p:grpSpPr>
        <p:cxnSp>
          <p:nvCxnSpPr>
            <p:cNvPr id="241" name="Straight Connector 240"/>
            <p:cNvCxnSpPr/>
            <p:nvPr/>
          </p:nvCxnSpPr>
          <p:spPr>
            <a:xfrm flipV="1">
              <a:off x="932353" y="3363277"/>
              <a:ext cx="4041893" cy="311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7" name="TextBox 326"/>
            <p:cNvSpPr txBox="1"/>
            <p:nvPr/>
          </p:nvSpPr>
          <p:spPr>
            <a:xfrm>
              <a:off x="190833" y="3225301"/>
              <a:ext cx="893920" cy="369332"/>
            </a:xfrm>
            <a:prstGeom prst="rect">
              <a:avLst/>
            </a:prstGeom>
            <a:noFill/>
          </p:spPr>
          <p:txBody>
            <a:bodyPr wrap="square" rtlCol="0">
              <a:spAutoFit/>
            </a:bodyPr>
            <a:lstStyle/>
            <a:p>
              <a:r>
                <a:rPr lang="en-US" dirty="0"/>
                <a:t>x</a:t>
              </a:r>
              <a:r>
                <a:rPr lang="en-US" baseline="-25000" dirty="0"/>
                <a:t>2</a:t>
              </a:r>
              <a:r>
                <a:rPr lang="en-US" baseline="30000" dirty="0"/>
                <a:t>a</a:t>
              </a:r>
              <a:endParaRPr lang="en-US" dirty="0"/>
            </a:p>
          </p:txBody>
        </p:sp>
      </p:grpSp>
    </p:spTree>
    <p:extLst>
      <p:ext uri="{BB962C8B-B14F-4D97-AF65-F5344CB8AC3E}">
        <p14:creationId xmlns:p14="http://schemas.microsoft.com/office/powerpoint/2010/main" val="370687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24"/>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3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a:spLocks noChangeAspect="1"/>
          </p:cNvSpPr>
          <p:nvPr/>
        </p:nvSpPr>
        <p:spPr>
          <a:xfrm>
            <a:off x="3828143" y="1233714"/>
            <a:ext cx="489857" cy="47171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p:cNvSpPr>
            <a:spLocks noChangeAspect="1"/>
          </p:cNvSpPr>
          <p:nvPr/>
        </p:nvSpPr>
        <p:spPr>
          <a:xfrm>
            <a:off x="5069114" y="2873829"/>
            <a:ext cx="489857" cy="47171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a:spLocks noChangeAspect="1"/>
          </p:cNvSpPr>
          <p:nvPr/>
        </p:nvSpPr>
        <p:spPr>
          <a:xfrm>
            <a:off x="3018972" y="2873829"/>
            <a:ext cx="489857" cy="47171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a:spLocks noChangeAspect="1"/>
          </p:cNvSpPr>
          <p:nvPr/>
        </p:nvSpPr>
        <p:spPr>
          <a:xfrm>
            <a:off x="4053114" y="4288971"/>
            <a:ext cx="489857" cy="47171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a:spLocks noChangeAspect="1"/>
          </p:cNvSpPr>
          <p:nvPr/>
        </p:nvSpPr>
        <p:spPr>
          <a:xfrm>
            <a:off x="2293257" y="4288971"/>
            <a:ext cx="489857" cy="47171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Arrow Connector 9"/>
          <p:cNvCxnSpPr>
            <a:stCxn id="4" idx="4"/>
            <a:endCxn id="5" idx="1"/>
          </p:cNvCxnSpPr>
          <p:nvPr/>
        </p:nvCxnSpPr>
        <p:spPr>
          <a:xfrm>
            <a:off x="4073072" y="1705429"/>
            <a:ext cx="1067780" cy="123748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4" idx="4"/>
            <a:endCxn id="6" idx="0"/>
          </p:cNvCxnSpPr>
          <p:nvPr/>
        </p:nvCxnSpPr>
        <p:spPr>
          <a:xfrm flipH="1">
            <a:off x="3263901" y="1705429"/>
            <a:ext cx="809171" cy="1168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6" idx="4"/>
            <a:endCxn id="8" idx="0"/>
          </p:cNvCxnSpPr>
          <p:nvPr/>
        </p:nvCxnSpPr>
        <p:spPr>
          <a:xfrm flipH="1">
            <a:off x="2538186" y="3345544"/>
            <a:ext cx="725715" cy="94342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6" idx="4"/>
            <a:endCxn id="7" idx="1"/>
          </p:cNvCxnSpPr>
          <p:nvPr/>
        </p:nvCxnSpPr>
        <p:spPr>
          <a:xfrm>
            <a:off x="3263901" y="3345544"/>
            <a:ext cx="860951" cy="10125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701064" y="1923143"/>
            <a:ext cx="736099" cy="369332"/>
          </a:xfrm>
          <a:prstGeom prst="rect">
            <a:avLst/>
          </a:prstGeom>
          <a:noFill/>
        </p:spPr>
        <p:txBody>
          <a:bodyPr wrap="none" rtlCol="0">
            <a:spAutoFit/>
          </a:bodyPr>
          <a:lstStyle/>
          <a:p>
            <a:r>
              <a:rPr lang="en-US" dirty="0"/>
              <a:t>x</a:t>
            </a:r>
            <a:r>
              <a:rPr lang="en-US" baseline="-25000" dirty="0"/>
              <a:t>1</a:t>
            </a:r>
            <a:r>
              <a:rPr lang="en-US" dirty="0"/>
              <a:t>&gt;x</a:t>
            </a:r>
            <a:r>
              <a:rPr lang="en-US" baseline="-25000" dirty="0"/>
              <a:t>1</a:t>
            </a:r>
            <a:r>
              <a:rPr lang="en-US" baseline="30000" dirty="0"/>
              <a:t>a</a:t>
            </a:r>
            <a:endParaRPr lang="en-US" dirty="0"/>
          </a:p>
        </p:txBody>
      </p:sp>
      <p:sp>
        <p:nvSpPr>
          <p:cNvPr id="22" name="TextBox 21"/>
          <p:cNvSpPr txBox="1"/>
          <p:nvPr/>
        </p:nvSpPr>
        <p:spPr>
          <a:xfrm>
            <a:off x="2935943" y="1966686"/>
            <a:ext cx="749123" cy="369332"/>
          </a:xfrm>
          <a:prstGeom prst="rect">
            <a:avLst/>
          </a:prstGeom>
          <a:noFill/>
        </p:spPr>
        <p:txBody>
          <a:bodyPr wrap="none" rtlCol="0">
            <a:spAutoFit/>
          </a:bodyPr>
          <a:lstStyle/>
          <a:p>
            <a:r>
              <a:rPr lang="en-US" dirty="0"/>
              <a:t>X</a:t>
            </a:r>
            <a:r>
              <a:rPr lang="en-US" baseline="-25000" dirty="0"/>
              <a:t>1</a:t>
            </a:r>
            <a:r>
              <a:rPr lang="en-US" dirty="0"/>
              <a:t>&lt;x</a:t>
            </a:r>
            <a:r>
              <a:rPr lang="en-US" baseline="-25000" dirty="0"/>
              <a:t>1</a:t>
            </a:r>
            <a:r>
              <a:rPr lang="en-US" baseline="30000" dirty="0"/>
              <a:t>a</a:t>
            </a:r>
            <a:endParaRPr lang="en-US" dirty="0"/>
          </a:p>
        </p:txBody>
      </p:sp>
      <p:sp>
        <p:nvSpPr>
          <p:cNvPr id="23" name="TextBox 22"/>
          <p:cNvSpPr txBox="1"/>
          <p:nvPr/>
        </p:nvSpPr>
        <p:spPr>
          <a:xfrm>
            <a:off x="3705022" y="3545114"/>
            <a:ext cx="736099" cy="369332"/>
          </a:xfrm>
          <a:prstGeom prst="rect">
            <a:avLst/>
          </a:prstGeom>
          <a:noFill/>
        </p:spPr>
        <p:txBody>
          <a:bodyPr wrap="none" rtlCol="0">
            <a:spAutoFit/>
          </a:bodyPr>
          <a:lstStyle/>
          <a:p>
            <a:r>
              <a:rPr lang="en-US" dirty="0"/>
              <a:t>x</a:t>
            </a:r>
            <a:r>
              <a:rPr lang="en-US" baseline="-25000" dirty="0"/>
              <a:t>2</a:t>
            </a:r>
            <a:r>
              <a:rPr lang="en-US" dirty="0"/>
              <a:t>&gt;x</a:t>
            </a:r>
            <a:r>
              <a:rPr lang="en-US" baseline="-25000" dirty="0"/>
              <a:t>2</a:t>
            </a:r>
            <a:r>
              <a:rPr lang="en-US" baseline="30000" dirty="0"/>
              <a:t>a</a:t>
            </a:r>
            <a:endParaRPr lang="en-US" dirty="0"/>
          </a:p>
        </p:txBody>
      </p:sp>
      <p:sp>
        <p:nvSpPr>
          <p:cNvPr id="24" name="TextBox 23"/>
          <p:cNvSpPr txBox="1"/>
          <p:nvPr/>
        </p:nvSpPr>
        <p:spPr>
          <a:xfrm>
            <a:off x="2023607" y="3556391"/>
            <a:ext cx="749123" cy="369332"/>
          </a:xfrm>
          <a:prstGeom prst="rect">
            <a:avLst/>
          </a:prstGeom>
          <a:noFill/>
        </p:spPr>
        <p:txBody>
          <a:bodyPr wrap="none" rtlCol="0">
            <a:spAutoFit/>
          </a:bodyPr>
          <a:lstStyle/>
          <a:p>
            <a:r>
              <a:rPr lang="en-US" dirty="0"/>
              <a:t>X</a:t>
            </a:r>
            <a:r>
              <a:rPr lang="en-US" baseline="-25000" dirty="0"/>
              <a:t>2</a:t>
            </a:r>
            <a:r>
              <a:rPr lang="en-US" dirty="0"/>
              <a:t>&lt;x</a:t>
            </a:r>
            <a:r>
              <a:rPr lang="en-US" baseline="-25000" dirty="0"/>
              <a:t>2</a:t>
            </a:r>
            <a:r>
              <a:rPr lang="en-US" baseline="30000" dirty="0"/>
              <a:t>a</a:t>
            </a:r>
            <a:endParaRPr lang="en-US" dirty="0"/>
          </a:p>
        </p:txBody>
      </p:sp>
    </p:spTree>
    <p:extLst>
      <p:ext uri="{BB962C8B-B14F-4D97-AF65-F5344CB8AC3E}">
        <p14:creationId xmlns:p14="http://schemas.microsoft.com/office/powerpoint/2010/main" val="4257492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Trees?</a:t>
            </a:r>
          </a:p>
        </p:txBody>
      </p:sp>
      <p:sp>
        <p:nvSpPr>
          <p:cNvPr id="3" name="Content Placeholder 2"/>
          <p:cNvSpPr>
            <a:spLocks noGrp="1"/>
          </p:cNvSpPr>
          <p:nvPr>
            <p:ph idx="1"/>
          </p:nvPr>
        </p:nvSpPr>
        <p:spPr/>
        <p:txBody>
          <a:bodyPr>
            <a:noAutofit/>
          </a:bodyPr>
          <a:lstStyle/>
          <a:p>
            <a:pPr marL="0" indent="0">
              <a:buNone/>
            </a:pPr>
            <a:r>
              <a:rPr lang="en-US" sz="2800" dirty="0"/>
              <a:t>What would you do tonight? Decide amongst the following:</a:t>
            </a:r>
          </a:p>
          <a:p>
            <a:pPr>
              <a:spcAft>
                <a:spcPts val="1200"/>
              </a:spcAft>
            </a:pPr>
            <a:r>
              <a:rPr lang="en-US" sz="2800" dirty="0"/>
              <a:t>Finish homework</a:t>
            </a:r>
          </a:p>
          <a:p>
            <a:pPr>
              <a:spcAft>
                <a:spcPts val="1200"/>
              </a:spcAft>
            </a:pPr>
            <a:r>
              <a:rPr lang="en-US" sz="2800" dirty="0"/>
              <a:t>Go to a party </a:t>
            </a:r>
          </a:p>
          <a:p>
            <a:pPr>
              <a:spcAft>
                <a:spcPts val="1200"/>
              </a:spcAft>
            </a:pPr>
            <a:r>
              <a:rPr lang="en-US" sz="2800" dirty="0"/>
              <a:t>Read a book </a:t>
            </a:r>
          </a:p>
          <a:p>
            <a:pPr>
              <a:spcAft>
                <a:spcPts val="1200"/>
              </a:spcAft>
            </a:pPr>
            <a:r>
              <a:rPr lang="en-US" sz="2800" dirty="0"/>
              <a:t>Hang out with friends</a:t>
            </a:r>
          </a:p>
          <a:p>
            <a:pPr marL="0" indent="0">
              <a:buNone/>
            </a:pPr>
            <a:endParaRPr lang="en-US" sz="2800" dirty="0"/>
          </a:p>
        </p:txBody>
      </p:sp>
    </p:spTree>
    <p:extLst>
      <p:ext uri="{BB962C8B-B14F-4D97-AF65-F5344CB8AC3E}">
        <p14:creationId xmlns:p14="http://schemas.microsoft.com/office/powerpoint/2010/main" val="6641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78727" y="646545"/>
            <a:ext cx="2909455" cy="969819"/>
          </a:xfrm>
          <a:prstGeom prst="rect">
            <a:avLst/>
          </a:prstGeom>
          <a:gradFill flip="none" rotWithShape="1">
            <a:gsLst>
              <a:gs pos="0">
                <a:schemeClr val="accent1">
                  <a:tint val="100000"/>
                  <a:shade val="100000"/>
                  <a:satMod val="130000"/>
                  <a:alpha val="30000"/>
                </a:schemeClr>
              </a:gs>
              <a:gs pos="100000">
                <a:schemeClr val="accent1">
                  <a:tint val="50000"/>
                  <a:shade val="100000"/>
                  <a:satMod val="350000"/>
                  <a:alpha val="30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Homework Deadline tonight?</a:t>
            </a:r>
          </a:p>
        </p:txBody>
      </p:sp>
      <p:grpSp>
        <p:nvGrpSpPr>
          <p:cNvPr id="51" name="Group 50"/>
          <p:cNvGrpSpPr/>
          <p:nvPr/>
        </p:nvGrpSpPr>
        <p:grpSpPr>
          <a:xfrm>
            <a:off x="4433455" y="1358006"/>
            <a:ext cx="2983344" cy="1731558"/>
            <a:chOff x="4433455" y="1358006"/>
            <a:chExt cx="2983344" cy="1731558"/>
          </a:xfrm>
        </p:grpSpPr>
        <p:sp>
          <p:nvSpPr>
            <p:cNvPr id="5" name="Rectangle 4"/>
            <p:cNvSpPr/>
            <p:nvPr/>
          </p:nvSpPr>
          <p:spPr>
            <a:xfrm>
              <a:off x="5052290" y="2119745"/>
              <a:ext cx="2364509" cy="969819"/>
            </a:xfrm>
            <a:prstGeom prst="rect">
              <a:avLst/>
            </a:prstGeom>
            <a:solidFill>
              <a:schemeClr val="accent3">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Do homework</a:t>
              </a:r>
            </a:p>
          </p:txBody>
        </p:sp>
        <p:cxnSp>
          <p:nvCxnSpPr>
            <p:cNvPr id="9" name="Straight Arrow Connector 8"/>
            <p:cNvCxnSpPr>
              <a:stCxn id="4" idx="2"/>
              <a:endCxn id="5" idx="0"/>
            </p:cNvCxnSpPr>
            <p:nvPr/>
          </p:nvCxnSpPr>
          <p:spPr>
            <a:xfrm>
              <a:off x="4433455" y="1616364"/>
              <a:ext cx="1801090" cy="503381"/>
            </a:xfrm>
            <a:prstGeom prst="straightConnector1">
              <a:avLst/>
            </a:prstGeom>
            <a:ln>
              <a:solidFill>
                <a:schemeClr val="accent3">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75283" y="1358006"/>
              <a:ext cx="678741" cy="523220"/>
            </a:xfrm>
            <a:prstGeom prst="rect">
              <a:avLst/>
            </a:prstGeom>
            <a:noFill/>
          </p:spPr>
          <p:txBody>
            <a:bodyPr wrap="none" rtlCol="0">
              <a:spAutoFit/>
            </a:bodyPr>
            <a:lstStyle/>
            <a:p>
              <a:r>
                <a:rPr lang="en-US" sz="2800" dirty="0"/>
                <a:t>Yes</a:t>
              </a:r>
              <a:endParaRPr lang="en-US" dirty="0"/>
            </a:p>
          </p:txBody>
        </p:sp>
      </p:grpSp>
      <p:grpSp>
        <p:nvGrpSpPr>
          <p:cNvPr id="50" name="Group 49"/>
          <p:cNvGrpSpPr/>
          <p:nvPr/>
        </p:nvGrpSpPr>
        <p:grpSpPr>
          <a:xfrm>
            <a:off x="1505527" y="1596525"/>
            <a:ext cx="2927928" cy="1640820"/>
            <a:chOff x="1505527" y="1596525"/>
            <a:chExt cx="2927928" cy="1640820"/>
          </a:xfrm>
        </p:grpSpPr>
        <p:sp>
          <p:nvSpPr>
            <p:cNvPr id="11" name="Rectangle 10"/>
            <p:cNvSpPr/>
            <p:nvPr/>
          </p:nvSpPr>
          <p:spPr>
            <a:xfrm>
              <a:off x="1505527" y="2267526"/>
              <a:ext cx="2364509" cy="969819"/>
            </a:xfrm>
            <a:prstGeom prst="rect">
              <a:avLst/>
            </a:prstGeom>
            <a:solidFill>
              <a:schemeClr val="accent1">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Party invitation?</a:t>
              </a:r>
            </a:p>
          </p:txBody>
        </p:sp>
        <p:grpSp>
          <p:nvGrpSpPr>
            <p:cNvPr id="16" name="Group 15"/>
            <p:cNvGrpSpPr/>
            <p:nvPr/>
          </p:nvGrpSpPr>
          <p:grpSpPr>
            <a:xfrm>
              <a:off x="2520107" y="1596525"/>
              <a:ext cx="1913348" cy="671001"/>
              <a:chOff x="2520107" y="1596525"/>
              <a:chExt cx="1913348" cy="671001"/>
            </a:xfrm>
          </p:grpSpPr>
          <p:cxnSp>
            <p:nvCxnSpPr>
              <p:cNvPr id="12" name="Straight Arrow Connector 11"/>
              <p:cNvCxnSpPr>
                <a:stCxn id="4" idx="2"/>
                <a:endCxn id="11" idx="0"/>
              </p:cNvCxnSpPr>
              <p:nvPr/>
            </p:nvCxnSpPr>
            <p:spPr>
              <a:xfrm flipH="1">
                <a:off x="2687782" y="1616364"/>
                <a:ext cx="1745673" cy="6511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20107" y="1596525"/>
                <a:ext cx="605805" cy="523220"/>
              </a:xfrm>
              <a:prstGeom prst="rect">
                <a:avLst/>
              </a:prstGeom>
              <a:noFill/>
            </p:spPr>
            <p:txBody>
              <a:bodyPr wrap="none" rtlCol="0">
                <a:spAutoFit/>
              </a:bodyPr>
              <a:lstStyle/>
              <a:p>
                <a:r>
                  <a:rPr lang="en-US" sz="2800" dirty="0"/>
                  <a:t>No</a:t>
                </a:r>
                <a:endParaRPr lang="en-US" dirty="0"/>
              </a:p>
            </p:txBody>
          </p:sp>
        </p:grpSp>
      </p:grpSp>
      <p:grpSp>
        <p:nvGrpSpPr>
          <p:cNvPr id="53" name="Group 52"/>
          <p:cNvGrpSpPr/>
          <p:nvPr/>
        </p:nvGrpSpPr>
        <p:grpSpPr>
          <a:xfrm>
            <a:off x="798348" y="3237345"/>
            <a:ext cx="2364509" cy="1623712"/>
            <a:chOff x="798348" y="3237345"/>
            <a:chExt cx="2364509" cy="1623712"/>
          </a:xfrm>
        </p:grpSpPr>
        <p:grpSp>
          <p:nvGrpSpPr>
            <p:cNvPr id="17" name="Group 16"/>
            <p:cNvGrpSpPr/>
            <p:nvPr/>
          </p:nvGrpSpPr>
          <p:grpSpPr>
            <a:xfrm>
              <a:off x="1521279" y="3237345"/>
              <a:ext cx="1166503" cy="653893"/>
              <a:chOff x="2971388" y="1481070"/>
              <a:chExt cx="1166503" cy="653893"/>
            </a:xfrm>
          </p:grpSpPr>
          <p:cxnSp>
            <p:nvCxnSpPr>
              <p:cNvPr id="18" name="Straight Arrow Connector 17"/>
              <p:cNvCxnSpPr>
                <a:stCxn id="11" idx="2"/>
                <a:endCxn id="21" idx="0"/>
              </p:cNvCxnSpPr>
              <p:nvPr/>
            </p:nvCxnSpPr>
            <p:spPr>
              <a:xfrm flipH="1">
                <a:off x="3430712" y="1481070"/>
                <a:ext cx="707179" cy="65389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71388" y="1528618"/>
                <a:ext cx="605805" cy="523220"/>
              </a:xfrm>
              <a:prstGeom prst="rect">
                <a:avLst/>
              </a:prstGeom>
              <a:noFill/>
            </p:spPr>
            <p:txBody>
              <a:bodyPr wrap="none" rtlCol="0">
                <a:spAutoFit/>
              </a:bodyPr>
              <a:lstStyle/>
              <a:p>
                <a:r>
                  <a:rPr lang="en-US" sz="2800" dirty="0"/>
                  <a:t>No</a:t>
                </a:r>
                <a:endParaRPr lang="en-US" dirty="0"/>
              </a:p>
            </p:txBody>
          </p:sp>
        </p:grpSp>
        <p:sp>
          <p:nvSpPr>
            <p:cNvPr id="21" name="Rectangle 20"/>
            <p:cNvSpPr/>
            <p:nvPr/>
          </p:nvSpPr>
          <p:spPr>
            <a:xfrm>
              <a:off x="798348" y="3891238"/>
              <a:ext cx="2364509" cy="969819"/>
            </a:xfrm>
            <a:prstGeom prst="rect">
              <a:avLst/>
            </a:prstGeom>
            <a:solidFill>
              <a:schemeClr val="accent1">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Do I have friends</a:t>
              </a:r>
            </a:p>
          </p:txBody>
        </p:sp>
      </p:grpSp>
      <p:grpSp>
        <p:nvGrpSpPr>
          <p:cNvPr id="52" name="Group 51"/>
          <p:cNvGrpSpPr/>
          <p:nvPr/>
        </p:nvGrpSpPr>
        <p:grpSpPr>
          <a:xfrm>
            <a:off x="2687782" y="3138738"/>
            <a:ext cx="3546762" cy="1716658"/>
            <a:chOff x="2687782" y="3138738"/>
            <a:chExt cx="3546762" cy="1716658"/>
          </a:xfrm>
        </p:grpSpPr>
        <p:grpSp>
          <p:nvGrpSpPr>
            <p:cNvPr id="24" name="Group 23"/>
            <p:cNvGrpSpPr/>
            <p:nvPr/>
          </p:nvGrpSpPr>
          <p:grpSpPr>
            <a:xfrm>
              <a:off x="2687782" y="3138738"/>
              <a:ext cx="2364508" cy="746839"/>
              <a:chOff x="1824421" y="1181151"/>
              <a:chExt cx="2364508" cy="746839"/>
            </a:xfrm>
          </p:grpSpPr>
          <p:cxnSp>
            <p:nvCxnSpPr>
              <p:cNvPr id="25" name="Straight Arrow Connector 24"/>
              <p:cNvCxnSpPr>
                <a:stCxn id="11" idx="2"/>
                <a:endCxn id="29" idx="0"/>
              </p:cNvCxnSpPr>
              <p:nvPr/>
            </p:nvCxnSpPr>
            <p:spPr>
              <a:xfrm>
                <a:off x="1824421" y="1279758"/>
                <a:ext cx="2364508" cy="648232"/>
              </a:xfrm>
              <a:prstGeom prst="straightConnector1">
                <a:avLst/>
              </a:prstGeom>
              <a:ln>
                <a:solidFill>
                  <a:srgbClr val="77933C"/>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487098" y="1181151"/>
                <a:ext cx="678741" cy="523220"/>
              </a:xfrm>
              <a:prstGeom prst="rect">
                <a:avLst/>
              </a:prstGeom>
              <a:noFill/>
            </p:spPr>
            <p:txBody>
              <a:bodyPr wrap="none" rtlCol="0">
                <a:spAutoFit/>
              </a:bodyPr>
              <a:lstStyle/>
              <a:p>
                <a:r>
                  <a:rPr lang="en-US" sz="2800" dirty="0"/>
                  <a:t>Yes</a:t>
                </a:r>
                <a:endParaRPr lang="en-US" dirty="0"/>
              </a:p>
            </p:txBody>
          </p:sp>
        </p:grpSp>
        <p:sp>
          <p:nvSpPr>
            <p:cNvPr id="29" name="Rectangle 28"/>
            <p:cNvSpPr/>
            <p:nvPr/>
          </p:nvSpPr>
          <p:spPr>
            <a:xfrm>
              <a:off x="3870035" y="3885577"/>
              <a:ext cx="2364509" cy="969819"/>
            </a:xfrm>
            <a:prstGeom prst="rect">
              <a:avLst/>
            </a:prstGeom>
            <a:solidFill>
              <a:schemeClr val="accent3">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Go to the party</a:t>
              </a:r>
            </a:p>
          </p:txBody>
        </p:sp>
      </p:grpSp>
      <p:grpSp>
        <p:nvGrpSpPr>
          <p:cNvPr id="58" name="Group 57"/>
          <p:cNvGrpSpPr/>
          <p:nvPr/>
        </p:nvGrpSpPr>
        <p:grpSpPr>
          <a:xfrm>
            <a:off x="706581" y="4861057"/>
            <a:ext cx="2364509" cy="1584037"/>
            <a:chOff x="706581" y="4861057"/>
            <a:chExt cx="2364509" cy="1584037"/>
          </a:xfrm>
        </p:grpSpPr>
        <p:cxnSp>
          <p:nvCxnSpPr>
            <p:cNvPr id="36" name="Straight Arrow Connector 35"/>
            <p:cNvCxnSpPr>
              <a:stCxn id="21" idx="2"/>
              <a:endCxn id="30" idx="0"/>
            </p:cNvCxnSpPr>
            <p:nvPr/>
          </p:nvCxnSpPr>
          <p:spPr>
            <a:xfrm flipH="1">
              <a:off x="1888836" y="4861057"/>
              <a:ext cx="91767" cy="6142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56" name="Group 55"/>
            <p:cNvGrpSpPr/>
            <p:nvPr/>
          </p:nvGrpSpPr>
          <p:grpSpPr>
            <a:xfrm>
              <a:off x="706581" y="4887524"/>
              <a:ext cx="2364509" cy="1557570"/>
              <a:chOff x="706581" y="4887524"/>
              <a:chExt cx="2364509" cy="1557570"/>
            </a:xfrm>
          </p:grpSpPr>
          <p:sp>
            <p:nvSpPr>
              <p:cNvPr id="30" name="Rectangle 29"/>
              <p:cNvSpPr/>
              <p:nvPr/>
            </p:nvSpPr>
            <p:spPr>
              <a:xfrm>
                <a:off x="706581" y="5475275"/>
                <a:ext cx="2364509" cy="969819"/>
              </a:xfrm>
              <a:prstGeom prst="rect">
                <a:avLst/>
              </a:prstGeom>
              <a:solidFill>
                <a:srgbClr val="9BBB59">
                  <a:alpha val="3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Read a book</a:t>
                </a:r>
              </a:p>
            </p:txBody>
          </p:sp>
          <p:sp>
            <p:nvSpPr>
              <p:cNvPr id="37" name="TextBox 36"/>
              <p:cNvSpPr txBox="1"/>
              <p:nvPr/>
            </p:nvSpPr>
            <p:spPr>
              <a:xfrm>
                <a:off x="1337626" y="4887524"/>
                <a:ext cx="605805" cy="523220"/>
              </a:xfrm>
              <a:prstGeom prst="rect">
                <a:avLst/>
              </a:prstGeom>
              <a:noFill/>
            </p:spPr>
            <p:txBody>
              <a:bodyPr wrap="none" rtlCol="0">
                <a:spAutoFit/>
              </a:bodyPr>
              <a:lstStyle/>
              <a:p>
                <a:r>
                  <a:rPr lang="en-US" sz="2800" dirty="0"/>
                  <a:t>No</a:t>
                </a:r>
                <a:endParaRPr lang="en-US" dirty="0"/>
              </a:p>
            </p:txBody>
          </p:sp>
        </p:grpSp>
      </p:grpSp>
      <p:grpSp>
        <p:nvGrpSpPr>
          <p:cNvPr id="57" name="Group 56"/>
          <p:cNvGrpSpPr/>
          <p:nvPr/>
        </p:nvGrpSpPr>
        <p:grpSpPr>
          <a:xfrm>
            <a:off x="1980603" y="4632203"/>
            <a:ext cx="4452523" cy="1691780"/>
            <a:chOff x="1980603" y="4632203"/>
            <a:chExt cx="4452523" cy="1691780"/>
          </a:xfrm>
        </p:grpSpPr>
        <p:sp>
          <p:nvSpPr>
            <p:cNvPr id="41" name="Rectangle 40"/>
            <p:cNvSpPr/>
            <p:nvPr/>
          </p:nvSpPr>
          <p:spPr>
            <a:xfrm>
              <a:off x="4068617" y="5354164"/>
              <a:ext cx="2364509" cy="969819"/>
            </a:xfrm>
            <a:prstGeom prst="rect">
              <a:avLst/>
            </a:prstGeom>
            <a:solidFill>
              <a:schemeClr val="accent3">
                <a:alpha val="3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Hang out with friends</a:t>
              </a:r>
            </a:p>
          </p:txBody>
        </p:sp>
        <p:cxnSp>
          <p:nvCxnSpPr>
            <p:cNvPr id="42" name="Straight Arrow Connector 41"/>
            <p:cNvCxnSpPr>
              <a:stCxn id="21" idx="2"/>
              <a:endCxn id="41" idx="0"/>
            </p:cNvCxnSpPr>
            <p:nvPr/>
          </p:nvCxnSpPr>
          <p:spPr>
            <a:xfrm>
              <a:off x="1980603" y="4861057"/>
              <a:ext cx="3270269" cy="493107"/>
            </a:xfrm>
            <a:prstGeom prst="straightConnector1">
              <a:avLst/>
            </a:prstGeom>
            <a:ln>
              <a:solidFill>
                <a:srgbClr val="77933C"/>
              </a:solidFill>
              <a:tailEnd type="arrow"/>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3191295" y="4632203"/>
              <a:ext cx="678741" cy="523220"/>
            </a:xfrm>
            <a:prstGeom prst="rect">
              <a:avLst/>
            </a:prstGeom>
            <a:noFill/>
          </p:spPr>
          <p:txBody>
            <a:bodyPr wrap="none" rtlCol="0">
              <a:spAutoFit/>
            </a:bodyPr>
            <a:lstStyle/>
            <a:p>
              <a:r>
                <a:rPr lang="en-US" sz="2800" dirty="0"/>
                <a:t>Yes</a:t>
              </a:r>
              <a:endParaRPr lang="en-US" dirty="0"/>
            </a:p>
          </p:txBody>
        </p:sp>
      </p:grpSp>
    </p:spTree>
    <p:extLst>
      <p:ext uri="{BB962C8B-B14F-4D97-AF65-F5344CB8AC3E}">
        <p14:creationId xmlns:p14="http://schemas.microsoft.com/office/powerpoint/2010/main" val="4195761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Trees?</a:t>
            </a:r>
          </a:p>
        </p:txBody>
      </p:sp>
      <p:sp>
        <p:nvSpPr>
          <p:cNvPr id="3" name="Content Placeholder 2"/>
          <p:cNvSpPr>
            <a:spLocks noGrp="1"/>
          </p:cNvSpPr>
          <p:nvPr>
            <p:ph idx="1"/>
          </p:nvPr>
        </p:nvSpPr>
        <p:spPr/>
        <p:txBody>
          <a:bodyPr/>
          <a:lstStyle/>
          <a:p>
            <a:pPr marL="0" indent="0">
              <a:buNone/>
            </a:pPr>
            <a:r>
              <a:rPr lang="en-US" dirty="0"/>
              <a:t>We split the predictor space as brunches of a tree and therefore these methods are called decision tree methods</a:t>
            </a:r>
          </a:p>
        </p:txBody>
      </p:sp>
    </p:spTree>
    <p:extLst>
      <p:ext uri="{BB962C8B-B14F-4D97-AF65-F5344CB8AC3E}">
        <p14:creationId xmlns:p14="http://schemas.microsoft.com/office/powerpoint/2010/main" val="3992327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Forest?</a:t>
            </a:r>
          </a:p>
        </p:txBody>
      </p:sp>
      <p:sp>
        <p:nvSpPr>
          <p:cNvPr id="3" name="Content Placeholder 2"/>
          <p:cNvSpPr>
            <a:spLocks noGrp="1"/>
          </p:cNvSpPr>
          <p:nvPr>
            <p:ph idx="1"/>
          </p:nvPr>
        </p:nvSpPr>
        <p:spPr>
          <a:xfrm>
            <a:off x="457200" y="1473200"/>
            <a:ext cx="8229600" cy="4525963"/>
          </a:xfrm>
        </p:spPr>
        <p:txBody>
          <a:bodyPr>
            <a:normAutofit/>
          </a:bodyPr>
          <a:lstStyle/>
          <a:p>
            <a:pPr marL="0" indent="0">
              <a:buNone/>
            </a:pPr>
            <a:r>
              <a:rPr lang="en-US" sz="2400" dirty="0"/>
              <a:t>Not the most powerful models but using multiple trees as in bagging, random forests and boosting yield much better results.</a:t>
            </a:r>
          </a:p>
          <a:p>
            <a:endParaRPr lang="en-US" sz="2400" dirty="0"/>
          </a:p>
        </p:txBody>
      </p:sp>
      <p:pic>
        <p:nvPicPr>
          <p:cNvPr id="4" name="Picture 3" descr="RandomForestHW.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4374" y="2688430"/>
            <a:ext cx="5280025" cy="3960019"/>
          </a:xfrm>
          <a:prstGeom prst="rect">
            <a:avLst/>
          </a:prstGeom>
        </p:spPr>
      </p:pic>
    </p:spTree>
    <p:extLst>
      <p:ext uri="{BB962C8B-B14F-4D97-AF65-F5344CB8AC3E}">
        <p14:creationId xmlns:p14="http://schemas.microsoft.com/office/powerpoint/2010/main" val="307156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a:t>
            </a:r>
          </a:p>
        </p:txBody>
      </p:sp>
      <p:sp>
        <p:nvSpPr>
          <p:cNvPr id="3" name="Content Placeholder 2"/>
          <p:cNvSpPr>
            <a:spLocks noGrp="1"/>
          </p:cNvSpPr>
          <p:nvPr>
            <p:ph idx="1"/>
          </p:nvPr>
        </p:nvSpPr>
        <p:spPr/>
        <p:txBody>
          <a:bodyPr>
            <a:normAutofit/>
          </a:bodyPr>
          <a:lstStyle/>
          <a:p>
            <a:pPr marL="0" indent="0">
              <a:spcAft>
                <a:spcPts val="1200"/>
              </a:spcAft>
              <a:buNone/>
            </a:pPr>
            <a:r>
              <a:rPr lang="en-US" dirty="0">
                <a:solidFill>
                  <a:srgbClr val="BFBFBF"/>
                </a:solidFill>
              </a:rPr>
              <a:t>Tree based methods</a:t>
            </a:r>
          </a:p>
          <a:p>
            <a:pPr marL="0" indent="0">
              <a:spcAft>
                <a:spcPts val="1200"/>
              </a:spcAft>
              <a:buNone/>
            </a:pPr>
            <a:r>
              <a:rPr lang="en-US" dirty="0"/>
              <a:t>Regression Trees</a:t>
            </a:r>
          </a:p>
          <a:p>
            <a:pPr marL="0" indent="0">
              <a:spcAft>
                <a:spcPts val="1200"/>
              </a:spcAft>
              <a:buNone/>
            </a:pPr>
            <a:r>
              <a:rPr lang="en-US" dirty="0">
                <a:solidFill>
                  <a:schemeClr val="bg1">
                    <a:lumMod val="75000"/>
                  </a:schemeClr>
                </a:solidFill>
              </a:rPr>
              <a:t>Bagging</a:t>
            </a:r>
          </a:p>
        </p:txBody>
      </p:sp>
    </p:spTree>
    <p:extLst>
      <p:ext uri="{BB962C8B-B14F-4D97-AF65-F5344CB8AC3E}">
        <p14:creationId xmlns:p14="http://schemas.microsoft.com/office/powerpoint/2010/main" val="2205995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a:t>
            </a:r>
          </a:p>
        </p:txBody>
      </p:sp>
      <p:sp>
        <p:nvSpPr>
          <p:cNvPr id="5" name="Content Placeholder 2"/>
          <p:cNvSpPr>
            <a:spLocks noGrp="1"/>
          </p:cNvSpPr>
          <p:nvPr>
            <p:ph idx="1"/>
          </p:nvPr>
        </p:nvSpPr>
        <p:spPr>
          <a:xfrm>
            <a:off x="457200" y="1600200"/>
            <a:ext cx="8229600" cy="4525963"/>
          </a:xfrm>
        </p:spPr>
        <p:txBody>
          <a:bodyPr>
            <a:normAutofit/>
          </a:bodyPr>
          <a:lstStyle/>
          <a:p>
            <a:pPr marL="0" indent="0">
              <a:buNone/>
            </a:pPr>
            <a:r>
              <a:rPr lang="en-US" sz="2800" b="1" u="sng" dirty="0"/>
              <a:t>Build a regression tree</a:t>
            </a:r>
            <a:r>
              <a:rPr lang="en-US" sz="2800" dirty="0"/>
              <a:t>:</a:t>
            </a:r>
          </a:p>
          <a:p>
            <a:pPr marL="0" indent="0">
              <a:buNone/>
            </a:pPr>
            <a:r>
              <a:rPr lang="en-US" sz="2800" dirty="0"/>
              <a:t>Divide the predictor space into </a:t>
            </a:r>
            <a:r>
              <a:rPr lang="en-US" sz="2800" i="1" dirty="0"/>
              <a:t>J</a:t>
            </a:r>
            <a:r>
              <a:rPr lang="en-US" sz="2800" dirty="0"/>
              <a:t> distinct not overlapping regions </a:t>
            </a:r>
            <a:r>
              <a:rPr lang="en-US" sz="2800" i="1" dirty="0"/>
              <a:t>R</a:t>
            </a:r>
            <a:r>
              <a:rPr lang="en-US" sz="2800" i="1" baseline="-25000" dirty="0"/>
              <a:t>1</a:t>
            </a:r>
            <a:r>
              <a:rPr lang="en-US" sz="2800" i="1" dirty="0"/>
              <a:t>,R</a:t>
            </a:r>
            <a:r>
              <a:rPr lang="en-US" sz="2800" i="1" baseline="-25000" dirty="0"/>
              <a:t>2</a:t>
            </a:r>
            <a:r>
              <a:rPr lang="en-US" sz="2800" i="1" dirty="0"/>
              <a:t>,R</a:t>
            </a:r>
            <a:r>
              <a:rPr lang="en-US" sz="2800" i="1" baseline="-25000" dirty="0"/>
              <a:t>3</a:t>
            </a:r>
            <a:r>
              <a:rPr lang="en-US" sz="2800" i="1" dirty="0"/>
              <a:t>,…,R</a:t>
            </a:r>
            <a:r>
              <a:rPr lang="en-US" sz="2800" i="1" baseline="-25000" dirty="0"/>
              <a:t>J</a:t>
            </a:r>
          </a:p>
          <a:p>
            <a:pPr marL="0" indent="0">
              <a:buNone/>
            </a:pPr>
            <a:endParaRPr lang="en-US" sz="2800" baseline="-25000" dirty="0"/>
          </a:p>
          <a:p>
            <a:pPr marL="0" indent="0">
              <a:buNone/>
            </a:pPr>
            <a:r>
              <a:rPr lang="en-US" sz="2800" dirty="0"/>
              <a:t>We make the same prediction for all observations in the same region; use the mean of responses for all training observations that are in the region</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p:txBody>
      </p:sp>
    </p:spTree>
    <p:extLst>
      <p:ext uri="{BB962C8B-B14F-4D97-AF65-F5344CB8AC3E}">
        <p14:creationId xmlns:p14="http://schemas.microsoft.com/office/powerpoint/2010/main" val="2046985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3" name="Group 312"/>
          <p:cNvGrpSpPr/>
          <p:nvPr/>
        </p:nvGrpSpPr>
        <p:grpSpPr>
          <a:xfrm>
            <a:off x="1046688" y="470424"/>
            <a:ext cx="4793272" cy="2706688"/>
            <a:chOff x="1174750" y="611187"/>
            <a:chExt cx="4793272" cy="2706688"/>
          </a:xfrm>
          <a:solidFill>
            <a:schemeClr val="tx2">
              <a:lumMod val="20000"/>
              <a:lumOff val="80000"/>
              <a:alpha val="24000"/>
            </a:schemeClr>
          </a:solidFill>
        </p:grpSpPr>
        <p:grpSp>
          <p:nvGrpSpPr>
            <p:cNvPr id="32" name="Group 31"/>
            <p:cNvGrpSpPr/>
            <p:nvPr/>
          </p:nvGrpSpPr>
          <p:grpSpPr>
            <a:xfrm>
              <a:off x="3435350" y="2178050"/>
              <a:ext cx="1600200" cy="987425"/>
              <a:chOff x="1174750" y="904875"/>
              <a:chExt cx="1600200" cy="987425"/>
            </a:xfrm>
            <a:grpFill/>
          </p:grpSpPr>
          <p:sp>
            <p:nvSpPr>
              <p:cNvPr id="33" name="Oval 32"/>
              <p:cNvSpPr/>
              <p:nvPr/>
            </p:nvSpPr>
            <p:spPr>
              <a:xfrm>
                <a:off x="1174750" y="9525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Oval 33"/>
              <p:cNvSpPr/>
              <p:nvPr/>
            </p:nvSpPr>
            <p:spPr>
              <a:xfrm>
                <a:off x="2009775" y="9048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Oval 34"/>
              <p:cNvSpPr/>
              <p:nvPr/>
            </p:nvSpPr>
            <p:spPr>
              <a:xfrm>
                <a:off x="1704975" y="1120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 name="Oval 35"/>
              <p:cNvSpPr/>
              <p:nvPr/>
            </p:nvSpPr>
            <p:spPr>
              <a:xfrm>
                <a:off x="2368550" y="12954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Oval 36"/>
              <p:cNvSpPr/>
              <p:nvPr/>
            </p:nvSpPr>
            <p:spPr>
              <a:xfrm>
                <a:off x="1327150" y="12636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 name="Oval 37"/>
              <p:cNvSpPr/>
              <p:nvPr/>
            </p:nvSpPr>
            <p:spPr>
              <a:xfrm>
                <a:off x="2003425" y="1501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Oval 38"/>
              <p:cNvSpPr/>
              <p:nvPr/>
            </p:nvSpPr>
            <p:spPr>
              <a:xfrm>
                <a:off x="1685925" y="16541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Oval 39"/>
              <p:cNvSpPr/>
              <p:nvPr/>
            </p:nvSpPr>
            <p:spPr>
              <a:xfrm>
                <a:off x="2520950" y="16065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10" name="Group 309"/>
            <p:cNvGrpSpPr/>
            <p:nvPr/>
          </p:nvGrpSpPr>
          <p:grpSpPr>
            <a:xfrm>
              <a:off x="1174750" y="611187"/>
              <a:ext cx="4793272" cy="2706688"/>
              <a:chOff x="1174750" y="611187"/>
              <a:chExt cx="4793272" cy="2706688"/>
            </a:xfrm>
            <a:grpFill/>
          </p:grpSpPr>
          <p:grpSp>
            <p:nvGrpSpPr>
              <p:cNvPr id="22" name="Group 21"/>
              <p:cNvGrpSpPr/>
              <p:nvPr/>
            </p:nvGrpSpPr>
            <p:grpSpPr>
              <a:xfrm>
                <a:off x="2089150" y="611187"/>
                <a:ext cx="1600200" cy="987425"/>
                <a:chOff x="1174750" y="904875"/>
                <a:chExt cx="1600200" cy="987425"/>
              </a:xfrm>
              <a:grpFill/>
            </p:grpSpPr>
            <p:sp>
              <p:nvSpPr>
                <p:cNvPr id="5" name="Oval 4"/>
                <p:cNvSpPr/>
                <p:nvPr/>
              </p:nvSpPr>
              <p:spPr>
                <a:xfrm>
                  <a:off x="1174750" y="9525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Oval 5"/>
                <p:cNvSpPr/>
                <p:nvPr/>
              </p:nvSpPr>
              <p:spPr>
                <a:xfrm>
                  <a:off x="2009775" y="9048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Oval 6"/>
                <p:cNvSpPr/>
                <p:nvPr/>
              </p:nvSpPr>
              <p:spPr>
                <a:xfrm>
                  <a:off x="1704975" y="1120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p:cNvSpPr/>
                <p:nvPr/>
              </p:nvSpPr>
              <p:spPr>
                <a:xfrm>
                  <a:off x="2368550" y="12954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Oval 9"/>
                <p:cNvSpPr/>
                <p:nvPr/>
              </p:nvSpPr>
              <p:spPr>
                <a:xfrm>
                  <a:off x="1327150" y="12636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p:cNvSpPr/>
                <p:nvPr/>
              </p:nvSpPr>
              <p:spPr>
                <a:xfrm>
                  <a:off x="2003425" y="1501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p:cNvSpPr/>
                <p:nvPr/>
              </p:nvSpPr>
              <p:spPr>
                <a:xfrm>
                  <a:off x="1685925" y="16541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p:cNvSpPr/>
                <p:nvPr/>
              </p:nvSpPr>
              <p:spPr>
                <a:xfrm>
                  <a:off x="2520950" y="16065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3" name="Group 22"/>
              <p:cNvGrpSpPr/>
              <p:nvPr/>
            </p:nvGrpSpPr>
            <p:grpSpPr>
              <a:xfrm>
                <a:off x="1289050" y="2330450"/>
                <a:ext cx="1600200" cy="987425"/>
                <a:chOff x="1174750" y="904875"/>
                <a:chExt cx="1600200" cy="987425"/>
              </a:xfrm>
              <a:grpFill/>
            </p:grpSpPr>
            <p:sp>
              <p:nvSpPr>
                <p:cNvPr id="24" name="Oval 23"/>
                <p:cNvSpPr/>
                <p:nvPr/>
              </p:nvSpPr>
              <p:spPr>
                <a:xfrm>
                  <a:off x="1174750" y="9525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Oval 24"/>
                <p:cNvSpPr/>
                <p:nvPr/>
              </p:nvSpPr>
              <p:spPr>
                <a:xfrm>
                  <a:off x="2009775" y="9048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Oval 25"/>
                <p:cNvSpPr/>
                <p:nvPr/>
              </p:nvSpPr>
              <p:spPr>
                <a:xfrm>
                  <a:off x="1704975" y="1120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Oval 26"/>
                <p:cNvSpPr/>
                <p:nvPr/>
              </p:nvSpPr>
              <p:spPr>
                <a:xfrm>
                  <a:off x="2368550" y="12954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p:cNvSpPr/>
                <p:nvPr/>
              </p:nvSpPr>
              <p:spPr>
                <a:xfrm>
                  <a:off x="1327150" y="12636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Oval 28"/>
                <p:cNvSpPr/>
                <p:nvPr/>
              </p:nvSpPr>
              <p:spPr>
                <a:xfrm>
                  <a:off x="2003425" y="1501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Oval 29"/>
                <p:cNvSpPr/>
                <p:nvPr/>
              </p:nvSpPr>
              <p:spPr>
                <a:xfrm>
                  <a:off x="1685925" y="16541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Oval 30"/>
                <p:cNvSpPr/>
                <p:nvPr/>
              </p:nvSpPr>
              <p:spPr>
                <a:xfrm>
                  <a:off x="2520950" y="16065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1" name="Group 40"/>
              <p:cNvGrpSpPr/>
              <p:nvPr/>
            </p:nvGrpSpPr>
            <p:grpSpPr>
              <a:xfrm>
                <a:off x="1174750" y="904875"/>
                <a:ext cx="1600200" cy="987425"/>
                <a:chOff x="1174750" y="904875"/>
                <a:chExt cx="1600200" cy="987425"/>
              </a:xfrm>
              <a:grpFill/>
            </p:grpSpPr>
            <p:sp>
              <p:nvSpPr>
                <p:cNvPr id="42" name="Oval 41"/>
                <p:cNvSpPr/>
                <p:nvPr/>
              </p:nvSpPr>
              <p:spPr>
                <a:xfrm>
                  <a:off x="1174750" y="9525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 name="Oval 42"/>
                <p:cNvSpPr/>
                <p:nvPr/>
              </p:nvSpPr>
              <p:spPr>
                <a:xfrm>
                  <a:off x="2009775" y="9048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 name="Oval 43"/>
                <p:cNvSpPr/>
                <p:nvPr/>
              </p:nvSpPr>
              <p:spPr>
                <a:xfrm>
                  <a:off x="1704975" y="1120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Oval 44"/>
                <p:cNvSpPr/>
                <p:nvPr/>
              </p:nvSpPr>
              <p:spPr>
                <a:xfrm>
                  <a:off x="2368550" y="12954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Oval 45"/>
                <p:cNvSpPr/>
                <p:nvPr/>
              </p:nvSpPr>
              <p:spPr>
                <a:xfrm>
                  <a:off x="1327150" y="12636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Oval 46"/>
                <p:cNvSpPr/>
                <p:nvPr/>
              </p:nvSpPr>
              <p:spPr>
                <a:xfrm>
                  <a:off x="2003425" y="1501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 name="Oval 47"/>
                <p:cNvSpPr/>
                <p:nvPr/>
              </p:nvSpPr>
              <p:spPr>
                <a:xfrm>
                  <a:off x="1685925" y="16541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 name="Oval 48"/>
                <p:cNvSpPr/>
                <p:nvPr/>
              </p:nvSpPr>
              <p:spPr>
                <a:xfrm>
                  <a:off x="2520950" y="16065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04" name="Group 103"/>
              <p:cNvGrpSpPr/>
              <p:nvPr/>
            </p:nvGrpSpPr>
            <p:grpSpPr>
              <a:xfrm>
                <a:off x="4367822" y="1616837"/>
                <a:ext cx="1600200" cy="987425"/>
                <a:chOff x="1174750" y="904875"/>
                <a:chExt cx="1600200" cy="987425"/>
              </a:xfrm>
              <a:grpFill/>
            </p:grpSpPr>
            <p:sp>
              <p:nvSpPr>
                <p:cNvPr id="105" name="Oval 104"/>
                <p:cNvSpPr/>
                <p:nvPr/>
              </p:nvSpPr>
              <p:spPr>
                <a:xfrm>
                  <a:off x="1174750" y="9525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6" name="Oval 105"/>
                <p:cNvSpPr/>
                <p:nvPr/>
              </p:nvSpPr>
              <p:spPr>
                <a:xfrm>
                  <a:off x="2009775" y="9048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7" name="Oval 106"/>
                <p:cNvSpPr/>
                <p:nvPr/>
              </p:nvSpPr>
              <p:spPr>
                <a:xfrm>
                  <a:off x="1704975" y="1120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8" name="Oval 107"/>
                <p:cNvSpPr/>
                <p:nvPr/>
              </p:nvSpPr>
              <p:spPr>
                <a:xfrm>
                  <a:off x="2368550" y="12954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9" name="Oval 108"/>
                <p:cNvSpPr/>
                <p:nvPr/>
              </p:nvSpPr>
              <p:spPr>
                <a:xfrm>
                  <a:off x="1327150" y="12636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Oval 109"/>
                <p:cNvSpPr/>
                <p:nvPr/>
              </p:nvSpPr>
              <p:spPr>
                <a:xfrm>
                  <a:off x="2003425" y="1501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1" name="Oval 110"/>
                <p:cNvSpPr/>
                <p:nvPr/>
              </p:nvSpPr>
              <p:spPr>
                <a:xfrm>
                  <a:off x="1685925" y="16541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Oval 111"/>
                <p:cNvSpPr/>
                <p:nvPr/>
              </p:nvSpPr>
              <p:spPr>
                <a:xfrm>
                  <a:off x="2520950" y="16065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13" name="Group 112"/>
              <p:cNvGrpSpPr/>
              <p:nvPr/>
            </p:nvGrpSpPr>
            <p:grpSpPr>
              <a:xfrm>
                <a:off x="2752725" y="2044700"/>
                <a:ext cx="1600200" cy="987425"/>
                <a:chOff x="1174750" y="904875"/>
                <a:chExt cx="1600200" cy="987425"/>
              </a:xfrm>
              <a:grpFill/>
            </p:grpSpPr>
            <p:sp>
              <p:nvSpPr>
                <p:cNvPr id="114" name="Oval 113"/>
                <p:cNvSpPr/>
                <p:nvPr/>
              </p:nvSpPr>
              <p:spPr>
                <a:xfrm>
                  <a:off x="1174750" y="9525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5" name="Oval 114"/>
                <p:cNvSpPr/>
                <p:nvPr/>
              </p:nvSpPr>
              <p:spPr>
                <a:xfrm>
                  <a:off x="2009775" y="9048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6" name="Oval 115"/>
                <p:cNvSpPr/>
                <p:nvPr/>
              </p:nvSpPr>
              <p:spPr>
                <a:xfrm>
                  <a:off x="1704975" y="1120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7" name="Oval 116"/>
                <p:cNvSpPr/>
                <p:nvPr/>
              </p:nvSpPr>
              <p:spPr>
                <a:xfrm>
                  <a:off x="2368550" y="129540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8" name="Oval 117"/>
                <p:cNvSpPr/>
                <p:nvPr/>
              </p:nvSpPr>
              <p:spPr>
                <a:xfrm>
                  <a:off x="1327150" y="12636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9" name="Oval 118"/>
                <p:cNvSpPr/>
                <p:nvPr/>
              </p:nvSpPr>
              <p:spPr>
                <a:xfrm>
                  <a:off x="2003425" y="15017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0" name="Oval 119"/>
                <p:cNvSpPr/>
                <p:nvPr/>
              </p:nvSpPr>
              <p:spPr>
                <a:xfrm>
                  <a:off x="1685925" y="1654175"/>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1" name="Oval 120"/>
                <p:cNvSpPr/>
                <p:nvPr/>
              </p:nvSpPr>
              <p:spPr>
                <a:xfrm>
                  <a:off x="2520950" y="1606550"/>
                  <a:ext cx="254000" cy="238125"/>
                </a:xfrm>
                <a:prstGeom prst="ellipse">
                  <a:avLst/>
                </a:prstGeom>
                <a:grpFill/>
                <a:ln>
                  <a:solidFill>
                    <a:schemeClr val="accent1">
                      <a:shade val="95000"/>
                      <a:satMod val="105000"/>
                      <a:alpha val="12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nvGrpSpPr>
          <p:cNvPr id="311" name="Group 310"/>
          <p:cNvGrpSpPr/>
          <p:nvPr/>
        </p:nvGrpSpPr>
        <p:grpSpPr>
          <a:xfrm>
            <a:off x="1839420" y="2504202"/>
            <a:ext cx="3653490" cy="3283711"/>
            <a:chOff x="1817116" y="2813431"/>
            <a:chExt cx="3653490" cy="3283711"/>
          </a:xfrm>
          <a:solidFill>
            <a:schemeClr val="accent2">
              <a:alpha val="16000"/>
            </a:schemeClr>
          </a:solidFill>
        </p:grpSpPr>
        <p:grpSp>
          <p:nvGrpSpPr>
            <p:cNvPr id="193" name="Group 192"/>
            <p:cNvGrpSpPr/>
            <p:nvPr/>
          </p:nvGrpSpPr>
          <p:grpSpPr>
            <a:xfrm>
              <a:off x="3109341" y="3265138"/>
              <a:ext cx="1464818" cy="1606359"/>
              <a:chOff x="2124075" y="4010406"/>
              <a:chExt cx="1464818" cy="1606359"/>
            </a:xfrm>
            <a:grpFill/>
          </p:grpSpPr>
          <p:grpSp>
            <p:nvGrpSpPr>
              <p:cNvPr id="185" name="Group 184"/>
              <p:cNvGrpSpPr/>
              <p:nvPr/>
            </p:nvGrpSpPr>
            <p:grpSpPr>
              <a:xfrm>
                <a:off x="2124075" y="4010406"/>
                <a:ext cx="963168" cy="977709"/>
                <a:chOff x="2124075" y="4010406"/>
                <a:chExt cx="963168" cy="977709"/>
              </a:xfrm>
              <a:grpFill/>
            </p:grpSpPr>
            <p:sp>
              <p:nvSpPr>
                <p:cNvPr id="179" name="Rectangle 178"/>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0" name="Rectangle 179"/>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1" name="Rectangle 180"/>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2" name="Rectangle 181"/>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3" name="Rectangle 182"/>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4" name="Rectangle 183"/>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86" name="Group 185"/>
              <p:cNvGrpSpPr/>
              <p:nvPr/>
            </p:nvGrpSpPr>
            <p:grpSpPr>
              <a:xfrm>
                <a:off x="2625725" y="4639056"/>
                <a:ext cx="963168" cy="977709"/>
                <a:chOff x="2124075" y="4010406"/>
                <a:chExt cx="963168" cy="977709"/>
              </a:xfrm>
              <a:grpFill/>
            </p:grpSpPr>
            <p:sp>
              <p:nvSpPr>
                <p:cNvPr id="187" name="Rectangle 186"/>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8" name="Rectangle 187"/>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9" name="Rectangle 188"/>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0" name="Rectangle 189"/>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1" name="Rectangle 190"/>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2" name="Rectangle 191"/>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94" name="Group 193"/>
            <p:cNvGrpSpPr/>
            <p:nvPr/>
          </p:nvGrpSpPr>
          <p:grpSpPr>
            <a:xfrm>
              <a:off x="4005788" y="4490783"/>
              <a:ext cx="1464818" cy="1606359"/>
              <a:chOff x="2124075" y="4010406"/>
              <a:chExt cx="1464818" cy="1606359"/>
            </a:xfrm>
            <a:grpFill/>
          </p:grpSpPr>
          <p:grpSp>
            <p:nvGrpSpPr>
              <p:cNvPr id="195" name="Group 194"/>
              <p:cNvGrpSpPr/>
              <p:nvPr/>
            </p:nvGrpSpPr>
            <p:grpSpPr>
              <a:xfrm>
                <a:off x="2124075" y="4010406"/>
                <a:ext cx="963168" cy="977709"/>
                <a:chOff x="2124075" y="4010406"/>
                <a:chExt cx="963168" cy="977709"/>
              </a:xfrm>
              <a:grpFill/>
            </p:grpSpPr>
            <p:sp>
              <p:nvSpPr>
                <p:cNvPr id="203" name="Rectangle 202"/>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4" name="Rectangle 203"/>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5" name="Rectangle 204"/>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6" name="Rectangle 205"/>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7" name="Rectangle 206"/>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8" name="Rectangle 207"/>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96" name="Group 195"/>
              <p:cNvGrpSpPr/>
              <p:nvPr/>
            </p:nvGrpSpPr>
            <p:grpSpPr>
              <a:xfrm>
                <a:off x="2625725" y="4639056"/>
                <a:ext cx="963168" cy="977709"/>
                <a:chOff x="2124075" y="4010406"/>
                <a:chExt cx="963168" cy="977709"/>
              </a:xfrm>
              <a:grpFill/>
            </p:grpSpPr>
            <p:sp>
              <p:nvSpPr>
                <p:cNvPr id="197" name="Rectangle 196"/>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8" name="Rectangle 197"/>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9" name="Rectangle 198"/>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0" name="Rectangle 199"/>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1" name="Rectangle 200"/>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2" name="Rectangle 201"/>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09" name="Group 208"/>
            <p:cNvGrpSpPr/>
            <p:nvPr/>
          </p:nvGrpSpPr>
          <p:grpSpPr>
            <a:xfrm>
              <a:off x="2124075" y="4010406"/>
              <a:ext cx="1464818" cy="1606359"/>
              <a:chOff x="2124075" y="4010406"/>
              <a:chExt cx="1464818" cy="1606359"/>
            </a:xfrm>
            <a:grpFill/>
          </p:grpSpPr>
          <p:grpSp>
            <p:nvGrpSpPr>
              <p:cNvPr id="210" name="Group 209"/>
              <p:cNvGrpSpPr/>
              <p:nvPr/>
            </p:nvGrpSpPr>
            <p:grpSpPr>
              <a:xfrm>
                <a:off x="2124075" y="4010406"/>
                <a:ext cx="963168" cy="977709"/>
                <a:chOff x="2124075" y="4010406"/>
                <a:chExt cx="963168" cy="977709"/>
              </a:xfrm>
              <a:grpFill/>
            </p:grpSpPr>
            <p:sp>
              <p:nvSpPr>
                <p:cNvPr id="218" name="Rectangle 217"/>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9" name="Rectangle 218"/>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0" name="Rectangle 219"/>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1" name="Rectangle 220"/>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2" name="Rectangle 221"/>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3" name="Rectangle 222"/>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11" name="Group 210"/>
              <p:cNvGrpSpPr/>
              <p:nvPr/>
            </p:nvGrpSpPr>
            <p:grpSpPr>
              <a:xfrm>
                <a:off x="2625725" y="4639056"/>
                <a:ext cx="963168" cy="977709"/>
                <a:chOff x="2124075" y="4010406"/>
                <a:chExt cx="963168" cy="977709"/>
              </a:xfrm>
              <a:grpFill/>
            </p:grpSpPr>
            <p:sp>
              <p:nvSpPr>
                <p:cNvPr id="212" name="Rectangle 211"/>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3" name="Rectangle 212"/>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4" name="Rectangle 213"/>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5" name="Rectangle 214"/>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6" name="Rectangle 215"/>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7" name="Rectangle 216"/>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24" name="Group 223"/>
            <p:cNvGrpSpPr/>
            <p:nvPr/>
          </p:nvGrpSpPr>
          <p:grpSpPr>
            <a:xfrm>
              <a:off x="1817116" y="2813431"/>
              <a:ext cx="1464818" cy="1606359"/>
              <a:chOff x="2124075" y="4010406"/>
              <a:chExt cx="1464818" cy="1606359"/>
            </a:xfrm>
            <a:grpFill/>
          </p:grpSpPr>
          <p:grpSp>
            <p:nvGrpSpPr>
              <p:cNvPr id="225" name="Group 224"/>
              <p:cNvGrpSpPr/>
              <p:nvPr/>
            </p:nvGrpSpPr>
            <p:grpSpPr>
              <a:xfrm>
                <a:off x="2124075" y="4010406"/>
                <a:ext cx="963168" cy="977709"/>
                <a:chOff x="2124075" y="4010406"/>
                <a:chExt cx="963168" cy="977709"/>
              </a:xfrm>
              <a:grpFill/>
            </p:grpSpPr>
            <p:sp>
              <p:nvSpPr>
                <p:cNvPr id="233" name="Rectangle 232"/>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4" name="Rectangle 233"/>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5" name="Rectangle 234"/>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6" name="Rectangle 235"/>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7" name="Rectangle 236"/>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8" name="Rectangle 237"/>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26" name="Group 225"/>
              <p:cNvGrpSpPr/>
              <p:nvPr/>
            </p:nvGrpSpPr>
            <p:grpSpPr>
              <a:xfrm>
                <a:off x="2625725" y="4639056"/>
                <a:ext cx="963168" cy="977709"/>
                <a:chOff x="2124075" y="4010406"/>
                <a:chExt cx="963168" cy="977709"/>
              </a:xfrm>
              <a:grpFill/>
            </p:grpSpPr>
            <p:sp>
              <p:nvSpPr>
                <p:cNvPr id="227" name="Rectangle 226"/>
                <p:cNvSpPr>
                  <a:spLocks noChangeAspect="1"/>
                </p:cNvSpPr>
                <p:nvPr/>
              </p:nvSpPr>
              <p:spPr>
                <a:xfrm>
                  <a:off x="2124075" y="41794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8" name="Rectangle 227"/>
                <p:cNvSpPr>
                  <a:spLocks noChangeAspect="1"/>
                </p:cNvSpPr>
                <p:nvPr/>
              </p:nvSpPr>
              <p:spPr>
                <a:xfrm>
                  <a:off x="2276475" y="43318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9" name="Rectangle 228"/>
                <p:cNvSpPr>
                  <a:spLocks noChangeAspect="1"/>
                </p:cNvSpPr>
                <p:nvPr/>
              </p:nvSpPr>
              <p:spPr>
                <a:xfrm>
                  <a:off x="2716657" y="4010406"/>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0" name="Rectangle 229"/>
                <p:cNvSpPr>
                  <a:spLocks noChangeAspect="1"/>
                </p:cNvSpPr>
                <p:nvPr/>
              </p:nvSpPr>
              <p:spPr>
                <a:xfrm>
                  <a:off x="2581275" y="4353560"/>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1" name="Rectangle 230"/>
                <p:cNvSpPr>
                  <a:spLocks noChangeAspect="1"/>
                </p:cNvSpPr>
                <p:nvPr/>
              </p:nvSpPr>
              <p:spPr>
                <a:xfrm>
                  <a:off x="2176907" y="4789043"/>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2" name="Rectangle 231"/>
                <p:cNvSpPr>
                  <a:spLocks noChangeAspect="1"/>
                </p:cNvSpPr>
                <p:nvPr/>
              </p:nvSpPr>
              <p:spPr>
                <a:xfrm>
                  <a:off x="2886075" y="4544059"/>
                  <a:ext cx="201168" cy="199072"/>
                </a:xfrm>
                <a:prstGeom prst="rect">
                  <a:avLst/>
                </a:prstGeom>
                <a:grpFill/>
                <a:ln>
                  <a:solidFill>
                    <a:schemeClr val="accent1">
                      <a:shade val="95000"/>
                      <a:satMod val="105000"/>
                      <a:alpha val="18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cxnSp>
        <p:nvCxnSpPr>
          <p:cNvPr id="240" name="Straight Connector 239"/>
          <p:cNvCxnSpPr/>
          <p:nvPr/>
        </p:nvCxnSpPr>
        <p:spPr>
          <a:xfrm>
            <a:off x="4939111" y="159766"/>
            <a:ext cx="29845" cy="593737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1" name="Straight Connector 240"/>
          <p:cNvCxnSpPr/>
          <p:nvPr/>
        </p:nvCxnSpPr>
        <p:spPr>
          <a:xfrm flipV="1">
            <a:off x="932353" y="3363277"/>
            <a:ext cx="4041893" cy="311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12" name="Group 311"/>
          <p:cNvGrpSpPr/>
          <p:nvPr/>
        </p:nvGrpSpPr>
        <p:grpSpPr>
          <a:xfrm>
            <a:off x="4523434" y="499063"/>
            <a:ext cx="3660776" cy="5032596"/>
            <a:chOff x="4585797" y="894969"/>
            <a:chExt cx="3660776" cy="5032596"/>
          </a:xfrm>
          <a:solidFill>
            <a:schemeClr val="accent6">
              <a:alpha val="21000"/>
            </a:schemeClr>
          </a:solidFill>
        </p:grpSpPr>
        <p:grpSp>
          <p:nvGrpSpPr>
            <p:cNvPr id="123" name="Group 122"/>
            <p:cNvGrpSpPr/>
            <p:nvPr/>
          </p:nvGrpSpPr>
          <p:grpSpPr>
            <a:xfrm>
              <a:off x="4987924" y="894969"/>
              <a:ext cx="2415198" cy="2187257"/>
              <a:chOff x="4987924" y="894969"/>
              <a:chExt cx="2415198" cy="2187257"/>
            </a:xfrm>
            <a:grpFill/>
          </p:grpSpPr>
          <p:grpSp>
            <p:nvGrpSpPr>
              <p:cNvPr id="55" name="Group 54"/>
              <p:cNvGrpSpPr/>
              <p:nvPr/>
            </p:nvGrpSpPr>
            <p:grpSpPr>
              <a:xfrm>
                <a:off x="6550024" y="1079119"/>
                <a:ext cx="516548" cy="588518"/>
                <a:chOff x="6238874" y="1037844"/>
                <a:chExt cx="516548" cy="588518"/>
              </a:xfrm>
              <a:grpFill/>
            </p:grpSpPr>
            <p:sp>
              <p:nvSpPr>
                <p:cNvPr id="56" name="Diamond 55"/>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Diamond 56"/>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Diamond 57"/>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22" name="Group 121"/>
              <p:cNvGrpSpPr/>
              <p:nvPr/>
            </p:nvGrpSpPr>
            <p:grpSpPr>
              <a:xfrm>
                <a:off x="4987924" y="894969"/>
                <a:ext cx="2415198" cy="2187257"/>
                <a:chOff x="4956174" y="1037844"/>
                <a:chExt cx="2415198" cy="2187257"/>
              </a:xfrm>
              <a:grpFill/>
            </p:grpSpPr>
            <p:grpSp>
              <p:nvGrpSpPr>
                <p:cNvPr id="54" name="Group 53"/>
                <p:cNvGrpSpPr/>
                <p:nvPr/>
              </p:nvGrpSpPr>
              <p:grpSpPr>
                <a:xfrm>
                  <a:off x="6238874" y="1037844"/>
                  <a:ext cx="516548" cy="588518"/>
                  <a:chOff x="6238874" y="1037844"/>
                  <a:chExt cx="516548" cy="588518"/>
                </a:xfrm>
                <a:grpFill/>
              </p:grpSpPr>
              <p:sp>
                <p:nvSpPr>
                  <p:cNvPr id="51" name="Diamond 50"/>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 name="Diamond 51"/>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Diamond 52"/>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7" name="Group 66"/>
                <p:cNvGrpSpPr/>
                <p:nvPr/>
              </p:nvGrpSpPr>
              <p:grpSpPr>
                <a:xfrm>
                  <a:off x="5565773" y="1667637"/>
                  <a:ext cx="827698" cy="629793"/>
                  <a:chOff x="6391274" y="1491869"/>
                  <a:chExt cx="827698" cy="629793"/>
                </a:xfrm>
                <a:grpFill/>
              </p:grpSpPr>
              <p:grpSp>
                <p:nvGrpSpPr>
                  <p:cNvPr id="59" name="Group 58"/>
                  <p:cNvGrpSpPr/>
                  <p:nvPr/>
                </p:nvGrpSpPr>
                <p:grpSpPr>
                  <a:xfrm>
                    <a:off x="6391274" y="1491869"/>
                    <a:ext cx="516548" cy="588518"/>
                    <a:chOff x="6238874" y="1037844"/>
                    <a:chExt cx="516548" cy="588518"/>
                  </a:xfrm>
                  <a:grpFill/>
                </p:grpSpPr>
                <p:sp>
                  <p:nvSpPr>
                    <p:cNvPr id="60" name="Diamond 59"/>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1" name="Diamond 60"/>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Diamond 61"/>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3" name="Group 62"/>
                  <p:cNvGrpSpPr/>
                  <p:nvPr/>
                </p:nvGrpSpPr>
                <p:grpSpPr>
                  <a:xfrm>
                    <a:off x="6702424" y="1533144"/>
                    <a:ext cx="516548" cy="588518"/>
                    <a:chOff x="6238874" y="1037844"/>
                    <a:chExt cx="516548" cy="588518"/>
                  </a:xfrm>
                  <a:grpFill/>
                </p:grpSpPr>
                <p:sp>
                  <p:nvSpPr>
                    <p:cNvPr id="64" name="Diamond 63"/>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5" name="Diamond 64"/>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6" name="Diamond 65"/>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68" name="Group 67"/>
                <p:cNvGrpSpPr/>
                <p:nvPr/>
              </p:nvGrpSpPr>
              <p:grpSpPr>
                <a:xfrm>
                  <a:off x="4956174" y="1311465"/>
                  <a:ext cx="827698" cy="629793"/>
                  <a:chOff x="6391274" y="1491869"/>
                  <a:chExt cx="827698" cy="629793"/>
                </a:xfrm>
                <a:grpFill/>
              </p:grpSpPr>
              <p:grpSp>
                <p:nvGrpSpPr>
                  <p:cNvPr id="69" name="Group 68"/>
                  <p:cNvGrpSpPr/>
                  <p:nvPr/>
                </p:nvGrpSpPr>
                <p:grpSpPr>
                  <a:xfrm>
                    <a:off x="6391274" y="1491869"/>
                    <a:ext cx="516548" cy="588518"/>
                    <a:chOff x="6238874" y="1037844"/>
                    <a:chExt cx="516548" cy="588518"/>
                  </a:xfrm>
                  <a:grpFill/>
                </p:grpSpPr>
                <p:sp>
                  <p:nvSpPr>
                    <p:cNvPr id="74" name="Diamond 73"/>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5" name="Diamond 74"/>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6" name="Diamond 75"/>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70" name="Group 69"/>
                  <p:cNvGrpSpPr/>
                  <p:nvPr/>
                </p:nvGrpSpPr>
                <p:grpSpPr>
                  <a:xfrm>
                    <a:off x="6702424" y="1533144"/>
                    <a:ext cx="516548" cy="588518"/>
                    <a:chOff x="6238874" y="1037844"/>
                    <a:chExt cx="516548" cy="588518"/>
                  </a:xfrm>
                  <a:grpFill/>
                </p:grpSpPr>
                <p:sp>
                  <p:nvSpPr>
                    <p:cNvPr id="71" name="Diamond 70"/>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2" name="Diamond 71"/>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3" name="Diamond 72"/>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77" name="Group 76"/>
                <p:cNvGrpSpPr/>
                <p:nvPr/>
              </p:nvGrpSpPr>
              <p:grpSpPr>
                <a:xfrm>
                  <a:off x="6543674" y="1644269"/>
                  <a:ext cx="827698" cy="629793"/>
                  <a:chOff x="6391274" y="1491869"/>
                  <a:chExt cx="827698" cy="629793"/>
                </a:xfrm>
                <a:grpFill/>
              </p:grpSpPr>
              <p:grpSp>
                <p:nvGrpSpPr>
                  <p:cNvPr id="78" name="Group 77"/>
                  <p:cNvGrpSpPr/>
                  <p:nvPr/>
                </p:nvGrpSpPr>
                <p:grpSpPr>
                  <a:xfrm>
                    <a:off x="6391274" y="1491869"/>
                    <a:ext cx="516548" cy="588518"/>
                    <a:chOff x="6238874" y="1037844"/>
                    <a:chExt cx="516548" cy="588518"/>
                  </a:xfrm>
                  <a:grpFill/>
                </p:grpSpPr>
                <p:sp>
                  <p:nvSpPr>
                    <p:cNvPr id="83" name="Diamond 82"/>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4" name="Diamond 83"/>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5" name="Diamond 84"/>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79" name="Group 78"/>
                  <p:cNvGrpSpPr/>
                  <p:nvPr/>
                </p:nvGrpSpPr>
                <p:grpSpPr>
                  <a:xfrm>
                    <a:off x="6702424" y="1533144"/>
                    <a:ext cx="516548" cy="588518"/>
                    <a:chOff x="6238874" y="1037844"/>
                    <a:chExt cx="516548" cy="588518"/>
                  </a:xfrm>
                  <a:grpFill/>
                </p:grpSpPr>
                <p:sp>
                  <p:nvSpPr>
                    <p:cNvPr id="80" name="Diamond 79"/>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Diamond 80"/>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2" name="Diamond 81"/>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86" name="Group 85"/>
                <p:cNvGrpSpPr/>
                <p:nvPr/>
              </p:nvGrpSpPr>
              <p:grpSpPr>
                <a:xfrm>
                  <a:off x="6036773" y="2595308"/>
                  <a:ext cx="827698" cy="629793"/>
                  <a:chOff x="6391274" y="1491869"/>
                  <a:chExt cx="827698" cy="629793"/>
                </a:xfrm>
                <a:grpFill/>
              </p:grpSpPr>
              <p:grpSp>
                <p:nvGrpSpPr>
                  <p:cNvPr id="87" name="Group 86"/>
                  <p:cNvGrpSpPr/>
                  <p:nvPr/>
                </p:nvGrpSpPr>
                <p:grpSpPr>
                  <a:xfrm>
                    <a:off x="6391274" y="1491869"/>
                    <a:ext cx="516548" cy="588518"/>
                    <a:chOff x="6238874" y="1037844"/>
                    <a:chExt cx="516548" cy="588518"/>
                  </a:xfrm>
                  <a:grpFill/>
                </p:grpSpPr>
                <p:sp>
                  <p:nvSpPr>
                    <p:cNvPr id="92" name="Diamond 91"/>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3" name="Diamond 92"/>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4" name="Diamond 93"/>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88" name="Group 87"/>
                  <p:cNvGrpSpPr/>
                  <p:nvPr/>
                </p:nvGrpSpPr>
                <p:grpSpPr>
                  <a:xfrm>
                    <a:off x="6702424" y="1533144"/>
                    <a:ext cx="516548" cy="588518"/>
                    <a:chOff x="6238874" y="1037844"/>
                    <a:chExt cx="516548" cy="588518"/>
                  </a:xfrm>
                  <a:grpFill/>
                </p:grpSpPr>
                <p:sp>
                  <p:nvSpPr>
                    <p:cNvPr id="89" name="Diamond 88"/>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0" name="Diamond 89"/>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1" name="Diamond 90"/>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95" name="Group 94"/>
                <p:cNvGrpSpPr/>
                <p:nvPr/>
              </p:nvGrpSpPr>
              <p:grpSpPr>
                <a:xfrm>
                  <a:off x="5472722" y="2206053"/>
                  <a:ext cx="827698" cy="629793"/>
                  <a:chOff x="6391274" y="1491869"/>
                  <a:chExt cx="827698" cy="629793"/>
                </a:xfrm>
                <a:grpFill/>
              </p:grpSpPr>
              <p:grpSp>
                <p:nvGrpSpPr>
                  <p:cNvPr id="96" name="Group 95"/>
                  <p:cNvGrpSpPr/>
                  <p:nvPr/>
                </p:nvGrpSpPr>
                <p:grpSpPr>
                  <a:xfrm>
                    <a:off x="6391274" y="1491869"/>
                    <a:ext cx="516548" cy="588518"/>
                    <a:chOff x="6238874" y="1037844"/>
                    <a:chExt cx="516548" cy="588518"/>
                  </a:xfrm>
                  <a:grpFill/>
                </p:grpSpPr>
                <p:sp>
                  <p:nvSpPr>
                    <p:cNvPr id="101" name="Diamond 100"/>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Diamond 101"/>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Diamond 102"/>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97" name="Group 96"/>
                  <p:cNvGrpSpPr/>
                  <p:nvPr/>
                </p:nvGrpSpPr>
                <p:grpSpPr>
                  <a:xfrm>
                    <a:off x="6702424" y="1533144"/>
                    <a:ext cx="516548" cy="588518"/>
                    <a:chOff x="6238874" y="1037844"/>
                    <a:chExt cx="516548" cy="588518"/>
                  </a:xfrm>
                  <a:grpFill/>
                </p:grpSpPr>
                <p:sp>
                  <p:nvSpPr>
                    <p:cNvPr id="98" name="Diamond 97"/>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9" name="Diamond 98"/>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0" name="Diamond 99"/>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124" name="Group 123"/>
            <p:cNvGrpSpPr/>
            <p:nvPr/>
          </p:nvGrpSpPr>
          <p:grpSpPr>
            <a:xfrm>
              <a:off x="4585797" y="2984500"/>
              <a:ext cx="2415198" cy="2187257"/>
              <a:chOff x="4987924" y="894969"/>
              <a:chExt cx="2415198" cy="2187257"/>
            </a:xfrm>
            <a:grpFill/>
          </p:grpSpPr>
          <p:grpSp>
            <p:nvGrpSpPr>
              <p:cNvPr id="125" name="Group 124"/>
              <p:cNvGrpSpPr/>
              <p:nvPr/>
            </p:nvGrpSpPr>
            <p:grpSpPr>
              <a:xfrm>
                <a:off x="6550024" y="1079119"/>
                <a:ext cx="516548" cy="588518"/>
                <a:chOff x="6238874" y="1037844"/>
                <a:chExt cx="516548" cy="588518"/>
              </a:xfrm>
              <a:grpFill/>
            </p:grpSpPr>
            <p:sp>
              <p:nvSpPr>
                <p:cNvPr id="176" name="Diamond 175"/>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7" name="Diamond 176"/>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8" name="Diamond 177"/>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26" name="Group 125"/>
              <p:cNvGrpSpPr/>
              <p:nvPr/>
            </p:nvGrpSpPr>
            <p:grpSpPr>
              <a:xfrm>
                <a:off x="4987924" y="894969"/>
                <a:ext cx="2415198" cy="2187257"/>
                <a:chOff x="4956174" y="1037844"/>
                <a:chExt cx="2415198" cy="2187257"/>
              </a:xfrm>
              <a:grpFill/>
            </p:grpSpPr>
            <p:grpSp>
              <p:nvGrpSpPr>
                <p:cNvPr id="127" name="Group 126"/>
                <p:cNvGrpSpPr/>
                <p:nvPr/>
              </p:nvGrpSpPr>
              <p:grpSpPr>
                <a:xfrm>
                  <a:off x="6238874" y="1037844"/>
                  <a:ext cx="516548" cy="588518"/>
                  <a:chOff x="6238874" y="1037844"/>
                  <a:chExt cx="516548" cy="588518"/>
                </a:xfrm>
                <a:grpFill/>
              </p:grpSpPr>
              <p:sp>
                <p:nvSpPr>
                  <p:cNvPr id="173" name="Diamond 172"/>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4" name="Diamond 173"/>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5" name="Diamond 174"/>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28" name="Group 127"/>
                <p:cNvGrpSpPr/>
                <p:nvPr/>
              </p:nvGrpSpPr>
              <p:grpSpPr>
                <a:xfrm>
                  <a:off x="5565773" y="1667637"/>
                  <a:ext cx="827698" cy="629793"/>
                  <a:chOff x="6391274" y="1491869"/>
                  <a:chExt cx="827698" cy="629793"/>
                </a:xfrm>
                <a:grpFill/>
              </p:grpSpPr>
              <p:grpSp>
                <p:nvGrpSpPr>
                  <p:cNvPr id="165" name="Group 164"/>
                  <p:cNvGrpSpPr/>
                  <p:nvPr/>
                </p:nvGrpSpPr>
                <p:grpSpPr>
                  <a:xfrm>
                    <a:off x="6391274" y="1491869"/>
                    <a:ext cx="516548" cy="588518"/>
                    <a:chOff x="6238874" y="1037844"/>
                    <a:chExt cx="516548" cy="588518"/>
                  </a:xfrm>
                  <a:grpFill/>
                </p:grpSpPr>
                <p:sp>
                  <p:nvSpPr>
                    <p:cNvPr id="170" name="Diamond 169"/>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1" name="Diamond 170"/>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2" name="Diamond 171"/>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66" name="Group 165"/>
                  <p:cNvGrpSpPr/>
                  <p:nvPr/>
                </p:nvGrpSpPr>
                <p:grpSpPr>
                  <a:xfrm>
                    <a:off x="6702424" y="1533144"/>
                    <a:ext cx="516548" cy="588518"/>
                    <a:chOff x="6238874" y="1037844"/>
                    <a:chExt cx="516548" cy="588518"/>
                  </a:xfrm>
                  <a:grpFill/>
                </p:grpSpPr>
                <p:sp>
                  <p:nvSpPr>
                    <p:cNvPr id="167" name="Diamond 166"/>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8" name="Diamond 167"/>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9" name="Diamond 168"/>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29" name="Group 128"/>
                <p:cNvGrpSpPr/>
                <p:nvPr/>
              </p:nvGrpSpPr>
              <p:grpSpPr>
                <a:xfrm>
                  <a:off x="4956174" y="1311465"/>
                  <a:ext cx="827698" cy="629793"/>
                  <a:chOff x="6391274" y="1491869"/>
                  <a:chExt cx="827698" cy="629793"/>
                </a:xfrm>
                <a:grpFill/>
              </p:grpSpPr>
              <p:grpSp>
                <p:nvGrpSpPr>
                  <p:cNvPr id="157" name="Group 156"/>
                  <p:cNvGrpSpPr/>
                  <p:nvPr/>
                </p:nvGrpSpPr>
                <p:grpSpPr>
                  <a:xfrm>
                    <a:off x="6391274" y="1491869"/>
                    <a:ext cx="516548" cy="588518"/>
                    <a:chOff x="6238874" y="1037844"/>
                    <a:chExt cx="516548" cy="588518"/>
                  </a:xfrm>
                  <a:grpFill/>
                </p:grpSpPr>
                <p:sp>
                  <p:nvSpPr>
                    <p:cNvPr id="162" name="Diamond 161"/>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3" name="Diamond 162"/>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4" name="Diamond 163"/>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58" name="Group 157"/>
                  <p:cNvGrpSpPr/>
                  <p:nvPr/>
                </p:nvGrpSpPr>
                <p:grpSpPr>
                  <a:xfrm>
                    <a:off x="6702424" y="1533144"/>
                    <a:ext cx="516548" cy="588518"/>
                    <a:chOff x="6238874" y="1037844"/>
                    <a:chExt cx="516548" cy="588518"/>
                  </a:xfrm>
                  <a:grpFill/>
                </p:grpSpPr>
                <p:sp>
                  <p:nvSpPr>
                    <p:cNvPr id="159" name="Diamond 158"/>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0" name="Diamond 159"/>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1" name="Diamond 160"/>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30" name="Group 129"/>
                <p:cNvGrpSpPr/>
                <p:nvPr/>
              </p:nvGrpSpPr>
              <p:grpSpPr>
                <a:xfrm>
                  <a:off x="6543674" y="1644269"/>
                  <a:ext cx="827698" cy="629793"/>
                  <a:chOff x="6391274" y="1491869"/>
                  <a:chExt cx="827698" cy="629793"/>
                </a:xfrm>
                <a:grpFill/>
              </p:grpSpPr>
              <p:grpSp>
                <p:nvGrpSpPr>
                  <p:cNvPr id="149" name="Group 148"/>
                  <p:cNvGrpSpPr/>
                  <p:nvPr/>
                </p:nvGrpSpPr>
                <p:grpSpPr>
                  <a:xfrm>
                    <a:off x="6391274" y="1491869"/>
                    <a:ext cx="516548" cy="588518"/>
                    <a:chOff x="6238874" y="1037844"/>
                    <a:chExt cx="516548" cy="588518"/>
                  </a:xfrm>
                  <a:grpFill/>
                </p:grpSpPr>
                <p:sp>
                  <p:nvSpPr>
                    <p:cNvPr id="154" name="Diamond 153"/>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5" name="Diamond 154"/>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6" name="Diamond 155"/>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50" name="Group 149"/>
                  <p:cNvGrpSpPr/>
                  <p:nvPr/>
                </p:nvGrpSpPr>
                <p:grpSpPr>
                  <a:xfrm>
                    <a:off x="6702424" y="1533144"/>
                    <a:ext cx="516548" cy="588518"/>
                    <a:chOff x="6238874" y="1037844"/>
                    <a:chExt cx="516548" cy="588518"/>
                  </a:xfrm>
                  <a:grpFill/>
                </p:grpSpPr>
                <p:sp>
                  <p:nvSpPr>
                    <p:cNvPr id="151" name="Diamond 150"/>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2" name="Diamond 151"/>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3" name="Diamond 152"/>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31" name="Group 130"/>
                <p:cNvGrpSpPr/>
                <p:nvPr/>
              </p:nvGrpSpPr>
              <p:grpSpPr>
                <a:xfrm>
                  <a:off x="6036773" y="2595308"/>
                  <a:ext cx="827698" cy="629793"/>
                  <a:chOff x="6391274" y="1491869"/>
                  <a:chExt cx="827698" cy="629793"/>
                </a:xfrm>
                <a:grpFill/>
              </p:grpSpPr>
              <p:grpSp>
                <p:nvGrpSpPr>
                  <p:cNvPr id="141" name="Group 140"/>
                  <p:cNvGrpSpPr/>
                  <p:nvPr/>
                </p:nvGrpSpPr>
                <p:grpSpPr>
                  <a:xfrm>
                    <a:off x="6391274" y="1491869"/>
                    <a:ext cx="516548" cy="588518"/>
                    <a:chOff x="6238874" y="1037844"/>
                    <a:chExt cx="516548" cy="588518"/>
                  </a:xfrm>
                  <a:grpFill/>
                </p:grpSpPr>
                <p:sp>
                  <p:nvSpPr>
                    <p:cNvPr id="146" name="Diamond 145"/>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7" name="Diamond 146"/>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8" name="Diamond 147"/>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42" name="Group 141"/>
                  <p:cNvGrpSpPr/>
                  <p:nvPr/>
                </p:nvGrpSpPr>
                <p:grpSpPr>
                  <a:xfrm>
                    <a:off x="6702424" y="1533144"/>
                    <a:ext cx="516548" cy="588518"/>
                    <a:chOff x="6238874" y="1037844"/>
                    <a:chExt cx="516548" cy="588518"/>
                  </a:xfrm>
                  <a:grpFill/>
                </p:grpSpPr>
                <p:sp>
                  <p:nvSpPr>
                    <p:cNvPr id="143" name="Diamond 142"/>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4" name="Diamond 143"/>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5" name="Diamond 144"/>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32" name="Group 131"/>
                <p:cNvGrpSpPr/>
                <p:nvPr/>
              </p:nvGrpSpPr>
              <p:grpSpPr>
                <a:xfrm>
                  <a:off x="5472722" y="2206053"/>
                  <a:ext cx="827698" cy="629793"/>
                  <a:chOff x="6391274" y="1491869"/>
                  <a:chExt cx="827698" cy="629793"/>
                </a:xfrm>
                <a:grpFill/>
              </p:grpSpPr>
              <p:grpSp>
                <p:nvGrpSpPr>
                  <p:cNvPr id="133" name="Group 132"/>
                  <p:cNvGrpSpPr/>
                  <p:nvPr/>
                </p:nvGrpSpPr>
                <p:grpSpPr>
                  <a:xfrm>
                    <a:off x="6391274" y="1491869"/>
                    <a:ext cx="516548" cy="588518"/>
                    <a:chOff x="6238874" y="1037844"/>
                    <a:chExt cx="516548" cy="588518"/>
                  </a:xfrm>
                  <a:grpFill/>
                </p:grpSpPr>
                <p:sp>
                  <p:nvSpPr>
                    <p:cNvPr id="138" name="Diamond 137"/>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9" name="Diamond 138"/>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0" name="Diamond 139"/>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34" name="Group 133"/>
                  <p:cNvGrpSpPr/>
                  <p:nvPr/>
                </p:nvGrpSpPr>
                <p:grpSpPr>
                  <a:xfrm>
                    <a:off x="6702424" y="1533144"/>
                    <a:ext cx="516548" cy="588518"/>
                    <a:chOff x="6238874" y="1037844"/>
                    <a:chExt cx="516548" cy="588518"/>
                  </a:xfrm>
                  <a:grpFill/>
                </p:grpSpPr>
                <p:sp>
                  <p:nvSpPr>
                    <p:cNvPr id="135" name="Diamond 134"/>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6" name="Diamond 135"/>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7" name="Diamond 136"/>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244" name="Group 243"/>
            <p:cNvGrpSpPr/>
            <p:nvPr/>
          </p:nvGrpSpPr>
          <p:grpSpPr>
            <a:xfrm>
              <a:off x="5831375" y="3740308"/>
              <a:ext cx="2415198" cy="2187257"/>
              <a:chOff x="4987924" y="894969"/>
              <a:chExt cx="2415198" cy="2187257"/>
            </a:xfrm>
            <a:grpFill/>
          </p:grpSpPr>
          <p:grpSp>
            <p:nvGrpSpPr>
              <p:cNvPr id="245" name="Group 244"/>
              <p:cNvGrpSpPr/>
              <p:nvPr/>
            </p:nvGrpSpPr>
            <p:grpSpPr>
              <a:xfrm>
                <a:off x="6550024" y="1079119"/>
                <a:ext cx="516548" cy="588518"/>
                <a:chOff x="6238874" y="1037844"/>
                <a:chExt cx="516548" cy="588518"/>
              </a:xfrm>
              <a:grpFill/>
            </p:grpSpPr>
            <p:sp>
              <p:nvSpPr>
                <p:cNvPr id="296" name="Diamond 295"/>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7" name="Diamond 296"/>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8" name="Diamond 297"/>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46" name="Group 245"/>
              <p:cNvGrpSpPr/>
              <p:nvPr/>
            </p:nvGrpSpPr>
            <p:grpSpPr>
              <a:xfrm>
                <a:off x="4987924" y="894969"/>
                <a:ext cx="2415198" cy="2187257"/>
                <a:chOff x="4956174" y="1037844"/>
                <a:chExt cx="2415198" cy="2187257"/>
              </a:xfrm>
              <a:grpFill/>
            </p:grpSpPr>
            <p:grpSp>
              <p:nvGrpSpPr>
                <p:cNvPr id="247" name="Group 246"/>
                <p:cNvGrpSpPr/>
                <p:nvPr/>
              </p:nvGrpSpPr>
              <p:grpSpPr>
                <a:xfrm>
                  <a:off x="6238874" y="1037844"/>
                  <a:ext cx="516548" cy="588518"/>
                  <a:chOff x="6238874" y="1037844"/>
                  <a:chExt cx="516548" cy="588518"/>
                </a:xfrm>
                <a:grpFill/>
              </p:grpSpPr>
              <p:sp>
                <p:nvSpPr>
                  <p:cNvPr id="293" name="Diamond 292"/>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4" name="Diamond 293"/>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5" name="Diamond 294"/>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48" name="Group 247"/>
                <p:cNvGrpSpPr/>
                <p:nvPr/>
              </p:nvGrpSpPr>
              <p:grpSpPr>
                <a:xfrm>
                  <a:off x="5565773" y="1667637"/>
                  <a:ext cx="827698" cy="629793"/>
                  <a:chOff x="6391274" y="1491869"/>
                  <a:chExt cx="827698" cy="629793"/>
                </a:xfrm>
                <a:grpFill/>
              </p:grpSpPr>
              <p:grpSp>
                <p:nvGrpSpPr>
                  <p:cNvPr id="285" name="Group 284"/>
                  <p:cNvGrpSpPr/>
                  <p:nvPr/>
                </p:nvGrpSpPr>
                <p:grpSpPr>
                  <a:xfrm>
                    <a:off x="6391274" y="1491869"/>
                    <a:ext cx="516548" cy="588518"/>
                    <a:chOff x="6238874" y="1037844"/>
                    <a:chExt cx="516548" cy="588518"/>
                  </a:xfrm>
                  <a:grpFill/>
                </p:grpSpPr>
                <p:sp>
                  <p:nvSpPr>
                    <p:cNvPr id="290" name="Diamond 289"/>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1" name="Diamond 290"/>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2" name="Diamond 291"/>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86" name="Group 285"/>
                  <p:cNvGrpSpPr/>
                  <p:nvPr/>
                </p:nvGrpSpPr>
                <p:grpSpPr>
                  <a:xfrm>
                    <a:off x="6702424" y="1533144"/>
                    <a:ext cx="516548" cy="588518"/>
                    <a:chOff x="6238874" y="1037844"/>
                    <a:chExt cx="516548" cy="588518"/>
                  </a:xfrm>
                  <a:grpFill/>
                </p:grpSpPr>
                <p:sp>
                  <p:nvSpPr>
                    <p:cNvPr id="287" name="Diamond 286"/>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8" name="Diamond 287"/>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9" name="Diamond 288"/>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49" name="Group 248"/>
                <p:cNvGrpSpPr/>
                <p:nvPr/>
              </p:nvGrpSpPr>
              <p:grpSpPr>
                <a:xfrm>
                  <a:off x="4956174" y="1311465"/>
                  <a:ext cx="827698" cy="629793"/>
                  <a:chOff x="6391274" y="1491869"/>
                  <a:chExt cx="827698" cy="629793"/>
                </a:xfrm>
                <a:grpFill/>
              </p:grpSpPr>
              <p:grpSp>
                <p:nvGrpSpPr>
                  <p:cNvPr id="277" name="Group 276"/>
                  <p:cNvGrpSpPr/>
                  <p:nvPr/>
                </p:nvGrpSpPr>
                <p:grpSpPr>
                  <a:xfrm>
                    <a:off x="6391274" y="1491869"/>
                    <a:ext cx="516548" cy="588518"/>
                    <a:chOff x="6238874" y="1037844"/>
                    <a:chExt cx="516548" cy="588518"/>
                  </a:xfrm>
                  <a:grpFill/>
                </p:grpSpPr>
                <p:sp>
                  <p:nvSpPr>
                    <p:cNvPr id="282" name="Diamond 281"/>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3" name="Diamond 282"/>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4" name="Diamond 283"/>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78" name="Group 277"/>
                  <p:cNvGrpSpPr/>
                  <p:nvPr/>
                </p:nvGrpSpPr>
                <p:grpSpPr>
                  <a:xfrm>
                    <a:off x="6702424" y="1533144"/>
                    <a:ext cx="516548" cy="588518"/>
                    <a:chOff x="6238874" y="1037844"/>
                    <a:chExt cx="516548" cy="588518"/>
                  </a:xfrm>
                  <a:grpFill/>
                </p:grpSpPr>
                <p:sp>
                  <p:nvSpPr>
                    <p:cNvPr id="279" name="Diamond 278"/>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0" name="Diamond 279"/>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1" name="Diamond 280"/>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50" name="Group 249"/>
                <p:cNvGrpSpPr/>
                <p:nvPr/>
              </p:nvGrpSpPr>
              <p:grpSpPr>
                <a:xfrm>
                  <a:off x="6543674" y="1644269"/>
                  <a:ext cx="827698" cy="629793"/>
                  <a:chOff x="6391274" y="1491869"/>
                  <a:chExt cx="827698" cy="629793"/>
                </a:xfrm>
                <a:grpFill/>
              </p:grpSpPr>
              <p:grpSp>
                <p:nvGrpSpPr>
                  <p:cNvPr id="269" name="Group 268"/>
                  <p:cNvGrpSpPr/>
                  <p:nvPr/>
                </p:nvGrpSpPr>
                <p:grpSpPr>
                  <a:xfrm>
                    <a:off x="6391274" y="1491869"/>
                    <a:ext cx="516548" cy="588518"/>
                    <a:chOff x="6238874" y="1037844"/>
                    <a:chExt cx="516548" cy="588518"/>
                  </a:xfrm>
                  <a:grpFill/>
                </p:grpSpPr>
                <p:sp>
                  <p:nvSpPr>
                    <p:cNvPr id="274" name="Diamond 273"/>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5" name="Diamond 274"/>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6" name="Diamond 275"/>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70" name="Group 269"/>
                  <p:cNvGrpSpPr/>
                  <p:nvPr/>
                </p:nvGrpSpPr>
                <p:grpSpPr>
                  <a:xfrm>
                    <a:off x="6702424" y="1533144"/>
                    <a:ext cx="516548" cy="588518"/>
                    <a:chOff x="6238874" y="1037844"/>
                    <a:chExt cx="516548" cy="588518"/>
                  </a:xfrm>
                  <a:grpFill/>
                </p:grpSpPr>
                <p:sp>
                  <p:nvSpPr>
                    <p:cNvPr id="271" name="Diamond 270"/>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2" name="Diamond 271"/>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3" name="Diamond 272"/>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51" name="Group 250"/>
                <p:cNvGrpSpPr/>
                <p:nvPr/>
              </p:nvGrpSpPr>
              <p:grpSpPr>
                <a:xfrm>
                  <a:off x="6036773" y="2595308"/>
                  <a:ext cx="827698" cy="629793"/>
                  <a:chOff x="6391274" y="1491869"/>
                  <a:chExt cx="827698" cy="629793"/>
                </a:xfrm>
                <a:grpFill/>
              </p:grpSpPr>
              <p:grpSp>
                <p:nvGrpSpPr>
                  <p:cNvPr id="261" name="Group 260"/>
                  <p:cNvGrpSpPr/>
                  <p:nvPr/>
                </p:nvGrpSpPr>
                <p:grpSpPr>
                  <a:xfrm>
                    <a:off x="6391274" y="1491869"/>
                    <a:ext cx="516548" cy="588518"/>
                    <a:chOff x="6238874" y="1037844"/>
                    <a:chExt cx="516548" cy="588518"/>
                  </a:xfrm>
                  <a:grpFill/>
                </p:grpSpPr>
                <p:sp>
                  <p:nvSpPr>
                    <p:cNvPr id="266" name="Diamond 265"/>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7" name="Diamond 266"/>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8" name="Diamond 267"/>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62" name="Group 261"/>
                  <p:cNvGrpSpPr/>
                  <p:nvPr/>
                </p:nvGrpSpPr>
                <p:grpSpPr>
                  <a:xfrm>
                    <a:off x="6702424" y="1533144"/>
                    <a:ext cx="516548" cy="588518"/>
                    <a:chOff x="6238874" y="1037844"/>
                    <a:chExt cx="516548" cy="588518"/>
                  </a:xfrm>
                  <a:grpFill/>
                </p:grpSpPr>
                <p:sp>
                  <p:nvSpPr>
                    <p:cNvPr id="263" name="Diamond 262"/>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4" name="Diamond 263"/>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5" name="Diamond 264"/>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252" name="Group 251"/>
                <p:cNvGrpSpPr/>
                <p:nvPr/>
              </p:nvGrpSpPr>
              <p:grpSpPr>
                <a:xfrm>
                  <a:off x="5472722" y="2206053"/>
                  <a:ext cx="827698" cy="629793"/>
                  <a:chOff x="6391274" y="1491869"/>
                  <a:chExt cx="827698" cy="629793"/>
                </a:xfrm>
                <a:grpFill/>
              </p:grpSpPr>
              <p:grpSp>
                <p:nvGrpSpPr>
                  <p:cNvPr id="253" name="Group 252"/>
                  <p:cNvGrpSpPr/>
                  <p:nvPr/>
                </p:nvGrpSpPr>
                <p:grpSpPr>
                  <a:xfrm>
                    <a:off x="6391274" y="1491869"/>
                    <a:ext cx="516548" cy="588518"/>
                    <a:chOff x="6238874" y="1037844"/>
                    <a:chExt cx="516548" cy="588518"/>
                  </a:xfrm>
                  <a:grpFill/>
                </p:grpSpPr>
                <p:sp>
                  <p:nvSpPr>
                    <p:cNvPr id="258" name="Diamond 257"/>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9" name="Diamond 258"/>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0" name="Diamond 259"/>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54" name="Group 253"/>
                  <p:cNvGrpSpPr/>
                  <p:nvPr/>
                </p:nvGrpSpPr>
                <p:grpSpPr>
                  <a:xfrm>
                    <a:off x="6702424" y="1533144"/>
                    <a:ext cx="516548" cy="588518"/>
                    <a:chOff x="6238874" y="1037844"/>
                    <a:chExt cx="516548" cy="588518"/>
                  </a:xfrm>
                  <a:grpFill/>
                </p:grpSpPr>
                <p:sp>
                  <p:nvSpPr>
                    <p:cNvPr id="255" name="Diamond 254"/>
                    <p:cNvSpPr>
                      <a:spLocks noChangeAspect="1"/>
                    </p:cNvSpPr>
                    <p:nvPr/>
                  </p:nvSpPr>
                  <p:spPr>
                    <a:xfrm>
                      <a:off x="6238874" y="12636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6" name="Diamond 255"/>
                    <p:cNvSpPr>
                      <a:spLocks noChangeAspect="1"/>
                    </p:cNvSpPr>
                    <p:nvPr/>
                  </p:nvSpPr>
                  <p:spPr>
                    <a:xfrm>
                      <a:off x="6391274" y="1416050"/>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7" name="Diamond 256"/>
                    <p:cNvSpPr>
                      <a:spLocks noChangeAspect="1"/>
                    </p:cNvSpPr>
                    <p:nvPr/>
                  </p:nvSpPr>
                  <p:spPr>
                    <a:xfrm>
                      <a:off x="6543674" y="1037844"/>
                      <a:ext cx="211748" cy="210312"/>
                    </a:xfrm>
                    <a:prstGeom prst="diamond">
                      <a:avLst/>
                    </a:prstGeom>
                    <a:grpFill/>
                    <a:ln>
                      <a:solidFill>
                        <a:schemeClr val="accent1">
                          <a:shade val="95000"/>
                          <a:satMod val="105000"/>
                          <a:alpha val="3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cxnSp>
        <p:nvCxnSpPr>
          <p:cNvPr id="301" name="Straight Arrow Connector 300"/>
          <p:cNvCxnSpPr/>
          <p:nvPr/>
        </p:nvCxnSpPr>
        <p:spPr>
          <a:xfrm>
            <a:off x="857798" y="6113017"/>
            <a:ext cx="776079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2" name="Straight Arrow Connector 301"/>
          <p:cNvCxnSpPr/>
          <p:nvPr/>
        </p:nvCxnSpPr>
        <p:spPr>
          <a:xfrm flipV="1">
            <a:off x="932353" y="396876"/>
            <a:ext cx="0" cy="57002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8102719" y="6266418"/>
            <a:ext cx="364202" cy="369332"/>
          </a:xfrm>
          <a:prstGeom prst="rect">
            <a:avLst/>
          </a:prstGeom>
          <a:noFill/>
        </p:spPr>
        <p:txBody>
          <a:bodyPr wrap="none" rtlCol="0">
            <a:spAutoFit/>
          </a:bodyPr>
          <a:lstStyle/>
          <a:p>
            <a:r>
              <a:rPr lang="en-US" dirty="0"/>
              <a:t>x</a:t>
            </a:r>
            <a:r>
              <a:rPr lang="en-US" baseline="-25000" dirty="0"/>
              <a:t>1</a:t>
            </a:r>
            <a:endParaRPr lang="en-US" dirty="0"/>
          </a:p>
        </p:txBody>
      </p:sp>
      <p:sp>
        <p:nvSpPr>
          <p:cNvPr id="306" name="TextBox 305"/>
          <p:cNvSpPr txBox="1"/>
          <p:nvPr/>
        </p:nvSpPr>
        <p:spPr>
          <a:xfrm>
            <a:off x="415237" y="396875"/>
            <a:ext cx="364202" cy="369332"/>
          </a:xfrm>
          <a:prstGeom prst="rect">
            <a:avLst/>
          </a:prstGeom>
          <a:noFill/>
        </p:spPr>
        <p:txBody>
          <a:bodyPr wrap="none" rtlCol="0">
            <a:spAutoFit/>
          </a:bodyPr>
          <a:lstStyle/>
          <a:p>
            <a:r>
              <a:rPr lang="en-US" dirty="0"/>
              <a:t>x</a:t>
            </a:r>
            <a:r>
              <a:rPr lang="en-US" baseline="-25000" dirty="0"/>
              <a:t>2</a:t>
            </a:r>
            <a:endParaRPr lang="en-US" dirty="0"/>
          </a:p>
        </p:txBody>
      </p:sp>
      <p:sp>
        <p:nvSpPr>
          <p:cNvPr id="314" name="Oval 313"/>
          <p:cNvSpPr/>
          <p:nvPr/>
        </p:nvSpPr>
        <p:spPr>
          <a:xfrm>
            <a:off x="2673350" y="17589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5" name="Rectangle 314"/>
          <p:cNvSpPr>
            <a:spLocks noChangeAspect="1"/>
          </p:cNvSpPr>
          <p:nvPr/>
        </p:nvSpPr>
        <p:spPr>
          <a:xfrm>
            <a:off x="3370707" y="479145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6" name="Diamond 315"/>
          <p:cNvSpPr>
            <a:spLocks noChangeAspect="1"/>
          </p:cNvSpPr>
          <p:nvPr/>
        </p:nvSpPr>
        <p:spPr>
          <a:xfrm>
            <a:off x="6605097" y="3321050"/>
            <a:ext cx="211748" cy="210312"/>
          </a:xfrm>
          <a:prstGeom prst="diamond">
            <a:avLst/>
          </a:prstGeom>
          <a:solidFill>
            <a:srgbClr val="F7964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323" name="Group 322"/>
          <p:cNvGrpSpPr/>
          <p:nvPr/>
        </p:nvGrpSpPr>
        <p:grpSpPr>
          <a:xfrm>
            <a:off x="1049532" y="448326"/>
            <a:ext cx="7776359" cy="3609514"/>
            <a:chOff x="1049532" y="448326"/>
            <a:chExt cx="7776359" cy="3609514"/>
          </a:xfrm>
        </p:grpSpPr>
        <p:sp>
          <p:nvSpPr>
            <p:cNvPr id="320" name="TextBox 319"/>
            <p:cNvSpPr txBox="1"/>
            <p:nvPr/>
          </p:nvSpPr>
          <p:spPr>
            <a:xfrm>
              <a:off x="7879410" y="709375"/>
              <a:ext cx="946481" cy="369332"/>
            </a:xfrm>
            <a:prstGeom prst="rect">
              <a:avLst/>
            </a:prstGeom>
            <a:noFill/>
          </p:spPr>
          <p:txBody>
            <a:bodyPr wrap="none" rtlCol="0">
              <a:spAutoFit/>
            </a:bodyPr>
            <a:lstStyle/>
            <a:p>
              <a:r>
                <a:rPr lang="en-US" dirty="0"/>
                <a:t>Region1</a:t>
              </a:r>
            </a:p>
          </p:txBody>
        </p:sp>
        <p:sp>
          <p:nvSpPr>
            <p:cNvPr id="321" name="TextBox 320"/>
            <p:cNvSpPr txBox="1"/>
            <p:nvPr/>
          </p:nvSpPr>
          <p:spPr>
            <a:xfrm>
              <a:off x="3434570" y="448326"/>
              <a:ext cx="946481" cy="369332"/>
            </a:xfrm>
            <a:prstGeom prst="rect">
              <a:avLst/>
            </a:prstGeom>
            <a:noFill/>
          </p:spPr>
          <p:txBody>
            <a:bodyPr wrap="none" rtlCol="0">
              <a:spAutoFit/>
            </a:bodyPr>
            <a:lstStyle/>
            <a:p>
              <a:r>
                <a:rPr lang="en-US" dirty="0"/>
                <a:t>Region2</a:t>
              </a:r>
            </a:p>
          </p:txBody>
        </p:sp>
        <p:sp>
          <p:nvSpPr>
            <p:cNvPr id="322" name="TextBox 321"/>
            <p:cNvSpPr txBox="1"/>
            <p:nvPr/>
          </p:nvSpPr>
          <p:spPr>
            <a:xfrm>
              <a:off x="1049532" y="3688508"/>
              <a:ext cx="946481" cy="369332"/>
            </a:xfrm>
            <a:prstGeom prst="rect">
              <a:avLst/>
            </a:prstGeom>
            <a:noFill/>
          </p:spPr>
          <p:txBody>
            <a:bodyPr wrap="none" rtlCol="0">
              <a:spAutoFit/>
            </a:bodyPr>
            <a:lstStyle/>
            <a:p>
              <a:r>
                <a:rPr lang="en-US" dirty="0"/>
                <a:t>Region3</a:t>
              </a:r>
            </a:p>
          </p:txBody>
        </p:sp>
      </p:grpSp>
      <p:grpSp>
        <p:nvGrpSpPr>
          <p:cNvPr id="15" name="Group 14"/>
          <p:cNvGrpSpPr/>
          <p:nvPr/>
        </p:nvGrpSpPr>
        <p:grpSpPr>
          <a:xfrm>
            <a:off x="2849197" y="1457849"/>
            <a:ext cx="4253672" cy="3016551"/>
            <a:chOff x="2849197" y="1457849"/>
            <a:chExt cx="4253672" cy="3016551"/>
          </a:xfrm>
        </p:grpSpPr>
        <p:sp>
          <p:nvSpPr>
            <p:cNvPr id="2" name="TextBox 1"/>
            <p:cNvSpPr txBox="1"/>
            <p:nvPr/>
          </p:nvSpPr>
          <p:spPr>
            <a:xfrm>
              <a:off x="3043763" y="1457849"/>
              <a:ext cx="696375" cy="369332"/>
            </a:xfrm>
            <a:prstGeom prst="rect">
              <a:avLst/>
            </a:prstGeom>
            <a:noFill/>
          </p:spPr>
          <p:txBody>
            <a:bodyPr wrap="none" rtlCol="0">
              <a:spAutoFit/>
            </a:bodyPr>
            <a:lstStyle/>
            <a:p>
              <a:r>
                <a:rPr lang="en-US" dirty="0"/>
                <a:t>y=2.2</a:t>
              </a:r>
            </a:p>
          </p:txBody>
        </p:sp>
        <p:sp>
          <p:nvSpPr>
            <p:cNvPr id="299" name="TextBox 298"/>
            <p:cNvSpPr txBox="1"/>
            <p:nvPr/>
          </p:nvSpPr>
          <p:spPr>
            <a:xfrm>
              <a:off x="6406494" y="2500837"/>
              <a:ext cx="696375" cy="369332"/>
            </a:xfrm>
            <a:prstGeom prst="rect">
              <a:avLst/>
            </a:prstGeom>
            <a:noFill/>
          </p:spPr>
          <p:txBody>
            <a:bodyPr wrap="none" rtlCol="0">
              <a:spAutoFit/>
            </a:bodyPr>
            <a:lstStyle/>
            <a:p>
              <a:r>
                <a:rPr lang="en-US" dirty="0"/>
                <a:t>y=3.2</a:t>
              </a:r>
            </a:p>
          </p:txBody>
        </p:sp>
        <p:sp>
          <p:nvSpPr>
            <p:cNvPr id="300" name="TextBox 299"/>
            <p:cNvSpPr txBox="1"/>
            <p:nvPr/>
          </p:nvSpPr>
          <p:spPr>
            <a:xfrm>
              <a:off x="2849197" y="4105068"/>
              <a:ext cx="696375" cy="369332"/>
            </a:xfrm>
            <a:prstGeom prst="rect">
              <a:avLst/>
            </a:prstGeom>
            <a:noFill/>
          </p:spPr>
          <p:txBody>
            <a:bodyPr wrap="none" rtlCol="0">
              <a:spAutoFit/>
            </a:bodyPr>
            <a:lstStyle/>
            <a:p>
              <a:r>
                <a:rPr lang="en-US" dirty="0"/>
                <a:t>y=5.6</a:t>
              </a:r>
            </a:p>
          </p:txBody>
        </p:sp>
      </p:grpSp>
    </p:spTree>
    <p:extLst>
      <p:ext uri="{BB962C8B-B14F-4D97-AF65-F5344CB8AC3E}">
        <p14:creationId xmlns:p14="http://schemas.microsoft.com/office/powerpoint/2010/main" val="212336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the sub-regions</a:t>
            </a:r>
          </a:p>
        </p:txBody>
      </p:sp>
      <p:sp>
        <p:nvSpPr>
          <p:cNvPr id="3" name="Content Placeholder 2"/>
          <p:cNvSpPr>
            <a:spLocks noGrp="1"/>
          </p:cNvSpPr>
          <p:nvPr>
            <p:ph idx="1"/>
          </p:nvPr>
        </p:nvSpPr>
        <p:spPr>
          <a:xfrm>
            <a:off x="457200" y="1393825"/>
            <a:ext cx="8229600" cy="4525963"/>
          </a:xfrm>
        </p:spPr>
        <p:txBody>
          <a:bodyPr>
            <a:normAutofit/>
          </a:bodyPr>
          <a:lstStyle/>
          <a:p>
            <a:pPr marL="0" indent="0">
              <a:buNone/>
            </a:pPr>
            <a:r>
              <a:rPr lang="en-US" sz="2400" dirty="0"/>
              <a:t>The regions could have any shape.</a:t>
            </a:r>
          </a:p>
          <a:p>
            <a:pPr marL="0" indent="0">
              <a:buNone/>
            </a:pPr>
            <a:endParaRPr lang="en-US" sz="2400" dirty="0"/>
          </a:p>
        </p:txBody>
      </p:sp>
      <p:grpSp>
        <p:nvGrpSpPr>
          <p:cNvPr id="4" name="Group 3"/>
          <p:cNvGrpSpPr/>
          <p:nvPr/>
        </p:nvGrpSpPr>
        <p:grpSpPr>
          <a:xfrm>
            <a:off x="1304237" y="2539889"/>
            <a:ext cx="5963374" cy="3810111"/>
            <a:chOff x="415237" y="396875"/>
            <a:chExt cx="8410654" cy="6238875"/>
          </a:xfrm>
        </p:grpSpPr>
        <p:grpSp>
          <p:nvGrpSpPr>
            <p:cNvPr id="5" name="Group 4"/>
            <p:cNvGrpSpPr/>
            <p:nvPr/>
          </p:nvGrpSpPr>
          <p:grpSpPr>
            <a:xfrm>
              <a:off x="1046688" y="470424"/>
              <a:ext cx="4640872" cy="2706688"/>
              <a:chOff x="1174750" y="611187"/>
              <a:chExt cx="4640872" cy="2706688"/>
            </a:xfrm>
          </p:grpSpPr>
          <p:grpSp>
            <p:nvGrpSpPr>
              <p:cNvPr id="246" name="Group 245"/>
              <p:cNvGrpSpPr/>
              <p:nvPr/>
            </p:nvGrpSpPr>
            <p:grpSpPr>
              <a:xfrm>
                <a:off x="3435350" y="2178050"/>
                <a:ext cx="1600200" cy="987425"/>
                <a:chOff x="1174750" y="904875"/>
                <a:chExt cx="1600200" cy="987425"/>
              </a:xfrm>
            </p:grpSpPr>
            <p:sp>
              <p:nvSpPr>
                <p:cNvPr id="292" name="Oval 291"/>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3" name="Oval 292"/>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4" name="Oval 293"/>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5" name="Oval 294"/>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6" name="Oval 295"/>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7" name="Oval 296"/>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8" name="Oval 297"/>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9" name="Oval 298"/>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47" name="Group 246"/>
              <p:cNvGrpSpPr/>
              <p:nvPr/>
            </p:nvGrpSpPr>
            <p:grpSpPr>
              <a:xfrm>
                <a:off x="1174750" y="611187"/>
                <a:ext cx="4640872" cy="2706688"/>
                <a:chOff x="1174750" y="611187"/>
                <a:chExt cx="4640872" cy="2706688"/>
              </a:xfrm>
            </p:grpSpPr>
            <p:grpSp>
              <p:nvGrpSpPr>
                <p:cNvPr id="248" name="Group 247"/>
                <p:cNvGrpSpPr/>
                <p:nvPr/>
              </p:nvGrpSpPr>
              <p:grpSpPr>
                <a:xfrm>
                  <a:off x="2089150" y="611187"/>
                  <a:ext cx="1600200" cy="987425"/>
                  <a:chOff x="1174750" y="904875"/>
                  <a:chExt cx="1600200" cy="987425"/>
                </a:xfrm>
              </p:grpSpPr>
              <p:sp>
                <p:nvSpPr>
                  <p:cNvPr id="284" name="Oval 283"/>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5" name="Oval 284"/>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6" name="Oval 285"/>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7" name="Oval 286"/>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8" name="Oval 287"/>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9" name="Oval 288"/>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0" name="Oval 289"/>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1" name="Oval 290"/>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49" name="Group 248"/>
                <p:cNvGrpSpPr/>
                <p:nvPr/>
              </p:nvGrpSpPr>
              <p:grpSpPr>
                <a:xfrm>
                  <a:off x="1289050" y="2330450"/>
                  <a:ext cx="1600200" cy="987425"/>
                  <a:chOff x="1174750" y="904875"/>
                  <a:chExt cx="1600200" cy="987425"/>
                </a:xfrm>
              </p:grpSpPr>
              <p:sp>
                <p:nvSpPr>
                  <p:cNvPr id="276" name="Oval 275"/>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7" name="Oval 276"/>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8" name="Oval 277"/>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9" name="Oval 278"/>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0" name="Oval 279"/>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1" name="Oval 280"/>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2" name="Oval 281"/>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3" name="Oval 282"/>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50" name="Group 249"/>
                <p:cNvGrpSpPr/>
                <p:nvPr/>
              </p:nvGrpSpPr>
              <p:grpSpPr>
                <a:xfrm>
                  <a:off x="1174750" y="904875"/>
                  <a:ext cx="1600200" cy="987425"/>
                  <a:chOff x="1174750" y="904875"/>
                  <a:chExt cx="1600200" cy="987425"/>
                </a:xfrm>
              </p:grpSpPr>
              <p:sp>
                <p:nvSpPr>
                  <p:cNvPr id="268" name="Oval 267"/>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9" name="Oval 268"/>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0" name="Oval 269"/>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1" name="Oval 270"/>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2" name="Oval 271"/>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3" name="Oval 272"/>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4" name="Oval 273"/>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5" name="Oval 274"/>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51" name="Group 250"/>
                <p:cNvGrpSpPr/>
                <p:nvPr/>
              </p:nvGrpSpPr>
              <p:grpSpPr>
                <a:xfrm>
                  <a:off x="4367822" y="1616837"/>
                  <a:ext cx="1447800" cy="987425"/>
                  <a:chOff x="1174750" y="904875"/>
                  <a:chExt cx="1447800" cy="987425"/>
                </a:xfrm>
              </p:grpSpPr>
              <p:sp>
                <p:nvSpPr>
                  <p:cNvPr id="261" name="Oval 260"/>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2" name="Oval 261"/>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3" name="Oval 262"/>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4" name="Oval 263"/>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5" name="Oval 264"/>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6" name="Oval 265"/>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7" name="Oval 266"/>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52" name="Group 251"/>
                <p:cNvGrpSpPr/>
                <p:nvPr/>
              </p:nvGrpSpPr>
              <p:grpSpPr>
                <a:xfrm>
                  <a:off x="2752725" y="2044700"/>
                  <a:ext cx="1600200" cy="987425"/>
                  <a:chOff x="1174750" y="904875"/>
                  <a:chExt cx="1600200" cy="987425"/>
                </a:xfrm>
              </p:grpSpPr>
              <p:sp>
                <p:nvSpPr>
                  <p:cNvPr id="253" name="Oval 252"/>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4" name="Oval 253"/>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5" name="Oval 254"/>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6" name="Oval 255"/>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7" name="Oval 256"/>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8" name="Oval 257"/>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9" name="Oval 258"/>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0" name="Oval 259"/>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nvGrpSpPr>
            <p:cNvPr id="6" name="Group 5"/>
            <p:cNvGrpSpPr/>
            <p:nvPr/>
          </p:nvGrpSpPr>
          <p:grpSpPr>
            <a:xfrm>
              <a:off x="1839420" y="2673239"/>
              <a:ext cx="3653490" cy="3114674"/>
              <a:chOff x="1817116" y="2982468"/>
              <a:chExt cx="3653490" cy="3114674"/>
            </a:xfrm>
          </p:grpSpPr>
          <p:grpSp>
            <p:nvGrpSpPr>
              <p:cNvPr id="187" name="Group 186"/>
              <p:cNvGrpSpPr/>
              <p:nvPr/>
            </p:nvGrpSpPr>
            <p:grpSpPr>
              <a:xfrm>
                <a:off x="3109341" y="3265138"/>
                <a:ext cx="1464818" cy="1606359"/>
                <a:chOff x="2124075" y="4010406"/>
                <a:chExt cx="1464818" cy="1606359"/>
              </a:xfrm>
            </p:grpSpPr>
            <p:grpSp>
              <p:nvGrpSpPr>
                <p:cNvPr id="232" name="Group 231"/>
                <p:cNvGrpSpPr/>
                <p:nvPr/>
              </p:nvGrpSpPr>
              <p:grpSpPr>
                <a:xfrm>
                  <a:off x="2124075" y="4010406"/>
                  <a:ext cx="963168" cy="977709"/>
                  <a:chOff x="2124075" y="4010406"/>
                  <a:chExt cx="963168" cy="977709"/>
                </a:xfrm>
              </p:grpSpPr>
              <p:sp>
                <p:nvSpPr>
                  <p:cNvPr id="240" name="Rectangle 239"/>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1" name="Rectangle 240"/>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2" name="Rectangle 241"/>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3" name="Rectangle 242"/>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4" name="Rectangle 243"/>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5" name="Rectangle 244"/>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33" name="Group 232"/>
                <p:cNvGrpSpPr/>
                <p:nvPr/>
              </p:nvGrpSpPr>
              <p:grpSpPr>
                <a:xfrm>
                  <a:off x="2625725" y="4639056"/>
                  <a:ext cx="963168" cy="977709"/>
                  <a:chOff x="2124075" y="4010406"/>
                  <a:chExt cx="963168" cy="977709"/>
                </a:xfrm>
              </p:grpSpPr>
              <p:sp>
                <p:nvSpPr>
                  <p:cNvPr id="234" name="Rectangle 233"/>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5" name="Rectangle 234"/>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6" name="Rectangle 235"/>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7" name="Rectangle 236"/>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8" name="Rectangle 237"/>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9" name="Rectangle 238"/>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88" name="Group 187"/>
              <p:cNvGrpSpPr/>
              <p:nvPr/>
            </p:nvGrpSpPr>
            <p:grpSpPr>
              <a:xfrm>
                <a:off x="4005788" y="4490783"/>
                <a:ext cx="1464818" cy="1606359"/>
                <a:chOff x="2124075" y="4010406"/>
                <a:chExt cx="1464818" cy="1606359"/>
              </a:xfrm>
            </p:grpSpPr>
            <p:grpSp>
              <p:nvGrpSpPr>
                <p:cNvPr id="218" name="Group 217"/>
                <p:cNvGrpSpPr/>
                <p:nvPr/>
              </p:nvGrpSpPr>
              <p:grpSpPr>
                <a:xfrm>
                  <a:off x="2124075" y="4010406"/>
                  <a:ext cx="963168" cy="977709"/>
                  <a:chOff x="2124075" y="4010406"/>
                  <a:chExt cx="963168" cy="977709"/>
                </a:xfrm>
              </p:grpSpPr>
              <p:sp>
                <p:nvSpPr>
                  <p:cNvPr id="226" name="Rectangle 225"/>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7" name="Rectangle 226"/>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8" name="Rectangle 227"/>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9" name="Rectangle 228"/>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0" name="Rectangle 229"/>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1" name="Rectangle 230"/>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19" name="Group 218"/>
                <p:cNvGrpSpPr/>
                <p:nvPr/>
              </p:nvGrpSpPr>
              <p:grpSpPr>
                <a:xfrm>
                  <a:off x="2625725" y="4639056"/>
                  <a:ext cx="963168" cy="977709"/>
                  <a:chOff x="2124075" y="4010406"/>
                  <a:chExt cx="963168" cy="977709"/>
                </a:xfrm>
              </p:grpSpPr>
              <p:sp>
                <p:nvSpPr>
                  <p:cNvPr id="220" name="Rectangle 219"/>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1" name="Rectangle 220"/>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2" name="Rectangle 221"/>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3" name="Rectangle 222"/>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4" name="Rectangle 223"/>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Rectangle 224"/>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89" name="Group 188"/>
              <p:cNvGrpSpPr/>
              <p:nvPr/>
            </p:nvGrpSpPr>
            <p:grpSpPr>
              <a:xfrm>
                <a:off x="2124075" y="4010406"/>
                <a:ext cx="1464818" cy="1606359"/>
                <a:chOff x="2124075" y="4010406"/>
                <a:chExt cx="1464818" cy="1606359"/>
              </a:xfrm>
            </p:grpSpPr>
            <p:grpSp>
              <p:nvGrpSpPr>
                <p:cNvPr id="204" name="Group 203"/>
                <p:cNvGrpSpPr/>
                <p:nvPr/>
              </p:nvGrpSpPr>
              <p:grpSpPr>
                <a:xfrm>
                  <a:off x="2124075" y="4010406"/>
                  <a:ext cx="963168" cy="977709"/>
                  <a:chOff x="2124075" y="4010406"/>
                  <a:chExt cx="963168" cy="977709"/>
                </a:xfrm>
              </p:grpSpPr>
              <p:sp>
                <p:nvSpPr>
                  <p:cNvPr id="212" name="Rectangle 211"/>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3" name="Rectangle 212"/>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4" name="Rectangle 213"/>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5" name="Rectangle 214"/>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6" name="Rectangle 215"/>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7" name="Rectangle 216"/>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05" name="Group 204"/>
                <p:cNvGrpSpPr/>
                <p:nvPr/>
              </p:nvGrpSpPr>
              <p:grpSpPr>
                <a:xfrm>
                  <a:off x="2625725" y="4639056"/>
                  <a:ext cx="963168" cy="977709"/>
                  <a:chOff x="2124075" y="4010406"/>
                  <a:chExt cx="963168" cy="977709"/>
                </a:xfrm>
              </p:grpSpPr>
              <p:sp>
                <p:nvSpPr>
                  <p:cNvPr id="206" name="Rectangle 205"/>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7" name="Rectangle 206"/>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8" name="Rectangle 207"/>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9" name="Rectangle 208"/>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0" name="Rectangle 209"/>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1" name="Rectangle 210"/>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90" name="Group 189"/>
              <p:cNvGrpSpPr/>
              <p:nvPr/>
            </p:nvGrpSpPr>
            <p:grpSpPr>
              <a:xfrm>
                <a:off x="1817116" y="2982468"/>
                <a:ext cx="1464818" cy="1437322"/>
                <a:chOff x="2124075" y="4179443"/>
                <a:chExt cx="1464818" cy="1437322"/>
              </a:xfrm>
            </p:grpSpPr>
            <p:grpSp>
              <p:nvGrpSpPr>
                <p:cNvPr id="191" name="Group 190"/>
                <p:cNvGrpSpPr/>
                <p:nvPr/>
              </p:nvGrpSpPr>
              <p:grpSpPr>
                <a:xfrm>
                  <a:off x="2124075" y="4179443"/>
                  <a:ext cx="963168" cy="808672"/>
                  <a:chOff x="2124075" y="4179443"/>
                  <a:chExt cx="963168" cy="808672"/>
                </a:xfrm>
              </p:grpSpPr>
              <p:sp>
                <p:nvSpPr>
                  <p:cNvPr id="199" name="Rectangle 198"/>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0" name="Rectangle 199"/>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1" name="Rectangle 200"/>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2" name="Rectangle 201"/>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3" name="Rectangle 202"/>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92" name="Group 191"/>
                <p:cNvGrpSpPr/>
                <p:nvPr/>
              </p:nvGrpSpPr>
              <p:grpSpPr>
                <a:xfrm>
                  <a:off x="2625725" y="4639056"/>
                  <a:ext cx="963168" cy="977709"/>
                  <a:chOff x="2124075" y="4010406"/>
                  <a:chExt cx="963168" cy="977709"/>
                </a:xfrm>
              </p:grpSpPr>
              <p:sp>
                <p:nvSpPr>
                  <p:cNvPr id="193" name="Rectangle 192"/>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4" name="Rectangle 193"/>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5" name="Rectangle 194"/>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6" name="Rectangle 195"/>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7" name="Rectangle 196"/>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8" name="Rectangle 197"/>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nvGrpSpPr>
            <p:cNvPr id="7" name="Group 6"/>
            <p:cNvGrpSpPr/>
            <p:nvPr/>
          </p:nvGrpSpPr>
          <p:grpSpPr>
            <a:xfrm>
              <a:off x="4523434" y="499063"/>
              <a:ext cx="3660776" cy="5032596"/>
              <a:chOff x="4585797" y="894969"/>
              <a:chExt cx="3660776" cy="5032596"/>
            </a:xfrm>
          </p:grpSpPr>
          <p:grpSp>
            <p:nvGrpSpPr>
              <p:cNvPr id="25" name="Group 24"/>
              <p:cNvGrpSpPr/>
              <p:nvPr/>
            </p:nvGrpSpPr>
            <p:grpSpPr>
              <a:xfrm>
                <a:off x="4987924" y="894969"/>
                <a:ext cx="2415198" cy="2187257"/>
                <a:chOff x="4987924" y="894969"/>
                <a:chExt cx="2415198" cy="2187257"/>
              </a:xfrm>
            </p:grpSpPr>
            <p:grpSp>
              <p:nvGrpSpPr>
                <p:cNvPr id="136" name="Group 135"/>
                <p:cNvGrpSpPr/>
                <p:nvPr/>
              </p:nvGrpSpPr>
              <p:grpSpPr>
                <a:xfrm>
                  <a:off x="6550024" y="1079119"/>
                  <a:ext cx="516548" cy="588518"/>
                  <a:chOff x="6238874" y="1037844"/>
                  <a:chExt cx="516548" cy="588518"/>
                </a:xfrm>
                <a:solidFill>
                  <a:srgbClr val="F79646"/>
                </a:solidFill>
              </p:grpSpPr>
              <p:sp>
                <p:nvSpPr>
                  <p:cNvPr id="184" name="Diamond 18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5" name="Diamond 18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6" name="Diamond 18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37" name="Group 136"/>
                <p:cNvGrpSpPr/>
                <p:nvPr/>
              </p:nvGrpSpPr>
              <p:grpSpPr>
                <a:xfrm>
                  <a:off x="4987924" y="894969"/>
                  <a:ext cx="2415198" cy="2187257"/>
                  <a:chOff x="4956174" y="1037844"/>
                  <a:chExt cx="2415198" cy="2187257"/>
                </a:xfrm>
                <a:solidFill>
                  <a:schemeClr val="accent6"/>
                </a:solidFill>
              </p:grpSpPr>
              <p:grpSp>
                <p:nvGrpSpPr>
                  <p:cNvPr id="138" name="Group 137"/>
                  <p:cNvGrpSpPr/>
                  <p:nvPr/>
                </p:nvGrpSpPr>
                <p:grpSpPr>
                  <a:xfrm>
                    <a:off x="6238874" y="1037844"/>
                    <a:ext cx="516548" cy="588518"/>
                    <a:chOff x="6238874" y="1037844"/>
                    <a:chExt cx="516548" cy="588518"/>
                  </a:xfrm>
                  <a:grpFill/>
                </p:grpSpPr>
                <p:sp>
                  <p:nvSpPr>
                    <p:cNvPr id="181" name="Diamond 18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2" name="Diamond 18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3" name="Diamond 18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39" name="Group 138"/>
                  <p:cNvGrpSpPr/>
                  <p:nvPr/>
                </p:nvGrpSpPr>
                <p:grpSpPr>
                  <a:xfrm>
                    <a:off x="5565773" y="1667637"/>
                    <a:ext cx="827698" cy="629793"/>
                    <a:chOff x="6391274" y="1491869"/>
                    <a:chExt cx="827698" cy="629793"/>
                  </a:xfrm>
                  <a:grpFill/>
                </p:grpSpPr>
                <p:grpSp>
                  <p:nvGrpSpPr>
                    <p:cNvPr id="173" name="Group 172"/>
                    <p:cNvGrpSpPr/>
                    <p:nvPr/>
                  </p:nvGrpSpPr>
                  <p:grpSpPr>
                    <a:xfrm>
                      <a:off x="6391274" y="1491869"/>
                      <a:ext cx="516548" cy="588518"/>
                      <a:chOff x="6238874" y="1037844"/>
                      <a:chExt cx="516548" cy="588518"/>
                    </a:xfrm>
                    <a:grpFill/>
                  </p:grpSpPr>
                  <p:sp>
                    <p:nvSpPr>
                      <p:cNvPr id="178" name="Diamond 17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9" name="Diamond 17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0" name="Diamond 17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74" name="Group 173"/>
                    <p:cNvGrpSpPr/>
                    <p:nvPr/>
                  </p:nvGrpSpPr>
                  <p:grpSpPr>
                    <a:xfrm>
                      <a:off x="6702424" y="1533144"/>
                      <a:ext cx="516548" cy="588518"/>
                      <a:chOff x="6238874" y="1037844"/>
                      <a:chExt cx="516548" cy="588518"/>
                    </a:xfrm>
                    <a:grpFill/>
                  </p:grpSpPr>
                  <p:sp>
                    <p:nvSpPr>
                      <p:cNvPr id="175" name="Diamond 17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6" name="Diamond 17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7" name="Diamond 17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40" name="Group 139"/>
                  <p:cNvGrpSpPr/>
                  <p:nvPr/>
                </p:nvGrpSpPr>
                <p:grpSpPr>
                  <a:xfrm>
                    <a:off x="4956174" y="1311465"/>
                    <a:ext cx="827698" cy="629793"/>
                    <a:chOff x="6391274" y="1491869"/>
                    <a:chExt cx="827698" cy="629793"/>
                  </a:xfrm>
                  <a:grpFill/>
                </p:grpSpPr>
                <p:grpSp>
                  <p:nvGrpSpPr>
                    <p:cNvPr id="165" name="Group 164"/>
                    <p:cNvGrpSpPr/>
                    <p:nvPr/>
                  </p:nvGrpSpPr>
                  <p:grpSpPr>
                    <a:xfrm>
                      <a:off x="6391274" y="1491869"/>
                      <a:ext cx="516548" cy="588518"/>
                      <a:chOff x="6238874" y="1037844"/>
                      <a:chExt cx="516548" cy="588518"/>
                    </a:xfrm>
                    <a:grpFill/>
                  </p:grpSpPr>
                  <p:sp>
                    <p:nvSpPr>
                      <p:cNvPr id="170" name="Diamond 16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1" name="Diamond 17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2" name="Diamond 17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66" name="Group 165"/>
                    <p:cNvGrpSpPr/>
                    <p:nvPr/>
                  </p:nvGrpSpPr>
                  <p:grpSpPr>
                    <a:xfrm>
                      <a:off x="6702424" y="1533144"/>
                      <a:ext cx="516548" cy="588518"/>
                      <a:chOff x="6238874" y="1037844"/>
                      <a:chExt cx="516548" cy="588518"/>
                    </a:xfrm>
                    <a:grpFill/>
                  </p:grpSpPr>
                  <p:sp>
                    <p:nvSpPr>
                      <p:cNvPr id="167" name="Diamond 16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8" name="Diamond 16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9" name="Diamond 16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41" name="Group 140"/>
                  <p:cNvGrpSpPr/>
                  <p:nvPr/>
                </p:nvGrpSpPr>
                <p:grpSpPr>
                  <a:xfrm>
                    <a:off x="6543674" y="1644269"/>
                    <a:ext cx="827698" cy="629793"/>
                    <a:chOff x="6391274" y="1491869"/>
                    <a:chExt cx="827698" cy="629793"/>
                  </a:xfrm>
                  <a:grpFill/>
                </p:grpSpPr>
                <p:grpSp>
                  <p:nvGrpSpPr>
                    <p:cNvPr id="157" name="Group 156"/>
                    <p:cNvGrpSpPr/>
                    <p:nvPr/>
                  </p:nvGrpSpPr>
                  <p:grpSpPr>
                    <a:xfrm>
                      <a:off x="6391274" y="1491869"/>
                      <a:ext cx="516548" cy="588518"/>
                      <a:chOff x="6238874" y="1037844"/>
                      <a:chExt cx="516548" cy="588518"/>
                    </a:xfrm>
                    <a:grpFill/>
                  </p:grpSpPr>
                  <p:sp>
                    <p:nvSpPr>
                      <p:cNvPr id="162" name="Diamond 16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3" name="Diamond 16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4" name="Diamond 16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58" name="Group 157"/>
                    <p:cNvGrpSpPr/>
                    <p:nvPr/>
                  </p:nvGrpSpPr>
                  <p:grpSpPr>
                    <a:xfrm>
                      <a:off x="6702424" y="1533144"/>
                      <a:ext cx="516548" cy="588518"/>
                      <a:chOff x="6238874" y="1037844"/>
                      <a:chExt cx="516548" cy="588518"/>
                    </a:xfrm>
                    <a:grpFill/>
                  </p:grpSpPr>
                  <p:sp>
                    <p:nvSpPr>
                      <p:cNvPr id="159" name="Diamond 15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0" name="Diamond 15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1" name="Diamond 16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42" name="Group 141"/>
                  <p:cNvGrpSpPr/>
                  <p:nvPr/>
                </p:nvGrpSpPr>
                <p:grpSpPr>
                  <a:xfrm>
                    <a:off x="6036773" y="2595308"/>
                    <a:ext cx="827698" cy="629793"/>
                    <a:chOff x="6391274" y="1491869"/>
                    <a:chExt cx="827698" cy="629793"/>
                  </a:xfrm>
                  <a:grpFill/>
                </p:grpSpPr>
                <p:grpSp>
                  <p:nvGrpSpPr>
                    <p:cNvPr id="149" name="Group 148"/>
                    <p:cNvGrpSpPr/>
                    <p:nvPr/>
                  </p:nvGrpSpPr>
                  <p:grpSpPr>
                    <a:xfrm>
                      <a:off x="6391274" y="1491869"/>
                      <a:ext cx="516548" cy="588518"/>
                      <a:chOff x="6238874" y="1037844"/>
                      <a:chExt cx="516548" cy="588518"/>
                    </a:xfrm>
                    <a:grpFill/>
                  </p:grpSpPr>
                  <p:sp>
                    <p:nvSpPr>
                      <p:cNvPr id="154" name="Diamond 15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5" name="Diamond 15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6" name="Diamond 15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50" name="Group 149"/>
                    <p:cNvGrpSpPr/>
                    <p:nvPr/>
                  </p:nvGrpSpPr>
                  <p:grpSpPr>
                    <a:xfrm>
                      <a:off x="6702424" y="1533144"/>
                      <a:ext cx="516548" cy="588518"/>
                      <a:chOff x="6238874" y="1037844"/>
                      <a:chExt cx="516548" cy="588518"/>
                    </a:xfrm>
                    <a:grpFill/>
                  </p:grpSpPr>
                  <p:sp>
                    <p:nvSpPr>
                      <p:cNvPr id="151" name="Diamond 15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2" name="Diamond 15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3" name="Diamond 15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143" name="Group 142"/>
                  <p:cNvGrpSpPr/>
                  <p:nvPr/>
                </p:nvGrpSpPr>
                <p:grpSpPr>
                  <a:xfrm>
                    <a:off x="5777522" y="2206053"/>
                    <a:ext cx="522898" cy="629793"/>
                    <a:chOff x="6696074" y="1491869"/>
                    <a:chExt cx="522898" cy="629793"/>
                  </a:xfrm>
                  <a:grpFill/>
                </p:grpSpPr>
                <p:sp>
                  <p:nvSpPr>
                    <p:cNvPr id="144" name="Diamond 143"/>
                    <p:cNvSpPr>
                      <a:spLocks noChangeAspect="1"/>
                    </p:cNvSpPr>
                    <p:nvPr/>
                  </p:nvSpPr>
                  <p:spPr>
                    <a:xfrm>
                      <a:off x="6696074" y="1491869"/>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45" name="Group 144"/>
                    <p:cNvGrpSpPr/>
                    <p:nvPr/>
                  </p:nvGrpSpPr>
                  <p:grpSpPr>
                    <a:xfrm>
                      <a:off x="6702424" y="1533144"/>
                      <a:ext cx="516548" cy="588518"/>
                      <a:chOff x="6238874" y="1037844"/>
                      <a:chExt cx="516548" cy="588518"/>
                    </a:xfrm>
                    <a:grpFill/>
                  </p:grpSpPr>
                  <p:sp>
                    <p:nvSpPr>
                      <p:cNvPr id="146" name="Diamond 14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7" name="Diamond 14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8" name="Diamond 14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26" name="Group 25"/>
              <p:cNvGrpSpPr/>
              <p:nvPr/>
            </p:nvGrpSpPr>
            <p:grpSpPr>
              <a:xfrm>
                <a:off x="4585797" y="2984500"/>
                <a:ext cx="2415198" cy="2187257"/>
                <a:chOff x="4987924" y="894969"/>
                <a:chExt cx="2415198" cy="2187257"/>
              </a:xfrm>
            </p:grpSpPr>
            <p:grpSp>
              <p:nvGrpSpPr>
                <p:cNvPr id="82" name="Group 81"/>
                <p:cNvGrpSpPr/>
                <p:nvPr/>
              </p:nvGrpSpPr>
              <p:grpSpPr>
                <a:xfrm>
                  <a:off x="6550024" y="1079119"/>
                  <a:ext cx="516548" cy="588518"/>
                  <a:chOff x="6238874" y="1037844"/>
                  <a:chExt cx="516548" cy="588518"/>
                </a:xfrm>
                <a:solidFill>
                  <a:srgbClr val="F79646"/>
                </a:solidFill>
              </p:grpSpPr>
              <p:sp>
                <p:nvSpPr>
                  <p:cNvPr id="133" name="Diamond 13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4" name="Diamond 13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5" name="Diamond 13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83" name="Group 82"/>
                <p:cNvGrpSpPr/>
                <p:nvPr/>
              </p:nvGrpSpPr>
              <p:grpSpPr>
                <a:xfrm>
                  <a:off x="4987924" y="894969"/>
                  <a:ext cx="2415198" cy="2187257"/>
                  <a:chOff x="4956174" y="1037844"/>
                  <a:chExt cx="2415198" cy="2187257"/>
                </a:xfrm>
                <a:solidFill>
                  <a:schemeClr val="accent6"/>
                </a:solidFill>
              </p:grpSpPr>
              <p:grpSp>
                <p:nvGrpSpPr>
                  <p:cNvPr id="84" name="Group 83"/>
                  <p:cNvGrpSpPr/>
                  <p:nvPr/>
                </p:nvGrpSpPr>
                <p:grpSpPr>
                  <a:xfrm>
                    <a:off x="6238874" y="1037844"/>
                    <a:ext cx="516548" cy="588518"/>
                    <a:chOff x="6238874" y="1037844"/>
                    <a:chExt cx="516548" cy="588518"/>
                  </a:xfrm>
                  <a:grpFill/>
                </p:grpSpPr>
                <p:sp>
                  <p:nvSpPr>
                    <p:cNvPr id="130" name="Diamond 12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1" name="Diamond 13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2" name="Diamond 13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85" name="Group 84"/>
                  <p:cNvGrpSpPr/>
                  <p:nvPr/>
                </p:nvGrpSpPr>
                <p:grpSpPr>
                  <a:xfrm>
                    <a:off x="5565773" y="1667637"/>
                    <a:ext cx="827698" cy="629793"/>
                    <a:chOff x="6391274" y="1491869"/>
                    <a:chExt cx="827698" cy="629793"/>
                  </a:xfrm>
                  <a:grpFill/>
                </p:grpSpPr>
                <p:grpSp>
                  <p:nvGrpSpPr>
                    <p:cNvPr id="122" name="Group 121"/>
                    <p:cNvGrpSpPr/>
                    <p:nvPr/>
                  </p:nvGrpSpPr>
                  <p:grpSpPr>
                    <a:xfrm>
                      <a:off x="6391274" y="1491869"/>
                      <a:ext cx="516548" cy="588518"/>
                      <a:chOff x="6238874" y="1037844"/>
                      <a:chExt cx="516548" cy="588518"/>
                    </a:xfrm>
                    <a:grpFill/>
                  </p:grpSpPr>
                  <p:sp>
                    <p:nvSpPr>
                      <p:cNvPr id="127" name="Diamond 12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8" name="Diamond 12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9" name="Diamond 12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23" name="Group 122"/>
                    <p:cNvGrpSpPr/>
                    <p:nvPr/>
                  </p:nvGrpSpPr>
                  <p:grpSpPr>
                    <a:xfrm>
                      <a:off x="6702424" y="1533144"/>
                      <a:ext cx="516548" cy="588518"/>
                      <a:chOff x="6238874" y="1037844"/>
                      <a:chExt cx="516548" cy="588518"/>
                    </a:xfrm>
                    <a:grpFill/>
                  </p:grpSpPr>
                  <p:sp>
                    <p:nvSpPr>
                      <p:cNvPr id="124" name="Diamond 12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5" name="Diamond 12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6" name="Diamond 12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86" name="Group 85"/>
                  <p:cNvGrpSpPr/>
                  <p:nvPr/>
                </p:nvGrpSpPr>
                <p:grpSpPr>
                  <a:xfrm>
                    <a:off x="4956174" y="1311465"/>
                    <a:ext cx="827698" cy="629793"/>
                    <a:chOff x="6391274" y="1491869"/>
                    <a:chExt cx="827698" cy="629793"/>
                  </a:xfrm>
                  <a:grpFill/>
                </p:grpSpPr>
                <p:grpSp>
                  <p:nvGrpSpPr>
                    <p:cNvPr id="114" name="Group 113"/>
                    <p:cNvGrpSpPr/>
                    <p:nvPr/>
                  </p:nvGrpSpPr>
                  <p:grpSpPr>
                    <a:xfrm>
                      <a:off x="6391274" y="1491869"/>
                      <a:ext cx="516548" cy="588518"/>
                      <a:chOff x="6238874" y="1037844"/>
                      <a:chExt cx="516548" cy="588518"/>
                    </a:xfrm>
                    <a:grpFill/>
                  </p:grpSpPr>
                  <p:sp>
                    <p:nvSpPr>
                      <p:cNvPr id="119" name="Diamond 11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0" name="Diamond 11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1" name="Diamond 12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15" name="Group 114"/>
                    <p:cNvGrpSpPr/>
                    <p:nvPr/>
                  </p:nvGrpSpPr>
                  <p:grpSpPr>
                    <a:xfrm>
                      <a:off x="6702424" y="1533144"/>
                      <a:ext cx="516548" cy="588518"/>
                      <a:chOff x="6238874" y="1037844"/>
                      <a:chExt cx="516548" cy="588518"/>
                    </a:xfrm>
                    <a:grpFill/>
                  </p:grpSpPr>
                  <p:sp>
                    <p:nvSpPr>
                      <p:cNvPr id="116" name="Diamond 11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7" name="Diamond 11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8" name="Diamond 11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87" name="Group 86"/>
                  <p:cNvGrpSpPr/>
                  <p:nvPr/>
                </p:nvGrpSpPr>
                <p:grpSpPr>
                  <a:xfrm>
                    <a:off x="6543674" y="1644269"/>
                    <a:ext cx="827698" cy="629793"/>
                    <a:chOff x="6391274" y="1491869"/>
                    <a:chExt cx="827698" cy="629793"/>
                  </a:xfrm>
                  <a:grpFill/>
                </p:grpSpPr>
                <p:grpSp>
                  <p:nvGrpSpPr>
                    <p:cNvPr id="106" name="Group 105"/>
                    <p:cNvGrpSpPr/>
                    <p:nvPr/>
                  </p:nvGrpSpPr>
                  <p:grpSpPr>
                    <a:xfrm>
                      <a:off x="6391274" y="1491869"/>
                      <a:ext cx="516548" cy="588518"/>
                      <a:chOff x="6238874" y="1037844"/>
                      <a:chExt cx="516548" cy="588518"/>
                    </a:xfrm>
                    <a:grpFill/>
                  </p:grpSpPr>
                  <p:sp>
                    <p:nvSpPr>
                      <p:cNvPr id="111" name="Diamond 11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Diamond 11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3" name="Diamond 11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107" name="Group 106"/>
                    <p:cNvGrpSpPr/>
                    <p:nvPr/>
                  </p:nvGrpSpPr>
                  <p:grpSpPr>
                    <a:xfrm>
                      <a:off x="6702424" y="1533144"/>
                      <a:ext cx="516548" cy="588518"/>
                      <a:chOff x="6238874" y="1037844"/>
                      <a:chExt cx="516548" cy="588518"/>
                    </a:xfrm>
                    <a:grpFill/>
                  </p:grpSpPr>
                  <p:sp>
                    <p:nvSpPr>
                      <p:cNvPr id="108" name="Diamond 10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9" name="Diamond 10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Diamond 10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88" name="Group 87"/>
                  <p:cNvGrpSpPr/>
                  <p:nvPr/>
                </p:nvGrpSpPr>
                <p:grpSpPr>
                  <a:xfrm>
                    <a:off x="6036773" y="2595308"/>
                    <a:ext cx="827698" cy="629793"/>
                    <a:chOff x="6391274" y="1491869"/>
                    <a:chExt cx="827698" cy="629793"/>
                  </a:xfrm>
                  <a:grpFill/>
                </p:grpSpPr>
                <p:grpSp>
                  <p:nvGrpSpPr>
                    <p:cNvPr id="98" name="Group 97"/>
                    <p:cNvGrpSpPr/>
                    <p:nvPr/>
                  </p:nvGrpSpPr>
                  <p:grpSpPr>
                    <a:xfrm>
                      <a:off x="6391274" y="1491869"/>
                      <a:ext cx="516548" cy="588518"/>
                      <a:chOff x="6238874" y="1037844"/>
                      <a:chExt cx="516548" cy="588518"/>
                    </a:xfrm>
                    <a:grpFill/>
                  </p:grpSpPr>
                  <p:sp>
                    <p:nvSpPr>
                      <p:cNvPr id="103" name="Diamond 10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4" name="Diamond 10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5" name="Diamond 10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99" name="Group 98"/>
                    <p:cNvGrpSpPr/>
                    <p:nvPr/>
                  </p:nvGrpSpPr>
                  <p:grpSpPr>
                    <a:xfrm>
                      <a:off x="6702424" y="1533144"/>
                      <a:ext cx="516548" cy="588518"/>
                      <a:chOff x="6238874" y="1037844"/>
                      <a:chExt cx="516548" cy="588518"/>
                    </a:xfrm>
                    <a:grpFill/>
                  </p:grpSpPr>
                  <p:sp>
                    <p:nvSpPr>
                      <p:cNvPr id="100" name="Diamond 9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1" name="Diamond 10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Diamond 10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89" name="Group 88"/>
                  <p:cNvGrpSpPr/>
                  <p:nvPr/>
                </p:nvGrpSpPr>
                <p:grpSpPr>
                  <a:xfrm>
                    <a:off x="5472722" y="2206053"/>
                    <a:ext cx="827698" cy="629793"/>
                    <a:chOff x="6391274" y="1491869"/>
                    <a:chExt cx="827698" cy="629793"/>
                  </a:xfrm>
                  <a:grpFill/>
                </p:grpSpPr>
                <p:grpSp>
                  <p:nvGrpSpPr>
                    <p:cNvPr id="90" name="Group 89"/>
                    <p:cNvGrpSpPr/>
                    <p:nvPr/>
                  </p:nvGrpSpPr>
                  <p:grpSpPr>
                    <a:xfrm>
                      <a:off x="6391274" y="1491869"/>
                      <a:ext cx="516548" cy="588518"/>
                      <a:chOff x="6238874" y="1037844"/>
                      <a:chExt cx="516548" cy="588518"/>
                    </a:xfrm>
                    <a:grpFill/>
                  </p:grpSpPr>
                  <p:sp>
                    <p:nvSpPr>
                      <p:cNvPr id="95" name="Diamond 9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6" name="Diamond 9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7" name="Diamond 9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91" name="Group 90"/>
                    <p:cNvGrpSpPr/>
                    <p:nvPr/>
                  </p:nvGrpSpPr>
                  <p:grpSpPr>
                    <a:xfrm>
                      <a:off x="6702424" y="1533144"/>
                      <a:ext cx="516548" cy="588518"/>
                      <a:chOff x="6238874" y="1037844"/>
                      <a:chExt cx="516548" cy="588518"/>
                    </a:xfrm>
                    <a:grpFill/>
                  </p:grpSpPr>
                  <p:sp>
                    <p:nvSpPr>
                      <p:cNvPr id="92" name="Diamond 9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3" name="Diamond 9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4" name="Diamond 9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27" name="Group 26"/>
              <p:cNvGrpSpPr/>
              <p:nvPr/>
            </p:nvGrpSpPr>
            <p:grpSpPr>
              <a:xfrm>
                <a:off x="5831375" y="3740308"/>
                <a:ext cx="2415198" cy="2187257"/>
                <a:chOff x="4987924" y="894969"/>
                <a:chExt cx="2415198" cy="2187257"/>
              </a:xfrm>
            </p:grpSpPr>
            <p:grpSp>
              <p:nvGrpSpPr>
                <p:cNvPr id="28" name="Group 27"/>
                <p:cNvGrpSpPr/>
                <p:nvPr/>
              </p:nvGrpSpPr>
              <p:grpSpPr>
                <a:xfrm>
                  <a:off x="6550024" y="1079119"/>
                  <a:ext cx="516548" cy="588518"/>
                  <a:chOff x="6238874" y="1037844"/>
                  <a:chExt cx="516548" cy="588518"/>
                </a:xfrm>
                <a:solidFill>
                  <a:srgbClr val="F79646"/>
                </a:solidFill>
              </p:grpSpPr>
              <p:sp>
                <p:nvSpPr>
                  <p:cNvPr id="79" name="Diamond 7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0" name="Diamond 7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Diamond 8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29" name="Group 28"/>
                <p:cNvGrpSpPr/>
                <p:nvPr/>
              </p:nvGrpSpPr>
              <p:grpSpPr>
                <a:xfrm>
                  <a:off x="4987924" y="894969"/>
                  <a:ext cx="2415198" cy="2187257"/>
                  <a:chOff x="4956174" y="1037844"/>
                  <a:chExt cx="2415198" cy="2187257"/>
                </a:xfrm>
                <a:solidFill>
                  <a:schemeClr val="accent6"/>
                </a:solidFill>
              </p:grpSpPr>
              <p:grpSp>
                <p:nvGrpSpPr>
                  <p:cNvPr id="30" name="Group 29"/>
                  <p:cNvGrpSpPr/>
                  <p:nvPr/>
                </p:nvGrpSpPr>
                <p:grpSpPr>
                  <a:xfrm>
                    <a:off x="6238874" y="1037844"/>
                    <a:ext cx="516548" cy="588518"/>
                    <a:chOff x="6238874" y="1037844"/>
                    <a:chExt cx="516548" cy="588518"/>
                  </a:xfrm>
                  <a:grpFill/>
                </p:grpSpPr>
                <p:sp>
                  <p:nvSpPr>
                    <p:cNvPr id="76" name="Diamond 7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7" name="Diamond 7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8" name="Diamond 7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1" name="Group 30"/>
                  <p:cNvGrpSpPr/>
                  <p:nvPr/>
                </p:nvGrpSpPr>
                <p:grpSpPr>
                  <a:xfrm>
                    <a:off x="5565773" y="1667637"/>
                    <a:ext cx="827698" cy="629793"/>
                    <a:chOff x="6391274" y="1491869"/>
                    <a:chExt cx="827698" cy="629793"/>
                  </a:xfrm>
                  <a:grpFill/>
                </p:grpSpPr>
                <p:grpSp>
                  <p:nvGrpSpPr>
                    <p:cNvPr id="68" name="Group 67"/>
                    <p:cNvGrpSpPr/>
                    <p:nvPr/>
                  </p:nvGrpSpPr>
                  <p:grpSpPr>
                    <a:xfrm>
                      <a:off x="6391274" y="1491869"/>
                      <a:ext cx="516548" cy="588518"/>
                      <a:chOff x="6238874" y="1037844"/>
                      <a:chExt cx="516548" cy="588518"/>
                    </a:xfrm>
                    <a:grpFill/>
                  </p:grpSpPr>
                  <p:sp>
                    <p:nvSpPr>
                      <p:cNvPr id="73" name="Diamond 7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4" name="Diamond 7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5" name="Diamond 7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9" name="Group 68"/>
                    <p:cNvGrpSpPr/>
                    <p:nvPr/>
                  </p:nvGrpSpPr>
                  <p:grpSpPr>
                    <a:xfrm>
                      <a:off x="6702424" y="1533144"/>
                      <a:ext cx="516548" cy="588518"/>
                      <a:chOff x="6238874" y="1037844"/>
                      <a:chExt cx="516548" cy="588518"/>
                    </a:xfrm>
                    <a:grpFill/>
                  </p:grpSpPr>
                  <p:sp>
                    <p:nvSpPr>
                      <p:cNvPr id="70" name="Diamond 6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1" name="Diamond 7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2" name="Diamond 7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2" name="Group 31"/>
                  <p:cNvGrpSpPr/>
                  <p:nvPr/>
                </p:nvGrpSpPr>
                <p:grpSpPr>
                  <a:xfrm>
                    <a:off x="4956174" y="1311465"/>
                    <a:ext cx="827698" cy="629793"/>
                    <a:chOff x="6391274" y="1491869"/>
                    <a:chExt cx="827698" cy="629793"/>
                  </a:xfrm>
                  <a:grpFill/>
                </p:grpSpPr>
                <p:grpSp>
                  <p:nvGrpSpPr>
                    <p:cNvPr id="60" name="Group 59"/>
                    <p:cNvGrpSpPr/>
                    <p:nvPr/>
                  </p:nvGrpSpPr>
                  <p:grpSpPr>
                    <a:xfrm>
                      <a:off x="6391274" y="1491869"/>
                      <a:ext cx="516548" cy="588518"/>
                      <a:chOff x="6238874" y="1037844"/>
                      <a:chExt cx="516548" cy="588518"/>
                    </a:xfrm>
                    <a:grpFill/>
                  </p:grpSpPr>
                  <p:sp>
                    <p:nvSpPr>
                      <p:cNvPr id="65" name="Diamond 6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6" name="Diamond 6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7" name="Diamond 6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1" name="Group 60"/>
                    <p:cNvGrpSpPr/>
                    <p:nvPr/>
                  </p:nvGrpSpPr>
                  <p:grpSpPr>
                    <a:xfrm>
                      <a:off x="6702424" y="1533144"/>
                      <a:ext cx="516548" cy="588518"/>
                      <a:chOff x="6238874" y="1037844"/>
                      <a:chExt cx="516548" cy="588518"/>
                    </a:xfrm>
                    <a:grpFill/>
                  </p:grpSpPr>
                  <p:sp>
                    <p:nvSpPr>
                      <p:cNvPr id="62" name="Diamond 6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3" name="Diamond 6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4" name="Diamond 6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3" name="Group 32"/>
                  <p:cNvGrpSpPr/>
                  <p:nvPr/>
                </p:nvGrpSpPr>
                <p:grpSpPr>
                  <a:xfrm>
                    <a:off x="6543674" y="1644269"/>
                    <a:ext cx="827698" cy="629793"/>
                    <a:chOff x="6391274" y="1491869"/>
                    <a:chExt cx="827698" cy="629793"/>
                  </a:xfrm>
                  <a:grpFill/>
                </p:grpSpPr>
                <p:grpSp>
                  <p:nvGrpSpPr>
                    <p:cNvPr id="52" name="Group 51"/>
                    <p:cNvGrpSpPr/>
                    <p:nvPr/>
                  </p:nvGrpSpPr>
                  <p:grpSpPr>
                    <a:xfrm>
                      <a:off x="6391274" y="1491869"/>
                      <a:ext cx="516548" cy="588518"/>
                      <a:chOff x="6238874" y="1037844"/>
                      <a:chExt cx="516548" cy="588518"/>
                    </a:xfrm>
                    <a:grpFill/>
                  </p:grpSpPr>
                  <p:sp>
                    <p:nvSpPr>
                      <p:cNvPr id="57" name="Diamond 5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Diamond 5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 name="Diamond 5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3" name="Group 52"/>
                    <p:cNvGrpSpPr/>
                    <p:nvPr/>
                  </p:nvGrpSpPr>
                  <p:grpSpPr>
                    <a:xfrm>
                      <a:off x="6702424" y="1533144"/>
                      <a:ext cx="516548" cy="588518"/>
                      <a:chOff x="6238874" y="1037844"/>
                      <a:chExt cx="516548" cy="588518"/>
                    </a:xfrm>
                    <a:grpFill/>
                  </p:grpSpPr>
                  <p:sp>
                    <p:nvSpPr>
                      <p:cNvPr id="54" name="Diamond 5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 name="Diamond 5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 name="Diamond 5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4" name="Group 33"/>
                  <p:cNvGrpSpPr/>
                  <p:nvPr/>
                </p:nvGrpSpPr>
                <p:grpSpPr>
                  <a:xfrm>
                    <a:off x="6036773" y="2595308"/>
                    <a:ext cx="827698" cy="629793"/>
                    <a:chOff x="6391274" y="1491869"/>
                    <a:chExt cx="827698" cy="629793"/>
                  </a:xfrm>
                  <a:grpFill/>
                </p:grpSpPr>
                <p:grpSp>
                  <p:nvGrpSpPr>
                    <p:cNvPr id="44" name="Group 43"/>
                    <p:cNvGrpSpPr/>
                    <p:nvPr/>
                  </p:nvGrpSpPr>
                  <p:grpSpPr>
                    <a:xfrm>
                      <a:off x="6391274" y="1491869"/>
                      <a:ext cx="516548" cy="588518"/>
                      <a:chOff x="6238874" y="1037844"/>
                      <a:chExt cx="516548" cy="588518"/>
                    </a:xfrm>
                    <a:grpFill/>
                  </p:grpSpPr>
                  <p:sp>
                    <p:nvSpPr>
                      <p:cNvPr id="49" name="Diamond 4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 name="Diamond 4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 name="Diamond 5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5" name="Group 44"/>
                    <p:cNvGrpSpPr/>
                    <p:nvPr/>
                  </p:nvGrpSpPr>
                  <p:grpSpPr>
                    <a:xfrm>
                      <a:off x="6702424" y="1533144"/>
                      <a:ext cx="516548" cy="588518"/>
                      <a:chOff x="6238874" y="1037844"/>
                      <a:chExt cx="516548" cy="588518"/>
                    </a:xfrm>
                    <a:grpFill/>
                  </p:grpSpPr>
                  <p:sp>
                    <p:nvSpPr>
                      <p:cNvPr id="46" name="Diamond 4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Diamond 4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 name="Diamond 4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5" name="Group 34"/>
                  <p:cNvGrpSpPr/>
                  <p:nvPr/>
                </p:nvGrpSpPr>
                <p:grpSpPr>
                  <a:xfrm>
                    <a:off x="5472722" y="2206053"/>
                    <a:ext cx="827698" cy="629793"/>
                    <a:chOff x="6391274" y="1491869"/>
                    <a:chExt cx="827698" cy="629793"/>
                  </a:xfrm>
                  <a:grpFill/>
                </p:grpSpPr>
                <p:grpSp>
                  <p:nvGrpSpPr>
                    <p:cNvPr id="36" name="Group 35"/>
                    <p:cNvGrpSpPr/>
                    <p:nvPr/>
                  </p:nvGrpSpPr>
                  <p:grpSpPr>
                    <a:xfrm>
                      <a:off x="6391274" y="1491869"/>
                      <a:ext cx="516548" cy="588518"/>
                      <a:chOff x="6238874" y="1037844"/>
                      <a:chExt cx="516548" cy="588518"/>
                    </a:xfrm>
                    <a:grpFill/>
                  </p:grpSpPr>
                  <p:sp>
                    <p:nvSpPr>
                      <p:cNvPr id="41" name="Diamond 4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 name="Diamond 4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 name="Diamond 4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7" name="Group 36"/>
                    <p:cNvGrpSpPr/>
                    <p:nvPr/>
                  </p:nvGrpSpPr>
                  <p:grpSpPr>
                    <a:xfrm>
                      <a:off x="6702424" y="1533144"/>
                      <a:ext cx="516548" cy="588518"/>
                      <a:chOff x="6238874" y="1037844"/>
                      <a:chExt cx="516548" cy="588518"/>
                    </a:xfrm>
                    <a:grpFill/>
                  </p:grpSpPr>
                  <p:sp>
                    <p:nvSpPr>
                      <p:cNvPr id="38" name="Diamond 3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Diamond 3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Diamond 3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cxnSp>
          <p:nvCxnSpPr>
            <p:cNvPr id="8" name="Straight Arrow Connector 7"/>
            <p:cNvCxnSpPr/>
            <p:nvPr/>
          </p:nvCxnSpPr>
          <p:spPr>
            <a:xfrm>
              <a:off x="857798" y="6113017"/>
              <a:ext cx="776079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932353" y="396876"/>
              <a:ext cx="0" cy="57002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102719" y="6266418"/>
              <a:ext cx="364202" cy="369332"/>
            </a:xfrm>
            <a:prstGeom prst="rect">
              <a:avLst/>
            </a:prstGeom>
            <a:noFill/>
          </p:spPr>
          <p:txBody>
            <a:bodyPr wrap="none" rtlCol="0">
              <a:spAutoFit/>
            </a:bodyPr>
            <a:lstStyle/>
            <a:p>
              <a:r>
                <a:rPr lang="en-US" dirty="0"/>
                <a:t>x</a:t>
              </a:r>
              <a:r>
                <a:rPr lang="en-US" baseline="-25000" dirty="0"/>
                <a:t>1</a:t>
              </a:r>
              <a:endParaRPr lang="en-US" dirty="0"/>
            </a:p>
          </p:txBody>
        </p:sp>
        <p:sp>
          <p:nvSpPr>
            <p:cNvPr id="11" name="TextBox 10"/>
            <p:cNvSpPr txBox="1"/>
            <p:nvPr/>
          </p:nvSpPr>
          <p:spPr>
            <a:xfrm>
              <a:off x="415237" y="396875"/>
              <a:ext cx="364202" cy="369332"/>
            </a:xfrm>
            <a:prstGeom prst="rect">
              <a:avLst/>
            </a:prstGeom>
            <a:noFill/>
          </p:spPr>
          <p:txBody>
            <a:bodyPr wrap="none" rtlCol="0">
              <a:spAutoFit/>
            </a:bodyPr>
            <a:lstStyle/>
            <a:p>
              <a:r>
                <a:rPr lang="en-US" dirty="0"/>
                <a:t>x</a:t>
              </a:r>
              <a:r>
                <a:rPr lang="en-US" baseline="-25000" dirty="0"/>
                <a:t>2</a:t>
              </a:r>
              <a:endParaRPr lang="en-US" dirty="0"/>
            </a:p>
          </p:txBody>
        </p:sp>
        <p:sp>
          <p:nvSpPr>
            <p:cNvPr id="12" name="Oval 11"/>
            <p:cNvSpPr/>
            <p:nvPr/>
          </p:nvSpPr>
          <p:spPr>
            <a:xfrm>
              <a:off x="2673350" y="17589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p:cNvSpPr>
              <a:spLocks noChangeAspect="1"/>
            </p:cNvSpPr>
            <p:nvPr/>
          </p:nvSpPr>
          <p:spPr>
            <a:xfrm>
              <a:off x="3370707" y="479145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iamond 13"/>
            <p:cNvSpPr>
              <a:spLocks noChangeAspect="1"/>
            </p:cNvSpPr>
            <p:nvPr/>
          </p:nvSpPr>
          <p:spPr>
            <a:xfrm>
              <a:off x="6605097" y="3321050"/>
              <a:ext cx="211748" cy="210312"/>
            </a:xfrm>
            <a:prstGeom prst="diamond">
              <a:avLst/>
            </a:prstGeom>
            <a:solidFill>
              <a:srgbClr val="F7964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5" name="Group 14"/>
            <p:cNvGrpSpPr/>
            <p:nvPr/>
          </p:nvGrpSpPr>
          <p:grpSpPr>
            <a:xfrm>
              <a:off x="1049532" y="448326"/>
              <a:ext cx="7776359" cy="3609514"/>
              <a:chOff x="1049532" y="448326"/>
              <a:chExt cx="7776359" cy="3609514"/>
            </a:xfrm>
          </p:grpSpPr>
          <p:sp>
            <p:nvSpPr>
              <p:cNvPr id="22" name="TextBox 21"/>
              <p:cNvSpPr txBox="1"/>
              <p:nvPr/>
            </p:nvSpPr>
            <p:spPr>
              <a:xfrm>
                <a:off x="7879410" y="709375"/>
                <a:ext cx="946481" cy="369332"/>
              </a:xfrm>
              <a:prstGeom prst="rect">
                <a:avLst/>
              </a:prstGeom>
              <a:noFill/>
            </p:spPr>
            <p:txBody>
              <a:bodyPr wrap="none" rtlCol="0">
                <a:spAutoFit/>
              </a:bodyPr>
              <a:lstStyle/>
              <a:p>
                <a:r>
                  <a:rPr lang="en-US" dirty="0"/>
                  <a:t>Region1</a:t>
                </a:r>
              </a:p>
            </p:txBody>
          </p:sp>
          <p:sp>
            <p:nvSpPr>
              <p:cNvPr id="23" name="TextBox 22"/>
              <p:cNvSpPr txBox="1"/>
              <p:nvPr/>
            </p:nvSpPr>
            <p:spPr>
              <a:xfrm>
                <a:off x="3434570" y="448326"/>
                <a:ext cx="946481" cy="369332"/>
              </a:xfrm>
              <a:prstGeom prst="rect">
                <a:avLst/>
              </a:prstGeom>
              <a:noFill/>
            </p:spPr>
            <p:txBody>
              <a:bodyPr wrap="none" rtlCol="0">
                <a:spAutoFit/>
              </a:bodyPr>
              <a:lstStyle/>
              <a:p>
                <a:r>
                  <a:rPr lang="en-US" dirty="0"/>
                  <a:t>Region2</a:t>
                </a:r>
              </a:p>
            </p:txBody>
          </p:sp>
          <p:sp>
            <p:nvSpPr>
              <p:cNvPr id="24" name="TextBox 23"/>
              <p:cNvSpPr txBox="1"/>
              <p:nvPr/>
            </p:nvSpPr>
            <p:spPr>
              <a:xfrm>
                <a:off x="1049532" y="3688508"/>
                <a:ext cx="946481" cy="369332"/>
              </a:xfrm>
              <a:prstGeom prst="rect">
                <a:avLst/>
              </a:prstGeom>
              <a:noFill/>
            </p:spPr>
            <p:txBody>
              <a:bodyPr wrap="none" rtlCol="0">
                <a:spAutoFit/>
              </a:bodyPr>
              <a:lstStyle/>
              <a:p>
                <a:r>
                  <a:rPr lang="en-US" dirty="0"/>
                  <a:t>Region3</a:t>
                </a:r>
              </a:p>
            </p:txBody>
          </p:sp>
        </p:grpSp>
        <p:grpSp>
          <p:nvGrpSpPr>
            <p:cNvPr id="16" name="Group 15"/>
            <p:cNvGrpSpPr/>
            <p:nvPr/>
          </p:nvGrpSpPr>
          <p:grpSpPr>
            <a:xfrm>
              <a:off x="2849197" y="1457849"/>
              <a:ext cx="4261674" cy="3016551"/>
              <a:chOff x="2849197" y="1457849"/>
              <a:chExt cx="4261674" cy="3016551"/>
            </a:xfrm>
          </p:grpSpPr>
          <p:sp>
            <p:nvSpPr>
              <p:cNvPr id="19" name="TextBox 18"/>
              <p:cNvSpPr txBox="1"/>
              <p:nvPr/>
            </p:nvSpPr>
            <p:spPr>
              <a:xfrm>
                <a:off x="3043763" y="1457849"/>
                <a:ext cx="704377" cy="369332"/>
              </a:xfrm>
              <a:prstGeom prst="rect">
                <a:avLst/>
              </a:prstGeom>
              <a:noFill/>
            </p:spPr>
            <p:txBody>
              <a:bodyPr wrap="none" rtlCol="0">
                <a:spAutoFit/>
              </a:bodyPr>
              <a:lstStyle/>
              <a:p>
                <a:r>
                  <a:rPr lang="en-US" dirty="0"/>
                  <a:t>Y=2.5</a:t>
                </a:r>
              </a:p>
            </p:txBody>
          </p:sp>
          <p:sp>
            <p:nvSpPr>
              <p:cNvPr id="20" name="TextBox 19"/>
              <p:cNvSpPr txBox="1"/>
              <p:nvPr/>
            </p:nvSpPr>
            <p:spPr>
              <a:xfrm>
                <a:off x="6406494" y="2500837"/>
                <a:ext cx="704377" cy="369332"/>
              </a:xfrm>
              <a:prstGeom prst="rect">
                <a:avLst/>
              </a:prstGeom>
              <a:noFill/>
            </p:spPr>
            <p:txBody>
              <a:bodyPr wrap="none" rtlCol="0">
                <a:spAutoFit/>
              </a:bodyPr>
              <a:lstStyle/>
              <a:p>
                <a:r>
                  <a:rPr lang="en-US" dirty="0"/>
                  <a:t>Y=2.9</a:t>
                </a:r>
              </a:p>
            </p:txBody>
          </p:sp>
          <p:sp>
            <p:nvSpPr>
              <p:cNvPr id="21" name="TextBox 20"/>
              <p:cNvSpPr txBox="1"/>
              <p:nvPr/>
            </p:nvSpPr>
            <p:spPr>
              <a:xfrm>
                <a:off x="2849197" y="4105068"/>
                <a:ext cx="704377" cy="369332"/>
              </a:xfrm>
              <a:prstGeom prst="rect">
                <a:avLst/>
              </a:prstGeom>
              <a:noFill/>
            </p:spPr>
            <p:txBody>
              <a:bodyPr wrap="none" rtlCol="0">
                <a:spAutoFit/>
              </a:bodyPr>
              <a:lstStyle/>
              <a:p>
                <a:r>
                  <a:rPr lang="en-US" dirty="0"/>
                  <a:t>Y=5.1</a:t>
                </a:r>
              </a:p>
            </p:txBody>
          </p:sp>
        </p:grpSp>
        <p:sp>
          <p:nvSpPr>
            <p:cNvPr id="17" name="Freeform 16"/>
            <p:cNvSpPr/>
            <p:nvPr/>
          </p:nvSpPr>
          <p:spPr>
            <a:xfrm>
              <a:off x="904875" y="412750"/>
              <a:ext cx="4540250" cy="2841625"/>
            </a:xfrm>
            <a:custGeom>
              <a:avLst/>
              <a:gdLst>
                <a:gd name="connsiteX0" fmla="*/ 3730625 w 4540250"/>
                <a:gd name="connsiteY0" fmla="*/ 0 h 2841625"/>
                <a:gd name="connsiteX1" fmla="*/ 3730625 w 4540250"/>
                <a:gd name="connsiteY1" fmla="*/ 1000125 h 2841625"/>
                <a:gd name="connsiteX2" fmla="*/ 4540250 w 4540250"/>
                <a:gd name="connsiteY2" fmla="*/ 1016000 h 2841625"/>
                <a:gd name="connsiteX3" fmla="*/ 4524375 w 4540250"/>
                <a:gd name="connsiteY3" fmla="*/ 2301875 h 2841625"/>
                <a:gd name="connsiteX4" fmla="*/ 3587750 w 4540250"/>
                <a:gd name="connsiteY4" fmla="*/ 2301875 h 2841625"/>
                <a:gd name="connsiteX5" fmla="*/ 3587750 w 4540250"/>
                <a:gd name="connsiteY5" fmla="*/ 2841625 h 2841625"/>
                <a:gd name="connsiteX6" fmla="*/ 2508250 w 4540250"/>
                <a:gd name="connsiteY6" fmla="*/ 2809875 h 2841625"/>
                <a:gd name="connsiteX7" fmla="*/ 2508250 w 4540250"/>
                <a:gd name="connsiteY7" fmla="*/ 2206625 h 2841625"/>
                <a:gd name="connsiteX8" fmla="*/ 0 w 4540250"/>
                <a:gd name="connsiteY8" fmla="*/ 2238375 h 284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40250" h="2841625">
                  <a:moveTo>
                    <a:pt x="3730625" y="0"/>
                  </a:moveTo>
                  <a:lnTo>
                    <a:pt x="3730625" y="1000125"/>
                  </a:lnTo>
                  <a:lnTo>
                    <a:pt x="4540250" y="1016000"/>
                  </a:lnTo>
                  <a:lnTo>
                    <a:pt x="4524375" y="2301875"/>
                  </a:lnTo>
                  <a:lnTo>
                    <a:pt x="3587750" y="2301875"/>
                  </a:lnTo>
                  <a:lnTo>
                    <a:pt x="3587750" y="2841625"/>
                  </a:lnTo>
                  <a:lnTo>
                    <a:pt x="2508250" y="2809875"/>
                  </a:lnTo>
                  <a:lnTo>
                    <a:pt x="2508250" y="2206625"/>
                  </a:lnTo>
                  <a:lnTo>
                    <a:pt x="0" y="2238375"/>
                  </a:lnTo>
                </a:path>
              </a:pathLst>
            </a:cu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8" name="Freeform 17"/>
            <p:cNvSpPr/>
            <p:nvPr/>
          </p:nvSpPr>
          <p:spPr>
            <a:xfrm>
              <a:off x="4429125" y="3286125"/>
              <a:ext cx="1158875" cy="2825750"/>
            </a:xfrm>
            <a:custGeom>
              <a:avLst/>
              <a:gdLst>
                <a:gd name="connsiteX0" fmla="*/ 0 w 1158875"/>
                <a:gd name="connsiteY0" fmla="*/ 0 h 2825750"/>
                <a:gd name="connsiteX1" fmla="*/ 0 w 1158875"/>
                <a:gd name="connsiteY1" fmla="*/ 222250 h 2825750"/>
                <a:gd name="connsiteX2" fmla="*/ 523875 w 1158875"/>
                <a:gd name="connsiteY2" fmla="*/ 238125 h 2825750"/>
                <a:gd name="connsiteX3" fmla="*/ 508000 w 1158875"/>
                <a:gd name="connsiteY3" fmla="*/ 1317625 h 2825750"/>
                <a:gd name="connsiteX4" fmla="*/ 1158875 w 1158875"/>
                <a:gd name="connsiteY4" fmla="*/ 1317625 h 2825750"/>
                <a:gd name="connsiteX5" fmla="*/ 1143000 w 1158875"/>
                <a:gd name="connsiteY5" fmla="*/ 2825750 h 282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8875" h="2825750">
                  <a:moveTo>
                    <a:pt x="0" y="0"/>
                  </a:moveTo>
                  <a:lnTo>
                    <a:pt x="0" y="222250"/>
                  </a:lnTo>
                  <a:lnTo>
                    <a:pt x="523875" y="238125"/>
                  </a:lnTo>
                  <a:lnTo>
                    <a:pt x="508000" y="1317625"/>
                  </a:lnTo>
                  <a:lnTo>
                    <a:pt x="1158875" y="1317625"/>
                  </a:lnTo>
                  <a:lnTo>
                    <a:pt x="1143000" y="2825750"/>
                  </a:lnTo>
                </a:path>
              </a:pathLst>
            </a:custGeom>
            <a:ln>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grpSp>
      <p:grpSp>
        <p:nvGrpSpPr>
          <p:cNvPr id="300" name="Group 299"/>
          <p:cNvGrpSpPr/>
          <p:nvPr/>
        </p:nvGrpSpPr>
        <p:grpSpPr>
          <a:xfrm>
            <a:off x="1360481" y="2163599"/>
            <a:ext cx="7204025" cy="4446063"/>
            <a:chOff x="415237" y="159766"/>
            <a:chExt cx="8410654" cy="6475984"/>
          </a:xfrm>
        </p:grpSpPr>
        <p:grpSp>
          <p:nvGrpSpPr>
            <p:cNvPr id="301" name="Group 300"/>
            <p:cNvGrpSpPr/>
            <p:nvPr/>
          </p:nvGrpSpPr>
          <p:grpSpPr>
            <a:xfrm>
              <a:off x="1046688" y="470424"/>
              <a:ext cx="4793272" cy="2706688"/>
              <a:chOff x="1174750" y="611187"/>
              <a:chExt cx="4793272" cy="2706688"/>
            </a:xfrm>
          </p:grpSpPr>
          <p:grpSp>
            <p:nvGrpSpPr>
              <p:cNvPr id="546" name="Group 545"/>
              <p:cNvGrpSpPr/>
              <p:nvPr/>
            </p:nvGrpSpPr>
            <p:grpSpPr>
              <a:xfrm>
                <a:off x="3435350" y="2178050"/>
                <a:ext cx="1600200" cy="987425"/>
                <a:chOff x="1174750" y="904875"/>
                <a:chExt cx="1600200" cy="987425"/>
              </a:xfrm>
            </p:grpSpPr>
            <p:sp>
              <p:nvSpPr>
                <p:cNvPr id="593" name="Oval 592"/>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4" name="Oval 593"/>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5" name="Oval 594"/>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6" name="Oval 595"/>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7" name="Oval 596"/>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8" name="Oval 597"/>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9" name="Oval 598"/>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00" name="Oval 599"/>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47" name="Group 546"/>
              <p:cNvGrpSpPr/>
              <p:nvPr/>
            </p:nvGrpSpPr>
            <p:grpSpPr>
              <a:xfrm>
                <a:off x="1174750" y="611187"/>
                <a:ext cx="4793272" cy="2706688"/>
                <a:chOff x="1174750" y="611187"/>
                <a:chExt cx="4793272" cy="2706688"/>
              </a:xfrm>
            </p:grpSpPr>
            <p:grpSp>
              <p:nvGrpSpPr>
                <p:cNvPr id="548" name="Group 547"/>
                <p:cNvGrpSpPr/>
                <p:nvPr/>
              </p:nvGrpSpPr>
              <p:grpSpPr>
                <a:xfrm>
                  <a:off x="2089150" y="611187"/>
                  <a:ext cx="1600200" cy="987425"/>
                  <a:chOff x="1174750" y="904875"/>
                  <a:chExt cx="1600200" cy="987425"/>
                </a:xfrm>
              </p:grpSpPr>
              <p:sp>
                <p:nvSpPr>
                  <p:cNvPr id="585" name="Oval 584"/>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6" name="Oval 585"/>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7" name="Oval 586"/>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8" name="Oval 587"/>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9" name="Oval 588"/>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0" name="Oval 589"/>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1" name="Oval 590"/>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2" name="Oval 591"/>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49" name="Group 548"/>
                <p:cNvGrpSpPr/>
                <p:nvPr/>
              </p:nvGrpSpPr>
              <p:grpSpPr>
                <a:xfrm>
                  <a:off x="1289050" y="2330450"/>
                  <a:ext cx="1600200" cy="987425"/>
                  <a:chOff x="1174750" y="904875"/>
                  <a:chExt cx="1600200" cy="987425"/>
                </a:xfrm>
              </p:grpSpPr>
              <p:sp>
                <p:nvSpPr>
                  <p:cNvPr id="577" name="Oval 576"/>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8" name="Oval 577"/>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9" name="Oval 578"/>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0" name="Oval 579"/>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1" name="Oval 580"/>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2" name="Oval 581"/>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3" name="Oval 582"/>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4" name="Oval 583"/>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50" name="Group 549"/>
                <p:cNvGrpSpPr/>
                <p:nvPr/>
              </p:nvGrpSpPr>
              <p:grpSpPr>
                <a:xfrm>
                  <a:off x="1174750" y="904875"/>
                  <a:ext cx="1600200" cy="987425"/>
                  <a:chOff x="1174750" y="904875"/>
                  <a:chExt cx="1600200" cy="987425"/>
                </a:xfrm>
              </p:grpSpPr>
              <p:sp>
                <p:nvSpPr>
                  <p:cNvPr id="569" name="Oval 568"/>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0" name="Oval 569"/>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1" name="Oval 570"/>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2" name="Oval 571"/>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3" name="Oval 572"/>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4" name="Oval 573"/>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5" name="Oval 574"/>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6" name="Oval 575"/>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51" name="Group 550"/>
                <p:cNvGrpSpPr/>
                <p:nvPr/>
              </p:nvGrpSpPr>
              <p:grpSpPr>
                <a:xfrm>
                  <a:off x="4367822" y="1616837"/>
                  <a:ext cx="1600200" cy="987425"/>
                  <a:chOff x="1174750" y="904875"/>
                  <a:chExt cx="1600200" cy="987425"/>
                </a:xfrm>
              </p:grpSpPr>
              <p:sp>
                <p:nvSpPr>
                  <p:cNvPr id="561" name="Oval 560"/>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2" name="Oval 561"/>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3" name="Oval 562"/>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4" name="Oval 563"/>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5" name="Oval 564"/>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6" name="Oval 565"/>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7" name="Oval 566"/>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8" name="Oval 567"/>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52" name="Group 551"/>
                <p:cNvGrpSpPr/>
                <p:nvPr/>
              </p:nvGrpSpPr>
              <p:grpSpPr>
                <a:xfrm>
                  <a:off x="2752725" y="2044700"/>
                  <a:ext cx="1600200" cy="987425"/>
                  <a:chOff x="1174750" y="904875"/>
                  <a:chExt cx="1600200" cy="987425"/>
                </a:xfrm>
              </p:grpSpPr>
              <p:sp>
                <p:nvSpPr>
                  <p:cNvPr id="553" name="Oval 552"/>
                  <p:cNvSpPr/>
                  <p:nvPr/>
                </p:nvSpPr>
                <p:spPr>
                  <a:xfrm>
                    <a:off x="1174750" y="9525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4" name="Oval 553"/>
                  <p:cNvSpPr/>
                  <p:nvPr/>
                </p:nvSpPr>
                <p:spPr>
                  <a:xfrm>
                    <a:off x="2009775" y="9048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5" name="Oval 554"/>
                  <p:cNvSpPr/>
                  <p:nvPr/>
                </p:nvSpPr>
                <p:spPr>
                  <a:xfrm>
                    <a:off x="1704975" y="1120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6" name="Oval 555"/>
                  <p:cNvSpPr/>
                  <p:nvPr/>
                </p:nvSpPr>
                <p:spPr>
                  <a:xfrm>
                    <a:off x="2368550" y="129540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7" name="Oval 556"/>
                  <p:cNvSpPr/>
                  <p:nvPr/>
                </p:nvSpPr>
                <p:spPr>
                  <a:xfrm>
                    <a:off x="1327150" y="12636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8" name="Oval 557"/>
                  <p:cNvSpPr/>
                  <p:nvPr/>
                </p:nvSpPr>
                <p:spPr>
                  <a:xfrm>
                    <a:off x="2003425" y="15017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9" name="Oval 558"/>
                  <p:cNvSpPr/>
                  <p:nvPr/>
                </p:nvSpPr>
                <p:spPr>
                  <a:xfrm>
                    <a:off x="1685925" y="1654175"/>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0" name="Oval 559"/>
                  <p:cNvSpPr/>
                  <p:nvPr/>
                </p:nvSpPr>
                <p:spPr>
                  <a:xfrm>
                    <a:off x="2520950" y="16065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nvGrpSpPr>
            <p:cNvPr id="302" name="Group 301"/>
            <p:cNvGrpSpPr/>
            <p:nvPr/>
          </p:nvGrpSpPr>
          <p:grpSpPr>
            <a:xfrm>
              <a:off x="1839420" y="2504202"/>
              <a:ext cx="3653490" cy="3283711"/>
              <a:chOff x="1817116" y="2813431"/>
              <a:chExt cx="3653490" cy="3283711"/>
            </a:xfrm>
          </p:grpSpPr>
          <p:grpSp>
            <p:nvGrpSpPr>
              <p:cNvPr id="486" name="Group 485"/>
              <p:cNvGrpSpPr/>
              <p:nvPr/>
            </p:nvGrpSpPr>
            <p:grpSpPr>
              <a:xfrm>
                <a:off x="3109341" y="3265138"/>
                <a:ext cx="1464818" cy="1606359"/>
                <a:chOff x="2124075" y="4010406"/>
                <a:chExt cx="1464818" cy="1606359"/>
              </a:xfrm>
            </p:grpSpPr>
            <p:grpSp>
              <p:nvGrpSpPr>
                <p:cNvPr id="532" name="Group 531"/>
                <p:cNvGrpSpPr/>
                <p:nvPr/>
              </p:nvGrpSpPr>
              <p:grpSpPr>
                <a:xfrm>
                  <a:off x="2124075" y="4010406"/>
                  <a:ext cx="963168" cy="977709"/>
                  <a:chOff x="2124075" y="4010406"/>
                  <a:chExt cx="963168" cy="977709"/>
                </a:xfrm>
              </p:grpSpPr>
              <p:sp>
                <p:nvSpPr>
                  <p:cNvPr id="540" name="Rectangle 539"/>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1" name="Rectangle 540"/>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2" name="Rectangle 541"/>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3" name="Rectangle 542"/>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4" name="Rectangle 543"/>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5" name="Rectangle 544"/>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33" name="Group 532"/>
                <p:cNvGrpSpPr/>
                <p:nvPr/>
              </p:nvGrpSpPr>
              <p:grpSpPr>
                <a:xfrm>
                  <a:off x="2625725" y="4639056"/>
                  <a:ext cx="963168" cy="977709"/>
                  <a:chOff x="2124075" y="4010406"/>
                  <a:chExt cx="963168" cy="977709"/>
                </a:xfrm>
              </p:grpSpPr>
              <p:sp>
                <p:nvSpPr>
                  <p:cNvPr id="534" name="Rectangle 533"/>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5" name="Rectangle 534"/>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6" name="Rectangle 535"/>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7" name="Rectangle 536"/>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8" name="Rectangle 537"/>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9" name="Rectangle 538"/>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487" name="Group 486"/>
              <p:cNvGrpSpPr/>
              <p:nvPr/>
            </p:nvGrpSpPr>
            <p:grpSpPr>
              <a:xfrm>
                <a:off x="4005788" y="4490783"/>
                <a:ext cx="1464818" cy="1606359"/>
                <a:chOff x="2124075" y="4010406"/>
                <a:chExt cx="1464818" cy="1606359"/>
              </a:xfrm>
            </p:grpSpPr>
            <p:grpSp>
              <p:nvGrpSpPr>
                <p:cNvPr id="518" name="Group 517"/>
                <p:cNvGrpSpPr/>
                <p:nvPr/>
              </p:nvGrpSpPr>
              <p:grpSpPr>
                <a:xfrm>
                  <a:off x="2124075" y="4010406"/>
                  <a:ext cx="963168" cy="977709"/>
                  <a:chOff x="2124075" y="4010406"/>
                  <a:chExt cx="963168" cy="977709"/>
                </a:xfrm>
              </p:grpSpPr>
              <p:sp>
                <p:nvSpPr>
                  <p:cNvPr id="526" name="Rectangle 525"/>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7" name="Rectangle 526"/>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8" name="Rectangle 527"/>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9" name="Rectangle 528"/>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0" name="Rectangle 529"/>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1" name="Rectangle 530"/>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19" name="Group 518"/>
                <p:cNvGrpSpPr/>
                <p:nvPr/>
              </p:nvGrpSpPr>
              <p:grpSpPr>
                <a:xfrm>
                  <a:off x="2625725" y="4639056"/>
                  <a:ext cx="963168" cy="977709"/>
                  <a:chOff x="2124075" y="4010406"/>
                  <a:chExt cx="963168" cy="977709"/>
                </a:xfrm>
              </p:grpSpPr>
              <p:sp>
                <p:nvSpPr>
                  <p:cNvPr id="520" name="Rectangle 519"/>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1" name="Rectangle 520"/>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2" name="Rectangle 521"/>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3" name="Rectangle 522"/>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4" name="Rectangle 523"/>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25" name="Rectangle 524"/>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488" name="Group 487"/>
              <p:cNvGrpSpPr/>
              <p:nvPr/>
            </p:nvGrpSpPr>
            <p:grpSpPr>
              <a:xfrm>
                <a:off x="2124075" y="4010406"/>
                <a:ext cx="1464818" cy="1606359"/>
                <a:chOff x="2124075" y="4010406"/>
                <a:chExt cx="1464818" cy="1606359"/>
              </a:xfrm>
            </p:grpSpPr>
            <p:grpSp>
              <p:nvGrpSpPr>
                <p:cNvPr id="504" name="Group 503"/>
                <p:cNvGrpSpPr/>
                <p:nvPr/>
              </p:nvGrpSpPr>
              <p:grpSpPr>
                <a:xfrm>
                  <a:off x="2124075" y="4010406"/>
                  <a:ext cx="963168" cy="977709"/>
                  <a:chOff x="2124075" y="4010406"/>
                  <a:chExt cx="963168" cy="977709"/>
                </a:xfrm>
              </p:grpSpPr>
              <p:sp>
                <p:nvSpPr>
                  <p:cNvPr id="512" name="Rectangle 511"/>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3" name="Rectangle 512"/>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4" name="Rectangle 513"/>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5" name="Rectangle 514"/>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6" name="Rectangle 515"/>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7" name="Rectangle 516"/>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505" name="Group 504"/>
                <p:cNvGrpSpPr/>
                <p:nvPr/>
              </p:nvGrpSpPr>
              <p:grpSpPr>
                <a:xfrm>
                  <a:off x="2625725" y="4639056"/>
                  <a:ext cx="963168" cy="977709"/>
                  <a:chOff x="2124075" y="4010406"/>
                  <a:chExt cx="963168" cy="977709"/>
                </a:xfrm>
              </p:grpSpPr>
              <p:sp>
                <p:nvSpPr>
                  <p:cNvPr id="506" name="Rectangle 505"/>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7" name="Rectangle 506"/>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8" name="Rectangle 507"/>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9" name="Rectangle 508"/>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0" name="Rectangle 509"/>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1" name="Rectangle 510"/>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489" name="Group 488"/>
              <p:cNvGrpSpPr/>
              <p:nvPr/>
            </p:nvGrpSpPr>
            <p:grpSpPr>
              <a:xfrm>
                <a:off x="1817116" y="2813431"/>
                <a:ext cx="1464818" cy="1606359"/>
                <a:chOff x="2124075" y="4010406"/>
                <a:chExt cx="1464818" cy="1606359"/>
              </a:xfrm>
            </p:grpSpPr>
            <p:grpSp>
              <p:nvGrpSpPr>
                <p:cNvPr id="490" name="Group 489"/>
                <p:cNvGrpSpPr/>
                <p:nvPr/>
              </p:nvGrpSpPr>
              <p:grpSpPr>
                <a:xfrm>
                  <a:off x="2124075" y="4010406"/>
                  <a:ext cx="963168" cy="977709"/>
                  <a:chOff x="2124075" y="4010406"/>
                  <a:chExt cx="963168" cy="977709"/>
                </a:xfrm>
              </p:grpSpPr>
              <p:sp>
                <p:nvSpPr>
                  <p:cNvPr id="498" name="Rectangle 497"/>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9" name="Rectangle 498"/>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0" name="Rectangle 499"/>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1" name="Rectangle 500"/>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2" name="Rectangle 501"/>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3" name="Rectangle 502"/>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91" name="Group 490"/>
                <p:cNvGrpSpPr/>
                <p:nvPr/>
              </p:nvGrpSpPr>
              <p:grpSpPr>
                <a:xfrm>
                  <a:off x="2625725" y="4639056"/>
                  <a:ext cx="963168" cy="977709"/>
                  <a:chOff x="2124075" y="4010406"/>
                  <a:chExt cx="963168" cy="977709"/>
                </a:xfrm>
              </p:grpSpPr>
              <p:sp>
                <p:nvSpPr>
                  <p:cNvPr id="492" name="Rectangle 491"/>
                  <p:cNvSpPr>
                    <a:spLocks noChangeAspect="1"/>
                  </p:cNvSpPr>
                  <p:nvPr/>
                </p:nvSpPr>
                <p:spPr>
                  <a:xfrm>
                    <a:off x="2124075" y="41794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3" name="Rectangle 492"/>
                  <p:cNvSpPr>
                    <a:spLocks noChangeAspect="1"/>
                  </p:cNvSpPr>
                  <p:nvPr/>
                </p:nvSpPr>
                <p:spPr>
                  <a:xfrm>
                    <a:off x="2276475" y="43318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4" name="Rectangle 493"/>
                  <p:cNvSpPr>
                    <a:spLocks noChangeAspect="1"/>
                  </p:cNvSpPr>
                  <p:nvPr/>
                </p:nvSpPr>
                <p:spPr>
                  <a:xfrm>
                    <a:off x="2716657" y="401040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5" name="Rectangle 494"/>
                  <p:cNvSpPr>
                    <a:spLocks noChangeAspect="1"/>
                  </p:cNvSpPr>
                  <p:nvPr/>
                </p:nvSpPr>
                <p:spPr>
                  <a:xfrm>
                    <a:off x="2581275" y="4353560"/>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6" name="Rectangle 495"/>
                  <p:cNvSpPr>
                    <a:spLocks noChangeAspect="1"/>
                  </p:cNvSpPr>
                  <p:nvPr/>
                </p:nvSpPr>
                <p:spPr>
                  <a:xfrm>
                    <a:off x="2176907" y="4789043"/>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7" name="Rectangle 496"/>
                  <p:cNvSpPr>
                    <a:spLocks noChangeAspect="1"/>
                  </p:cNvSpPr>
                  <p:nvPr/>
                </p:nvSpPr>
                <p:spPr>
                  <a:xfrm>
                    <a:off x="2886075" y="4544059"/>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cxnSp>
          <p:nvCxnSpPr>
            <p:cNvPr id="303" name="Straight Connector 302"/>
            <p:cNvCxnSpPr/>
            <p:nvPr/>
          </p:nvCxnSpPr>
          <p:spPr>
            <a:xfrm>
              <a:off x="4939111" y="159766"/>
              <a:ext cx="29845" cy="593737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4" name="Straight Connector 303"/>
            <p:cNvCxnSpPr/>
            <p:nvPr/>
          </p:nvCxnSpPr>
          <p:spPr>
            <a:xfrm flipV="1">
              <a:off x="932353" y="3363277"/>
              <a:ext cx="4041893" cy="311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05" name="Group 304"/>
            <p:cNvGrpSpPr/>
            <p:nvPr/>
          </p:nvGrpSpPr>
          <p:grpSpPr>
            <a:xfrm>
              <a:off x="4523434" y="499063"/>
              <a:ext cx="3660776" cy="5032596"/>
              <a:chOff x="4585797" y="894969"/>
              <a:chExt cx="3660776" cy="5032596"/>
            </a:xfrm>
          </p:grpSpPr>
          <p:grpSp>
            <p:nvGrpSpPr>
              <p:cNvPr id="321" name="Group 320"/>
              <p:cNvGrpSpPr/>
              <p:nvPr/>
            </p:nvGrpSpPr>
            <p:grpSpPr>
              <a:xfrm>
                <a:off x="4987924" y="894969"/>
                <a:ext cx="2415198" cy="2187257"/>
                <a:chOff x="4987924" y="894969"/>
                <a:chExt cx="2415198" cy="2187257"/>
              </a:xfrm>
            </p:grpSpPr>
            <p:grpSp>
              <p:nvGrpSpPr>
                <p:cNvPr id="432" name="Group 431"/>
                <p:cNvGrpSpPr/>
                <p:nvPr/>
              </p:nvGrpSpPr>
              <p:grpSpPr>
                <a:xfrm>
                  <a:off x="6550024" y="1079119"/>
                  <a:ext cx="516548" cy="588518"/>
                  <a:chOff x="6238874" y="1037844"/>
                  <a:chExt cx="516548" cy="588518"/>
                </a:xfrm>
                <a:solidFill>
                  <a:srgbClr val="F79646"/>
                </a:solidFill>
              </p:grpSpPr>
              <p:sp>
                <p:nvSpPr>
                  <p:cNvPr id="483" name="Diamond 48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4" name="Diamond 48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5" name="Diamond 48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33" name="Group 432"/>
                <p:cNvGrpSpPr/>
                <p:nvPr/>
              </p:nvGrpSpPr>
              <p:grpSpPr>
                <a:xfrm>
                  <a:off x="4987924" y="894969"/>
                  <a:ext cx="2415198" cy="2187257"/>
                  <a:chOff x="4956174" y="1037844"/>
                  <a:chExt cx="2415198" cy="2187257"/>
                </a:xfrm>
                <a:solidFill>
                  <a:schemeClr val="accent6"/>
                </a:solidFill>
              </p:grpSpPr>
              <p:grpSp>
                <p:nvGrpSpPr>
                  <p:cNvPr id="434" name="Group 433"/>
                  <p:cNvGrpSpPr/>
                  <p:nvPr/>
                </p:nvGrpSpPr>
                <p:grpSpPr>
                  <a:xfrm>
                    <a:off x="6238874" y="1037844"/>
                    <a:ext cx="516548" cy="588518"/>
                    <a:chOff x="6238874" y="1037844"/>
                    <a:chExt cx="516548" cy="588518"/>
                  </a:xfrm>
                  <a:grpFill/>
                </p:grpSpPr>
                <p:sp>
                  <p:nvSpPr>
                    <p:cNvPr id="480" name="Diamond 47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1" name="Diamond 48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82" name="Diamond 48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35" name="Group 434"/>
                  <p:cNvGrpSpPr/>
                  <p:nvPr/>
                </p:nvGrpSpPr>
                <p:grpSpPr>
                  <a:xfrm>
                    <a:off x="5565773" y="1667637"/>
                    <a:ext cx="827698" cy="629793"/>
                    <a:chOff x="6391274" y="1491869"/>
                    <a:chExt cx="827698" cy="629793"/>
                  </a:xfrm>
                  <a:grpFill/>
                </p:grpSpPr>
                <p:grpSp>
                  <p:nvGrpSpPr>
                    <p:cNvPr id="472" name="Group 471"/>
                    <p:cNvGrpSpPr/>
                    <p:nvPr/>
                  </p:nvGrpSpPr>
                  <p:grpSpPr>
                    <a:xfrm>
                      <a:off x="6391274" y="1491869"/>
                      <a:ext cx="516548" cy="588518"/>
                      <a:chOff x="6238874" y="1037844"/>
                      <a:chExt cx="516548" cy="588518"/>
                    </a:xfrm>
                    <a:grpFill/>
                  </p:grpSpPr>
                  <p:sp>
                    <p:nvSpPr>
                      <p:cNvPr id="477" name="Diamond 47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8" name="Diamond 47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9" name="Diamond 47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73" name="Group 472"/>
                    <p:cNvGrpSpPr/>
                    <p:nvPr/>
                  </p:nvGrpSpPr>
                  <p:grpSpPr>
                    <a:xfrm>
                      <a:off x="6702424" y="1533144"/>
                      <a:ext cx="516548" cy="588518"/>
                      <a:chOff x="6238874" y="1037844"/>
                      <a:chExt cx="516548" cy="588518"/>
                    </a:xfrm>
                    <a:grpFill/>
                  </p:grpSpPr>
                  <p:sp>
                    <p:nvSpPr>
                      <p:cNvPr id="474" name="Diamond 47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5" name="Diamond 47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6" name="Diamond 47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436" name="Group 435"/>
                  <p:cNvGrpSpPr/>
                  <p:nvPr/>
                </p:nvGrpSpPr>
                <p:grpSpPr>
                  <a:xfrm>
                    <a:off x="4956174" y="1311465"/>
                    <a:ext cx="827698" cy="629793"/>
                    <a:chOff x="6391274" y="1491869"/>
                    <a:chExt cx="827698" cy="629793"/>
                  </a:xfrm>
                  <a:grpFill/>
                </p:grpSpPr>
                <p:grpSp>
                  <p:nvGrpSpPr>
                    <p:cNvPr id="464" name="Group 463"/>
                    <p:cNvGrpSpPr/>
                    <p:nvPr/>
                  </p:nvGrpSpPr>
                  <p:grpSpPr>
                    <a:xfrm>
                      <a:off x="6391274" y="1491869"/>
                      <a:ext cx="516548" cy="588518"/>
                      <a:chOff x="6238874" y="1037844"/>
                      <a:chExt cx="516548" cy="588518"/>
                    </a:xfrm>
                    <a:grpFill/>
                  </p:grpSpPr>
                  <p:sp>
                    <p:nvSpPr>
                      <p:cNvPr id="469" name="Diamond 46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0" name="Diamond 46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1" name="Diamond 47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65" name="Group 464"/>
                    <p:cNvGrpSpPr/>
                    <p:nvPr/>
                  </p:nvGrpSpPr>
                  <p:grpSpPr>
                    <a:xfrm>
                      <a:off x="6702424" y="1533144"/>
                      <a:ext cx="516548" cy="588518"/>
                      <a:chOff x="6238874" y="1037844"/>
                      <a:chExt cx="516548" cy="588518"/>
                    </a:xfrm>
                    <a:grpFill/>
                  </p:grpSpPr>
                  <p:sp>
                    <p:nvSpPr>
                      <p:cNvPr id="466" name="Diamond 46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7" name="Diamond 46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8" name="Diamond 46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437" name="Group 436"/>
                  <p:cNvGrpSpPr/>
                  <p:nvPr/>
                </p:nvGrpSpPr>
                <p:grpSpPr>
                  <a:xfrm>
                    <a:off x="6543674" y="1644269"/>
                    <a:ext cx="827698" cy="629793"/>
                    <a:chOff x="6391274" y="1491869"/>
                    <a:chExt cx="827698" cy="629793"/>
                  </a:xfrm>
                  <a:grpFill/>
                </p:grpSpPr>
                <p:grpSp>
                  <p:nvGrpSpPr>
                    <p:cNvPr id="456" name="Group 455"/>
                    <p:cNvGrpSpPr/>
                    <p:nvPr/>
                  </p:nvGrpSpPr>
                  <p:grpSpPr>
                    <a:xfrm>
                      <a:off x="6391274" y="1491869"/>
                      <a:ext cx="516548" cy="588518"/>
                      <a:chOff x="6238874" y="1037844"/>
                      <a:chExt cx="516548" cy="588518"/>
                    </a:xfrm>
                    <a:grpFill/>
                  </p:grpSpPr>
                  <p:sp>
                    <p:nvSpPr>
                      <p:cNvPr id="461" name="Diamond 46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2" name="Diamond 46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3" name="Diamond 46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57" name="Group 456"/>
                    <p:cNvGrpSpPr/>
                    <p:nvPr/>
                  </p:nvGrpSpPr>
                  <p:grpSpPr>
                    <a:xfrm>
                      <a:off x="6702424" y="1533144"/>
                      <a:ext cx="516548" cy="588518"/>
                      <a:chOff x="6238874" y="1037844"/>
                      <a:chExt cx="516548" cy="588518"/>
                    </a:xfrm>
                    <a:grpFill/>
                  </p:grpSpPr>
                  <p:sp>
                    <p:nvSpPr>
                      <p:cNvPr id="458" name="Diamond 45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9" name="Diamond 45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0" name="Diamond 45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438" name="Group 437"/>
                  <p:cNvGrpSpPr/>
                  <p:nvPr/>
                </p:nvGrpSpPr>
                <p:grpSpPr>
                  <a:xfrm>
                    <a:off x="6036773" y="2595308"/>
                    <a:ext cx="827698" cy="629793"/>
                    <a:chOff x="6391274" y="1491869"/>
                    <a:chExt cx="827698" cy="629793"/>
                  </a:xfrm>
                  <a:grpFill/>
                </p:grpSpPr>
                <p:grpSp>
                  <p:nvGrpSpPr>
                    <p:cNvPr id="448" name="Group 447"/>
                    <p:cNvGrpSpPr/>
                    <p:nvPr/>
                  </p:nvGrpSpPr>
                  <p:grpSpPr>
                    <a:xfrm>
                      <a:off x="6391274" y="1491869"/>
                      <a:ext cx="516548" cy="588518"/>
                      <a:chOff x="6238874" y="1037844"/>
                      <a:chExt cx="516548" cy="588518"/>
                    </a:xfrm>
                    <a:grpFill/>
                  </p:grpSpPr>
                  <p:sp>
                    <p:nvSpPr>
                      <p:cNvPr id="453" name="Diamond 45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4" name="Diamond 45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5" name="Diamond 45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49" name="Group 448"/>
                    <p:cNvGrpSpPr/>
                    <p:nvPr/>
                  </p:nvGrpSpPr>
                  <p:grpSpPr>
                    <a:xfrm>
                      <a:off x="6702424" y="1533144"/>
                      <a:ext cx="516548" cy="588518"/>
                      <a:chOff x="6238874" y="1037844"/>
                      <a:chExt cx="516548" cy="588518"/>
                    </a:xfrm>
                    <a:grpFill/>
                  </p:grpSpPr>
                  <p:sp>
                    <p:nvSpPr>
                      <p:cNvPr id="450" name="Diamond 44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1" name="Diamond 45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2" name="Diamond 45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439" name="Group 438"/>
                  <p:cNvGrpSpPr/>
                  <p:nvPr/>
                </p:nvGrpSpPr>
                <p:grpSpPr>
                  <a:xfrm>
                    <a:off x="5472722" y="2206053"/>
                    <a:ext cx="827698" cy="629793"/>
                    <a:chOff x="6391274" y="1491869"/>
                    <a:chExt cx="827698" cy="629793"/>
                  </a:xfrm>
                  <a:grpFill/>
                </p:grpSpPr>
                <p:grpSp>
                  <p:nvGrpSpPr>
                    <p:cNvPr id="440" name="Group 439"/>
                    <p:cNvGrpSpPr/>
                    <p:nvPr/>
                  </p:nvGrpSpPr>
                  <p:grpSpPr>
                    <a:xfrm>
                      <a:off x="6391274" y="1491869"/>
                      <a:ext cx="516548" cy="588518"/>
                      <a:chOff x="6238874" y="1037844"/>
                      <a:chExt cx="516548" cy="588518"/>
                    </a:xfrm>
                    <a:grpFill/>
                  </p:grpSpPr>
                  <p:sp>
                    <p:nvSpPr>
                      <p:cNvPr id="445" name="Diamond 44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6" name="Diamond 44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7" name="Diamond 44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41" name="Group 440"/>
                    <p:cNvGrpSpPr/>
                    <p:nvPr/>
                  </p:nvGrpSpPr>
                  <p:grpSpPr>
                    <a:xfrm>
                      <a:off x="6702424" y="1533144"/>
                      <a:ext cx="516548" cy="588518"/>
                      <a:chOff x="6238874" y="1037844"/>
                      <a:chExt cx="516548" cy="588518"/>
                    </a:xfrm>
                    <a:grpFill/>
                  </p:grpSpPr>
                  <p:sp>
                    <p:nvSpPr>
                      <p:cNvPr id="442" name="Diamond 44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3" name="Diamond 44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44" name="Diamond 44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322" name="Group 321"/>
              <p:cNvGrpSpPr/>
              <p:nvPr/>
            </p:nvGrpSpPr>
            <p:grpSpPr>
              <a:xfrm>
                <a:off x="4585797" y="2984500"/>
                <a:ext cx="2415198" cy="2187257"/>
                <a:chOff x="4987924" y="894969"/>
                <a:chExt cx="2415198" cy="2187257"/>
              </a:xfrm>
            </p:grpSpPr>
            <p:grpSp>
              <p:nvGrpSpPr>
                <p:cNvPr id="378" name="Group 377"/>
                <p:cNvGrpSpPr/>
                <p:nvPr/>
              </p:nvGrpSpPr>
              <p:grpSpPr>
                <a:xfrm>
                  <a:off x="6550024" y="1079119"/>
                  <a:ext cx="516548" cy="588518"/>
                  <a:chOff x="6238874" y="1037844"/>
                  <a:chExt cx="516548" cy="588518"/>
                </a:xfrm>
                <a:solidFill>
                  <a:srgbClr val="F79646"/>
                </a:solidFill>
              </p:grpSpPr>
              <p:sp>
                <p:nvSpPr>
                  <p:cNvPr id="429" name="Diamond 42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0" name="Diamond 42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1" name="Diamond 43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79" name="Group 378"/>
                <p:cNvGrpSpPr/>
                <p:nvPr/>
              </p:nvGrpSpPr>
              <p:grpSpPr>
                <a:xfrm>
                  <a:off x="4987924" y="894969"/>
                  <a:ext cx="2415198" cy="2187257"/>
                  <a:chOff x="4956174" y="1037844"/>
                  <a:chExt cx="2415198" cy="2187257"/>
                </a:xfrm>
                <a:solidFill>
                  <a:schemeClr val="accent6"/>
                </a:solidFill>
              </p:grpSpPr>
              <p:grpSp>
                <p:nvGrpSpPr>
                  <p:cNvPr id="380" name="Group 379"/>
                  <p:cNvGrpSpPr/>
                  <p:nvPr/>
                </p:nvGrpSpPr>
                <p:grpSpPr>
                  <a:xfrm>
                    <a:off x="6238874" y="1037844"/>
                    <a:ext cx="516548" cy="588518"/>
                    <a:chOff x="6238874" y="1037844"/>
                    <a:chExt cx="516548" cy="588518"/>
                  </a:xfrm>
                  <a:grpFill/>
                </p:grpSpPr>
                <p:sp>
                  <p:nvSpPr>
                    <p:cNvPr id="426" name="Diamond 42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7" name="Diamond 42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8" name="Diamond 42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81" name="Group 380"/>
                  <p:cNvGrpSpPr/>
                  <p:nvPr/>
                </p:nvGrpSpPr>
                <p:grpSpPr>
                  <a:xfrm>
                    <a:off x="5565773" y="1667637"/>
                    <a:ext cx="827698" cy="629793"/>
                    <a:chOff x="6391274" y="1491869"/>
                    <a:chExt cx="827698" cy="629793"/>
                  </a:xfrm>
                  <a:grpFill/>
                </p:grpSpPr>
                <p:grpSp>
                  <p:nvGrpSpPr>
                    <p:cNvPr id="418" name="Group 417"/>
                    <p:cNvGrpSpPr/>
                    <p:nvPr/>
                  </p:nvGrpSpPr>
                  <p:grpSpPr>
                    <a:xfrm>
                      <a:off x="6391274" y="1491869"/>
                      <a:ext cx="516548" cy="588518"/>
                      <a:chOff x="6238874" y="1037844"/>
                      <a:chExt cx="516548" cy="588518"/>
                    </a:xfrm>
                    <a:grpFill/>
                  </p:grpSpPr>
                  <p:sp>
                    <p:nvSpPr>
                      <p:cNvPr id="423" name="Diamond 42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4" name="Diamond 42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5" name="Diamond 42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19" name="Group 418"/>
                    <p:cNvGrpSpPr/>
                    <p:nvPr/>
                  </p:nvGrpSpPr>
                  <p:grpSpPr>
                    <a:xfrm>
                      <a:off x="6702424" y="1533144"/>
                      <a:ext cx="516548" cy="588518"/>
                      <a:chOff x="6238874" y="1037844"/>
                      <a:chExt cx="516548" cy="588518"/>
                    </a:xfrm>
                    <a:grpFill/>
                  </p:grpSpPr>
                  <p:sp>
                    <p:nvSpPr>
                      <p:cNvPr id="420" name="Diamond 41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1" name="Diamond 42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2" name="Diamond 42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82" name="Group 381"/>
                  <p:cNvGrpSpPr/>
                  <p:nvPr/>
                </p:nvGrpSpPr>
                <p:grpSpPr>
                  <a:xfrm>
                    <a:off x="4956174" y="1311465"/>
                    <a:ext cx="827698" cy="629793"/>
                    <a:chOff x="6391274" y="1491869"/>
                    <a:chExt cx="827698" cy="629793"/>
                  </a:xfrm>
                  <a:grpFill/>
                </p:grpSpPr>
                <p:grpSp>
                  <p:nvGrpSpPr>
                    <p:cNvPr id="410" name="Group 409"/>
                    <p:cNvGrpSpPr/>
                    <p:nvPr/>
                  </p:nvGrpSpPr>
                  <p:grpSpPr>
                    <a:xfrm>
                      <a:off x="6391274" y="1491869"/>
                      <a:ext cx="516548" cy="588518"/>
                      <a:chOff x="6238874" y="1037844"/>
                      <a:chExt cx="516548" cy="588518"/>
                    </a:xfrm>
                    <a:grpFill/>
                  </p:grpSpPr>
                  <p:sp>
                    <p:nvSpPr>
                      <p:cNvPr id="415" name="Diamond 41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6" name="Diamond 41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7" name="Diamond 41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11" name="Group 410"/>
                    <p:cNvGrpSpPr/>
                    <p:nvPr/>
                  </p:nvGrpSpPr>
                  <p:grpSpPr>
                    <a:xfrm>
                      <a:off x="6702424" y="1533144"/>
                      <a:ext cx="516548" cy="588518"/>
                      <a:chOff x="6238874" y="1037844"/>
                      <a:chExt cx="516548" cy="588518"/>
                    </a:xfrm>
                    <a:grpFill/>
                  </p:grpSpPr>
                  <p:sp>
                    <p:nvSpPr>
                      <p:cNvPr id="412" name="Diamond 41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3" name="Diamond 41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4" name="Diamond 41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83" name="Group 382"/>
                  <p:cNvGrpSpPr/>
                  <p:nvPr/>
                </p:nvGrpSpPr>
                <p:grpSpPr>
                  <a:xfrm>
                    <a:off x="6543674" y="1644269"/>
                    <a:ext cx="827698" cy="629793"/>
                    <a:chOff x="6391274" y="1491869"/>
                    <a:chExt cx="827698" cy="629793"/>
                  </a:xfrm>
                  <a:grpFill/>
                </p:grpSpPr>
                <p:grpSp>
                  <p:nvGrpSpPr>
                    <p:cNvPr id="402" name="Group 401"/>
                    <p:cNvGrpSpPr/>
                    <p:nvPr/>
                  </p:nvGrpSpPr>
                  <p:grpSpPr>
                    <a:xfrm>
                      <a:off x="6391274" y="1491869"/>
                      <a:ext cx="516548" cy="588518"/>
                      <a:chOff x="6238874" y="1037844"/>
                      <a:chExt cx="516548" cy="588518"/>
                    </a:xfrm>
                    <a:grpFill/>
                  </p:grpSpPr>
                  <p:sp>
                    <p:nvSpPr>
                      <p:cNvPr id="407" name="Diamond 40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8" name="Diamond 40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9" name="Diamond 40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403" name="Group 402"/>
                    <p:cNvGrpSpPr/>
                    <p:nvPr/>
                  </p:nvGrpSpPr>
                  <p:grpSpPr>
                    <a:xfrm>
                      <a:off x="6702424" y="1533144"/>
                      <a:ext cx="516548" cy="588518"/>
                      <a:chOff x="6238874" y="1037844"/>
                      <a:chExt cx="516548" cy="588518"/>
                    </a:xfrm>
                    <a:grpFill/>
                  </p:grpSpPr>
                  <p:sp>
                    <p:nvSpPr>
                      <p:cNvPr id="404" name="Diamond 40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5" name="Diamond 40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6" name="Diamond 40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84" name="Group 383"/>
                  <p:cNvGrpSpPr/>
                  <p:nvPr/>
                </p:nvGrpSpPr>
                <p:grpSpPr>
                  <a:xfrm>
                    <a:off x="6036773" y="2595308"/>
                    <a:ext cx="827698" cy="629793"/>
                    <a:chOff x="6391274" y="1491869"/>
                    <a:chExt cx="827698" cy="629793"/>
                  </a:xfrm>
                  <a:grpFill/>
                </p:grpSpPr>
                <p:grpSp>
                  <p:nvGrpSpPr>
                    <p:cNvPr id="394" name="Group 393"/>
                    <p:cNvGrpSpPr/>
                    <p:nvPr/>
                  </p:nvGrpSpPr>
                  <p:grpSpPr>
                    <a:xfrm>
                      <a:off x="6391274" y="1491869"/>
                      <a:ext cx="516548" cy="588518"/>
                      <a:chOff x="6238874" y="1037844"/>
                      <a:chExt cx="516548" cy="588518"/>
                    </a:xfrm>
                    <a:grpFill/>
                  </p:grpSpPr>
                  <p:sp>
                    <p:nvSpPr>
                      <p:cNvPr id="399" name="Diamond 39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0" name="Diamond 39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1" name="Diamond 40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95" name="Group 394"/>
                    <p:cNvGrpSpPr/>
                    <p:nvPr/>
                  </p:nvGrpSpPr>
                  <p:grpSpPr>
                    <a:xfrm>
                      <a:off x="6702424" y="1533144"/>
                      <a:ext cx="516548" cy="588518"/>
                      <a:chOff x="6238874" y="1037844"/>
                      <a:chExt cx="516548" cy="588518"/>
                    </a:xfrm>
                    <a:grpFill/>
                  </p:grpSpPr>
                  <p:sp>
                    <p:nvSpPr>
                      <p:cNvPr id="396" name="Diamond 39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7" name="Diamond 39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8" name="Diamond 39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85" name="Group 384"/>
                  <p:cNvGrpSpPr/>
                  <p:nvPr/>
                </p:nvGrpSpPr>
                <p:grpSpPr>
                  <a:xfrm>
                    <a:off x="5472722" y="2206053"/>
                    <a:ext cx="827698" cy="629793"/>
                    <a:chOff x="6391274" y="1491869"/>
                    <a:chExt cx="827698" cy="629793"/>
                  </a:xfrm>
                  <a:grpFill/>
                </p:grpSpPr>
                <p:grpSp>
                  <p:nvGrpSpPr>
                    <p:cNvPr id="386" name="Group 385"/>
                    <p:cNvGrpSpPr/>
                    <p:nvPr/>
                  </p:nvGrpSpPr>
                  <p:grpSpPr>
                    <a:xfrm>
                      <a:off x="6391274" y="1491869"/>
                      <a:ext cx="516548" cy="588518"/>
                      <a:chOff x="6238874" y="1037844"/>
                      <a:chExt cx="516548" cy="588518"/>
                    </a:xfrm>
                    <a:grpFill/>
                  </p:grpSpPr>
                  <p:sp>
                    <p:nvSpPr>
                      <p:cNvPr id="391" name="Diamond 39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2" name="Diamond 39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3" name="Diamond 39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87" name="Group 386"/>
                    <p:cNvGrpSpPr/>
                    <p:nvPr/>
                  </p:nvGrpSpPr>
                  <p:grpSpPr>
                    <a:xfrm>
                      <a:off x="6702424" y="1533144"/>
                      <a:ext cx="516548" cy="588518"/>
                      <a:chOff x="6238874" y="1037844"/>
                      <a:chExt cx="516548" cy="588518"/>
                    </a:xfrm>
                    <a:grpFill/>
                  </p:grpSpPr>
                  <p:sp>
                    <p:nvSpPr>
                      <p:cNvPr id="388" name="Diamond 38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9" name="Diamond 38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0" name="Diamond 38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nvGrpSpPr>
              <p:cNvPr id="323" name="Group 322"/>
              <p:cNvGrpSpPr/>
              <p:nvPr/>
            </p:nvGrpSpPr>
            <p:grpSpPr>
              <a:xfrm>
                <a:off x="5831375" y="3740308"/>
                <a:ext cx="2415198" cy="2187257"/>
                <a:chOff x="4987924" y="894969"/>
                <a:chExt cx="2415198" cy="2187257"/>
              </a:xfrm>
            </p:grpSpPr>
            <p:grpSp>
              <p:nvGrpSpPr>
                <p:cNvPr id="324" name="Group 323"/>
                <p:cNvGrpSpPr/>
                <p:nvPr/>
              </p:nvGrpSpPr>
              <p:grpSpPr>
                <a:xfrm>
                  <a:off x="6550024" y="1079119"/>
                  <a:ext cx="516548" cy="588518"/>
                  <a:chOff x="6238874" y="1037844"/>
                  <a:chExt cx="516548" cy="588518"/>
                </a:xfrm>
                <a:solidFill>
                  <a:srgbClr val="F79646"/>
                </a:solidFill>
              </p:grpSpPr>
              <p:sp>
                <p:nvSpPr>
                  <p:cNvPr id="375" name="Diamond 37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6" name="Diamond 37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7" name="Diamond 37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25" name="Group 324"/>
                <p:cNvGrpSpPr/>
                <p:nvPr/>
              </p:nvGrpSpPr>
              <p:grpSpPr>
                <a:xfrm>
                  <a:off x="4987924" y="894969"/>
                  <a:ext cx="2415198" cy="2187257"/>
                  <a:chOff x="4956174" y="1037844"/>
                  <a:chExt cx="2415198" cy="2187257"/>
                </a:xfrm>
                <a:solidFill>
                  <a:schemeClr val="accent6"/>
                </a:solidFill>
              </p:grpSpPr>
              <p:grpSp>
                <p:nvGrpSpPr>
                  <p:cNvPr id="326" name="Group 325"/>
                  <p:cNvGrpSpPr/>
                  <p:nvPr/>
                </p:nvGrpSpPr>
                <p:grpSpPr>
                  <a:xfrm>
                    <a:off x="6238874" y="1037844"/>
                    <a:ext cx="516548" cy="588518"/>
                    <a:chOff x="6238874" y="1037844"/>
                    <a:chExt cx="516548" cy="588518"/>
                  </a:xfrm>
                  <a:grpFill/>
                </p:grpSpPr>
                <p:sp>
                  <p:nvSpPr>
                    <p:cNvPr id="372" name="Diamond 37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3" name="Diamond 37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4" name="Diamond 37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27" name="Group 326"/>
                  <p:cNvGrpSpPr/>
                  <p:nvPr/>
                </p:nvGrpSpPr>
                <p:grpSpPr>
                  <a:xfrm>
                    <a:off x="5565773" y="1667637"/>
                    <a:ext cx="827698" cy="629793"/>
                    <a:chOff x="6391274" y="1491869"/>
                    <a:chExt cx="827698" cy="629793"/>
                  </a:xfrm>
                  <a:grpFill/>
                </p:grpSpPr>
                <p:grpSp>
                  <p:nvGrpSpPr>
                    <p:cNvPr id="364" name="Group 363"/>
                    <p:cNvGrpSpPr/>
                    <p:nvPr/>
                  </p:nvGrpSpPr>
                  <p:grpSpPr>
                    <a:xfrm>
                      <a:off x="6391274" y="1491869"/>
                      <a:ext cx="516548" cy="588518"/>
                      <a:chOff x="6238874" y="1037844"/>
                      <a:chExt cx="516548" cy="588518"/>
                    </a:xfrm>
                    <a:grpFill/>
                  </p:grpSpPr>
                  <p:sp>
                    <p:nvSpPr>
                      <p:cNvPr id="369" name="Diamond 368"/>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0" name="Diamond 369"/>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1" name="Diamond 370"/>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65" name="Group 364"/>
                    <p:cNvGrpSpPr/>
                    <p:nvPr/>
                  </p:nvGrpSpPr>
                  <p:grpSpPr>
                    <a:xfrm>
                      <a:off x="6702424" y="1533144"/>
                      <a:ext cx="516548" cy="588518"/>
                      <a:chOff x="6238874" y="1037844"/>
                      <a:chExt cx="516548" cy="588518"/>
                    </a:xfrm>
                    <a:grpFill/>
                  </p:grpSpPr>
                  <p:sp>
                    <p:nvSpPr>
                      <p:cNvPr id="366" name="Diamond 365"/>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7" name="Diamond 366"/>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8" name="Diamond 367"/>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28" name="Group 327"/>
                  <p:cNvGrpSpPr/>
                  <p:nvPr/>
                </p:nvGrpSpPr>
                <p:grpSpPr>
                  <a:xfrm>
                    <a:off x="4956174" y="1311465"/>
                    <a:ext cx="827698" cy="629793"/>
                    <a:chOff x="6391274" y="1491869"/>
                    <a:chExt cx="827698" cy="629793"/>
                  </a:xfrm>
                  <a:grpFill/>
                </p:grpSpPr>
                <p:grpSp>
                  <p:nvGrpSpPr>
                    <p:cNvPr id="356" name="Group 355"/>
                    <p:cNvGrpSpPr/>
                    <p:nvPr/>
                  </p:nvGrpSpPr>
                  <p:grpSpPr>
                    <a:xfrm>
                      <a:off x="6391274" y="1491869"/>
                      <a:ext cx="516548" cy="588518"/>
                      <a:chOff x="6238874" y="1037844"/>
                      <a:chExt cx="516548" cy="588518"/>
                    </a:xfrm>
                    <a:grpFill/>
                  </p:grpSpPr>
                  <p:sp>
                    <p:nvSpPr>
                      <p:cNvPr id="361" name="Diamond 360"/>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2" name="Diamond 361"/>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3" name="Diamond 362"/>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57" name="Group 356"/>
                    <p:cNvGrpSpPr/>
                    <p:nvPr/>
                  </p:nvGrpSpPr>
                  <p:grpSpPr>
                    <a:xfrm>
                      <a:off x="6702424" y="1533144"/>
                      <a:ext cx="516548" cy="588518"/>
                      <a:chOff x="6238874" y="1037844"/>
                      <a:chExt cx="516548" cy="588518"/>
                    </a:xfrm>
                    <a:grpFill/>
                  </p:grpSpPr>
                  <p:sp>
                    <p:nvSpPr>
                      <p:cNvPr id="358" name="Diamond 357"/>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9" name="Diamond 358"/>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0" name="Diamond 359"/>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29" name="Group 328"/>
                  <p:cNvGrpSpPr/>
                  <p:nvPr/>
                </p:nvGrpSpPr>
                <p:grpSpPr>
                  <a:xfrm>
                    <a:off x="6543674" y="1644269"/>
                    <a:ext cx="827698" cy="629793"/>
                    <a:chOff x="6391274" y="1491869"/>
                    <a:chExt cx="827698" cy="629793"/>
                  </a:xfrm>
                  <a:grpFill/>
                </p:grpSpPr>
                <p:grpSp>
                  <p:nvGrpSpPr>
                    <p:cNvPr id="348" name="Group 347"/>
                    <p:cNvGrpSpPr/>
                    <p:nvPr/>
                  </p:nvGrpSpPr>
                  <p:grpSpPr>
                    <a:xfrm>
                      <a:off x="6391274" y="1491869"/>
                      <a:ext cx="516548" cy="588518"/>
                      <a:chOff x="6238874" y="1037844"/>
                      <a:chExt cx="516548" cy="588518"/>
                    </a:xfrm>
                    <a:grpFill/>
                  </p:grpSpPr>
                  <p:sp>
                    <p:nvSpPr>
                      <p:cNvPr id="353" name="Diamond 352"/>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4" name="Diamond 353"/>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5" name="Diamond 354"/>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49" name="Group 348"/>
                    <p:cNvGrpSpPr/>
                    <p:nvPr/>
                  </p:nvGrpSpPr>
                  <p:grpSpPr>
                    <a:xfrm>
                      <a:off x="6702424" y="1533144"/>
                      <a:ext cx="516548" cy="588518"/>
                      <a:chOff x="6238874" y="1037844"/>
                      <a:chExt cx="516548" cy="588518"/>
                    </a:xfrm>
                    <a:grpFill/>
                  </p:grpSpPr>
                  <p:sp>
                    <p:nvSpPr>
                      <p:cNvPr id="350" name="Diamond 349"/>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1" name="Diamond 350"/>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2" name="Diamond 351"/>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30" name="Group 329"/>
                  <p:cNvGrpSpPr/>
                  <p:nvPr/>
                </p:nvGrpSpPr>
                <p:grpSpPr>
                  <a:xfrm>
                    <a:off x="6036773" y="2595308"/>
                    <a:ext cx="827698" cy="629793"/>
                    <a:chOff x="6391274" y="1491869"/>
                    <a:chExt cx="827698" cy="629793"/>
                  </a:xfrm>
                  <a:grpFill/>
                </p:grpSpPr>
                <p:grpSp>
                  <p:nvGrpSpPr>
                    <p:cNvPr id="340" name="Group 339"/>
                    <p:cNvGrpSpPr/>
                    <p:nvPr/>
                  </p:nvGrpSpPr>
                  <p:grpSpPr>
                    <a:xfrm>
                      <a:off x="6391274" y="1491869"/>
                      <a:ext cx="516548" cy="588518"/>
                      <a:chOff x="6238874" y="1037844"/>
                      <a:chExt cx="516548" cy="588518"/>
                    </a:xfrm>
                    <a:grpFill/>
                  </p:grpSpPr>
                  <p:sp>
                    <p:nvSpPr>
                      <p:cNvPr id="345" name="Diamond 344"/>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6" name="Diamond 345"/>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7" name="Diamond 346"/>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41" name="Group 340"/>
                    <p:cNvGrpSpPr/>
                    <p:nvPr/>
                  </p:nvGrpSpPr>
                  <p:grpSpPr>
                    <a:xfrm>
                      <a:off x="6702424" y="1533144"/>
                      <a:ext cx="516548" cy="588518"/>
                      <a:chOff x="6238874" y="1037844"/>
                      <a:chExt cx="516548" cy="588518"/>
                    </a:xfrm>
                    <a:grpFill/>
                  </p:grpSpPr>
                  <p:sp>
                    <p:nvSpPr>
                      <p:cNvPr id="342" name="Diamond 341"/>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3" name="Diamond 342"/>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4" name="Diamond 343"/>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nvGrpSpPr>
                  <p:cNvPr id="331" name="Group 330"/>
                  <p:cNvGrpSpPr/>
                  <p:nvPr/>
                </p:nvGrpSpPr>
                <p:grpSpPr>
                  <a:xfrm>
                    <a:off x="5472722" y="2206053"/>
                    <a:ext cx="827698" cy="629793"/>
                    <a:chOff x="6391274" y="1491869"/>
                    <a:chExt cx="827698" cy="629793"/>
                  </a:xfrm>
                  <a:grpFill/>
                </p:grpSpPr>
                <p:grpSp>
                  <p:nvGrpSpPr>
                    <p:cNvPr id="332" name="Group 331"/>
                    <p:cNvGrpSpPr/>
                    <p:nvPr/>
                  </p:nvGrpSpPr>
                  <p:grpSpPr>
                    <a:xfrm>
                      <a:off x="6391274" y="1491869"/>
                      <a:ext cx="516548" cy="588518"/>
                      <a:chOff x="6238874" y="1037844"/>
                      <a:chExt cx="516548" cy="588518"/>
                    </a:xfrm>
                    <a:grpFill/>
                  </p:grpSpPr>
                  <p:sp>
                    <p:nvSpPr>
                      <p:cNvPr id="337" name="Diamond 336"/>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8" name="Diamond 337"/>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9" name="Diamond 338"/>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333" name="Group 332"/>
                    <p:cNvGrpSpPr/>
                    <p:nvPr/>
                  </p:nvGrpSpPr>
                  <p:grpSpPr>
                    <a:xfrm>
                      <a:off x="6702424" y="1533144"/>
                      <a:ext cx="516548" cy="588518"/>
                      <a:chOff x="6238874" y="1037844"/>
                      <a:chExt cx="516548" cy="588518"/>
                    </a:xfrm>
                    <a:grpFill/>
                  </p:grpSpPr>
                  <p:sp>
                    <p:nvSpPr>
                      <p:cNvPr id="334" name="Diamond 333"/>
                      <p:cNvSpPr>
                        <a:spLocks noChangeAspect="1"/>
                      </p:cNvSpPr>
                      <p:nvPr/>
                    </p:nvSpPr>
                    <p:spPr>
                      <a:xfrm>
                        <a:off x="6238874" y="12636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5" name="Diamond 334"/>
                      <p:cNvSpPr>
                        <a:spLocks noChangeAspect="1"/>
                      </p:cNvSpPr>
                      <p:nvPr/>
                    </p:nvSpPr>
                    <p:spPr>
                      <a:xfrm>
                        <a:off x="6391274" y="1416050"/>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6" name="Diamond 335"/>
                      <p:cNvSpPr>
                        <a:spLocks noChangeAspect="1"/>
                      </p:cNvSpPr>
                      <p:nvPr/>
                    </p:nvSpPr>
                    <p:spPr>
                      <a:xfrm>
                        <a:off x="6543674" y="1037844"/>
                        <a:ext cx="211748" cy="210312"/>
                      </a:xfrm>
                      <a:prstGeom prst="diamond">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grpSp>
          </p:grpSp>
        </p:grpSp>
        <p:cxnSp>
          <p:nvCxnSpPr>
            <p:cNvPr id="306" name="Straight Arrow Connector 305"/>
            <p:cNvCxnSpPr/>
            <p:nvPr/>
          </p:nvCxnSpPr>
          <p:spPr>
            <a:xfrm>
              <a:off x="857798" y="6113017"/>
              <a:ext cx="776079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7" name="Straight Arrow Connector 306"/>
            <p:cNvCxnSpPr/>
            <p:nvPr/>
          </p:nvCxnSpPr>
          <p:spPr>
            <a:xfrm flipV="1">
              <a:off x="932353" y="396876"/>
              <a:ext cx="0" cy="57002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8" name="TextBox 307"/>
            <p:cNvSpPr txBox="1"/>
            <p:nvPr/>
          </p:nvSpPr>
          <p:spPr>
            <a:xfrm>
              <a:off x="8102719" y="6266418"/>
              <a:ext cx="364202" cy="369332"/>
            </a:xfrm>
            <a:prstGeom prst="rect">
              <a:avLst/>
            </a:prstGeom>
            <a:noFill/>
          </p:spPr>
          <p:txBody>
            <a:bodyPr wrap="none" rtlCol="0">
              <a:spAutoFit/>
            </a:bodyPr>
            <a:lstStyle/>
            <a:p>
              <a:r>
                <a:rPr lang="en-US" dirty="0"/>
                <a:t>x</a:t>
              </a:r>
              <a:r>
                <a:rPr lang="en-US" baseline="-25000" dirty="0"/>
                <a:t>1</a:t>
              </a:r>
              <a:endParaRPr lang="en-US" dirty="0"/>
            </a:p>
          </p:txBody>
        </p:sp>
        <p:sp>
          <p:nvSpPr>
            <p:cNvPr id="309" name="TextBox 308"/>
            <p:cNvSpPr txBox="1"/>
            <p:nvPr/>
          </p:nvSpPr>
          <p:spPr>
            <a:xfrm>
              <a:off x="415237" y="396875"/>
              <a:ext cx="364202" cy="369332"/>
            </a:xfrm>
            <a:prstGeom prst="rect">
              <a:avLst/>
            </a:prstGeom>
            <a:noFill/>
          </p:spPr>
          <p:txBody>
            <a:bodyPr wrap="none" rtlCol="0">
              <a:spAutoFit/>
            </a:bodyPr>
            <a:lstStyle/>
            <a:p>
              <a:r>
                <a:rPr lang="en-US" dirty="0"/>
                <a:t>x</a:t>
              </a:r>
              <a:r>
                <a:rPr lang="en-US" baseline="-25000" dirty="0"/>
                <a:t>2</a:t>
              </a:r>
              <a:endParaRPr lang="en-US" dirty="0"/>
            </a:p>
          </p:txBody>
        </p:sp>
        <p:sp>
          <p:nvSpPr>
            <p:cNvPr id="310" name="Oval 309"/>
            <p:cNvSpPr/>
            <p:nvPr/>
          </p:nvSpPr>
          <p:spPr>
            <a:xfrm>
              <a:off x="2673350" y="1758950"/>
              <a:ext cx="254000" cy="238125"/>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1" name="Rectangle 310"/>
            <p:cNvSpPr>
              <a:spLocks noChangeAspect="1"/>
            </p:cNvSpPr>
            <p:nvPr/>
          </p:nvSpPr>
          <p:spPr>
            <a:xfrm>
              <a:off x="3370707" y="4791456"/>
              <a:ext cx="201168" cy="199072"/>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2" name="Diamond 311"/>
            <p:cNvSpPr>
              <a:spLocks noChangeAspect="1"/>
            </p:cNvSpPr>
            <p:nvPr/>
          </p:nvSpPr>
          <p:spPr>
            <a:xfrm>
              <a:off x="6605097" y="3321050"/>
              <a:ext cx="211748" cy="210312"/>
            </a:xfrm>
            <a:prstGeom prst="diamond">
              <a:avLst/>
            </a:prstGeom>
            <a:solidFill>
              <a:srgbClr val="F7964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313" name="Group 312"/>
            <p:cNvGrpSpPr/>
            <p:nvPr/>
          </p:nvGrpSpPr>
          <p:grpSpPr>
            <a:xfrm>
              <a:off x="1049532" y="448326"/>
              <a:ext cx="7776359" cy="3609514"/>
              <a:chOff x="1049532" y="448326"/>
              <a:chExt cx="7776359" cy="3609514"/>
            </a:xfrm>
          </p:grpSpPr>
          <p:sp>
            <p:nvSpPr>
              <p:cNvPr id="318" name="TextBox 317"/>
              <p:cNvSpPr txBox="1"/>
              <p:nvPr/>
            </p:nvSpPr>
            <p:spPr>
              <a:xfrm>
                <a:off x="7879410" y="709375"/>
                <a:ext cx="946481" cy="369332"/>
              </a:xfrm>
              <a:prstGeom prst="rect">
                <a:avLst/>
              </a:prstGeom>
              <a:noFill/>
            </p:spPr>
            <p:txBody>
              <a:bodyPr wrap="none" rtlCol="0">
                <a:spAutoFit/>
              </a:bodyPr>
              <a:lstStyle/>
              <a:p>
                <a:r>
                  <a:rPr lang="en-US" dirty="0"/>
                  <a:t>Region1</a:t>
                </a:r>
              </a:p>
            </p:txBody>
          </p:sp>
          <p:sp>
            <p:nvSpPr>
              <p:cNvPr id="319" name="TextBox 318"/>
              <p:cNvSpPr txBox="1"/>
              <p:nvPr/>
            </p:nvSpPr>
            <p:spPr>
              <a:xfrm>
                <a:off x="3434570" y="448326"/>
                <a:ext cx="946481" cy="369332"/>
              </a:xfrm>
              <a:prstGeom prst="rect">
                <a:avLst/>
              </a:prstGeom>
              <a:noFill/>
            </p:spPr>
            <p:txBody>
              <a:bodyPr wrap="none" rtlCol="0">
                <a:spAutoFit/>
              </a:bodyPr>
              <a:lstStyle/>
              <a:p>
                <a:r>
                  <a:rPr lang="en-US" dirty="0"/>
                  <a:t>Region2</a:t>
                </a:r>
              </a:p>
            </p:txBody>
          </p:sp>
          <p:sp>
            <p:nvSpPr>
              <p:cNvPr id="320" name="TextBox 319"/>
              <p:cNvSpPr txBox="1"/>
              <p:nvPr/>
            </p:nvSpPr>
            <p:spPr>
              <a:xfrm>
                <a:off x="1049532" y="3688508"/>
                <a:ext cx="946481" cy="369332"/>
              </a:xfrm>
              <a:prstGeom prst="rect">
                <a:avLst/>
              </a:prstGeom>
              <a:noFill/>
            </p:spPr>
            <p:txBody>
              <a:bodyPr wrap="none" rtlCol="0">
                <a:spAutoFit/>
              </a:bodyPr>
              <a:lstStyle/>
              <a:p>
                <a:r>
                  <a:rPr lang="en-US" dirty="0"/>
                  <a:t>Region3</a:t>
                </a:r>
              </a:p>
            </p:txBody>
          </p:sp>
        </p:grpSp>
        <p:grpSp>
          <p:nvGrpSpPr>
            <p:cNvPr id="314" name="Group 313"/>
            <p:cNvGrpSpPr/>
            <p:nvPr/>
          </p:nvGrpSpPr>
          <p:grpSpPr>
            <a:xfrm>
              <a:off x="2849197" y="1457849"/>
              <a:ext cx="4261674" cy="3016551"/>
              <a:chOff x="2849197" y="1457849"/>
              <a:chExt cx="4261674" cy="3016551"/>
            </a:xfrm>
          </p:grpSpPr>
          <p:sp>
            <p:nvSpPr>
              <p:cNvPr id="315" name="TextBox 314"/>
              <p:cNvSpPr txBox="1"/>
              <p:nvPr/>
            </p:nvSpPr>
            <p:spPr>
              <a:xfrm>
                <a:off x="3043763" y="1457849"/>
                <a:ext cx="696375" cy="369332"/>
              </a:xfrm>
              <a:prstGeom prst="rect">
                <a:avLst/>
              </a:prstGeom>
              <a:noFill/>
            </p:spPr>
            <p:txBody>
              <a:bodyPr wrap="none" rtlCol="0">
                <a:spAutoFit/>
              </a:bodyPr>
              <a:lstStyle/>
              <a:p>
                <a:r>
                  <a:rPr lang="en-US" dirty="0"/>
                  <a:t>y=2.2</a:t>
                </a:r>
              </a:p>
            </p:txBody>
          </p:sp>
          <p:sp>
            <p:nvSpPr>
              <p:cNvPr id="316" name="TextBox 315"/>
              <p:cNvSpPr txBox="1"/>
              <p:nvPr/>
            </p:nvSpPr>
            <p:spPr>
              <a:xfrm>
                <a:off x="6406494" y="2500837"/>
                <a:ext cx="704377" cy="369332"/>
              </a:xfrm>
              <a:prstGeom prst="rect">
                <a:avLst/>
              </a:prstGeom>
              <a:noFill/>
            </p:spPr>
            <p:txBody>
              <a:bodyPr wrap="none" rtlCol="0">
                <a:spAutoFit/>
              </a:bodyPr>
              <a:lstStyle/>
              <a:p>
                <a:r>
                  <a:rPr lang="en-US" dirty="0"/>
                  <a:t>Y=3.2</a:t>
                </a:r>
              </a:p>
            </p:txBody>
          </p:sp>
          <p:sp>
            <p:nvSpPr>
              <p:cNvPr id="317" name="TextBox 316"/>
              <p:cNvSpPr txBox="1"/>
              <p:nvPr/>
            </p:nvSpPr>
            <p:spPr>
              <a:xfrm>
                <a:off x="2849197" y="4105068"/>
                <a:ext cx="696375" cy="369332"/>
              </a:xfrm>
              <a:prstGeom prst="rect">
                <a:avLst/>
              </a:prstGeom>
              <a:noFill/>
            </p:spPr>
            <p:txBody>
              <a:bodyPr wrap="none" rtlCol="0">
                <a:spAutoFit/>
              </a:bodyPr>
              <a:lstStyle/>
              <a:p>
                <a:r>
                  <a:rPr lang="en-US" dirty="0"/>
                  <a:t>y=5.6</a:t>
                </a:r>
              </a:p>
            </p:txBody>
          </p:sp>
        </p:grpSp>
      </p:grpSp>
      <p:sp>
        <p:nvSpPr>
          <p:cNvPr id="601" name="TextBox 600"/>
          <p:cNvSpPr txBox="1"/>
          <p:nvPr/>
        </p:nvSpPr>
        <p:spPr>
          <a:xfrm>
            <a:off x="460921" y="1779263"/>
            <a:ext cx="3908943" cy="830997"/>
          </a:xfrm>
          <a:prstGeom prst="rect">
            <a:avLst/>
          </a:prstGeom>
          <a:noFill/>
        </p:spPr>
        <p:txBody>
          <a:bodyPr wrap="none" rtlCol="0">
            <a:spAutoFit/>
          </a:bodyPr>
          <a:lstStyle/>
          <a:p>
            <a:r>
              <a:rPr lang="en-US" sz="2400" dirty="0"/>
              <a:t>But we choose just rectangles </a:t>
            </a:r>
          </a:p>
          <a:p>
            <a:endParaRPr lang="en-US" sz="2400" dirty="0"/>
          </a:p>
        </p:txBody>
      </p:sp>
    </p:spTree>
    <p:extLst>
      <p:ext uri="{BB962C8B-B14F-4D97-AF65-F5344CB8AC3E}">
        <p14:creationId xmlns:p14="http://schemas.microsoft.com/office/powerpoint/2010/main" val="116298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Binary Splitting</a:t>
            </a:r>
          </a:p>
        </p:txBody>
      </p:sp>
      <p:sp>
        <p:nvSpPr>
          <p:cNvPr id="3" name="Content Placeholder 2"/>
          <p:cNvSpPr>
            <a:spLocks noGrp="1"/>
          </p:cNvSpPr>
          <p:nvPr>
            <p:ph idx="1"/>
          </p:nvPr>
        </p:nvSpPr>
        <p:spPr>
          <a:xfrm>
            <a:off x="372035" y="1454711"/>
            <a:ext cx="8399929" cy="5172251"/>
          </a:xfrm>
        </p:spPr>
        <p:txBody>
          <a:bodyPr>
            <a:normAutofit/>
          </a:bodyPr>
          <a:lstStyle/>
          <a:p>
            <a:r>
              <a:rPr lang="en-US" sz="2400" dirty="0"/>
              <a:t>Consider all predictor </a:t>
            </a:r>
            <a:r>
              <a:rPr lang="en-US" sz="2400" i="1" dirty="0"/>
              <a:t>X</a:t>
            </a:r>
            <a:r>
              <a:rPr lang="en-US" sz="2400" i="1" baseline="-25000" dirty="0"/>
              <a:t>p</a:t>
            </a:r>
            <a:r>
              <a:rPr lang="en-US" sz="2400" baseline="-25000" dirty="0"/>
              <a:t> </a:t>
            </a:r>
            <a:r>
              <a:rPr lang="en-US" sz="2400" dirty="0"/>
              <a:t>and all the possible values of the cutpoints </a:t>
            </a:r>
            <a:r>
              <a:rPr lang="en-US" sz="2400" i="1" dirty="0"/>
              <a:t>s </a:t>
            </a:r>
            <a:r>
              <a:rPr lang="en-US" sz="2400" dirty="0"/>
              <a:t>for each of the predictors. Choose the predictor and cutpoint s.t. it minimizes the RSS(</a:t>
            </a:r>
            <a:r>
              <a:rPr lang="en-CA" sz="2400" dirty="0"/>
              <a:t>Residual sum of squares)</a:t>
            </a: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914400" lvl="1" indent="-457200">
              <a:buFont typeface="+mj-lt"/>
              <a:buAutoNum type="arabicPeriod"/>
            </a:pPr>
            <a:endParaRPr lang="en-US" sz="2400" dirty="0"/>
          </a:p>
          <a:p>
            <a:pPr marL="457200" lvl="1" indent="0">
              <a:buNone/>
            </a:pPr>
            <a:r>
              <a:rPr lang="en-US" sz="2400" dirty="0"/>
              <a:t>This can be done quickly, assuming number of predictors is not very large</a:t>
            </a:r>
          </a:p>
          <a:p>
            <a:pPr marL="457200" indent="-457200">
              <a:buFont typeface="+mj-lt"/>
              <a:buAutoNum type="arabicPeriod"/>
            </a:pPr>
            <a:r>
              <a:rPr lang="en-US" sz="2400" dirty="0"/>
              <a:t>Repeat #1 but only consider the sub-regions</a:t>
            </a:r>
          </a:p>
          <a:p>
            <a:pPr marL="457200" indent="-457200">
              <a:buFont typeface="+mj-lt"/>
              <a:buAutoNum type="arabicPeriod"/>
            </a:pPr>
            <a:r>
              <a:rPr lang="en-US" sz="2400" dirty="0"/>
              <a:t>Stop: node contains only one class, or  node contains less than </a:t>
            </a:r>
            <a:r>
              <a:rPr lang="en-US" sz="2400" i="1" dirty="0"/>
              <a:t>n</a:t>
            </a:r>
            <a:r>
              <a:rPr lang="en-US" sz="2400" dirty="0"/>
              <a:t> data points or max depth is reached</a:t>
            </a:r>
          </a:p>
          <a:p>
            <a:pPr marL="0" indent="0">
              <a:buNone/>
            </a:pPr>
            <a:endParaRPr lang="en-US" sz="2400" dirty="0"/>
          </a:p>
          <a:p>
            <a:pPr marL="0" indent="0">
              <a:buNone/>
            </a:pPr>
            <a:endParaRPr lang="en-US" sz="2400" dirty="0"/>
          </a:p>
          <a:p>
            <a:endParaRPr lang="en-US" sz="2400" i="1" dirty="0"/>
          </a:p>
          <a:p>
            <a:endParaRPr lang="en-US" sz="2400" i="1" dirty="0"/>
          </a:p>
        </p:txBody>
      </p:sp>
      <p:pic>
        <p:nvPicPr>
          <p:cNvPr id="4" name="Picture 3" descr="latex-image-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666" y="2877337"/>
            <a:ext cx="7491236" cy="921668"/>
          </a:xfrm>
          <a:prstGeom prst="rect">
            <a:avLst/>
          </a:prstGeom>
        </p:spPr>
      </p:pic>
    </p:spTree>
    <p:extLst>
      <p:ext uri="{BB962C8B-B14F-4D97-AF65-F5344CB8AC3E}">
        <p14:creationId xmlns:p14="http://schemas.microsoft.com/office/powerpoint/2010/main" val="322872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gressionTree.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0"/>
            <a:ext cx="6764215" cy="6858000"/>
          </a:xfrm>
          <a:prstGeom prst="rect">
            <a:avLst/>
          </a:prstGeom>
        </p:spPr>
      </p:pic>
      <p:sp>
        <p:nvSpPr>
          <p:cNvPr id="5" name="Rectangle 4"/>
          <p:cNvSpPr/>
          <p:nvPr/>
        </p:nvSpPr>
        <p:spPr>
          <a:xfrm>
            <a:off x="983545" y="42333"/>
            <a:ext cx="3471334" cy="300566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51037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Overfitting	</a:t>
            </a:r>
          </a:p>
        </p:txBody>
      </p:sp>
      <p:sp>
        <p:nvSpPr>
          <p:cNvPr id="3" name="Content Placeholder 2"/>
          <p:cNvSpPr>
            <a:spLocks noGrp="1"/>
          </p:cNvSpPr>
          <p:nvPr>
            <p:ph idx="1"/>
          </p:nvPr>
        </p:nvSpPr>
        <p:spPr>
          <a:xfrm>
            <a:off x="457200" y="1417638"/>
            <a:ext cx="8229600" cy="4525963"/>
          </a:xfrm>
        </p:spPr>
        <p:txBody>
          <a:bodyPr>
            <a:normAutofit/>
          </a:bodyPr>
          <a:lstStyle/>
          <a:p>
            <a:pPr marL="0" indent="0">
              <a:buNone/>
            </a:pPr>
            <a:r>
              <a:rPr lang="en-US" sz="2400" dirty="0"/>
              <a:t>If we keep splitting we will be reducing RSS </a:t>
            </a:r>
          </a:p>
        </p:txBody>
      </p:sp>
      <p:pic>
        <p:nvPicPr>
          <p:cNvPr id="4" name="Picture 3" descr="classification-algorithms-on-iris-dataset_48_0.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200" y="2009774"/>
            <a:ext cx="6718300" cy="4665973"/>
          </a:xfrm>
          <a:prstGeom prst="rect">
            <a:avLst/>
          </a:prstGeom>
        </p:spPr>
      </p:pic>
    </p:spTree>
    <p:extLst>
      <p:ext uri="{BB962C8B-B14F-4D97-AF65-F5344CB8AC3E}">
        <p14:creationId xmlns:p14="http://schemas.microsoft.com/office/powerpoint/2010/main" val="399480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Pruning</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Reducing the number of splits or regions in a model leads to lower variance, enhancing interpretability. However, this comes at the expense of introducing a slightly higher bias.</a:t>
            </a:r>
          </a:p>
          <a:p>
            <a:pPr marL="0" indent="0">
              <a:buNone/>
            </a:pPr>
            <a:endParaRPr lang="en-US" dirty="0"/>
          </a:p>
          <a:p>
            <a:pPr marL="0" indent="0">
              <a:buNone/>
            </a:pPr>
            <a:r>
              <a:rPr lang="en-US" dirty="0"/>
              <a:t>Ideas? </a:t>
            </a:r>
          </a:p>
          <a:p>
            <a:pPr marL="0" indent="0">
              <a:buNone/>
            </a:pPr>
            <a:endParaRPr lang="en-US" dirty="0"/>
          </a:p>
          <a:p>
            <a:pPr marL="0" indent="0">
              <a:buNone/>
            </a:pPr>
            <a:r>
              <a:rPr lang="en-US" dirty="0"/>
              <a:t>Stop splitting when RSS improvement is lower than a threshold. </a:t>
            </a:r>
          </a:p>
          <a:p>
            <a:pPr marL="0" indent="0">
              <a:buNone/>
            </a:pPr>
            <a:r>
              <a:rPr lang="en-US" dirty="0"/>
              <a:t>	</a:t>
            </a:r>
          </a:p>
          <a:p>
            <a:endParaRPr lang="en-US" dirty="0"/>
          </a:p>
        </p:txBody>
      </p:sp>
    </p:spTree>
    <p:extLst>
      <p:ext uri="{BB962C8B-B14F-4D97-AF65-F5344CB8AC3E}">
        <p14:creationId xmlns:p14="http://schemas.microsoft.com/office/powerpoint/2010/main" val="2091039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 complexity pruning</a:t>
            </a:r>
          </a:p>
        </p:txBody>
      </p:sp>
      <p:sp>
        <p:nvSpPr>
          <p:cNvPr id="3" name="Content Placeholder 2"/>
          <p:cNvSpPr>
            <a:spLocks noGrp="1"/>
          </p:cNvSpPr>
          <p:nvPr>
            <p:ph idx="1"/>
          </p:nvPr>
        </p:nvSpPr>
        <p:spPr/>
        <p:txBody>
          <a:bodyPr>
            <a:normAutofit fontScale="92500"/>
          </a:bodyPr>
          <a:lstStyle/>
          <a:p>
            <a:pPr marL="0" indent="0">
              <a:buNone/>
            </a:pPr>
            <a:r>
              <a:rPr lang="en-US" sz="2400" dirty="0"/>
              <a:t>Consider a tuning parameter </a:t>
            </a:r>
            <a:r>
              <a:rPr lang="en-US" sz="2400" b="1" dirty="0">
                <a:latin typeface="Symbol" charset="2"/>
                <a:cs typeface="Symbol" charset="2"/>
              </a:rPr>
              <a:t>a</a:t>
            </a:r>
            <a:r>
              <a:rPr lang="en-US" sz="2400" dirty="0">
                <a:latin typeface="Symbol" charset="2"/>
                <a:cs typeface="Symbol" charset="2"/>
              </a:rPr>
              <a:t> </a:t>
            </a:r>
            <a:r>
              <a:rPr lang="en-US" sz="2400" dirty="0">
                <a:cs typeface="Symbol" charset="2"/>
              </a:rPr>
              <a:t>that for each value of </a:t>
            </a:r>
            <a:r>
              <a:rPr lang="en-US" sz="2400" dirty="0">
                <a:latin typeface="Symbol" charset="2"/>
                <a:cs typeface="Symbol" charset="2"/>
              </a:rPr>
              <a:t> </a:t>
            </a:r>
            <a:r>
              <a:rPr lang="en-US" sz="2400" b="1" dirty="0">
                <a:latin typeface="Symbol" charset="2"/>
                <a:cs typeface="Symbol" charset="2"/>
              </a:rPr>
              <a:t>a</a:t>
            </a:r>
            <a:r>
              <a:rPr lang="en-US" sz="2400" dirty="0">
                <a:latin typeface="Symbol" charset="2"/>
                <a:cs typeface="Symbol" charset="2"/>
              </a:rPr>
              <a:t> </a:t>
            </a:r>
            <a:r>
              <a:rPr lang="en-US" sz="2400" dirty="0">
                <a:cs typeface="Symbol" charset="2"/>
              </a:rPr>
              <a:t>there is a subtree that minimizes </a:t>
            </a:r>
          </a:p>
          <a:p>
            <a:pPr marL="0" indent="0">
              <a:buNone/>
            </a:pPr>
            <a:endParaRPr lang="en-US" sz="2400" dirty="0">
              <a:latin typeface="Symbol" charset="2"/>
              <a:cs typeface="Symbol" charset="2"/>
            </a:endParaRPr>
          </a:p>
          <a:p>
            <a:pPr marL="0" indent="0">
              <a:buNone/>
            </a:pPr>
            <a:endParaRPr lang="en-US" sz="2400" dirty="0">
              <a:latin typeface="Symbol" charset="2"/>
              <a:cs typeface="Symbol" charset="2"/>
            </a:endParaRPr>
          </a:p>
          <a:p>
            <a:pPr marL="0" indent="0">
              <a:buNone/>
            </a:pPr>
            <a:endParaRPr lang="en-US" sz="2400" dirty="0">
              <a:latin typeface="Symbol" charset="2"/>
              <a:cs typeface="Symbol" charset="2"/>
            </a:endParaRPr>
          </a:p>
          <a:p>
            <a:pPr marL="0" indent="0">
              <a:buNone/>
            </a:pPr>
            <a:r>
              <a:rPr lang="en-US" sz="2400" dirty="0">
                <a:cs typeface="Symbol" charset="2"/>
              </a:rPr>
              <a:t>Where </a:t>
            </a:r>
            <a:r>
              <a:rPr lang="en-US" sz="2400" dirty="0">
                <a:solidFill>
                  <a:srgbClr val="FF0000"/>
                </a:solidFill>
                <a:cs typeface="Symbol" charset="2"/>
              </a:rPr>
              <a:t>|T| </a:t>
            </a:r>
            <a:r>
              <a:rPr lang="en-US" sz="2400" dirty="0">
                <a:cs typeface="Symbol" charset="2"/>
              </a:rPr>
              <a:t>is the number of terminal nodes. </a:t>
            </a:r>
            <a:r>
              <a:rPr lang="en-US" sz="2400" dirty="0">
                <a:solidFill>
                  <a:srgbClr val="FF0000"/>
                </a:solidFill>
                <a:latin typeface="Symbol" charset="2"/>
                <a:cs typeface="Symbol" charset="2"/>
              </a:rPr>
              <a:t>a</a:t>
            </a:r>
            <a:r>
              <a:rPr lang="en-US" sz="2400" dirty="0">
                <a:latin typeface="Symbol" charset="2"/>
                <a:cs typeface="Symbol" charset="2"/>
              </a:rPr>
              <a:t> </a:t>
            </a:r>
            <a:r>
              <a:rPr lang="en-US" sz="2400" dirty="0">
                <a:cs typeface="Symbol" charset="2"/>
              </a:rPr>
              <a:t>controls the complexity of the tree similarly we saw with other regularizations (e.g. LASSO). </a:t>
            </a:r>
          </a:p>
          <a:p>
            <a:pPr marL="0" indent="0">
              <a:buNone/>
            </a:pPr>
            <a:endParaRPr lang="en-US" sz="2400" dirty="0">
              <a:cs typeface="Symbol" charset="2"/>
            </a:endParaRPr>
          </a:p>
          <a:p>
            <a:pPr marL="0" indent="0">
              <a:buNone/>
            </a:pPr>
            <a:r>
              <a:rPr lang="en-US" sz="2400" dirty="0"/>
              <a:t>It turns out that as we increase α from zero in, branches get pruned from the tree in a nested and predictable fashion, so obtaining the whole sequence of subtrees as a function of α is easy. </a:t>
            </a:r>
            <a:endParaRPr lang="en-US" sz="2400" dirty="0">
              <a:cs typeface="Symbol" charset="2"/>
            </a:endParaRPr>
          </a:p>
        </p:txBody>
      </p:sp>
      <p:pic>
        <p:nvPicPr>
          <p:cNvPr id="5" name="Picture 4" descr="latex-image-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473" y="2359554"/>
            <a:ext cx="4900083" cy="1191065"/>
          </a:xfrm>
          <a:prstGeom prst="rect">
            <a:avLst/>
          </a:prstGeom>
        </p:spPr>
      </p:pic>
      <p:sp>
        <p:nvSpPr>
          <p:cNvPr id="6" name="TextBox 5"/>
          <p:cNvSpPr txBox="1"/>
          <p:nvPr/>
        </p:nvSpPr>
        <p:spPr>
          <a:xfrm>
            <a:off x="4360333" y="1792111"/>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981180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05089"/>
            <a:ext cx="8229600" cy="5088467"/>
          </a:xfrm>
        </p:spPr>
        <p:txBody>
          <a:bodyPr>
            <a:normAutofit/>
          </a:bodyPr>
          <a:lstStyle/>
          <a:p>
            <a:pPr marL="457200" indent="-457200">
              <a:buAutoNum type="arabicPeriod"/>
            </a:pPr>
            <a:r>
              <a:rPr lang="en-US" sz="2400" dirty="0"/>
              <a:t>Use recursive binary splitting to grow a large tree on the training data, stopping only when each terminal node has fewer than some </a:t>
            </a:r>
            <a:r>
              <a:rPr lang="en-US" sz="2400" dirty="0">
                <a:solidFill>
                  <a:srgbClr val="FF0000"/>
                </a:solidFill>
              </a:rPr>
              <a:t>minimum number of observations </a:t>
            </a:r>
          </a:p>
          <a:p>
            <a:pPr marL="457200" indent="-457200">
              <a:buFont typeface="Arial"/>
              <a:buAutoNum type="arabicPeriod"/>
            </a:pPr>
            <a:r>
              <a:rPr lang="en-US" sz="2400" dirty="0"/>
              <a:t>Apply cost complexity pruning to the large tree in order to obtain a sequence of best subtrees, as a function of α </a:t>
            </a:r>
          </a:p>
          <a:p>
            <a:pPr marL="457200" indent="-457200">
              <a:buFont typeface="Arial"/>
              <a:buAutoNum type="arabicPeriod"/>
            </a:pPr>
            <a:r>
              <a:rPr lang="en-US" sz="2400" dirty="0"/>
              <a:t>Use K-fold cross-validation to choose α</a:t>
            </a:r>
          </a:p>
          <a:p>
            <a:pPr marL="857250" lvl="1" indent="-457200"/>
            <a:r>
              <a:rPr lang="en-US" sz="2000" dirty="0"/>
              <a:t>Repeat #1 and #2 on the k-th fold</a:t>
            </a:r>
          </a:p>
          <a:p>
            <a:pPr marL="857250" lvl="1" indent="-457200"/>
            <a:r>
              <a:rPr lang="en-US" sz="2000" dirty="0"/>
              <a:t>Estimate the MSE as a function of α</a:t>
            </a:r>
          </a:p>
          <a:p>
            <a:pPr marL="400050" lvl="1" indent="0">
              <a:buNone/>
            </a:pPr>
            <a:r>
              <a:rPr lang="en-US" sz="2000" dirty="0"/>
              <a:t>Average all and pick α </a:t>
            </a:r>
          </a:p>
          <a:p>
            <a:pPr marL="457200" indent="-457200">
              <a:buFont typeface="Arial"/>
              <a:buAutoNum type="arabicPeriod"/>
            </a:pPr>
            <a:r>
              <a:rPr lang="en-US" sz="2400" dirty="0"/>
              <a:t>Return the subtree from Step 2 that corresponds to the chosen value of α</a:t>
            </a:r>
          </a:p>
        </p:txBody>
      </p:sp>
      <p:sp>
        <p:nvSpPr>
          <p:cNvPr id="4" name="TextBox 3"/>
          <p:cNvSpPr txBox="1"/>
          <p:nvPr/>
        </p:nvSpPr>
        <p:spPr>
          <a:xfrm>
            <a:off x="457200" y="563223"/>
            <a:ext cx="3659926" cy="461665"/>
          </a:xfrm>
          <a:prstGeom prst="rect">
            <a:avLst/>
          </a:prstGeom>
          <a:noFill/>
          <a:ln w="28575" cmpd="sng">
            <a:solidFill>
              <a:schemeClr val="accent2"/>
            </a:solidFill>
          </a:ln>
        </p:spPr>
        <p:txBody>
          <a:bodyPr wrap="none" rtlCol="0">
            <a:spAutoFit/>
          </a:bodyPr>
          <a:lstStyle/>
          <a:p>
            <a:r>
              <a:rPr lang="en-US" sz="2400" b="1" dirty="0"/>
              <a:t>ALGORITHM FOR PRUNING </a:t>
            </a:r>
          </a:p>
        </p:txBody>
      </p:sp>
    </p:spTree>
    <p:extLst>
      <p:ext uri="{BB962C8B-B14F-4D97-AF65-F5344CB8AC3E}">
        <p14:creationId xmlns:p14="http://schemas.microsoft.com/office/powerpoint/2010/main" val="2643386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tree-based methods</a:t>
            </a:r>
          </a:p>
        </p:txBody>
      </p:sp>
      <p:sp>
        <p:nvSpPr>
          <p:cNvPr id="3" name="Content Placeholder 2"/>
          <p:cNvSpPr>
            <a:spLocks noGrp="1"/>
          </p:cNvSpPr>
          <p:nvPr>
            <p:ph idx="1"/>
          </p:nvPr>
        </p:nvSpPr>
        <p:spPr/>
        <p:txBody>
          <a:bodyPr/>
          <a:lstStyle/>
          <a:p>
            <a:pPr>
              <a:spcAft>
                <a:spcPts val="1200"/>
              </a:spcAft>
            </a:pPr>
            <a:r>
              <a:rPr lang="en-US" dirty="0"/>
              <a:t>Easy to explain</a:t>
            </a:r>
          </a:p>
          <a:p>
            <a:pPr>
              <a:spcAft>
                <a:spcPts val="1200"/>
              </a:spcAft>
            </a:pPr>
            <a:r>
              <a:rPr lang="en-US" dirty="0"/>
              <a:t>Handle qualitative predictors</a:t>
            </a:r>
          </a:p>
          <a:p>
            <a:pPr>
              <a:spcAft>
                <a:spcPts val="1200"/>
              </a:spcAft>
            </a:pPr>
            <a:r>
              <a:rPr lang="en-US" dirty="0"/>
              <a:t>Display graphically and easy to interpret</a:t>
            </a:r>
          </a:p>
          <a:p>
            <a:pPr>
              <a:spcAft>
                <a:spcPts val="1200"/>
              </a:spcAft>
            </a:pPr>
            <a:r>
              <a:rPr lang="en-US" dirty="0"/>
              <a:t>More similar to human decision making</a:t>
            </a:r>
          </a:p>
        </p:txBody>
      </p:sp>
    </p:spTree>
    <p:extLst>
      <p:ext uri="{BB962C8B-B14F-4D97-AF65-F5344CB8AC3E}">
        <p14:creationId xmlns:p14="http://schemas.microsoft.com/office/powerpoint/2010/main" val="41566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a:t>
            </a:r>
          </a:p>
        </p:txBody>
      </p:sp>
      <p:sp>
        <p:nvSpPr>
          <p:cNvPr id="3" name="Content Placeholder 2"/>
          <p:cNvSpPr>
            <a:spLocks noGrp="1"/>
          </p:cNvSpPr>
          <p:nvPr>
            <p:ph idx="1"/>
          </p:nvPr>
        </p:nvSpPr>
        <p:spPr/>
        <p:txBody>
          <a:bodyPr>
            <a:normAutofit/>
          </a:bodyPr>
          <a:lstStyle/>
          <a:p>
            <a:pPr>
              <a:spcAft>
                <a:spcPts val="1200"/>
              </a:spcAft>
            </a:pPr>
            <a:r>
              <a:rPr lang="en-US" dirty="0"/>
              <a:t>Non robust. Sensitive to small changes in the data</a:t>
            </a:r>
          </a:p>
          <a:p>
            <a:pPr>
              <a:spcAft>
                <a:spcPts val="1200"/>
              </a:spcAft>
            </a:pPr>
            <a:r>
              <a:rPr lang="en-US" dirty="0"/>
              <a:t>Trees generally do not have the same level of predictive accuracy as some of the other regression and classification approaches, we have seen </a:t>
            </a:r>
          </a:p>
          <a:p>
            <a:pPr>
              <a:spcAft>
                <a:spcPts val="1200"/>
              </a:spcAft>
            </a:pPr>
            <a:r>
              <a:rPr lang="en-US" dirty="0"/>
              <a:t>Only axis aligned splits</a:t>
            </a:r>
          </a:p>
          <a:p>
            <a:pPr marL="0" indent="0">
              <a:spcAft>
                <a:spcPts val="1200"/>
              </a:spcAft>
              <a:buNone/>
            </a:pPr>
            <a:endParaRPr lang="en-US" dirty="0"/>
          </a:p>
          <a:p>
            <a:pPr marL="0" indent="0">
              <a:buNone/>
            </a:pPr>
            <a:endParaRPr lang="en-US" sz="2800" dirty="0"/>
          </a:p>
        </p:txBody>
      </p:sp>
    </p:spTree>
    <p:extLst>
      <p:ext uri="{BB962C8B-B14F-4D97-AF65-F5344CB8AC3E}">
        <p14:creationId xmlns:p14="http://schemas.microsoft.com/office/powerpoint/2010/main" val="172835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6"/>
            <a:ext cx="8229600" cy="1143000"/>
          </a:xfrm>
        </p:spPr>
        <p:txBody>
          <a:bodyPr/>
          <a:lstStyle/>
          <a:p>
            <a:r>
              <a:rPr lang="en-US" dirty="0"/>
              <a:t>Power of the crowds</a:t>
            </a:r>
          </a:p>
        </p:txBody>
      </p:sp>
      <p:sp>
        <p:nvSpPr>
          <p:cNvPr id="3" name="Content Placeholder 2"/>
          <p:cNvSpPr>
            <a:spLocks noGrp="1"/>
          </p:cNvSpPr>
          <p:nvPr>
            <p:ph idx="1"/>
          </p:nvPr>
        </p:nvSpPr>
        <p:spPr/>
        <p:txBody>
          <a:bodyPr/>
          <a:lstStyle/>
          <a:p>
            <a:r>
              <a:rPr lang="en-US" dirty="0"/>
              <a:t>Wisdom of the crowds</a:t>
            </a:r>
          </a:p>
          <a:p>
            <a:endParaRPr lang="en-US" dirty="0"/>
          </a:p>
          <a:p>
            <a:endParaRPr lang="en-US" dirty="0"/>
          </a:p>
        </p:txBody>
      </p:sp>
      <p:pic>
        <p:nvPicPr>
          <p:cNvPr id="4" name="Picture 3" descr="Powerofmany.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181781"/>
            <a:ext cx="8255000" cy="5296421"/>
          </a:xfrm>
          <a:prstGeom prst="rect">
            <a:avLst/>
          </a:prstGeom>
        </p:spPr>
      </p:pic>
      <p:sp>
        <p:nvSpPr>
          <p:cNvPr id="5" name="TextBox 4"/>
          <p:cNvSpPr txBox="1"/>
          <p:nvPr/>
        </p:nvSpPr>
        <p:spPr>
          <a:xfrm>
            <a:off x="0" y="6524954"/>
            <a:ext cx="8815234" cy="369332"/>
          </a:xfrm>
          <a:prstGeom prst="rect">
            <a:avLst/>
          </a:prstGeom>
          <a:noFill/>
        </p:spPr>
        <p:txBody>
          <a:bodyPr wrap="none" rtlCol="0">
            <a:spAutoFit/>
          </a:bodyPr>
          <a:lstStyle/>
          <a:p>
            <a:r>
              <a:rPr lang="en-US" dirty="0"/>
              <a:t>http://www.scaasymposium.org/portfolio/part-v-the-power-of-innovation-and-the-market/</a:t>
            </a:r>
          </a:p>
        </p:txBody>
      </p:sp>
    </p:spTree>
    <p:extLst>
      <p:ext uri="{BB962C8B-B14F-4D97-AF65-F5344CB8AC3E}">
        <p14:creationId xmlns:p14="http://schemas.microsoft.com/office/powerpoint/2010/main" val="681789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Ensemble methods</a:t>
            </a:r>
          </a:p>
        </p:txBody>
      </p:sp>
      <p:sp>
        <p:nvSpPr>
          <p:cNvPr id="3" name="Content Placeholder 2"/>
          <p:cNvSpPr>
            <a:spLocks noGrp="1"/>
          </p:cNvSpPr>
          <p:nvPr>
            <p:ph idx="1"/>
          </p:nvPr>
        </p:nvSpPr>
        <p:spPr/>
        <p:txBody>
          <a:bodyPr/>
          <a:lstStyle/>
          <a:p>
            <a:pPr>
              <a:spcAft>
                <a:spcPts val="1800"/>
              </a:spcAft>
            </a:pPr>
            <a:r>
              <a:rPr lang="en-US" dirty="0"/>
              <a:t>A single decision tree does not perform well</a:t>
            </a:r>
          </a:p>
          <a:p>
            <a:pPr>
              <a:spcAft>
                <a:spcPts val="1800"/>
              </a:spcAft>
            </a:pPr>
            <a:r>
              <a:rPr lang="en-US" dirty="0"/>
              <a:t>But it is super fast</a:t>
            </a:r>
          </a:p>
          <a:p>
            <a:pPr>
              <a:spcAft>
                <a:spcPts val="1800"/>
              </a:spcAft>
            </a:pPr>
            <a:r>
              <a:rPr lang="en-US" dirty="0"/>
              <a:t>What if we learn multiple trees?</a:t>
            </a:r>
          </a:p>
        </p:txBody>
      </p:sp>
      <p:sp>
        <p:nvSpPr>
          <p:cNvPr id="4" name="TextBox 3"/>
          <p:cNvSpPr txBox="1"/>
          <p:nvPr/>
        </p:nvSpPr>
        <p:spPr>
          <a:xfrm>
            <a:off x="239485" y="4717143"/>
            <a:ext cx="8686799" cy="523220"/>
          </a:xfrm>
          <a:prstGeom prst="rect">
            <a:avLst/>
          </a:prstGeom>
          <a:noFill/>
          <a:ln w="28575" cmpd="sng">
            <a:solidFill>
              <a:schemeClr val="accent2"/>
            </a:solidFill>
          </a:ln>
          <a:effectLst/>
        </p:spPr>
        <p:txBody>
          <a:bodyPr wrap="square" rtlCol="0">
            <a:spAutoFit/>
          </a:bodyPr>
          <a:lstStyle/>
          <a:p>
            <a:pPr algn="ctr"/>
            <a:r>
              <a:rPr lang="en-US" sz="2800" dirty="0"/>
              <a:t>We need to make sure they do not all just learn the same</a:t>
            </a:r>
          </a:p>
        </p:txBody>
      </p:sp>
    </p:spTree>
    <p:extLst>
      <p:ext uri="{BB962C8B-B14F-4D97-AF65-F5344CB8AC3E}">
        <p14:creationId xmlns:p14="http://schemas.microsoft.com/office/powerpoint/2010/main" val="406159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Bagging	</a:t>
            </a:r>
          </a:p>
        </p:txBody>
      </p:sp>
      <p:sp>
        <p:nvSpPr>
          <p:cNvPr id="3" name="Content Placeholder 2"/>
          <p:cNvSpPr>
            <a:spLocks noGrp="1"/>
          </p:cNvSpPr>
          <p:nvPr>
            <p:ph idx="1"/>
          </p:nvPr>
        </p:nvSpPr>
        <p:spPr/>
        <p:txBody>
          <a:bodyPr>
            <a:normAutofit fontScale="92500"/>
          </a:bodyPr>
          <a:lstStyle/>
          <a:p>
            <a:pPr marL="0" indent="0">
              <a:buNone/>
            </a:pPr>
            <a:r>
              <a:rPr lang="en-US" sz="2800" dirty="0"/>
              <a:t>If we split the data in random different ways, decision trees give different results, </a:t>
            </a:r>
            <a:r>
              <a:rPr lang="en-US" sz="2800" b="1" dirty="0"/>
              <a:t>high variance.</a:t>
            </a:r>
          </a:p>
          <a:p>
            <a:pPr marL="0" indent="0">
              <a:buNone/>
            </a:pPr>
            <a:endParaRPr lang="en-US" sz="2800" b="1" dirty="0"/>
          </a:p>
          <a:p>
            <a:pPr marL="0" indent="0">
              <a:buNone/>
            </a:pPr>
            <a:r>
              <a:rPr lang="en-US" sz="2800" b="1" dirty="0"/>
              <a:t>Bagging: B</a:t>
            </a:r>
            <a:r>
              <a:rPr lang="en-US" sz="2800" dirty="0"/>
              <a:t>ootstrap </a:t>
            </a:r>
            <a:r>
              <a:rPr lang="en-US" sz="2800" b="1" dirty="0"/>
              <a:t>agg</a:t>
            </a:r>
            <a:r>
              <a:rPr lang="en-US" sz="2800" dirty="0"/>
              <a:t>regat</a:t>
            </a:r>
            <a:r>
              <a:rPr lang="en-US" sz="2800" b="1" dirty="0"/>
              <a:t>ing</a:t>
            </a:r>
            <a:r>
              <a:rPr lang="en-US" sz="2800" dirty="0"/>
              <a:t> is a method that result in low variance. </a:t>
            </a:r>
          </a:p>
          <a:p>
            <a:pPr marL="0" indent="0">
              <a:buNone/>
            </a:pPr>
            <a:endParaRPr lang="en-US" sz="2800" dirty="0"/>
          </a:p>
          <a:p>
            <a:pPr marL="0" indent="0">
              <a:buNone/>
            </a:pPr>
            <a:r>
              <a:rPr lang="en-US" sz="2800" dirty="0"/>
              <a:t>If we had multiple realizations of the data (or multiple samples) we could calculate the predictions multiple times and take the average of the fact that averaging  multiple onerous estimations produce less uncertain results</a:t>
            </a:r>
          </a:p>
        </p:txBody>
      </p:sp>
      <p:pic>
        <p:nvPicPr>
          <p:cNvPr id="5" name="Picture 4">
            <a:extLst>
              <a:ext uri="{FF2B5EF4-FFF2-40B4-BE49-F238E27FC236}">
                <a16:creationId xmlns:a16="http://schemas.microsoft.com/office/drawing/2014/main" id="{B34F0F53-AAE3-486F-04F7-CC79E610273E}"/>
              </a:ext>
            </a:extLst>
          </p:cNvPr>
          <p:cNvPicPr>
            <a:picLocks noChangeAspect="1"/>
          </p:cNvPicPr>
          <p:nvPr/>
        </p:nvPicPr>
        <p:blipFill>
          <a:blip r:embed="rId3"/>
          <a:stretch>
            <a:fillRect/>
          </a:stretch>
        </p:blipFill>
        <p:spPr>
          <a:xfrm>
            <a:off x="5622572" y="2100086"/>
            <a:ext cx="1714500" cy="400050"/>
          </a:xfrm>
          <a:prstGeom prst="rect">
            <a:avLst/>
          </a:prstGeom>
        </p:spPr>
      </p:pic>
    </p:spTree>
    <p:extLst>
      <p:ext uri="{BB962C8B-B14F-4D97-AF65-F5344CB8AC3E}">
        <p14:creationId xmlns:p14="http://schemas.microsoft.com/office/powerpoint/2010/main" val="1606842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Bagging	</a:t>
            </a:r>
          </a:p>
        </p:txBody>
      </p:sp>
      <p:sp>
        <p:nvSpPr>
          <p:cNvPr id="3" name="Content Placeholder 2"/>
          <p:cNvSpPr>
            <a:spLocks noGrp="1"/>
          </p:cNvSpPr>
          <p:nvPr>
            <p:ph idx="1"/>
          </p:nvPr>
        </p:nvSpPr>
        <p:spPr>
          <a:xfrm>
            <a:off x="457200" y="1255486"/>
            <a:ext cx="8229600" cy="4967514"/>
          </a:xfrm>
        </p:spPr>
        <p:txBody>
          <a:bodyPr>
            <a:normAutofit lnSpcReduction="10000"/>
          </a:bodyPr>
          <a:lstStyle/>
          <a:p>
            <a:pPr marL="0" indent="0">
              <a:buNone/>
            </a:pPr>
            <a:r>
              <a:rPr lang="en-US" sz="2800" dirty="0"/>
              <a:t>Say for each sample </a:t>
            </a:r>
            <a:r>
              <a:rPr lang="en-US" sz="2800" i="1" dirty="0"/>
              <a:t>b</a:t>
            </a:r>
            <a:r>
              <a:rPr lang="en-US" sz="2800" dirty="0"/>
              <a:t>, we calculate </a:t>
            </a:r>
            <a:r>
              <a:rPr lang="en-US" sz="2800" i="1" dirty="0"/>
              <a:t>f</a:t>
            </a:r>
            <a:r>
              <a:rPr lang="en-US" sz="2800" i="1" baseline="30000" dirty="0"/>
              <a:t>b</a:t>
            </a:r>
            <a:r>
              <a:rPr lang="en-US" sz="2800" i="1" dirty="0"/>
              <a:t>(x)</a:t>
            </a:r>
            <a:r>
              <a:rPr lang="en-US" sz="2800" dirty="0"/>
              <a:t>, then:</a:t>
            </a:r>
          </a:p>
          <a:p>
            <a:pPr marL="0" indent="0">
              <a:buNone/>
            </a:pPr>
            <a:endParaRPr lang="en-US" sz="2800" i="1" dirty="0"/>
          </a:p>
          <a:p>
            <a:pPr marL="0" indent="0">
              <a:buNone/>
            </a:pPr>
            <a:endParaRPr lang="en-US" sz="2800" i="1" dirty="0"/>
          </a:p>
          <a:p>
            <a:pPr marL="0" indent="0">
              <a:buNone/>
            </a:pPr>
            <a:r>
              <a:rPr lang="en-US" sz="2800" dirty="0"/>
              <a:t>How? </a:t>
            </a:r>
          </a:p>
          <a:p>
            <a:pPr marL="0" indent="0">
              <a:buNone/>
            </a:pPr>
            <a:endParaRPr lang="en-US" sz="2800" dirty="0"/>
          </a:p>
          <a:p>
            <a:pPr marL="0" indent="0">
              <a:buNone/>
            </a:pPr>
            <a:r>
              <a:rPr lang="en-US" sz="2800" b="1" dirty="0"/>
              <a:t>Bootstrap </a:t>
            </a:r>
            <a:endParaRPr lang="en-US" sz="2800" dirty="0"/>
          </a:p>
          <a:p>
            <a:pPr marL="0" indent="0">
              <a:buNone/>
            </a:pPr>
            <a:r>
              <a:rPr lang="en-US" sz="2800" dirty="0"/>
              <a:t>Construct B (hundreds) of trees (no pruning) </a:t>
            </a:r>
          </a:p>
          <a:p>
            <a:pPr marL="0" indent="0">
              <a:buNone/>
            </a:pPr>
            <a:r>
              <a:rPr lang="en-US" sz="2800" dirty="0"/>
              <a:t>Learn a classifier for each bootstrap sample and average them</a:t>
            </a:r>
          </a:p>
          <a:p>
            <a:pPr marL="0" indent="0">
              <a:buNone/>
            </a:pPr>
            <a:r>
              <a:rPr lang="en-US" sz="2800" dirty="0">
                <a:effectLst>
                  <a:outerShdw blurRad="38100" dist="38100" dir="2700000" algn="tl">
                    <a:srgbClr val="000000">
                      <a:alpha val="43137"/>
                    </a:srgbClr>
                  </a:outerShdw>
                </a:effectLst>
              </a:rPr>
              <a:t>Very effective</a:t>
            </a:r>
          </a:p>
          <a:p>
            <a:pPr marL="0" indent="0">
              <a:buNone/>
            </a:pPr>
            <a:endParaRPr lang="en-US" sz="2800" dirty="0"/>
          </a:p>
        </p:txBody>
      </p:sp>
      <p:pic>
        <p:nvPicPr>
          <p:cNvPr id="4" name="Picture 3" descr="latex-image-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999" y="1715964"/>
            <a:ext cx="3537857" cy="1096529"/>
          </a:xfrm>
          <a:prstGeom prst="rect">
            <a:avLst/>
          </a:prstGeom>
        </p:spPr>
      </p:pic>
      <p:cxnSp>
        <p:nvCxnSpPr>
          <p:cNvPr id="5" name="Straight Connector 4"/>
          <p:cNvCxnSpPr/>
          <p:nvPr/>
        </p:nvCxnSpPr>
        <p:spPr>
          <a:xfrm flipV="1">
            <a:off x="547915" y="3491744"/>
            <a:ext cx="7667625" cy="15875"/>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467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Out-of-Bag Error Estimation </a:t>
            </a:r>
          </a:p>
        </p:txBody>
      </p:sp>
      <p:sp>
        <p:nvSpPr>
          <p:cNvPr id="3" name="Content Placeholder 2"/>
          <p:cNvSpPr>
            <a:spLocks noGrp="1"/>
          </p:cNvSpPr>
          <p:nvPr>
            <p:ph idx="1"/>
          </p:nvPr>
        </p:nvSpPr>
        <p:spPr>
          <a:xfrm>
            <a:off x="457200" y="1309913"/>
            <a:ext cx="8229600" cy="4949374"/>
          </a:xfrm>
        </p:spPr>
        <p:txBody>
          <a:bodyPr>
            <a:normAutofit/>
          </a:bodyPr>
          <a:lstStyle/>
          <a:p>
            <a:r>
              <a:rPr lang="en-US" sz="2600" dirty="0"/>
              <a:t>No cross validation?</a:t>
            </a:r>
          </a:p>
          <a:p>
            <a:r>
              <a:rPr lang="en-US" sz="2600" dirty="0"/>
              <a:t>Remember, in bootstrapping we sample with replacement, and therefore </a:t>
            </a:r>
            <a:r>
              <a:rPr lang="en-US" sz="2600" b="1" dirty="0"/>
              <a:t>not all observations are used for each bootstrap sample</a:t>
            </a:r>
            <a:r>
              <a:rPr lang="en-US" sz="2600" dirty="0"/>
              <a:t>. On average 1/3 of them are not used! </a:t>
            </a:r>
          </a:p>
          <a:p>
            <a:r>
              <a:rPr lang="en-US" sz="2600" dirty="0"/>
              <a:t>We call them out-of-bag samples (OOB)</a:t>
            </a:r>
          </a:p>
          <a:p>
            <a:r>
              <a:rPr lang="en-US" sz="2600" dirty="0"/>
              <a:t> We can predict the response for the i-th observation using each of the trees in which that observation was OOB and do this </a:t>
            </a:r>
            <a:r>
              <a:rPr lang="en-US" sz="2800" dirty="0"/>
              <a:t>for </a:t>
            </a:r>
            <a:r>
              <a:rPr lang="en-US" sz="2800" i="1" dirty="0"/>
              <a:t>n</a:t>
            </a:r>
            <a:r>
              <a:rPr lang="en-US" sz="2800" dirty="0"/>
              <a:t> observations</a:t>
            </a:r>
          </a:p>
          <a:p>
            <a:r>
              <a:rPr lang="en-US" sz="2800" dirty="0"/>
              <a:t> Calculate overall OOB MSE or classification error</a:t>
            </a:r>
          </a:p>
        </p:txBody>
      </p:sp>
    </p:spTree>
    <p:extLst>
      <p:ext uri="{BB962C8B-B14F-4D97-AF65-F5344CB8AC3E}">
        <p14:creationId xmlns:p14="http://schemas.microsoft.com/office/powerpoint/2010/main" val="3047482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Bagging decision trees</a:t>
            </a:r>
          </a:p>
        </p:txBody>
      </p:sp>
      <p:pic>
        <p:nvPicPr>
          <p:cNvPr id="4" name="Picture 3" descr="Screen Shot 2016-10-31 at 8.43.55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7300"/>
            <a:ext cx="9144000" cy="5334820"/>
          </a:xfrm>
          <a:prstGeom prst="rect">
            <a:avLst/>
          </a:prstGeom>
        </p:spPr>
      </p:pic>
      <p:sp>
        <p:nvSpPr>
          <p:cNvPr id="5" name="Rectangle 4"/>
          <p:cNvSpPr/>
          <p:nvPr/>
        </p:nvSpPr>
        <p:spPr>
          <a:xfrm>
            <a:off x="155222" y="6519445"/>
            <a:ext cx="8988778" cy="307777"/>
          </a:xfrm>
          <a:prstGeom prst="rect">
            <a:avLst/>
          </a:prstGeom>
        </p:spPr>
        <p:txBody>
          <a:bodyPr wrap="square">
            <a:spAutoFit/>
          </a:bodyPr>
          <a:lstStyle/>
          <a:p>
            <a:r>
              <a:rPr lang="en-US" sz="1400" dirty="0"/>
              <a:t>Hastie et al.,”The Elements of Statistical Learning: Data Mining, Inference, and Prediction”, Springer (2009)</a:t>
            </a:r>
          </a:p>
        </p:txBody>
      </p:sp>
    </p:spTree>
    <p:extLst>
      <p:ext uri="{BB962C8B-B14F-4D97-AF65-F5344CB8AC3E}">
        <p14:creationId xmlns:p14="http://schemas.microsoft.com/office/powerpoint/2010/main" val="3425051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Bagging</a:t>
            </a:r>
          </a:p>
        </p:txBody>
      </p:sp>
      <p:sp>
        <p:nvSpPr>
          <p:cNvPr id="3" name="Content Placeholder 2"/>
          <p:cNvSpPr>
            <a:spLocks noGrp="1"/>
          </p:cNvSpPr>
          <p:nvPr>
            <p:ph idx="1"/>
          </p:nvPr>
        </p:nvSpPr>
        <p:spPr/>
        <p:txBody>
          <a:bodyPr/>
          <a:lstStyle/>
          <a:p>
            <a:pPr>
              <a:spcAft>
                <a:spcPts val="1800"/>
              </a:spcAft>
            </a:pPr>
            <a:r>
              <a:rPr lang="en-US" dirty="0"/>
              <a:t>Reduces overfitting (variance)</a:t>
            </a:r>
          </a:p>
          <a:p>
            <a:pPr>
              <a:spcAft>
                <a:spcPts val="1800"/>
              </a:spcAft>
            </a:pPr>
            <a:r>
              <a:rPr lang="en-US" dirty="0"/>
              <a:t>Normally uses one type of classifier</a:t>
            </a:r>
          </a:p>
          <a:p>
            <a:pPr>
              <a:spcAft>
                <a:spcPts val="1800"/>
              </a:spcAft>
            </a:pPr>
            <a:r>
              <a:rPr lang="en-US" dirty="0"/>
              <a:t>Decision trees are popular</a:t>
            </a:r>
          </a:p>
          <a:p>
            <a:pPr>
              <a:spcAft>
                <a:spcPts val="1800"/>
              </a:spcAft>
            </a:pPr>
            <a:r>
              <a:rPr lang="en-US" dirty="0"/>
              <a:t>Easy to parallelize</a:t>
            </a:r>
          </a:p>
        </p:txBody>
      </p:sp>
    </p:spTree>
    <p:extLst>
      <p:ext uri="{BB962C8B-B14F-4D97-AF65-F5344CB8AC3E}">
        <p14:creationId xmlns:p14="http://schemas.microsoft.com/office/powerpoint/2010/main" val="113914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75BDB294-BB37-F843-1B47-E4EBF56852FD}"/>
              </a:ext>
            </a:extLst>
          </p:cNvPr>
          <p:cNvSpPr>
            <a:spLocks noGrp="1" noChangeArrowheads="1"/>
          </p:cNvSpPr>
          <p:nvPr>
            <p:ph type="title"/>
          </p:nvPr>
        </p:nvSpPr>
        <p:spPr/>
        <p:txBody>
          <a:bodyPr/>
          <a:lstStyle/>
          <a:p>
            <a:r>
              <a:rPr lang="en-US" altLang="en-US"/>
              <a:t>Bootstrap Samples</a:t>
            </a:r>
          </a:p>
        </p:txBody>
      </p:sp>
      <p:sp>
        <p:nvSpPr>
          <p:cNvPr id="80898" name="Rectangle 3">
            <a:extLst>
              <a:ext uri="{FF2B5EF4-FFF2-40B4-BE49-F238E27FC236}">
                <a16:creationId xmlns:a16="http://schemas.microsoft.com/office/drawing/2014/main" id="{8A1CC73B-1BEA-09F7-5923-05BEF8034AF5}"/>
              </a:ext>
            </a:extLst>
          </p:cNvPr>
          <p:cNvSpPr>
            <a:spLocks noGrp="1" noChangeArrowheads="1"/>
          </p:cNvSpPr>
          <p:nvPr>
            <p:ph type="body" idx="1"/>
          </p:nvPr>
        </p:nvSpPr>
        <p:spPr/>
        <p:txBody>
          <a:bodyPr/>
          <a:lstStyle/>
          <a:p>
            <a:pPr>
              <a:lnSpc>
                <a:spcPct val="90000"/>
              </a:lnSpc>
            </a:pPr>
            <a:r>
              <a:rPr lang="en-US" altLang="en-US"/>
              <a:t>Sample with replacement.</a:t>
            </a:r>
          </a:p>
          <a:p>
            <a:pPr>
              <a:lnSpc>
                <a:spcPct val="90000"/>
              </a:lnSpc>
            </a:pPr>
            <a:r>
              <a:rPr lang="en-US" altLang="en-US"/>
              <a:t>Training data (</a:t>
            </a:r>
            <a:r>
              <a:rPr lang="en-US" altLang="en-US" i="1"/>
              <a:t>y</a:t>
            </a:r>
            <a:r>
              <a:rPr lang="en-US" altLang="en-US" baseline="-25000"/>
              <a:t>1</a:t>
            </a:r>
            <a:r>
              <a:rPr lang="en-US" altLang="en-US"/>
              <a:t>, </a:t>
            </a:r>
            <a:r>
              <a:rPr lang="en-US" altLang="en-US" b="1" i="1"/>
              <a:t>x</a:t>
            </a:r>
            <a:r>
              <a:rPr lang="en-US" altLang="en-US" baseline="-25000"/>
              <a:t>1</a:t>
            </a:r>
            <a:r>
              <a:rPr lang="en-US" altLang="en-US"/>
              <a:t>),…. (</a:t>
            </a:r>
            <a:r>
              <a:rPr lang="en-US" altLang="en-US" i="1"/>
              <a:t>y</a:t>
            </a:r>
            <a:r>
              <a:rPr lang="en-US" altLang="en-US" b="1" i="1" baseline="-25000"/>
              <a:t>n</a:t>
            </a:r>
            <a:r>
              <a:rPr lang="en-US" altLang="en-US"/>
              <a:t>, </a:t>
            </a:r>
            <a:r>
              <a:rPr lang="en-US" altLang="en-US" b="1" i="1"/>
              <a:t>x</a:t>
            </a:r>
            <a:r>
              <a:rPr lang="en-US" altLang="en-US" i="1" baseline="-25000"/>
              <a:t>n</a:t>
            </a:r>
            <a:r>
              <a:rPr lang="en-US" altLang="en-US"/>
              <a:t>). </a:t>
            </a:r>
          </a:p>
          <a:p>
            <a:pPr>
              <a:lnSpc>
                <a:spcPct val="90000"/>
              </a:lnSpc>
            </a:pPr>
            <a:r>
              <a:rPr lang="en-US" altLang="en-US"/>
              <a:t>Randomly draw one, denote as (</a:t>
            </a:r>
            <a:r>
              <a:rPr lang="en-US" altLang="en-US" i="1"/>
              <a:t>y</a:t>
            </a:r>
            <a:r>
              <a:rPr lang="en-US" altLang="en-US" baseline="-25000"/>
              <a:t>1</a:t>
            </a:r>
            <a:r>
              <a:rPr lang="en-US" altLang="en-US" baseline="30000"/>
              <a:t>*</a:t>
            </a:r>
            <a:r>
              <a:rPr lang="en-US" altLang="en-US"/>
              <a:t>, </a:t>
            </a:r>
            <a:r>
              <a:rPr lang="en-US" altLang="en-US" b="1" i="1"/>
              <a:t>x</a:t>
            </a:r>
            <a:r>
              <a:rPr lang="en-US" altLang="en-US" baseline="-25000"/>
              <a:t>1</a:t>
            </a:r>
            <a:r>
              <a:rPr lang="en-US" altLang="en-US" baseline="30000"/>
              <a:t>*</a:t>
            </a:r>
            <a:r>
              <a:rPr lang="en-US" altLang="en-US"/>
              <a:t>); make a copy and put it back.</a:t>
            </a:r>
          </a:p>
          <a:p>
            <a:pPr>
              <a:lnSpc>
                <a:spcPct val="90000"/>
              </a:lnSpc>
            </a:pPr>
            <a:r>
              <a:rPr lang="en-US" altLang="en-US"/>
              <a:t>Repeat for </a:t>
            </a:r>
            <a:r>
              <a:rPr lang="en-US" altLang="en-US" i="1"/>
              <a:t>n</a:t>
            </a:r>
            <a:r>
              <a:rPr lang="en-US" altLang="en-US"/>
              <a:t> times, then we have          (</a:t>
            </a:r>
            <a:r>
              <a:rPr lang="en-US" altLang="en-US" i="1"/>
              <a:t>y</a:t>
            </a:r>
            <a:r>
              <a:rPr lang="en-US" altLang="en-US" baseline="-25000"/>
              <a:t>1</a:t>
            </a:r>
            <a:r>
              <a:rPr lang="en-US" altLang="en-US" baseline="30000"/>
              <a:t>*</a:t>
            </a:r>
            <a:r>
              <a:rPr lang="en-US" altLang="en-US"/>
              <a:t>, </a:t>
            </a:r>
            <a:r>
              <a:rPr lang="en-US" altLang="en-US" b="1" i="1"/>
              <a:t>x</a:t>
            </a:r>
            <a:r>
              <a:rPr lang="en-US" altLang="en-US" baseline="-25000"/>
              <a:t>1</a:t>
            </a:r>
            <a:r>
              <a:rPr lang="en-US" altLang="en-US" baseline="30000"/>
              <a:t>*</a:t>
            </a:r>
            <a:r>
              <a:rPr lang="en-US" altLang="en-US"/>
              <a:t>)….. (</a:t>
            </a:r>
            <a:r>
              <a:rPr lang="en-US" altLang="en-US" i="1"/>
              <a:t>y</a:t>
            </a:r>
            <a:r>
              <a:rPr lang="en-US" altLang="en-US" baseline="-25000"/>
              <a:t>n</a:t>
            </a:r>
            <a:r>
              <a:rPr lang="en-US" altLang="en-US" baseline="30000"/>
              <a:t>*</a:t>
            </a:r>
            <a:r>
              <a:rPr lang="en-US" altLang="en-US"/>
              <a:t>, </a:t>
            </a:r>
            <a:r>
              <a:rPr lang="en-US" altLang="en-US" b="1" i="1"/>
              <a:t>x</a:t>
            </a:r>
            <a:r>
              <a:rPr lang="en-US" altLang="en-US" baseline="-25000"/>
              <a:t>n</a:t>
            </a:r>
            <a:r>
              <a:rPr lang="en-US" altLang="en-US" baseline="30000"/>
              <a:t>*</a:t>
            </a:r>
            <a:r>
              <a:rPr lang="en-US" altLang="en-US"/>
              <a:t>). This is called a bootstrap sample.</a:t>
            </a:r>
          </a:p>
          <a:p>
            <a:pPr>
              <a:lnSpc>
                <a:spcPct val="90000"/>
              </a:lnSpc>
            </a:pPr>
            <a:r>
              <a:rPr lang="en-US" altLang="en-US"/>
              <a:t>Repeat everything for </a:t>
            </a:r>
            <a:r>
              <a:rPr lang="en-US" altLang="en-US" i="1"/>
              <a:t>B</a:t>
            </a:r>
            <a:r>
              <a:rPr lang="en-US" altLang="en-US"/>
              <a:t> times, then we have </a:t>
            </a:r>
            <a:r>
              <a:rPr lang="en-US" altLang="en-US" i="1"/>
              <a:t>B</a:t>
            </a:r>
            <a:r>
              <a:rPr lang="en-US" altLang="en-US"/>
              <a:t> bootstrap samples.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AE08D56-D9EC-20E4-AD1C-865C859097A1}"/>
              </a:ext>
            </a:extLst>
          </p:cNvPr>
          <p:cNvSpPr>
            <a:spLocks noGrp="1"/>
          </p:cNvSpPr>
          <p:nvPr>
            <p:ph type="title" idx="4294967295"/>
          </p:nvPr>
        </p:nvSpPr>
        <p:spPr/>
        <p:txBody>
          <a:bodyPr/>
          <a:lstStyle/>
          <a:p>
            <a:r>
              <a:rPr lang="en-US" altLang="en-US" sz="4000"/>
              <a:t>Random Forest Classifier</a:t>
            </a:r>
          </a:p>
        </p:txBody>
      </p:sp>
      <p:sp>
        <p:nvSpPr>
          <p:cNvPr id="102403" name="Text Box 3">
            <a:extLst>
              <a:ext uri="{FF2B5EF4-FFF2-40B4-BE49-F238E27FC236}">
                <a16:creationId xmlns:a16="http://schemas.microsoft.com/office/drawing/2014/main" id="{44A3A1DD-2488-5C4C-0369-94AAA2CF28FF}"/>
              </a:ext>
            </a:extLst>
          </p:cNvPr>
          <p:cNvSpPr txBox="1">
            <a:spLocks noChangeArrowheads="1"/>
          </p:cNvSpPr>
          <p:nvPr/>
        </p:nvSpPr>
        <p:spPr bwMode="auto">
          <a:xfrm rot="16200000">
            <a:off x="-659606" y="3226594"/>
            <a:ext cx="162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N examples</a:t>
            </a:r>
          </a:p>
        </p:txBody>
      </p:sp>
      <p:sp>
        <p:nvSpPr>
          <p:cNvPr id="102404" name="Text Box 4">
            <a:extLst>
              <a:ext uri="{FF2B5EF4-FFF2-40B4-BE49-F238E27FC236}">
                <a16:creationId xmlns:a16="http://schemas.microsoft.com/office/drawing/2014/main" id="{FFEE2BB5-FB6F-318B-7B37-0B9688862548}"/>
              </a:ext>
            </a:extLst>
          </p:cNvPr>
          <p:cNvSpPr txBox="1">
            <a:spLocks noChangeArrowheads="1"/>
          </p:cNvSpPr>
          <p:nvPr/>
        </p:nvSpPr>
        <p:spPr bwMode="auto">
          <a:xfrm>
            <a:off x="7938" y="1398588"/>
            <a:ext cx="2168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latin typeface="Calibri" panose="020F0502020204030204" pitchFamily="34" charset="0"/>
              </a:rPr>
              <a:t>Training Data</a:t>
            </a:r>
          </a:p>
        </p:txBody>
      </p:sp>
      <p:sp>
        <p:nvSpPr>
          <p:cNvPr id="102405" name="Rectangle 5">
            <a:extLst>
              <a:ext uri="{FF2B5EF4-FFF2-40B4-BE49-F238E27FC236}">
                <a16:creationId xmlns:a16="http://schemas.microsoft.com/office/drawing/2014/main" id="{3CD24418-17D6-71DE-FA3E-20ABF44286FA}"/>
              </a:ext>
            </a:extLst>
          </p:cNvPr>
          <p:cNvSpPr>
            <a:spLocks noChangeArrowheads="1"/>
          </p:cNvSpPr>
          <p:nvPr/>
        </p:nvSpPr>
        <p:spPr bwMode="auto">
          <a:xfrm>
            <a:off x="442913" y="2895600"/>
            <a:ext cx="1143000" cy="914400"/>
          </a:xfrm>
          <a:prstGeom prst="rect">
            <a:avLst/>
          </a:prstGeom>
          <a:solidFill>
            <a:srgbClr val="ECAB2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406" name="Text Box 6">
            <a:extLst>
              <a:ext uri="{FF2B5EF4-FFF2-40B4-BE49-F238E27FC236}">
                <a16:creationId xmlns:a16="http://schemas.microsoft.com/office/drawing/2014/main" id="{DDDEA856-AFC7-55E7-B80D-2E1BDD461FAF}"/>
              </a:ext>
            </a:extLst>
          </p:cNvPr>
          <p:cNvSpPr txBox="1">
            <a:spLocks noChangeArrowheads="1"/>
          </p:cNvSpPr>
          <p:nvPr/>
        </p:nvSpPr>
        <p:spPr bwMode="auto">
          <a:xfrm>
            <a:off x="239713" y="2286000"/>
            <a:ext cx="1544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M features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546C8EF6-D615-8BF5-3630-5BB553291331}"/>
              </a:ext>
            </a:extLst>
          </p:cNvPr>
          <p:cNvSpPr>
            <a:spLocks noGrp="1"/>
          </p:cNvSpPr>
          <p:nvPr>
            <p:ph type="title" idx="4294967295"/>
          </p:nvPr>
        </p:nvSpPr>
        <p:spPr/>
        <p:txBody>
          <a:bodyPr/>
          <a:lstStyle/>
          <a:p>
            <a:r>
              <a:rPr lang="en-US" altLang="en-US" sz="4000"/>
              <a:t>Random Forest Classifier</a:t>
            </a:r>
          </a:p>
        </p:txBody>
      </p:sp>
      <p:sp>
        <p:nvSpPr>
          <p:cNvPr id="104451" name="Text Box 3">
            <a:extLst>
              <a:ext uri="{FF2B5EF4-FFF2-40B4-BE49-F238E27FC236}">
                <a16:creationId xmlns:a16="http://schemas.microsoft.com/office/drawing/2014/main" id="{46F3AF31-0571-75C2-1ED8-21875BA69382}"/>
              </a:ext>
            </a:extLst>
          </p:cNvPr>
          <p:cNvSpPr txBox="1">
            <a:spLocks noChangeArrowheads="1"/>
          </p:cNvSpPr>
          <p:nvPr/>
        </p:nvSpPr>
        <p:spPr bwMode="auto">
          <a:xfrm rot="16200000">
            <a:off x="-659606" y="3226594"/>
            <a:ext cx="162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N examples</a:t>
            </a:r>
          </a:p>
        </p:txBody>
      </p:sp>
      <p:sp>
        <p:nvSpPr>
          <p:cNvPr id="104452" name="Text Box 4">
            <a:extLst>
              <a:ext uri="{FF2B5EF4-FFF2-40B4-BE49-F238E27FC236}">
                <a16:creationId xmlns:a16="http://schemas.microsoft.com/office/drawing/2014/main" id="{5C4728B4-CCAB-077B-5BC0-DE32D7FC220C}"/>
              </a:ext>
            </a:extLst>
          </p:cNvPr>
          <p:cNvSpPr txBox="1">
            <a:spLocks noChangeArrowheads="1"/>
          </p:cNvSpPr>
          <p:nvPr/>
        </p:nvSpPr>
        <p:spPr bwMode="auto">
          <a:xfrm>
            <a:off x="395288" y="1268413"/>
            <a:ext cx="56388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en-US" sz="2200">
                <a:latin typeface="Calibri" panose="020F0502020204030204" pitchFamily="34" charset="0"/>
              </a:rPr>
              <a:t>Create bootstrap samples</a:t>
            </a:r>
          </a:p>
          <a:p>
            <a:pPr algn="ctr">
              <a:lnSpc>
                <a:spcPct val="80000"/>
              </a:lnSpc>
            </a:pPr>
            <a:r>
              <a:rPr lang="en-US" altLang="en-US" sz="2200">
                <a:latin typeface="Calibri" panose="020F0502020204030204" pitchFamily="34" charset="0"/>
              </a:rPr>
              <a:t>from the training data </a:t>
            </a:r>
          </a:p>
        </p:txBody>
      </p:sp>
      <p:sp>
        <p:nvSpPr>
          <p:cNvPr id="104453" name="Rectangle 5">
            <a:extLst>
              <a:ext uri="{FF2B5EF4-FFF2-40B4-BE49-F238E27FC236}">
                <a16:creationId xmlns:a16="http://schemas.microsoft.com/office/drawing/2014/main" id="{DDF73040-7BC7-E8DC-9EF1-8FC00A7ADBC4}"/>
              </a:ext>
            </a:extLst>
          </p:cNvPr>
          <p:cNvSpPr>
            <a:spLocks noChangeArrowheads="1"/>
          </p:cNvSpPr>
          <p:nvPr/>
        </p:nvSpPr>
        <p:spPr bwMode="auto">
          <a:xfrm>
            <a:off x="2271713" y="19050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4454" name="Rectangle 6">
            <a:extLst>
              <a:ext uri="{FF2B5EF4-FFF2-40B4-BE49-F238E27FC236}">
                <a16:creationId xmlns:a16="http://schemas.microsoft.com/office/drawing/2014/main" id="{47B16A3E-599F-E556-CC74-6CB9C9BA5DF0}"/>
              </a:ext>
            </a:extLst>
          </p:cNvPr>
          <p:cNvSpPr>
            <a:spLocks noChangeArrowheads="1"/>
          </p:cNvSpPr>
          <p:nvPr/>
        </p:nvSpPr>
        <p:spPr bwMode="auto">
          <a:xfrm>
            <a:off x="2271713" y="32004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4455" name="AutoShape 7">
            <a:extLst>
              <a:ext uri="{FF2B5EF4-FFF2-40B4-BE49-F238E27FC236}">
                <a16:creationId xmlns:a16="http://schemas.microsoft.com/office/drawing/2014/main" id="{84D3CA0B-A16B-2353-F81F-C9D765C8B557}"/>
              </a:ext>
            </a:extLst>
          </p:cNvPr>
          <p:cNvCxnSpPr>
            <a:cxnSpLocks noChangeShapeType="1"/>
          </p:cNvCxnSpPr>
          <p:nvPr/>
        </p:nvCxnSpPr>
        <p:spPr bwMode="auto">
          <a:xfrm>
            <a:off x="1585913" y="3429000"/>
            <a:ext cx="657225" cy="3810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456" name="Rectangle 8">
            <a:extLst>
              <a:ext uri="{FF2B5EF4-FFF2-40B4-BE49-F238E27FC236}">
                <a16:creationId xmlns:a16="http://schemas.microsoft.com/office/drawing/2014/main" id="{8F7D31EB-B54F-E974-2F85-2CDE99B5FDC0}"/>
              </a:ext>
            </a:extLst>
          </p:cNvPr>
          <p:cNvSpPr>
            <a:spLocks noChangeArrowheads="1"/>
          </p:cNvSpPr>
          <p:nvPr/>
        </p:nvSpPr>
        <p:spPr bwMode="auto">
          <a:xfrm>
            <a:off x="2271713" y="51816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4457" name="Text Box 9">
            <a:extLst>
              <a:ext uri="{FF2B5EF4-FFF2-40B4-BE49-F238E27FC236}">
                <a16:creationId xmlns:a16="http://schemas.microsoft.com/office/drawing/2014/main" id="{A27477BF-0BEB-CF0E-8B9F-A7181FCF10CE}"/>
              </a:ext>
            </a:extLst>
          </p:cNvPr>
          <p:cNvSpPr txBox="1">
            <a:spLocks noChangeArrowheads="1"/>
          </p:cNvSpPr>
          <p:nvPr/>
        </p:nvSpPr>
        <p:spPr bwMode="auto">
          <a:xfrm rot="16200000">
            <a:off x="2357438" y="4333875"/>
            <a:ext cx="7747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600" b="1">
                <a:latin typeface="Calibri" panose="020F0502020204030204" pitchFamily="34" charset="0"/>
              </a:rPr>
              <a:t>....…</a:t>
            </a:r>
          </a:p>
        </p:txBody>
      </p:sp>
      <p:cxnSp>
        <p:nvCxnSpPr>
          <p:cNvPr id="104458" name="AutoShape 10">
            <a:extLst>
              <a:ext uri="{FF2B5EF4-FFF2-40B4-BE49-F238E27FC236}">
                <a16:creationId xmlns:a16="http://schemas.microsoft.com/office/drawing/2014/main" id="{93F6CB48-BB66-CE99-7ECF-96889B1B29F3}"/>
              </a:ext>
            </a:extLst>
          </p:cNvPr>
          <p:cNvCxnSpPr>
            <a:cxnSpLocks noChangeShapeType="1"/>
          </p:cNvCxnSpPr>
          <p:nvPr/>
        </p:nvCxnSpPr>
        <p:spPr bwMode="auto">
          <a:xfrm>
            <a:off x="1585913" y="3276600"/>
            <a:ext cx="657225" cy="23622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459" name="Rectangle 11">
            <a:extLst>
              <a:ext uri="{FF2B5EF4-FFF2-40B4-BE49-F238E27FC236}">
                <a16:creationId xmlns:a16="http://schemas.microsoft.com/office/drawing/2014/main" id="{FB054C12-4977-CB6D-1D06-F5C6B0F2AE21}"/>
              </a:ext>
            </a:extLst>
          </p:cNvPr>
          <p:cNvSpPr>
            <a:spLocks noChangeArrowheads="1"/>
          </p:cNvSpPr>
          <p:nvPr/>
        </p:nvSpPr>
        <p:spPr bwMode="auto">
          <a:xfrm>
            <a:off x="442913" y="2895600"/>
            <a:ext cx="1143000" cy="914400"/>
          </a:xfrm>
          <a:prstGeom prst="rect">
            <a:avLst/>
          </a:prstGeom>
          <a:solidFill>
            <a:srgbClr val="ECAB2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4460" name="AutoShape 12">
            <a:extLst>
              <a:ext uri="{FF2B5EF4-FFF2-40B4-BE49-F238E27FC236}">
                <a16:creationId xmlns:a16="http://schemas.microsoft.com/office/drawing/2014/main" id="{5B71AD91-840C-4CF1-7F1A-50E5CA8641E8}"/>
              </a:ext>
            </a:extLst>
          </p:cNvPr>
          <p:cNvCxnSpPr>
            <a:cxnSpLocks noChangeShapeType="1"/>
          </p:cNvCxnSpPr>
          <p:nvPr/>
        </p:nvCxnSpPr>
        <p:spPr bwMode="auto">
          <a:xfrm flipV="1">
            <a:off x="1585913" y="2514600"/>
            <a:ext cx="657225" cy="6096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461" name="Text Box 13">
            <a:extLst>
              <a:ext uri="{FF2B5EF4-FFF2-40B4-BE49-F238E27FC236}">
                <a16:creationId xmlns:a16="http://schemas.microsoft.com/office/drawing/2014/main" id="{150B0DF2-DEC7-A4EA-D84B-4800D8AAEF1D}"/>
              </a:ext>
            </a:extLst>
          </p:cNvPr>
          <p:cNvSpPr txBox="1">
            <a:spLocks noChangeArrowheads="1"/>
          </p:cNvSpPr>
          <p:nvPr/>
        </p:nvSpPr>
        <p:spPr bwMode="auto">
          <a:xfrm>
            <a:off x="239713" y="2286000"/>
            <a:ext cx="1544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M features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a:extLst>
              <a:ext uri="{FF2B5EF4-FFF2-40B4-BE49-F238E27FC236}">
                <a16:creationId xmlns:a16="http://schemas.microsoft.com/office/drawing/2014/main" id="{317EE1DF-4E32-5394-B18A-77CC671A02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4442"/>
          <a:stretch>
            <a:fillRect/>
          </a:stretch>
        </p:blipFill>
        <p:spPr bwMode="auto">
          <a:xfrm>
            <a:off x="3581400" y="1981200"/>
            <a:ext cx="5562600" cy="3249613"/>
          </a:xfrm>
          <a:prstGeom prst="rect">
            <a:avLst/>
          </a:prstGeom>
          <a:noFill/>
          <a:extLst>
            <a:ext uri="{909E8E84-426E-40DD-AFC4-6F175D3DCCD1}">
              <a14:hiddenFill xmlns:a14="http://schemas.microsoft.com/office/drawing/2010/main">
                <a:solidFill>
                  <a:srgbClr val="FFFFFF"/>
                </a:solidFill>
              </a14:hiddenFill>
            </a:ext>
          </a:extLst>
        </p:spPr>
      </p:pic>
      <p:sp>
        <p:nvSpPr>
          <p:cNvPr id="105475" name="Rectangle 3">
            <a:extLst>
              <a:ext uri="{FF2B5EF4-FFF2-40B4-BE49-F238E27FC236}">
                <a16:creationId xmlns:a16="http://schemas.microsoft.com/office/drawing/2014/main" id="{5B869BE1-42B7-9E12-8505-B706E439E507}"/>
              </a:ext>
            </a:extLst>
          </p:cNvPr>
          <p:cNvSpPr>
            <a:spLocks noGrp="1"/>
          </p:cNvSpPr>
          <p:nvPr>
            <p:ph type="title" idx="4294967295"/>
          </p:nvPr>
        </p:nvSpPr>
        <p:spPr/>
        <p:txBody>
          <a:bodyPr/>
          <a:lstStyle/>
          <a:p>
            <a:r>
              <a:rPr lang="en-US" altLang="en-US" sz="4000"/>
              <a:t>Random Forest Classifier</a:t>
            </a:r>
          </a:p>
        </p:txBody>
      </p:sp>
      <p:sp>
        <p:nvSpPr>
          <p:cNvPr id="105476" name="Text Box 4">
            <a:extLst>
              <a:ext uri="{FF2B5EF4-FFF2-40B4-BE49-F238E27FC236}">
                <a16:creationId xmlns:a16="http://schemas.microsoft.com/office/drawing/2014/main" id="{EDB09BA2-EE13-39E7-E5AE-B512BE1F59F4}"/>
              </a:ext>
            </a:extLst>
          </p:cNvPr>
          <p:cNvSpPr txBox="1">
            <a:spLocks noChangeArrowheads="1"/>
          </p:cNvSpPr>
          <p:nvPr/>
        </p:nvSpPr>
        <p:spPr bwMode="auto">
          <a:xfrm rot="16200000">
            <a:off x="-645318" y="3226593"/>
            <a:ext cx="1624012" cy="457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N examples</a:t>
            </a:r>
          </a:p>
        </p:txBody>
      </p:sp>
      <p:sp>
        <p:nvSpPr>
          <p:cNvPr id="105477" name="Text Box 5">
            <a:extLst>
              <a:ext uri="{FF2B5EF4-FFF2-40B4-BE49-F238E27FC236}">
                <a16:creationId xmlns:a16="http://schemas.microsoft.com/office/drawing/2014/main" id="{059D133F-B8F0-05FD-11FB-514F8A73A08B}"/>
              </a:ext>
            </a:extLst>
          </p:cNvPr>
          <p:cNvSpPr txBox="1">
            <a:spLocks noChangeArrowheads="1"/>
          </p:cNvSpPr>
          <p:nvPr/>
        </p:nvSpPr>
        <p:spPr bwMode="auto">
          <a:xfrm>
            <a:off x="4756150" y="1287463"/>
            <a:ext cx="3011488"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en-US" sz="2200">
                <a:latin typeface="Calibri" panose="020F0502020204030204" pitchFamily="34" charset="0"/>
              </a:rPr>
              <a:t>Construct a decision tree</a:t>
            </a:r>
          </a:p>
          <a:p>
            <a:pPr algn="ctr">
              <a:lnSpc>
                <a:spcPct val="80000"/>
              </a:lnSpc>
            </a:pPr>
            <a:endParaRPr lang="en-US" altLang="en-US" sz="2200">
              <a:latin typeface="Calibri" panose="020F0502020204030204" pitchFamily="34" charset="0"/>
            </a:endParaRPr>
          </a:p>
        </p:txBody>
      </p:sp>
      <p:sp>
        <p:nvSpPr>
          <p:cNvPr id="105478" name="Rectangle 6">
            <a:extLst>
              <a:ext uri="{FF2B5EF4-FFF2-40B4-BE49-F238E27FC236}">
                <a16:creationId xmlns:a16="http://schemas.microsoft.com/office/drawing/2014/main" id="{4A31066B-0C2B-7FE5-98D7-623D48F8F624}"/>
              </a:ext>
            </a:extLst>
          </p:cNvPr>
          <p:cNvSpPr>
            <a:spLocks noChangeArrowheads="1"/>
          </p:cNvSpPr>
          <p:nvPr/>
        </p:nvSpPr>
        <p:spPr bwMode="auto">
          <a:xfrm>
            <a:off x="2286000" y="19050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5479" name="Rectangle 7">
            <a:extLst>
              <a:ext uri="{FF2B5EF4-FFF2-40B4-BE49-F238E27FC236}">
                <a16:creationId xmlns:a16="http://schemas.microsoft.com/office/drawing/2014/main" id="{BF0FA1EA-9DA8-AB4F-25BC-FBB22309372E}"/>
              </a:ext>
            </a:extLst>
          </p:cNvPr>
          <p:cNvSpPr>
            <a:spLocks noChangeArrowheads="1"/>
          </p:cNvSpPr>
          <p:nvPr/>
        </p:nvSpPr>
        <p:spPr bwMode="auto">
          <a:xfrm>
            <a:off x="2286000" y="32004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5480" name="AutoShape 8">
            <a:extLst>
              <a:ext uri="{FF2B5EF4-FFF2-40B4-BE49-F238E27FC236}">
                <a16:creationId xmlns:a16="http://schemas.microsoft.com/office/drawing/2014/main" id="{4A36E48A-84B6-FEB4-3365-256E2D6AE5EF}"/>
              </a:ext>
            </a:extLst>
          </p:cNvPr>
          <p:cNvCxnSpPr>
            <a:cxnSpLocks noChangeShapeType="1"/>
          </p:cNvCxnSpPr>
          <p:nvPr/>
        </p:nvCxnSpPr>
        <p:spPr bwMode="auto">
          <a:xfrm>
            <a:off x="1600200" y="3429000"/>
            <a:ext cx="657225" cy="3810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481" name="Rectangle 9">
            <a:extLst>
              <a:ext uri="{FF2B5EF4-FFF2-40B4-BE49-F238E27FC236}">
                <a16:creationId xmlns:a16="http://schemas.microsoft.com/office/drawing/2014/main" id="{F317AF74-F42D-87BD-547B-6E0D1E5B4412}"/>
              </a:ext>
            </a:extLst>
          </p:cNvPr>
          <p:cNvSpPr>
            <a:spLocks noChangeArrowheads="1"/>
          </p:cNvSpPr>
          <p:nvPr/>
        </p:nvSpPr>
        <p:spPr bwMode="auto">
          <a:xfrm>
            <a:off x="2286000" y="51816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5482" name="Text Box 10">
            <a:extLst>
              <a:ext uri="{FF2B5EF4-FFF2-40B4-BE49-F238E27FC236}">
                <a16:creationId xmlns:a16="http://schemas.microsoft.com/office/drawing/2014/main" id="{30467FFB-9C48-1937-3241-960409C6C0BD}"/>
              </a:ext>
            </a:extLst>
          </p:cNvPr>
          <p:cNvSpPr txBox="1">
            <a:spLocks noChangeArrowheads="1"/>
          </p:cNvSpPr>
          <p:nvPr/>
        </p:nvSpPr>
        <p:spPr bwMode="auto">
          <a:xfrm rot="16200000">
            <a:off x="2371725" y="4333875"/>
            <a:ext cx="7747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600" b="1">
                <a:latin typeface="Calibri" panose="020F0502020204030204" pitchFamily="34" charset="0"/>
              </a:rPr>
              <a:t>....…</a:t>
            </a:r>
          </a:p>
        </p:txBody>
      </p:sp>
      <p:cxnSp>
        <p:nvCxnSpPr>
          <p:cNvPr id="105483" name="AutoShape 11">
            <a:extLst>
              <a:ext uri="{FF2B5EF4-FFF2-40B4-BE49-F238E27FC236}">
                <a16:creationId xmlns:a16="http://schemas.microsoft.com/office/drawing/2014/main" id="{A2ACF2BC-D2C7-5D46-23DA-DA6B97A252C2}"/>
              </a:ext>
            </a:extLst>
          </p:cNvPr>
          <p:cNvCxnSpPr>
            <a:cxnSpLocks noChangeShapeType="1"/>
          </p:cNvCxnSpPr>
          <p:nvPr/>
        </p:nvCxnSpPr>
        <p:spPr bwMode="auto">
          <a:xfrm>
            <a:off x="1600200" y="3276600"/>
            <a:ext cx="657225" cy="23622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484" name="Line 12">
            <a:extLst>
              <a:ext uri="{FF2B5EF4-FFF2-40B4-BE49-F238E27FC236}">
                <a16:creationId xmlns:a16="http://schemas.microsoft.com/office/drawing/2014/main" id="{C9749260-83E7-7DE2-3F5B-CA9F0943E937}"/>
              </a:ext>
            </a:extLst>
          </p:cNvPr>
          <p:cNvSpPr>
            <a:spLocks noChangeShapeType="1"/>
          </p:cNvSpPr>
          <p:nvPr/>
        </p:nvSpPr>
        <p:spPr bwMode="auto">
          <a:xfrm>
            <a:off x="3505200" y="2286000"/>
            <a:ext cx="990600"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5485" name="Rectangle 13">
            <a:extLst>
              <a:ext uri="{FF2B5EF4-FFF2-40B4-BE49-F238E27FC236}">
                <a16:creationId xmlns:a16="http://schemas.microsoft.com/office/drawing/2014/main" id="{3E8FF295-D072-9BB5-BCC4-6DA80694AC5C}"/>
              </a:ext>
            </a:extLst>
          </p:cNvPr>
          <p:cNvSpPr>
            <a:spLocks noChangeArrowheads="1"/>
          </p:cNvSpPr>
          <p:nvPr/>
        </p:nvSpPr>
        <p:spPr bwMode="auto">
          <a:xfrm>
            <a:off x="457200" y="2895600"/>
            <a:ext cx="1143000" cy="914400"/>
          </a:xfrm>
          <a:prstGeom prst="rect">
            <a:avLst/>
          </a:prstGeom>
          <a:solidFill>
            <a:srgbClr val="ECAB2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5486" name="AutoShape 14">
            <a:extLst>
              <a:ext uri="{FF2B5EF4-FFF2-40B4-BE49-F238E27FC236}">
                <a16:creationId xmlns:a16="http://schemas.microsoft.com/office/drawing/2014/main" id="{193820E0-24A0-E81E-AC92-60EF9FF76F00}"/>
              </a:ext>
            </a:extLst>
          </p:cNvPr>
          <p:cNvCxnSpPr>
            <a:cxnSpLocks noChangeShapeType="1"/>
          </p:cNvCxnSpPr>
          <p:nvPr/>
        </p:nvCxnSpPr>
        <p:spPr bwMode="auto">
          <a:xfrm flipV="1">
            <a:off x="1600200" y="2514600"/>
            <a:ext cx="657225" cy="6096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487" name="Text Box 15">
            <a:extLst>
              <a:ext uri="{FF2B5EF4-FFF2-40B4-BE49-F238E27FC236}">
                <a16:creationId xmlns:a16="http://schemas.microsoft.com/office/drawing/2014/main" id="{7BE552DD-EBA8-03B0-0700-9FB98E12C4D3}"/>
              </a:ext>
            </a:extLst>
          </p:cNvPr>
          <p:cNvSpPr txBox="1">
            <a:spLocks noChangeArrowheads="1"/>
          </p:cNvSpPr>
          <p:nvPr/>
        </p:nvSpPr>
        <p:spPr bwMode="auto">
          <a:xfrm>
            <a:off x="254000" y="2286000"/>
            <a:ext cx="1544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M features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A63E5D03-2AB8-DF47-B2F4-8EACE8B3C51F}"/>
              </a:ext>
            </a:extLst>
          </p:cNvPr>
          <p:cNvSpPr>
            <a:spLocks noGrp="1"/>
          </p:cNvSpPr>
          <p:nvPr>
            <p:ph type="title" idx="4294967295"/>
          </p:nvPr>
        </p:nvSpPr>
        <p:spPr/>
        <p:txBody>
          <a:bodyPr/>
          <a:lstStyle/>
          <a:p>
            <a:r>
              <a:rPr lang="en-US" altLang="en-US" sz="4000"/>
              <a:t>Random Forest Classifier</a:t>
            </a:r>
          </a:p>
        </p:txBody>
      </p:sp>
      <p:sp>
        <p:nvSpPr>
          <p:cNvPr id="107523" name="Text Box 3">
            <a:extLst>
              <a:ext uri="{FF2B5EF4-FFF2-40B4-BE49-F238E27FC236}">
                <a16:creationId xmlns:a16="http://schemas.microsoft.com/office/drawing/2014/main" id="{B29FB6E6-1D9F-A69B-3E9C-C2109FD585FC}"/>
              </a:ext>
            </a:extLst>
          </p:cNvPr>
          <p:cNvSpPr txBox="1">
            <a:spLocks noChangeArrowheads="1"/>
          </p:cNvSpPr>
          <p:nvPr/>
        </p:nvSpPr>
        <p:spPr bwMode="auto">
          <a:xfrm rot="16200000">
            <a:off x="-645318" y="3226593"/>
            <a:ext cx="1624012" cy="457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N examples</a:t>
            </a:r>
          </a:p>
        </p:txBody>
      </p:sp>
      <p:sp>
        <p:nvSpPr>
          <p:cNvPr id="107524" name="Rectangle 4">
            <a:extLst>
              <a:ext uri="{FF2B5EF4-FFF2-40B4-BE49-F238E27FC236}">
                <a16:creationId xmlns:a16="http://schemas.microsoft.com/office/drawing/2014/main" id="{94828A6A-D8DC-0ABF-7B3B-96B8164FC82C}"/>
              </a:ext>
            </a:extLst>
          </p:cNvPr>
          <p:cNvSpPr>
            <a:spLocks noChangeArrowheads="1"/>
          </p:cNvSpPr>
          <p:nvPr/>
        </p:nvSpPr>
        <p:spPr bwMode="auto">
          <a:xfrm>
            <a:off x="2286000" y="19050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7525" name="Rectangle 5">
            <a:extLst>
              <a:ext uri="{FF2B5EF4-FFF2-40B4-BE49-F238E27FC236}">
                <a16:creationId xmlns:a16="http://schemas.microsoft.com/office/drawing/2014/main" id="{76F8636D-1348-8365-4E92-F69B8110BB40}"/>
              </a:ext>
            </a:extLst>
          </p:cNvPr>
          <p:cNvSpPr>
            <a:spLocks noChangeArrowheads="1"/>
          </p:cNvSpPr>
          <p:nvPr/>
        </p:nvSpPr>
        <p:spPr bwMode="auto">
          <a:xfrm>
            <a:off x="2286000" y="32004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7526" name="AutoShape 6">
            <a:extLst>
              <a:ext uri="{FF2B5EF4-FFF2-40B4-BE49-F238E27FC236}">
                <a16:creationId xmlns:a16="http://schemas.microsoft.com/office/drawing/2014/main" id="{76BF3A80-7F34-685C-4D55-263D407DE2B0}"/>
              </a:ext>
            </a:extLst>
          </p:cNvPr>
          <p:cNvCxnSpPr>
            <a:cxnSpLocks noChangeShapeType="1"/>
          </p:cNvCxnSpPr>
          <p:nvPr/>
        </p:nvCxnSpPr>
        <p:spPr bwMode="auto">
          <a:xfrm>
            <a:off x="1600200" y="3429000"/>
            <a:ext cx="657225" cy="3810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527" name="Rectangle 7">
            <a:extLst>
              <a:ext uri="{FF2B5EF4-FFF2-40B4-BE49-F238E27FC236}">
                <a16:creationId xmlns:a16="http://schemas.microsoft.com/office/drawing/2014/main" id="{53536B3E-0C37-110D-464F-9C6AD3E97E64}"/>
              </a:ext>
            </a:extLst>
          </p:cNvPr>
          <p:cNvSpPr>
            <a:spLocks noChangeArrowheads="1"/>
          </p:cNvSpPr>
          <p:nvPr/>
        </p:nvSpPr>
        <p:spPr bwMode="auto">
          <a:xfrm>
            <a:off x="2286000" y="51816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7528" name="Text Box 8">
            <a:extLst>
              <a:ext uri="{FF2B5EF4-FFF2-40B4-BE49-F238E27FC236}">
                <a16:creationId xmlns:a16="http://schemas.microsoft.com/office/drawing/2014/main" id="{4EC43C72-3BE4-CC70-8C72-3B3F69F97453}"/>
              </a:ext>
            </a:extLst>
          </p:cNvPr>
          <p:cNvSpPr txBox="1">
            <a:spLocks noChangeArrowheads="1"/>
          </p:cNvSpPr>
          <p:nvPr/>
        </p:nvSpPr>
        <p:spPr bwMode="auto">
          <a:xfrm rot="16200000">
            <a:off x="2371725" y="4333875"/>
            <a:ext cx="7747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600" b="1">
                <a:latin typeface="Calibri" panose="020F0502020204030204" pitchFamily="34" charset="0"/>
              </a:rPr>
              <a:t>....…</a:t>
            </a:r>
          </a:p>
        </p:txBody>
      </p:sp>
      <p:cxnSp>
        <p:nvCxnSpPr>
          <p:cNvPr id="107529" name="AutoShape 9">
            <a:extLst>
              <a:ext uri="{FF2B5EF4-FFF2-40B4-BE49-F238E27FC236}">
                <a16:creationId xmlns:a16="http://schemas.microsoft.com/office/drawing/2014/main" id="{9D46447C-0EA9-D285-1106-A57CF1B03B8C}"/>
              </a:ext>
            </a:extLst>
          </p:cNvPr>
          <p:cNvCxnSpPr>
            <a:cxnSpLocks noChangeShapeType="1"/>
          </p:cNvCxnSpPr>
          <p:nvPr/>
        </p:nvCxnSpPr>
        <p:spPr bwMode="auto">
          <a:xfrm>
            <a:off x="1600200" y="3276600"/>
            <a:ext cx="657225" cy="23622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7530" name="Picture 10">
            <a:extLst>
              <a:ext uri="{FF2B5EF4-FFF2-40B4-BE49-F238E27FC236}">
                <a16:creationId xmlns:a16="http://schemas.microsoft.com/office/drawing/2014/main" id="{A51287DE-A4F2-DA13-4DEB-83B3CBEFB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4442"/>
          <a:stretch>
            <a:fillRect/>
          </a:stretch>
        </p:blipFill>
        <p:spPr bwMode="auto">
          <a:xfrm>
            <a:off x="3581400" y="1981200"/>
            <a:ext cx="5562600" cy="3249613"/>
          </a:xfrm>
          <a:prstGeom prst="rect">
            <a:avLst/>
          </a:prstGeom>
          <a:noFill/>
          <a:extLst>
            <a:ext uri="{909E8E84-426E-40DD-AFC4-6F175D3DCCD1}">
              <a14:hiddenFill xmlns:a14="http://schemas.microsoft.com/office/drawing/2010/main">
                <a:solidFill>
                  <a:srgbClr val="FFFFFF"/>
                </a:solidFill>
              </a14:hiddenFill>
            </a:ext>
          </a:extLst>
        </p:spPr>
      </p:pic>
      <p:sp>
        <p:nvSpPr>
          <p:cNvPr id="107531" name="Line 11">
            <a:extLst>
              <a:ext uri="{FF2B5EF4-FFF2-40B4-BE49-F238E27FC236}">
                <a16:creationId xmlns:a16="http://schemas.microsoft.com/office/drawing/2014/main" id="{C5FC1F3E-505F-656E-E50A-A4B7E4962B74}"/>
              </a:ext>
            </a:extLst>
          </p:cNvPr>
          <p:cNvSpPr>
            <a:spLocks noChangeShapeType="1"/>
          </p:cNvSpPr>
          <p:nvPr/>
        </p:nvSpPr>
        <p:spPr bwMode="auto">
          <a:xfrm>
            <a:off x="3505200" y="2286000"/>
            <a:ext cx="990600"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7532" name="Rectangle 12">
            <a:extLst>
              <a:ext uri="{FF2B5EF4-FFF2-40B4-BE49-F238E27FC236}">
                <a16:creationId xmlns:a16="http://schemas.microsoft.com/office/drawing/2014/main" id="{43A8DCCC-FA70-4174-EC6B-8B2C70A1ED81}"/>
              </a:ext>
            </a:extLst>
          </p:cNvPr>
          <p:cNvSpPr>
            <a:spLocks noChangeArrowheads="1"/>
          </p:cNvSpPr>
          <p:nvPr/>
        </p:nvSpPr>
        <p:spPr bwMode="auto">
          <a:xfrm>
            <a:off x="457200" y="2895600"/>
            <a:ext cx="1143000" cy="914400"/>
          </a:xfrm>
          <a:prstGeom prst="rect">
            <a:avLst/>
          </a:prstGeom>
          <a:solidFill>
            <a:srgbClr val="ECAB2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7533" name="AutoShape 13">
            <a:extLst>
              <a:ext uri="{FF2B5EF4-FFF2-40B4-BE49-F238E27FC236}">
                <a16:creationId xmlns:a16="http://schemas.microsoft.com/office/drawing/2014/main" id="{A02A33AB-B033-C314-432C-22C453B0A02B}"/>
              </a:ext>
            </a:extLst>
          </p:cNvPr>
          <p:cNvCxnSpPr>
            <a:cxnSpLocks noChangeShapeType="1"/>
          </p:cNvCxnSpPr>
          <p:nvPr/>
        </p:nvCxnSpPr>
        <p:spPr bwMode="auto">
          <a:xfrm flipV="1">
            <a:off x="1600200" y="2514600"/>
            <a:ext cx="657225" cy="6096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534" name="Text Box 14">
            <a:extLst>
              <a:ext uri="{FF2B5EF4-FFF2-40B4-BE49-F238E27FC236}">
                <a16:creationId xmlns:a16="http://schemas.microsoft.com/office/drawing/2014/main" id="{39680A5B-891E-1CD1-228D-6284EBC8542B}"/>
              </a:ext>
            </a:extLst>
          </p:cNvPr>
          <p:cNvSpPr txBox="1">
            <a:spLocks noChangeArrowheads="1"/>
          </p:cNvSpPr>
          <p:nvPr/>
        </p:nvSpPr>
        <p:spPr bwMode="auto">
          <a:xfrm>
            <a:off x="254000" y="2286000"/>
            <a:ext cx="1544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M features</a:t>
            </a:r>
          </a:p>
        </p:txBody>
      </p:sp>
      <p:sp>
        <p:nvSpPr>
          <p:cNvPr id="107535" name="Text Box 15">
            <a:extLst>
              <a:ext uri="{FF2B5EF4-FFF2-40B4-BE49-F238E27FC236}">
                <a16:creationId xmlns:a16="http://schemas.microsoft.com/office/drawing/2014/main" id="{B9E4E87A-2C81-36E8-F520-7A85FC988118}"/>
              </a:ext>
            </a:extLst>
          </p:cNvPr>
          <p:cNvSpPr txBox="1">
            <a:spLocks noChangeArrowheads="1"/>
          </p:cNvSpPr>
          <p:nvPr/>
        </p:nvSpPr>
        <p:spPr bwMode="auto">
          <a:xfrm>
            <a:off x="3548063" y="1273175"/>
            <a:ext cx="44910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en-US" sz="2000">
                <a:latin typeface="Calibri" panose="020F0502020204030204" pitchFamily="34" charset="0"/>
              </a:rPr>
              <a:t>At each node in choosing the split feature</a:t>
            </a:r>
          </a:p>
          <a:p>
            <a:pPr algn="ctr">
              <a:lnSpc>
                <a:spcPct val="80000"/>
              </a:lnSpc>
            </a:pPr>
            <a:r>
              <a:rPr lang="en-US" altLang="en-US" sz="2000">
                <a:latin typeface="Calibri" panose="020F0502020204030204" pitchFamily="34" charset="0"/>
              </a:rPr>
              <a:t>choose only among </a:t>
            </a:r>
            <a:r>
              <a:rPr lang="en-US" altLang="en-US" sz="2000" i="1">
                <a:latin typeface="Calibri" panose="020F0502020204030204" pitchFamily="34" charset="0"/>
              </a:rPr>
              <a:t>m</a:t>
            </a:r>
            <a:r>
              <a:rPr lang="en-US" altLang="en-US" sz="2000">
                <a:latin typeface="Calibri" panose="020F0502020204030204" pitchFamily="34" charset="0"/>
              </a:rPr>
              <a:t>&lt;</a:t>
            </a:r>
            <a:r>
              <a:rPr lang="en-US" altLang="en-US" sz="2000" i="1">
                <a:latin typeface="Calibri" panose="020F0502020204030204" pitchFamily="34" charset="0"/>
              </a:rPr>
              <a:t>M</a:t>
            </a:r>
            <a:r>
              <a:rPr lang="en-US" altLang="en-US" sz="2000">
                <a:latin typeface="Calibri" panose="020F0502020204030204" pitchFamily="34" charset="0"/>
              </a:rPr>
              <a:t> features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487FB437-E084-0BCE-11B9-FF25BEE61C66}"/>
              </a:ext>
            </a:extLst>
          </p:cNvPr>
          <p:cNvSpPr>
            <a:spLocks noGrp="1"/>
          </p:cNvSpPr>
          <p:nvPr>
            <p:ph type="title" idx="4294967295"/>
          </p:nvPr>
        </p:nvSpPr>
        <p:spPr/>
        <p:txBody>
          <a:bodyPr/>
          <a:lstStyle/>
          <a:p>
            <a:r>
              <a:rPr lang="en-US" altLang="en-US" b="1"/>
              <a:t>Random Forest Classifier</a:t>
            </a:r>
          </a:p>
        </p:txBody>
      </p:sp>
      <p:sp>
        <p:nvSpPr>
          <p:cNvPr id="109571" name="Text Box 3">
            <a:extLst>
              <a:ext uri="{FF2B5EF4-FFF2-40B4-BE49-F238E27FC236}">
                <a16:creationId xmlns:a16="http://schemas.microsoft.com/office/drawing/2014/main" id="{A37F5C28-9033-8767-BA3A-686F97F5E40F}"/>
              </a:ext>
            </a:extLst>
          </p:cNvPr>
          <p:cNvSpPr txBox="1">
            <a:spLocks noChangeArrowheads="1"/>
          </p:cNvSpPr>
          <p:nvPr/>
        </p:nvSpPr>
        <p:spPr bwMode="auto">
          <a:xfrm>
            <a:off x="3779838" y="1125538"/>
            <a:ext cx="31654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en-US" sz="2000" b="1">
                <a:latin typeface="Calibri" panose="020F0502020204030204" pitchFamily="34" charset="0"/>
              </a:rPr>
              <a:t>Create decision tree</a:t>
            </a:r>
          </a:p>
          <a:p>
            <a:pPr algn="ctr">
              <a:lnSpc>
                <a:spcPct val="80000"/>
              </a:lnSpc>
            </a:pPr>
            <a:r>
              <a:rPr lang="en-US" altLang="en-US" sz="2000" b="1">
                <a:latin typeface="Calibri" panose="020F0502020204030204" pitchFamily="34" charset="0"/>
              </a:rPr>
              <a:t>from each bootstrap sample</a:t>
            </a:r>
          </a:p>
        </p:txBody>
      </p:sp>
      <p:sp>
        <p:nvSpPr>
          <p:cNvPr id="109572" name="Rectangle 4">
            <a:extLst>
              <a:ext uri="{FF2B5EF4-FFF2-40B4-BE49-F238E27FC236}">
                <a16:creationId xmlns:a16="http://schemas.microsoft.com/office/drawing/2014/main" id="{5FBC221B-B700-94B3-5704-1639B1A2B525}"/>
              </a:ext>
            </a:extLst>
          </p:cNvPr>
          <p:cNvSpPr>
            <a:spLocks noChangeArrowheads="1"/>
          </p:cNvSpPr>
          <p:nvPr/>
        </p:nvSpPr>
        <p:spPr bwMode="auto">
          <a:xfrm>
            <a:off x="2209800" y="51816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pic>
        <p:nvPicPr>
          <p:cNvPr id="109573" name="Picture 5">
            <a:extLst>
              <a:ext uri="{FF2B5EF4-FFF2-40B4-BE49-F238E27FC236}">
                <a16:creationId xmlns:a16="http://schemas.microsoft.com/office/drawing/2014/main" id="{2F172A75-C9A7-F3C6-BF12-3587BD3036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411"/>
          <a:stretch>
            <a:fillRect/>
          </a:stretch>
        </p:blipFill>
        <p:spPr bwMode="auto">
          <a:xfrm>
            <a:off x="4419600" y="4879975"/>
            <a:ext cx="2209800" cy="1292225"/>
          </a:xfrm>
          <a:prstGeom prst="rect">
            <a:avLst/>
          </a:prstGeom>
          <a:noFill/>
          <a:extLst>
            <a:ext uri="{909E8E84-426E-40DD-AFC4-6F175D3DCCD1}">
              <a14:hiddenFill xmlns:a14="http://schemas.microsoft.com/office/drawing/2010/main">
                <a:solidFill>
                  <a:srgbClr val="FFFFFF"/>
                </a:solidFill>
              </a14:hiddenFill>
            </a:ext>
          </a:extLst>
        </p:spPr>
      </p:pic>
      <p:grpSp>
        <p:nvGrpSpPr>
          <p:cNvPr id="109574" name="Group 6">
            <a:extLst>
              <a:ext uri="{FF2B5EF4-FFF2-40B4-BE49-F238E27FC236}">
                <a16:creationId xmlns:a16="http://schemas.microsoft.com/office/drawing/2014/main" id="{7E42C985-CFE0-BAF1-3BFC-ED85AAA7018E}"/>
              </a:ext>
            </a:extLst>
          </p:cNvPr>
          <p:cNvGrpSpPr>
            <a:grpSpLocks/>
          </p:cNvGrpSpPr>
          <p:nvPr/>
        </p:nvGrpSpPr>
        <p:grpSpPr bwMode="auto">
          <a:xfrm>
            <a:off x="-76200" y="1676400"/>
            <a:ext cx="6615113" cy="3962400"/>
            <a:chOff x="249" y="1056"/>
            <a:chExt cx="4167" cy="2496"/>
          </a:xfrm>
        </p:grpSpPr>
        <p:sp>
          <p:nvSpPr>
            <p:cNvPr id="109575" name="Text Box 7">
              <a:extLst>
                <a:ext uri="{FF2B5EF4-FFF2-40B4-BE49-F238E27FC236}">
                  <a16:creationId xmlns:a16="http://schemas.microsoft.com/office/drawing/2014/main" id="{C8D49CF3-FD80-E97C-FC6E-8EA11F7965E7}"/>
                </a:ext>
              </a:extLst>
            </p:cNvPr>
            <p:cNvSpPr txBox="1">
              <a:spLocks noChangeArrowheads="1"/>
            </p:cNvSpPr>
            <p:nvPr/>
          </p:nvSpPr>
          <p:spPr bwMode="auto">
            <a:xfrm rot="16200000">
              <a:off x="-119" y="2033"/>
              <a:ext cx="10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N examples</a:t>
              </a:r>
            </a:p>
          </p:txBody>
        </p:sp>
        <p:sp>
          <p:nvSpPr>
            <p:cNvPr id="109576" name="Rectangle 8">
              <a:extLst>
                <a:ext uri="{FF2B5EF4-FFF2-40B4-BE49-F238E27FC236}">
                  <a16:creationId xmlns:a16="http://schemas.microsoft.com/office/drawing/2014/main" id="{06C84F7C-EB73-467A-7FB7-DEBC77285CB6}"/>
                </a:ext>
              </a:extLst>
            </p:cNvPr>
            <p:cNvSpPr>
              <a:spLocks noChangeArrowheads="1"/>
            </p:cNvSpPr>
            <p:nvPr/>
          </p:nvSpPr>
          <p:spPr bwMode="auto">
            <a:xfrm>
              <a:off x="1728" y="1200"/>
              <a:ext cx="720" cy="576"/>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9577" name="Rectangle 9">
              <a:extLst>
                <a:ext uri="{FF2B5EF4-FFF2-40B4-BE49-F238E27FC236}">
                  <a16:creationId xmlns:a16="http://schemas.microsoft.com/office/drawing/2014/main" id="{BC922FEE-03E2-2D65-D17E-89DCDE97AE5F}"/>
                </a:ext>
              </a:extLst>
            </p:cNvPr>
            <p:cNvSpPr>
              <a:spLocks noChangeArrowheads="1"/>
            </p:cNvSpPr>
            <p:nvPr/>
          </p:nvSpPr>
          <p:spPr bwMode="auto">
            <a:xfrm>
              <a:off x="1728" y="2016"/>
              <a:ext cx="720" cy="576"/>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9578" name="AutoShape 10">
              <a:extLst>
                <a:ext uri="{FF2B5EF4-FFF2-40B4-BE49-F238E27FC236}">
                  <a16:creationId xmlns:a16="http://schemas.microsoft.com/office/drawing/2014/main" id="{23EECE8E-E4E1-8160-3FC0-2BFD9AC496EE}"/>
                </a:ext>
              </a:extLst>
            </p:cNvPr>
            <p:cNvCxnSpPr>
              <a:cxnSpLocks noChangeShapeType="1"/>
            </p:cNvCxnSpPr>
            <p:nvPr/>
          </p:nvCxnSpPr>
          <p:spPr bwMode="auto">
            <a:xfrm>
              <a:off x="1296" y="2160"/>
              <a:ext cx="414" cy="24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579" name="Text Box 11">
              <a:extLst>
                <a:ext uri="{FF2B5EF4-FFF2-40B4-BE49-F238E27FC236}">
                  <a16:creationId xmlns:a16="http://schemas.microsoft.com/office/drawing/2014/main" id="{72C1DFAC-1BB4-62F4-B34C-051E0F7C7641}"/>
                </a:ext>
              </a:extLst>
            </p:cNvPr>
            <p:cNvSpPr txBox="1">
              <a:spLocks noChangeArrowheads="1"/>
            </p:cNvSpPr>
            <p:nvPr/>
          </p:nvSpPr>
          <p:spPr bwMode="auto">
            <a:xfrm rot="16200000">
              <a:off x="1782" y="2730"/>
              <a:ext cx="4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600" b="1">
                  <a:latin typeface="Calibri" panose="020F0502020204030204" pitchFamily="34" charset="0"/>
                </a:rPr>
                <a:t>....…</a:t>
              </a:r>
            </a:p>
          </p:txBody>
        </p:sp>
        <p:cxnSp>
          <p:nvCxnSpPr>
            <p:cNvPr id="109580" name="AutoShape 12">
              <a:extLst>
                <a:ext uri="{FF2B5EF4-FFF2-40B4-BE49-F238E27FC236}">
                  <a16:creationId xmlns:a16="http://schemas.microsoft.com/office/drawing/2014/main" id="{43A8B476-81DC-2160-7CF5-F32AE531A5F4}"/>
                </a:ext>
              </a:extLst>
            </p:cNvPr>
            <p:cNvCxnSpPr>
              <a:cxnSpLocks noChangeShapeType="1"/>
            </p:cNvCxnSpPr>
            <p:nvPr/>
          </p:nvCxnSpPr>
          <p:spPr bwMode="auto">
            <a:xfrm>
              <a:off x="1296" y="2064"/>
              <a:ext cx="414" cy="1488"/>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9581" name="Picture 13">
              <a:extLst>
                <a:ext uri="{FF2B5EF4-FFF2-40B4-BE49-F238E27FC236}">
                  <a16:creationId xmlns:a16="http://schemas.microsoft.com/office/drawing/2014/main" id="{C0C300B5-ACF1-64CB-A1DC-ABF1EB742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4442"/>
            <a:stretch>
              <a:fillRect/>
            </a:stretch>
          </p:blipFill>
          <p:spPr bwMode="auto">
            <a:xfrm>
              <a:off x="3047" y="1056"/>
              <a:ext cx="1273" cy="744"/>
            </a:xfrm>
            <a:prstGeom prst="rect">
              <a:avLst/>
            </a:prstGeom>
            <a:noFill/>
            <a:extLst>
              <a:ext uri="{909E8E84-426E-40DD-AFC4-6F175D3DCCD1}">
                <a14:hiddenFill xmlns:a14="http://schemas.microsoft.com/office/drawing/2010/main">
                  <a:solidFill>
                    <a:srgbClr val="FFFFFF"/>
                  </a:solidFill>
                </a14:hiddenFill>
              </a:ext>
            </a:extLst>
          </p:spPr>
        </p:pic>
        <p:pic>
          <p:nvPicPr>
            <p:cNvPr id="109582" name="Picture 14">
              <a:extLst>
                <a:ext uri="{FF2B5EF4-FFF2-40B4-BE49-F238E27FC236}">
                  <a16:creationId xmlns:a16="http://schemas.microsoft.com/office/drawing/2014/main" id="{9808CE2F-FE47-97F5-FA67-8B2D7F12F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411"/>
            <a:stretch>
              <a:fillRect/>
            </a:stretch>
          </p:blipFill>
          <p:spPr bwMode="auto">
            <a:xfrm>
              <a:off x="3024" y="1824"/>
              <a:ext cx="1392" cy="814"/>
            </a:xfrm>
            <a:prstGeom prst="rect">
              <a:avLst/>
            </a:prstGeom>
            <a:noFill/>
            <a:extLst>
              <a:ext uri="{909E8E84-426E-40DD-AFC4-6F175D3DCCD1}">
                <a14:hiddenFill xmlns:a14="http://schemas.microsoft.com/office/drawing/2010/main">
                  <a:solidFill>
                    <a:srgbClr val="FFFFFF"/>
                  </a:solidFill>
                </a14:hiddenFill>
              </a:ext>
            </a:extLst>
          </p:spPr>
        </p:pic>
        <p:sp>
          <p:nvSpPr>
            <p:cNvPr id="109583" name="Line 15">
              <a:extLst>
                <a:ext uri="{FF2B5EF4-FFF2-40B4-BE49-F238E27FC236}">
                  <a16:creationId xmlns:a16="http://schemas.microsoft.com/office/drawing/2014/main" id="{9CBB352E-F6C0-FE7B-67BF-4720F2BA61C8}"/>
                </a:ext>
              </a:extLst>
            </p:cNvPr>
            <p:cNvSpPr>
              <a:spLocks noChangeShapeType="1"/>
            </p:cNvSpPr>
            <p:nvPr/>
          </p:nvSpPr>
          <p:spPr bwMode="auto">
            <a:xfrm>
              <a:off x="2496" y="1440"/>
              <a:ext cx="6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9584" name="Line 16">
              <a:extLst>
                <a:ext uri="{FF2B5EF4-FFF2-40B4-BE49-F238E27FC236}">
                  <a16:creationId xmlns:a16="http://schemas.microsoft.com/office/drawing/2014/main" id="{6C9DD0BA-1CDF-35D1-586B-F847050ECA18}"/>
                </a:ext>
              </a:extLst>
            </p:cNvPr>
            <p:cNvSpPr>
              <a:spLocks noChangeShapeType="1"/>
            </p:cNvSpPr>
            <p:nvPr/>
          </p:nvSpPr>
          <p:spPr bwMode="auto">
            <a:xfrm>
              <a:off x="2448" y="2256"/>
              <a:ext cx="6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9585" name="Line 17">
              <a:extLst>
                <a:ext uri="{FF2B5EF4-FFF2-40B4-BE49-F238E27FC236}">
                  <a16:creationId xmlns:a16="http://schemas.microsoft.com/office/drawing/2014/main" id="{E284DFDC-7A7B-EAC1-CD55-50F6C4EE8B0E}"/>
                </a:ext>
              </a:extLst>
            </p:cNvPr>
            <p:cNvSpPr>
              <a:spLocks noChangeShapeType="1"/>
            </p:cNvSpPr>
            <p:nvPr/>
          </p:nvSpPr>
          <p:spPr bwMode="auto">
            <a:xfrm>
              <a:off x="2496" y="3504"/>
              <a:ext cx="6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09586" name="Text Box 18">
              <a:extLst>
                <a:ext uri="{FF2B5EF4-FFF2-40B4-BE49-F238E27FC236}">
                  <a16:creationId xmlns:a16="http://schemas.microsoft.com/office/drawing/2014/main" id="{CF2A12FC-9D5F-10E3-C3CD-C4510DC39419}"/>
                </a:ext>
              </a:extLst>
            </p:cNvPr>
            <p:cNvSpPr txBox="1">
              <a:spLocks noChangeArrowheads="1"/>
            </p:cNvSpPr>
            <p:nvPr/>
          </p:nvSpPr>
          <p:spPr bwMode="auto">
            <a:xfrm rot="16200000">
              <a:off x="3318" y="2722"/>
              <a:ext cx="4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600" b="1">
                  <a:latin typeface="Calibri" panose="020F0502020204030204" pitchFamily="34" charset="0"/>
                </a:rPr>
                <a:t>....…</a:t>
              </a:r>
            </a:p>
          </p:txBody>
        </p:sp>
        <p:sp>
          <p:nvSpPr>
            <p:cNvPr id="109587" name="Rectangle 19">
              <a:extLst>
                <a:ext uri="{FF2B5EF4-FFF2-40B4-BE49-F238E27FC236}">
                  <a16:creationId xmlns:a16="http://schemas.microsoft.com/office/drawing/2014/main" id="{D5B7DCE8-16E3-620F-F581-A06E1BDA29FA}"/>
                </a:ext>
              </a:extLst>
            </p:cNvPr>
            <p:cNvSpPr>
              <a:spLocks noChangeArrowheads="1"/>
            </p:cNvSpPr>
            <p:nvPr/>
          </p:nvSpPr>
          <p:spPr bwMode="auto">
            <a:xfrm>
              <a:off x="576" y="1824"/>
              <a:ext cx="720" cy="576"/>
            </a:xfrm>
            <a:prstGeom prst="rect">
              <a:avLst/>
            </a:prstGeom>
            <a:solidFill>
              <a:srgbClr val="ECAB2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09588" name="AutoShape 20">
              <a:extLst>
                <a:ext uri="{FF2B5EF4-FFF2-40B4-BE49-F238E27FC236}">
                  <a16:creationId xmlns:a16="http://schemas.microsoft.com/office/drawing/2014/main" id="{857BED43-ECC7-AE51-7957-537989AD34E3}"/>
                </a:ext>
              </a:extLst>
            </p:cNvPr>
            <p:cNvCxnSpPr>
              <a:cxnSpLocks noChangeShapeType="1"/>
            </p:cNvCxnSpPr>
            <p:nvPr/>
          </p:nvCxnSpPr>
          <p:spPr bwMode="auto">
            <a:xfrm flipV="1">
              <a:off x="1296" y="1584"/>
              <a:ext cx="414" cy="384"/>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589" name="Text Box 21">
              <a:extLst>
                <a:ext uri="{FF2B5EF4-FFF2-40B4-BE49-F238E27FC236}">
                  <a16:creationId xmlns:a16="http://schemas.microsoft.com/office/drawing/2014/main" id="{1E4C247D-63EF-934E-7BBD-43515BF6CE03}"/>
                </a:ext>
              </a:extLst>
            </p:cNvPr>
            <p:cNvSpPr txBox="1">
              <a:spLocks noChangeArrowheads="1"/>
            </p:cNvSpPr>
            <p:nvPr/>
          </p:nvSpPr>
          <p:spPr bwMode="auto">
            <a:xfrm>
              <a:off x="448" y="1440"/>
              <a:ext cx="9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M features</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26F2DA3C-33AE-9725-DB54-F2AF917454FB}"/>
              </a:ext>
            </a:extLst>
          </p:cNvPr>
          <p:cNvSpPr>
            <a:spLocks noGrp="1"/>
          </p:cNvSpPr>
          <p:nvPr>
            <p:ph type="title" idx="4294967295"/>
          </p:nvPr>
        </p:nvSpPr>
        <p:spPr/>
        <p:txBody>
          <a:bodyPr/>
          <a:lstStyle/>
          <a:p>
            <a:r>
              <a:rPr lang="en-US" altLang="en-US" b="1"/>
              <a:t>Random Forest Classifier</a:t>
            </a:r>
          </a:p>
        </p:txBody>
      </p:sp>
      <p:sp>
        <p:nvSpPr>
          <p:cNvPr id="110595" name="Text Box 3">
            <a:extLst>
              <a:ext uri="{FF2B5EF4-FFF2-40B4-BE49-F238E27FC236}">
                <a16:creationId xmlns:a16="http://schemas.microsoft.com/office/drawing/2014/main" id="{4DA761E3-261C-6678-D292-F095919B18CE}"/>
              </a:ext>
            </a:extLst>
          </p:cNvPr>
          <p:cNvSpPr txBox="1">
            <a:spLocks noChangeArrowheads="1"/>
          </p:cNvSpPr>
          <p:nvPr/>
        </p:nvSpPr>
        <p:spPr bwMode="auto">
          <a:xfrm rot="16200000">
            <a:off x="-659606" y="3226594"/>
            <a:ext cx="162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N examples</a:t>
            </a:r>
          </a:p>
        </p:txBody>
      </p:sp>
      <p:sp>
        <p:nvSpPr>
          <p:cNvPr id="110596" name="Rectangle 4">
            <a:extLst>
              <a:ext uri="{FF2B5EF4-FFF2-40B4-BE49-F238E27FC236}">
                <a16:creationId xmlns:a16="http://schemas.microsoft.com/office/drawing/2014/main" id="{6364AE7C-2EC2-0C57-0467-368C50ABC49C}"/>
              </a:ext>
            </a:extLst>
          </p:cNvPr>
          <p:cNvSpPr>
            <a:spLocks noChangeArrowheads="1"/>
          </p:cNvSpPr>
          <p:nvPr/>
        </p:nvSpPr>
        <p:spPr bwMode="auto">
          <a:xfrm>
            <a:off x="2271713" y="19050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597" name="Rectangle 5">
            <a:extLst>
              <a:ext uri="{FF2B5EF4-FFF2-40B4-BE49-F238E27FC236}">
                <a16:creationId xmlns:a16="http://schemas.microsoft.com/office/drawing/2014/main" id="{89F75A05-7458-090C-0566-E9DFBAC026F2}"/>
              </a:ext>
            </a:extLst>
          </p:cNvPr>
          <p:cNvSpPr>
            <a:spLocks noChangeArrowheads="1"/>
          </p:cNvSpPr>
          <p:nvPr/>
        </p:nvSpPr>
        <p:spPr bwMode="auto">
          <a:xfrm>
            <a:off x="2271713" y="32004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cxnSp>
        <p:nvCxnSpPr>
          <p:cNvPr id="110598" name="AutoShape 6">
            <a:extLst>
              <a:ext uri="{FF2B5EF4-FFF2-40B4-BE49-F238E27FC236}">
                <a16:creationId xmlns:a16="http://schemas.microsoft.com/office/drawing/2014/main" id="{2148AB2D-8144-BC4E-B981-28323EE9DB40}"/>
              </a:ext>
            </a:extLst>
          </p:cNvPr>
          <p:cNvCxnSpPr>
            <a:cxnSpLocks noChangeShapeType="1"/>
            <a:endCxn id="110596" idx="1"/>
          </p:cNvCxnSpPr>
          <p:nvPr/>
        </p:nvCxnSpPr>
        <p:spPr bwMode="auto">
          <a:xfrm flipV="1">
            <a:off x="1600200" y="2362200"/>
            <a:ext cx="657225" cy="9144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599" name="AutoShape 7">
            <a:extLst>
              <a:ext uri="{FF2B5EF4-FFF2-40B4-BE49-F238E27FC236}">
                <a16:creationId xmlns:a16="http://schemas.microsoft.com/office/drawing/2014/main" id="{5569A14F-6BCB-B454-A113-14C5ED4CE340}"/>
              </a:ext>
            </a:extLst>
          </p:cNvPr>
          <p:cNvCxnSpPr>
            <a:cxnSpLocks noChangeShapeType="1"/>
          </p:cNvCxnSpPr>
          <p:nvPr/>
        </p:nvCxnSpPr>
        <p:spPr bwMode="auto">
          <a:xfrm>
            <a:off x="1585913" y="3429000"/>
            <a:ext cx="657225" cy="3810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600" name="Rectangle 8">
            <a:extLst>
              <a:ext uri="{FF2B5EF4-FFF2-40B4-BE49-F238E27FC236}">
                <a16:creationId xmlns:a16="http://schemas.microsoft.com/office/drawing/2014/main" id="{0887F130-EA79-EEC3-22E3-1F8C9F1C0F0A}"/>
              </a:ext>
            </a:extLst>
          </p:cNvPr>
          <p:cNvSpPr>
            <a:spLocks noChangeArrowheads="1"/>
          </p:cNvSpPr>
          <p:nvPr/>
        </p:nvSpPr>
        <p:spPr bwMode="auto">
          <a:xfrm>
            <a:off x="2271713" y="5181600"/>
            <a:ext cx="1143000" cy="914400"/>
          </a:xfrm>
          <a:prstGeom prst="rect">
            <a:avLst/>
          </a:prstGeom>
          <a:solidFill>
            <a:srgbClr val="4D9F3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601" name="Text Box 9">
            <a:extLst>
              <a:ext uri="{FF2B5EF4-FFF2-40B4-BE49-F238E27FC236}">
                <a16:creationId xmlns:a16="http://schemas.microsoft.com/office/drawing/2014/main" id="{7DFC199A-1DBC-2EAF-3AEF-78AA5DD4259E}"/>
              </a:ext>
            </a:extLst>
          </p:cNvPr>
          <p:cNvSpPr txBox="1">
            <a:spLocks noChangeArrowheads="1"/>
          </p:cNvSpPr>
          <p:nvPr/>
        </p:nvSpPr>
        <p:spPr bwMode="auto">
          <a:xfrm rot="16200000">
            <a:off x="2357438" y="4333875"/>
            <a:ext cx="7747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600" b="1">
                <a:latin typeface="Calibri" panose="020F0502020204030204" pitchFamily="34" charset="0"/>
              </a:rPr>
              <a:t>....…</a:t>
            </a:r>
          </a:p>
        </p:txBody>
      </p:sp>
      <p:cxnSp>
        <p:nvCxnSpPr>
          <p:cNvPr id="110602" name="AutoShape 10">
            <a:extLst>
              <a:ext uri="{FF2B5EF4-FFF2-40B4-BE49-F238E27FC236}">
                <a16:creationId xmlns:a16="http://schemas.microsoft.com/office/drawing/2014/main" id="{54575D61-6C8A-FCEC-4DB0-58502A6D58E8}"/>
              </a:ext>
            </a:extLst>
          </p:cNvPr>
          <p:cNvCxnSpPr>
            <a:cxnSpLocks noChangeShapeType="1"/>
          </p:cNvCxnSpPr>
          <p:nvPr/>
        </p:nvCxnSpPr>
        <p:spPr bwMode="auto">
          <a:xfrm>
            <a:off x="1585913" y="3276600"/>
            <a:ext cx="657225" cy="2362200"/>
          </a:xfrm>
          <a:prstGeom prst="bentConnector3">
            <a:avLst>
              <a:gd name="adj1" fmla="val 50000"/>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0603" name="Picture 11">
            <a:extLst>
              <a:ext uri="{FF2B5EF4-FFF2-40B4-BE49-F238E27FC236}">
                <a16:creationId xmlns:a16="http://schemas.microsoft.com/office/drawing/2014/main" id="{4CFE7152-2821-7F92-84A9-2F35FCD59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4442"/>
          <a:stretch>
            <a:fillRect/>
          </a:stretch>
        </p:blipFill>
        <p:spPr bwMode="auto">
          <a:xfrm>
            <a:off x="4365625" y="1676400"/>
            <a:ext cx="2020888" cy="1181100"/>
          </a:xfrm>
          <a:prstGeom prst="rect">
            <a:avLst/>
          </a:prstGeom>
          <a:noFill/>
          <a:extLst>
            <a:ext uri="{909E8E84-426E-40DD-AFC4-6F175D3DCCD1}">
              <a14:hiddenFill xmlns:a14="http://schemas.microsoft.com/office/drawing/2010/main">
                <a:solidFill>
                  <a:srgbClr val="FFFFFF"/>
                </a:solidFill>
              </a14:hiddenFill>
            </a:ext>
          </a:extLst>
        </p:spPr>
      </p:pic>
      <p:pic>
        <p:nvPicPr>
          <p:cNvPr id="110604" name="Picture 12">
            <a:extLst>
              <a:ext uri="{FF2B5EF4-FFF2-40B4-BE49-F238E27FC236}">
                <a16:creationId xmlns:a16="http://schemas.microsoft.com/office/drawing/2014/main" id="{86F59618-CCC9-A1D3-623C-EA43803CB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4411"/>
          <a:stretch>
            <a:fillRect/>
          </a:stretch>
        </p:blipFill>
        <p:spPr bwMode="auto">
          <a:xfrm>
            <a:off x="4329113" y="2895600"/>
            <a:ext cx="2209800" cy="1292225"/>
          </a:xfrm>
          <a:prstGeom prst="rect">
            <a:avLst/>
          </a:prstGeom>
          <a:noFill/>
          <a:extLst>
            <a:ext uri="{909E8E84-426E-40DD-AFC4-6F175D3DCCD1}">
              <a14:hiddenFill xmlns:a14="http://schemas.microsoft.com/office/drawing/2010/main">
                <a:solidFill>
                  <a:srgbClr val="FFFFFF"/>
                </a:solidFill>
              </a14:hiddenFill>
            </a:ext>
          </a:extLst>
        </p:spPr>
      </p:pic>
      <p:pic>
        <p:nvPicPr>
          <p:cNvPr id="110605" name="Picture 13">
            <a:extLst>
              <a:ext uri="{FF2B5EF4-FFF2-40B4-BE49-F238E27FC236}">
                <a16:creationId xmlns:a16="http://schemas.microsoft.com/office/drawing/2014/main" id="{2F6E6FB1-1DAC-4975-D3A0-F6A6298F70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4411"/>
          <a:stretch>
            <a:fillRect/>
          </a:stretch>
        </p:blipFill>
        <p:spPr bwMode="auto">
          <a:xfrm>
            <a:off x="4329113" y="4956175"/>
            <a:ext cx="2209800" cy="1292225"/>
          </a:xfrm>
          <a:prstGeom prst="rect">
            <a:avLst/>
          </a:prstGeom>
          <a:noFill/>
          <a:extLst>
            <a:ext uri="{909E8E84-426E-40DD-AFC4-6F175D3DCCD1}">
              <a14:hiddenFill xmlns:a14="http://schemas.microsoft.com/office/drawing/2010/main">
                <a:solidFill>
                  <a:srgbClr val="FFFFFF"/>
                </a:solidFill>
              </a14:hiddenFill>
            </a:ext>
          </a:extLst>
        </p:spPr>
      </p:pic>
      <p:sp>
        <p:nvSpPr>
          <p:cNvPr id="110606" name="Line 14">
            <a:extLst>
              <a:ext uri="{FF2B5EF4-FFF2-40B4-BE49-F238E27FC236}">
                <a16:creationId xmlns:a16="http://schemas.microsoft.com/office/drawing/2014/main" id="{C588C6D0-8A15-5B5F-6D64-808CB07E0B45}"/>
              </a:ext>
            </a:extLst>
          </p:cNvPr>
          <p:cNvSpPr>
            <a:spLocks noChangeShapeType="1"/>
          </p:cNvSpPr>
          <p:nvPr/>
        </p:nvSpPr>
        <p:spPr bwMode="auto">
          <a:xfrm>
            <a:off x="3429000" y="2286000"/>
            <a:ext cx="990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10607" name="Line 15">
            <a:extLst>
              <a:ext uri="{FF2B5EF4-FFF2-40B4-BE49-F238E27FC236}">
                <a16:creationId xmlns:a16="http://schemas.microsoft.com/office/drawing/2014/main" id="{6490EA58-BB53-0D55-C728-471FC0490DEC}"/>
              </a:ext>
            </a:extLst>
          </p:cNvPr>
          <p:cNvSpPr>
            <a:spLocks noChangeShapeType="1"/>
          </p:cNvSpPr>
          <p:nvPr/>
        </p:nvSpPr>
        <p:spPr bwMode="auto">
          <a:xfrm>
            <a:off x="3414713" y="3581400"/>
            <a:ext cx="990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10608" name="Line 16">
            <a:extLst>
              <a:ext uri="{FF2B5EF4-FFF2-40B4-BE49-F238E27FC236}">
                <a16:creationId xmlns:a16="http://schemas.microsoft.com/office/drawing/2014/main" id="{20C8CFF8-E637-E15A-49E7-FB502E912960}"/>
              </a:ext>
            </a:extLst>
          </p:cNvPr>
          <p:cNvSpPr>
            <a:spLocks noChangeShapeType="1"/>
          </p:cNvSpPr>
          <p:nvPr/>
        </p:nvSpPr>
        <p:spPr bwMode="auto">
          <a:xfrm>
            <a:off x="3490913" y="5562600"/>
            <a:ext cx="990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10609" name="Text Box 17">
            <a:extLst>
              <a:ext uri="{FF2B5EF4-FFF2-40B4-BE49-F238E27FC236}">
                <a16:creationId xmlns:a16="http://schemas.microsoft.com/office/drawing/2014/main" id="{2D345C6E-E8C3-9324-CB0D-6A8BAF34C13C}"/>
              </a:ext>
            </a:extLst>
          </p:cNvPr>
          <p:cNvSpPr txBox="1">
            <a:spLocks noChangeArrowheads="1"/>
          </p:cNvSpPr>
          <p:nvPr/>
        </p:nvSpPr>
        <p:spPr bwMode="auto">
          <a:xfrm rot="16200000">
            <a:off x="4795838" y="4321175"/>
            <a:ext cx="7747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600" b="1">
                <a:latin typeface="Calibri" panose="020F0502020204030204" pitchFamily="34" charset="0"/>
              </a:rPr>
              <a:t>....…</a:t>
            </a:r>
          </a:p>
        </p:txBody>
      </p:sp>
      <p:sp>
        <p:nvSpPr>
          <p:cNvPr id="110610" name="Text Box 18">
            <a:extLst>
              <a:ext uri="{FF2B5EF4-FFF2-40B4-BE49-F238E27FC236}">
                <a16:creationId xmlns:a16="http://schemas.microsoft.com/office/drawing/2014/main" id="{C6BD30DF-F395-53B7-CF57-E8F47D2532F3}"/>
              </a:ext>
            </a:extLst>
          </p:cNvPr>
          <p:cNvSpPr txBox="1">
            <a:spLocks noChangeArrowheads="1"/>
          </p:cNvSpPr>
          <p:nvPr/>
        </p:nvSpPr>
        <p:spPr bwMode="auto">
          <a:xfrm>
            <a:off x="7072313" y="3124200"/>
            <a:ext cx="1600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b="1">
                <a:latin typeface="Calibri" panose="020F0502020204030204" pitchFamily="34" charset="0"/>
              </a:rPr>
              <a:t>Take he majority vote</a:t>
            </a:r>
          </a:p>
        </p:txBody>
      </p:sp>
      <p:sp>
        <p:nvSpPr>
          <p:cNvPr id="110611" name="AutoShape 19">
            <a:extLst>
              <a:ext uri="{FF2B5EF4-FFF2-40B4-BE49-F238E27FC236}">
                <a16:creationId xmlns:a16="http://schemas.microsoft.com/office/drawing/2014/main" id="{BCA688B9-FAA9-D9CC-4696-5EB5748E1C29}"/>
              </a:ext>
            </a:extLst>
          </p:cNvPr>
          <p:cNvSpPr>
            <a:spLocks/>
          </p:cNvSpPr>
          <p:nvPr/>
        </p:nvSpPr>
        <p:spPr bwMode="auto">
          <a:xfrm>
            <a:off x="6400800" y="1600200"/>
            <a:ext cx="533400" cy="4572000"/>
          </a:xfrm>
          <a:prstGeom prst="rightBrace">
            <a:avLst>
              <a:gd name="adj1" fmla="val 71429"/>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612" name="Rectangle 20">
            <a:extLst>
              <a:ext uri="{FF2B5EF4-FFF2-40B4-BE49-F238E27FC236}">
                <a16:creationId xmlns:a16="http://schemas.microsoft.com/office/drawing/2014/main" id="{ABBDC945-2767-3621-DA6C-84040B3E73AD}"/>
              </a:ext>
            </a:extLst>
          </p:cNvPr>
          <p:cNvSpPr>
            <a:spLocks noChangeArrowheads="1"/>
          </p:cNvSpPr>
          <p:nvPr/>
        </p:nvSpPr>
        <p:spPr bwMode="auto">
          <a:xfrm>
            <a:off x="442913" y="2895600"/>
            <a:ext cx="1143000" cy="914400"/>
          </a:xfrm>
          <a:prstGeom prst="rect">
            <a:avLst/>
          </a:prstGeom>
          <a:solidFill>
            <a:srgbClr val="ECAB28"/>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0613" name="Text Box 21">
            <a:extLst>
              <a:ext uri="{FF2B5EF4-FFF2-40B4-BE49-F238E27FC236}">
                <a16:creationId xmlns:a16="http://schemas.microsoft.com/office/drawing/2014/main" id="{DD412A8D-2730-B471-3484-033C9F9C8461}"/>
              </a:ext>
            </a:extLst>
          </p:cNvPr>
          <p:cNvSpPr txBox="1">
            <a:spLocks noChangeArrowheads="1"/>
          </p:cNvSpPr>
          <p:nvPr/>
        </p:nvSpPr>
        <p:spPr bwMode="auto">
          <a:xfrm>
            <a:off x="239713" y="2286000"/>
            <a:ext cx="1544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alibri" panose="020F0502020204030204" pitchFamily="34" charset="0"/>
              </a:rPr>
              <a:t>M features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F6B964E-578C-E53C-0B63-AEFBCCB76F72}"/>
              </a:ext>
            </a:extLst>
          </p:cNvPr>
          <p:cNvSpPr>
            <a:spLocks noGrp="1"/>
          </p:cNvSpPr>
          <p:nvPr>
            <p:ph type="title" idx="4294967295"/>
          </p:nvPr>
        </p:nvSpPr>
        <p:spPr/>
        <p:txBody>
          <a:bodyPr/>
          <a:lstStyle/>
          <a:p>
            <a:r>
              <a:rPr lang="en-US" altLang="en-US" b="1"/>
              <a:t>Random forest</a:t>
            </a:r>
          </a:p>
        </p:txBody>
      </p:sp>
      <p:sp>
        <p:nvSpPr>
          <p:cNvPr id="112643" name="Rectangle 3">
            <a:extLst>
              <a:ext uri="{FF2B5EF4-FFF2-40B4-BE49-F238E27FC236}">
                <a16:creationId xmlns:a16="http://schemas.microsoft.com/office/drawing/2014/main" id="{6FA4A164-B6BB-564F-3DBE-62E7441BDC81}"/>
              </a:ext>
            </a:extLst>
          </p:cNvPr>
          <p:cNvSpPr>
            <a:spLocks noGrp="1"/>
          </p:cNvSpPr>
          <p:nvPr>
            <p:ph type="body" idx="4294967295"/>
          </p:nvPr>
        </p:nvSpPr>
        <p:spPr/>
        <p:txBody>
          <a:bodyPr/>
          <a:lstStyle/>
          <a:p>
            <a:r>
              <a:rPr lang="en-US" altLang="en-US" sz="2000" b="0"/>
              <a:t>Available package:</a:t>
            </a:r>
          </a:p>
          <a:p>
            <a:r>
              <a:rPr lang="en-US" altLang="en-US" sz="2000" b="0">
                <a:solidFill>
                  <a:srgbClr val="000000"/>
                </a:solidFill>
                <a:hlinkClick r:id="rId2"/>
              </a:rPr>
              <a:t>http://www.stat.berkeley.edu/~breiman/RandomForests/cc_home.htm</a:t>
            </a:r>
            <a:endParaRPr lang="en-US" altLang="en-US" sz="2000" b="0">
              <a:solidFill>
                <a:srgbClr val="000000"/>
              </a:solidFill>
            </a:endParaRPr>
          </a:p>
          <a:p>
            <a:endParaRPr lang="en-US" altLang="en-US" sz="2000" b="0">
              <a:solidFill>
                <a:srgbClr val="000000"/>
              </a:solidFill>
            </a:endParaRPr>
          </a:p>
          <a:p>
            <a:r>
              <a:rPr lang="en-US" altLang="en-US" sz="2000" b="0">
                <a:solidFill>
                  <a:srgbClr val="000000"/>
                </a:solidFill>
              </a:rPr>
              <a:t>To read more:</a:t>
            </a:r>
          </a:p>
          <a:p>
            <a:r>
              <a:rPr lang="en-US" altLang="en-US" sz="2000" b="0">
                <a:hlinkClick r:id="rId3"/>
              </a:rPr>
              <a:t>http://www-stat.stanford.edu/~hastie/Papers/ESLII.pdf</a:t>
            </a:r>
            <a:r>
              <a:rPr lang="en-US" altLang="en-US" b="0"/>
              <a:t>  </a:t>
            </a:r>
          </a:p>
          <a:p>
            <a:endParaRPr lang="en-US" altLang="en-US" b="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30F38F93-855A-7B00-444C-6CD0CD5D444E}"/>
              </a:ext>
            </a:extLst>
          </p:cNvPr>
          <p:cNvSpPr>
            <a:spLocks noGrp="1" noChangeArrowheads="1"/>
          </p:cNvSpPr>
          <p:nvPr>
            <p:ph type="title"/>
          </p:nvPr>
        </p:nvSpPr>
        <p:spPr/>
        <p:txBody>
          <a:bodyPr/>
          <a:lstStyle/>
          <a:p>
            <a:r>
              <a:rPr lang="en-US" altLang="en-US"/>
              <a:t>Ensemble Classifiers</a:t>
            </a:r>
          </a:p>
        </p:txBody>
      </p:sp>
      <p:sp>
        <p:nvSpPr>
          <p:cNvPr id="81922" name="Rectangle 3">
            <a:extLst>
              <a:ext uri="{FF2B5EF4-FFF2-40B4-BE49-F238E27FC236}">
                <a16:creationId xmlns:a16="http://schemas.microsoft.com/office/drawing/2014/main" id="{30F941F1-BAE4-102E-1CC9-15F00DAE3507}"/>
              </a:ext>
            </a:extLst>
          </p:cNvPr>
          <p:cNvSpPr>
            <a:spLocks noGrp="1" noChangeArrowheads="1"/>
          </p:cNvSpPr>
          <p:nvPr>
            <p:ph type="body" idx="1"/>
          </p:nvPr>
        </p:nvSpPr>
        <p:spPr/>
        <p:txBody>
          <a:bodyPr/>
          <a:lstStyle/>
          <a:p>
            <a:r>
              <a:rPr lang="en-US" altLang="en-US">
                <a:solidFill>
                  <a:srgbClr val="FF0000"/>
                </a:solidFill>
              </a:rPr>
              <a:t>Bagging</a:t>
            </a:r>
            <a:r>
              <a:rPr lang="en-US" altLang="en-US"/>
              <a:t> (Breiman 1996): Fit many large trees to bootstrap resampled versions of the training data, and classify by majority vote.</a:t>
            </a:r>
          </a:p>
          <a:p>
            <a:r>
              <a:rPr lang="en-US" altLang="en-US">
                <a:solidFill>
                  <a:srgbClr val="FF0000"/>
                </a:solidFill>
              </a:rPr>
              <a:t>Boosting</a:t>
            </a:r>
            <a:r>
              <a:rPr lang="en-US" altLang="en-US"/>
              <a:t> (Freund &amp; Schapire 1996): Fit many large or small trees to reweighted versions of the training data. Classify by weighted majority vote.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5">
            <a:extLst>
              <a:ext uri="{FF2B5EF4-FFF2-40B4-BE49-F238E27FC236}">
                <a16:creationId xmlns:a16="http://schemas.microsoft.com/office/drawing/2014/main" id="{8E192760-39E2-DD56-552B-48255FDD7D00}"/>
              </a:ext>
            </a:extLst>
          </p:cNvPr>
          <p:cNvSpPr>
            <a:spLocks noGrp="1" noChangeArrowheads="1"/>
          </p:cNvSpPr>
          <p:nvPr>
            <p:ph type="title"/>
          </p:nvPr>
        </p:nvSpPr>
        <p:spPr/>
        <p:txBody>
          <a:bodyPr/>
          <a:lstStyle/>
          <a:p>
            <a:endParaRPr lang="en-US" altLang="en-US"/>
          </a:p>
        </p:txBody>
      </p:sp>
      <p:pic>
        <p:nvPicPr>
          <p:cNvPr id="82946" name="Picture 4">
            <a:extLst>
              <a:ext uri="{FF2B5EF4-FFF2-40B4-BE49-F238E27FC236}">
                <a16:creationId xmlns:a16="http://schemas.microsoft.com/office/drawing/2014/main" id="{19EE3FC2-7C30-8D0F-73A2-CB09E53710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5">
            <a:extLst>
              <a:ext uri="{FF2B5EF4-FFF2-40B4-BE49-F238E27FC236}">
                <a16:creationId xmlns:a16="http://schemas.microsoft.com/office/drawing/2014/main" id="{D0D6A61B-1558-6BB9-62C2-94B8F3A9E0B7}"/>
              </a:ext>
            </a:extLst>
          </p:cNvPr>
          <p:cNvSpPr>
            <a:spLocks noGrp="1" noChangeArrowheads="1"/>
          </p:cNvSpPr>
          <p:nvPr>
            <p:ph type="title"/>
          </p:nvPr>
        </p:nvSpPr>
        <p:spPr/>
        <p:txBody>
          <a:bodyPr/>
          <a:lstStyle/>
          <a:p>
            <a:endParaRPr lang="en-US" altLang="en-US"/>
          </a:p>
        </p:txBody>
      </p:sp>
      <p:pic>
        <p:nvPicPr>
          <p:cNvPr id="83970" name="Picture 4">
            <a:extLst>
              <a:ext uri="{FF2B5EF4-FFF2-40B4-BE49-F238E27FC236}">
                <a16:creationId xmlns:a16="http://schemas.microsoft.com/office/drawing/2014/main" id="{C1040231-F4F3-E462-ADC2-13A09148476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9144000" cy="6858000"/>
          </a:xfr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FA764A3F-2309-4317-63BA-A3C91389A339}"/>
              </a:ext>
            </a:extLst>
          </p:cNvPr>
          <p:cNvSpPr>
            <a:spLocks noGrp="1" noChangeArrowheads="1"/>
          </p:cNvSpPr>
          <p:nvPr>
            <p:ph type="title"/>
          </p:nvPr>
        </p:nvSpPr>
        <p:spPr/>
        <p:txBody>
          <a:bodyPr/>
          <a:lstStyle/>
          <a:p>
            <a:endParaRPr lang="en-US" altLang="en-US"/>
          </a:p>
        </p:txBody>
      </p:sp>
      <p:sp>
        <p:nvSpPr>
          <p:cNvPr id="84994" name="Rectangle 3">
            <a:extLst>
              <a:ext uri="{FF2B5EF4-FFF2-40B4-BE49-F238E27FC236}">
                <a16:creationId xmlns:a16="http://schemas.microsoft.com/office/drawing/2014/main" id="{8B3F458D-A4F2-7CAF-22E2-CA730229CDE6}"/>
              </a:ext>
            </a:extLst>
          </p:cNvPr>
          <p:cNvSpPr>
            <a:spLocks noGrp="1" noChangeArrowheads="1"/>
          </p:cNvSpPr>
          <p:nvPr>
            <p:ph type="body" idx="1"/>
          </p:nvPr>
        </p:nvSpPr>
        <p:spPr/>
        <p:txBody>
          <a:bodyPr/>
          <a:lstStyle/>
          <a:p>
            <a:pPr>
              <a:buFontTx/>
              <a:buNone/>
            </a:pPr>
            <a:r>
              <a:rPr lang="en-US" altLang="en-US" dirty="0"/>
              <a:t>In general, </a:t>
            </a:r>
          </a:p>
          <a:p>
            <a:pPr>
              <a:buFontTx/>
              <a:buNone/>
            </a:pPr>
            <a:endParaRPr lang="en-US" altLang="en-US" dirty="0"/>
          </a:p>
          <a:p>
            <a:pPr algn="ctr">
              <a:buFontTx/>
              <a:buNone/>
            </a:pPr>
            <a:r>
              <a:rPr lang="en-US" altLang="en-US" b="1" dirty="0"/>
              <a:t>Boosting &gt; Bagging &gt; Single Tree.</a:t>
            </a:r>
          </a:p>
          <a:p>
            <a:endParaRPr lang="en-US" altLang="en-US"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777B-D042-4AC9-F0D8-E815EDA865D4}"/>
              </a:ext>
            </a:extLst>
          </p:cNvPr>
          <p:cNvSpPr>
            <a:spLocks noGrp="1"/>
          </p:cNvSpPr>
          <p:nvPr>
            <p:ph type="title"/>
          </p:nvPr>
        </p:nvSpPr>
        <p:spPr/>
        <p:txBody>
          <a:bodyPr/>
          <a:lstStyle/>
          <a:p>
            <a:r>
              <a:rPr lang="en-CA" dirty="0"/>
              <a:t>Decision Tree Feature Importance</a:t>
            </a:r>
          </a:p>
        </p:txBody>
      </p:sp>
      <p:sp>
        <p:nvSpPr>
          <p:cNvPr id="3" name="Content Placeholder 2">
            <a:extLst>
              <a:ext uri="{FF2B5EF4-FFF2-40B4-BE49-F238E27FC236}">
                <a16:creationId xmlns:a16="http://schemas.microsoft.com/office/drawing/2014/main" id="{849C768E-37AC-0ED7-80CF-1A3CC07E2917}"/>
              </a:ext>
            </a:extLst>
          </p:cNvPr>
          <p:cNvSpPr>
            <a:spLocks noGrp="1"/>
          </p:cNvSpPr>
          <p:nvPr>
            <p:ph idx="1"/>
          </p:nvPr>
        </p:nvSpPr>
        <p:spPr/>
        <p:txBody>
          <a:bodyPr/>
          <a:lstStyle/>
          <a:p>
            <a:r>
              <a:rPr lang="en-US" b="0" i="0" dirty="0">
                <a:solidFill>
                  <a:srgbClr val="555555"/>
                </a:solidFill>
                <a:effectLst/>
                <a:latin typeface="Helvetica Neue"/>
              </a:rPr>
              <a:t>Decision tree algorithms like </a:t>
            </a:r>
            <a:r>
              <a:rPr lang="en-US" b="0" i="0" u="none" strike="noStrike" dirty="0">
                <a:solidFill>
                  <a:srgbClr val="428BCA"/>
                </a:solidFill>
                <a:effectLst/>
                <a:latin typeface="Helvetica Neue"/>
                <a:hlinkClick r:id="rId2"/>
              </a:rPr>
              <a:t>classification and regression trees</a:t>
            </a:r>
            <a:r>
              <a:rPr lang="en-US" b="0" i="0" dirty="0">
                <a:solidFill>
                  <a:srgbClr val="555555"/>
                </a:solidFill>
                <a:effectLst/>
                <a:latin typeface="Helvetica Neue"/>
              </a:rPr>
              <a:t> (CART) offer importance scores based on the reduction in the criterion used to select split points, like Gini or entropy.</a:t>
            </a:r>
          </a:p>
          <a:p>
            <a:endParaRPr lang="en-CA" dirty="0"/>
          </a:p>
        </p:txBody>
      </p:sp>
    </p:spTree>
    <p:extLst>
      <p:ext uri="{BB962C8B-B14F-4D97-AF65-F5344CB8AC3E}">
        <p14:creationId xmlns:p14="http://schemas.microsoft.com/office/powerpoint/2010/main" val="2887333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VariableImportance.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6253" y="1613647"/>
            <a:ext cx="6351494" cy="4697506"/>
          </a:xfrm>
          <a:prstGeom prst="rect">
            <a:avLst/>
          </a:prstGeom>
        </p:spPr>
      </p:pic>
      <p:sp>
        <p:nvSpPr>
          <p:cNvPr id="3" name="TextBox 2">
            <a:extLst>
              <a:ext uri="{FF2B5EF4-FFF2-40B4-BE49-F238E27FC236}">
                <a16:creationId xmlns:a16="http://schemas.microsoft.com/office/drawing/2014/main" id="{A58ABFF5-F1F0-7D7E-7D03-CBB5C4A9B08B}"/>
              </a:ext>
            </a:extLst>
          </p:cNvPr>
          <p:cNvSpPr txBox="1"/>
          <p:nvPr/>
        </p:nvSpPr>
        <p:spPr>
          <a:xfrm>
            <a:off x="941293" y="362181"/>
            <a:ext cx="6806453" cy="646331"/>
          </a:xfrm>
          <a:prstGeom prst="rect">
            <a:avLst/>
          </a:prstGeom>
          <a:noFill/>
        </p:spPr>
        <p:txBody>
          <a:bodyPr wrap="square">
            <a:spAutoFit/>
          </a:bodyPr>
          <a:lstStyle/>
          <a:p>
            <a:r>
              <a:rPr lang="en-US" sz="3600" dirty="0"/>
              <a:t>Variable Importance Measures </a:t>
            </a:r>
            <a:endParaRPr lang="en-CA" sz="3600" dirty="0"/>
          </a:p>
        </p:txBody>
      </p:sp>
    </p:spTree>
    <p:extLst>
      <p:ext uri="{BB962C8B-B14F-4D97-AF65-F5344CB8AC3E}">
        <p14:creationId xmlns:p14="http://schemas.microsoft.com/office/powerpoint/2010/main" val="10278944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B12BD-28A4-6277-C737-23A85BA0375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8FA4917-18BC-5785-BEEA-7FF3ADAC30A0}"/>
              </a:ext>
            </a:extLst>
          </p:cNvPr>
          <p:cNvSpPr>
            <a:spLocks noGrp="1"/>
          </p:cNvSpPr>
          <p:nvPr>
            <p:ph idx="1"/>
          </p:nvPr>
        </p:nvSpPr>
        <p:spPr/>
        <p:txBody>
          <a:bodyPr>
            <a:normAutofit/>
          </a:bodyPr>
          <a:lstStyle/>
          <a:p>
            <a:r>
              <a:rPr lang="en-US" b="1" i="0" dirty="0">
                <a:effectLst/>
                <a:latin typeface="-apple-system"/>
              </a:rPr>
              <a:t>Find important features with Random Forest model</a:t>
            </a:r>
          </a:p>
          <a:p>
            <a:pPr lvl="1"/>
            <a:r>
              <a:rPr lang="en-CA" dirty="0">
                <a:hlinkClick r:id="rId2"/>
              </a:rPr>
              <a:t>https://www.kaggle.com/code/prashant111/random-forest-classifier-feature-importance</a:t>
            </a:r>
            <a:endParaRPr lang="en-CA" dirty="0"/>
          </a:p>
          <a:p>
            <a:pPr lvl="1"/>
            <a:endParaRPr lang="en-CA" dirty="0"/>
          </a:p>
          <a:p>
            <a:pPr lvl="1"/>
            <a:endParaRPr lang="en-CA" dirty="0"/>
          </a:p>
        </p:txBody>
      </p:sp>
    </p:spTree>
    <p:extLst>
      <p:ext uri="{BB962C8B-B14F-4D97-AF65-F5344CB8AC3E}">
        <p14:creationId xmlns:p14="http://schemas.microsoft.com/office/powerpoint/2010/main" val="729353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3189</TotalTime>
  <Words>1546</Words>
  <Application>Microsoft Office PowerPoint</Application>
  <PresentationFormat>On-screen Show (4:3)</PresentationFormat>
  <Paragraphs>241</Paragraphs>
  <Slides>43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-apple-system</vt:lpstr>
      <vt:lpstr>Google Sans</vt:lpstr>
      <vt:lpstr>Helvetica Neue</vt:lpstr>
      <vt:lpstr>Arial</vt:lpstr>
      <vt:lpstr>Calibri</vt:lpstr>
      <vt:lpstr>Symbol</vt:lpstr>
      <vt:lpstr>Office Theme</vt:lpstr>
      <vt:lpstr>Classification and Regression Trees (CART) and  Random Forests </vt:lpstr>
      <vt:lpstr>Outline </vt:lpstr>
      <vt:lpstr>Tree-based methods</vt:lpstr>
      <vt:lpstr>PowerPoint Presentation</vt:lpstr>
      <vt:lpstr>PowerPoint Presentation</vt:lpstr>
      <vt:lpstr>Why Trees?</vt:lpstr>
      <vt:lpstr>PowerPoint Presentation</vt:lpstr>
      <vt:lpstr>Why Trees?</vt:lpstr>
      <vt:lpstr>Why Forest?</vt:lpstr>
      <vt:lpstr>Outline </vt:lpstr>
      <vt:lpstr>Regression</vt:lpstr>
      <vt:lpstr>PowerPoint Presentation</vt:lpstr>
      <vt:lpstr>Finding the sub-regions</vt:lpstr>
      <vt:lpstr>Recursive Binary Splitting</vt:lpstr>
      <vt:lpstr>PowerPoint Presentation</vt:lpstr>
      <vt:lpstr>Overfitting </vt:lpstr>
      <vt:lpstr>Pruning</vt:lpstr>
      <vt:lpstr>Cost complexity pruning</vt:lpstr>
      <vt:lpstr>PowerPoint Presentation</vt:lpstr>
      <vt:lpstr>Advantages of tree-based methods</vt:lpstr>
      <vt:lpstr>Disadvantages</vt:lpstr>
      <vt:lpstr>Power of the crowds</vt:lpstr>
      <vt:lpstr>Ensemble methods</vt:lpstr>
      <vt:lpstr>Bagging </vt:lpstr>
      <vt:lpstr>Bagging </vt:lpstr>
      <vt:lpstr>Out-of-Bag Error Estimation </vt:lpstr>
      <vt:lpstr>Bagging decision trees</vt:lpstr>
      <vt:lpstr>Bagging</vt:lpstr>
      <vt:lpstr>Bootstrap Samples</vt:lpstr>
      <vt:lpstr>Random Forest Classifier</vt:lpstr>
      <vt:lpstr>Random Forest Classifier</vt:lpstr>
      <vt:lpstr>Random Forest Classifier</vt:lpstr>
      <vt:lpstr>Random Forest Classifier</vt:lpstr>
      <vt:lpstr>Random Forest Classifier</vt:lpstr>
      <vt:lpstr>Random Forest Classifier</vt:lpstr>
      <vt:lpstr>Random forest</vt:lpstr>
      <vt:lpstr>Ensemble Classifiers</vt:lpstr>
      <vt:lpstr>PowerPoint Presentation</vt:lpstr>
      <vt:lpstr>PowerPoint Presentation</vt:lpstr>
      <vt:lpstr>PowerPoint Presentation</vt:lpstr>
      <vt:lpstr>Decision Tree Feature Importance</vt:lpstr>
      <vt:lpstr>PowerPoint Presentation</vt:lpstr>
      <vt:lpstr>PowerPoint Presentation</vt:lpstr>
    </vt:vector>
  </TitlesOfParts>
  <Company>Harvard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pavlos protopapas</dc:creator>
  <cp:lastModifiedBy>Guo, Hongyu</cp:lastModifiedBy>
  <cp:revision>117</cp:revision>
  <dcterms:created xsi:type="dcterms:W3CDTF">2016-10-30T18:20:23Z</dcterms:created>
  <dcterms:modified xsi:type="dcterms:W3CDTF">2024-10-10T17:39:59Z</dcterms:modified>
</cp:coreProperties>
</file>